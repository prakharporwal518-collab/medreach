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23737"/>
                </a:solidFill>
                <a:latin typeface="Aptos"/>
              </a:defRPr>
            </a:pPr>
            <a:r>
              <a:t>MPONLINE IDEA &amp; INNOVATION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19374B"/>
                </a:solidFill>
                <a:latin typeface="Aptos"/>
              </a:defRPr>
            </a:pPr>
            <a:r>
              <a:t>MEDREACH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500" b="1">
                <a:solidFill>
                  <a:srgbClr val="2C688C"/>
                </a:solidFill>
                <a:latin typeface="Aptos"/>
              </a:defRPr>
            </a:pPr>
            <a:r>
              <a:t>The right hospital, right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262B2F"/>
                </a:solidFill>
                <a:latin typeface="Aptos"/>
              </a:defRPr>
            </a:pPr>
            <a:r>
              <a:t>Emergency coordination that connects a citizen, a capable hospital and ambulance response before the patient arrives.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290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429000"/>
            <a:ext cx="64008" cy="1143000"/>
          </a:xfrm>
          <a:prstGeom prst="rect">
            <a:avLst/>
          </a:prstGeom>
          <a:solidFill>
            <a:srgbClr val="31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5935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17E7E"/>
                </a:solidFill>
                <a:latin typeface="Aptos"/>
              </a:defRPr>
            </a:pPr>
            <a:r>
              <a:t>CITIZEN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95928"/>
            <a:ext cx="15087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262B2F"/>
                </a:solidFill>
                <a:latin typeface="Aptos"/>
              </a:defRPr>
            </a:pPr>
            <a:r>
              <a:t>Speak or type in Hindi / English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4290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3429000"/>
            <a:ext cx="64008" cy="1143000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35935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HOSPITAL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995928"/>
            <a:ext cx="15087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262B2F"/>
                </a:solidFill>
                <a:latin typeface="Aptos"/>
              </a:defRPr>
            </a:pPr>
            <a:r>
              <a:t>Accept referral + prepare 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4290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429000"/>
            <a:ext cx="64008" cy="1143000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35935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t>108 / 102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995928"/>
            <a:ext cx="15087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262B2F"/>
                </a:solidFill>
                <a:latin typeface="Aptos"/>
              </a:defRPr>
            </a:pPr>
            <a:r>
              <a:t>Dispatch + live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585216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5D656A"/>
                </a:solidFill>
                <a:latin typeface="Aptos"/>
              </a:defRPr>
            </a:pPr>
            <a:r>
              <a:t>Emergency care • capacity • ambulance • 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5D656A"/>
                </a:solidFill>
                <a:latin typeface="Aptos"/>
              </a:defRPr>
            </a:pPr>
            <a:r>
              <a:t>Team MedReach  |  Prototype: medreach-2.onrender.com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23" name="Live tracking on the Medreach app" descr="title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502920"/>
            <a:ext cx="4898003" cy="5120640"/>
          </a:xfrm>
          <a:prstGeom prst="rect">
            <a:avLst/>
          </a:prstGeom>
        </p:spPr>
      </p:pic>
      <p:sp>
        <p:nvSpPr>
          <p:cNvPr id="24" name="feature pill"/>
          <p:cNvSpPr/>
          <p:nvPr/>
        </p:nvSpPr>
        <p:spPr>
          <a:xfrm>
            <a:off x="594360" y="4892040"/>
            <a:ext cx="1426464" cy="457200"/>
          </a:xfrm>
          <a:prstGeom prst="roundRect">
            <a:avLst>
              <a:gd name="adj" fmla="val 25000"/>
            </a:avLst>
          </a:prstGeom>
          <a:solidFill>
            <a:srgbClr val="2C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892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Hindi voice AI</a:t>
            </a:r>
          </a:p>
        </p:txBody>
      </p:sp>
      <p:sp>
        <p:nvSpPr>
          <p:cNvPr id="26" name="feature pill"/>
          <p:cNvSpPr/>
          <p:nvPr/>
        </p:nvSpPr>
        <p:spPr>
          <a:xfrm>
            <a:off x="2112264" y="4892040"/>
            <a:ext cx="1426464" cy="457200"/>
          </a:xfrm>
          <a:prstGeom prst="roundRect">
            <a:avLst>
              <a:gd name="adj" fmla="val 25000"/>
            </a:avLst>
          </a:prstGeom>
          <a:solidFill>
            <a:srgbClr val="387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9696" y="4892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Accept before travel</a:t>
            </a:r>
          </a:p>
        </p:txBody>
      </p:sp>
      <p:sp>
        <p:nvSpPr>
          <p:cNvPr id="28" name="feature pill"/>
          <p:cNvSpPr/>
          <p:nvPr/>
        </p:nvSpPr>
        <p:spPr>
          <a:xfrm>
            <a:off x="3630168" y="4892040"/>
            <a:ext cx="1426464" cy="457200"/>
          </a:xfrm>
          <a:prstGeom prst="roundRect">
            <a:avLst>
              <a:gd name="adj" fmla="val 25000"/>
            </a:avLst>
          </a:prstGeom>
          <a:solidFill>
            <a:srgbClr val="B2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892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108 / 102 linked</a:t>
            </a:r>
          </a:p>
        </p:txBody>
      </p:sp>
      <p:sp>
        <p:nvSpPr>
          <p:cNvPr id="30" name="feature pill"/>
          <p:cNvSpPr/>
          <p:nvPr/>
        </p:nvSpPr>
        <p:spPr>
          <a:xfrm>
            <a:off x="5148072" y="4892040"/>
            <a:ext cx="1426464" cy="457200"/>
          </a:xfrm>
          <a:prstGeom prst="roundRect">
            <a:avLst>
              <a:gd name="adj" fmla="val 25000"/>
            </a:avLst>
          </a:prstGeom>
          <a:solidFill>
            <a:srgbClr val="317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5503" y="4892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2G · SMS · offline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864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9374B"/>
                </a:solidFill>
                <a:latin typeface="Aptos"/>
              </a:rPr>
              <a:t>Working prototype: </a:t>
            </a:r>
            <a:r>
              <a:rPr sz="1050" b="0" i="0">
                <a:solidFill>
                  <a:srgbClr val="5D656A"/>
                </a:solidFill>
                <a:latin typeface="Aptos"/>
              </a:rPr>
              <a:t>16 hospitals · 4 districts · 9-ambulance practice 108 fleet · Hindi +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A realistic emergency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2344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9374B"/>
                </a:solidFill>
                <a:latin typeface="Aptos"/>
              </a:defRPr>
            </a:pPr>
            <a:r>
              <a:t>9:40 PM · Village near Berasia · Chest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262B2F"/>
                </a:solidFill>
                <a:latin typeface="Aptos"/>
              </a:defRPr>
            </a:pPr>
            <a:r>
              <a:t>A family knows they need help, but not which hospital can actually treat the case tonight. The nearest hospital is not automatically the right hospital.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6060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23737"/>
                </a:solidFill>
                <a:latin typeface="Aptos"/>
              </a:defRPr>
            </a:pPr>
            <a:r>
              <a:t>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60604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9374B"/>
                </a:solidFill>
                <a:latin typeface="Aptos"/>
              </a:defRPr>
            </a:pPr>
            <a:r>
              <a:t>Family calls / speaks in Hindi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916936"/>
            <a:ext cx="5349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D656A"/>
                </a:solidFill>
                <a:latin typeface="Aptos"/>
              </a:defRPr>
            </a:pPr>
            <a:r>
              <a:t>No clear information about specialist or ICU.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918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23737"/>
                </a:solidFill>
                <a:latin typeface="Aptos"/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29184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9374B"/>
                </a:solidFill>
                <a:latin typeface="Aptos"/>
              </a:defRPr>
            </a:pPr>
            <a:r>
              <a:t>MedReach identifies urgency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602736"/>
            <a:ext cx="5349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D656A"/>
                </a:solidFill>
                <a:latin typeface="Aptos"/>
              </a:defRPr>
            </a:pPr>
            <a:r>
              <a:t>Possible cardiac emergency; capability requirements are surfaced.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39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23737"/>
                </a:solidFill>
                <a:latin typeface="Aptos"/>
              </a:defRPr>
            </a:pPr>
            <a:r>
              <a:t>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977639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9374B"/>
                </a:solidFill>
                <a:latin typeface="Aptos"/>
              </a:defRPr>
            </a:pPr>
            <a:r>
              <a:t>Hospitals ranked by capability + travel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288536"/>
            <a:ext cx="5349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D656A"/>
                </a:solidFill>
                <a:latin typeface="Aptos"/>
              </a:defRPr>
            </a:pPr>
            <a:r>
              <a:t>Only suitable facilities remain in the shortlist.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6634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23737"/>
                </a:solidFill>
                <a:latin typeface="Aptos"/>
              </a:defRPr>
            </a:pPr>
            <a:r>
              <a:t>2:00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66344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9374B"/>
                </a:solidFill>
                <a:latin typeface="Aptos"/>
              </a:defRPr>
            </a:pPr>
            <a:r>
              <a:t>Hospital accepts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974336"/>
            <a:ext cx="5349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D656A"/>
                </a:solidFill>
                <a:latin typeface="Aptos"/>
              </a:defRPr>
            </a:pPr>
            <a:r>
              <a:t>ER bay / receiving team is prepared before travel.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3492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23737"/>
                </a:solidFill>
                <a:latin typeface="Aptos"/>
              </a:defRPr>
            </a:pPr>
            <a:r>
              <a:t>2:30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534924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9374B"/>
                </a:solidFill>
                <a:latin typeface="Aptos"/>
              </a:defRPr>
            </a:pPr>
            <a:r>
              <a:t>Ambulance request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660136"/>
            <a:ext cx="5349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5D656A"/>
                </a:solidFill>
                <a:latin typeface="Aptos"/>
              </a:defRPr>
            </a:pPr>
            <a:r>
              <a:t>Location, accepting hospital and incident details move together.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Village to hospital illustration frame"/>
          <p:cNvSpPr/>
          <p:nvPr/>
        </p:nvSpPr>
        <p:spPr>
          <a:xfrm>
            <a:off x="521207" y="1207008"/>
            <a:ext cx="3758183" cy="107327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Village to hospital illustration" descr="scenario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703320" cy="1018413"/>
          </a:xfrm>
          <a:prstGeom prst="rect">
            <a:avLst/>
          </a:prstGeom>
        </p:spPr>
      </p:pic>
      <p:pic>
        <p:nvPicPr>
          <p:cNvPr id="28" name="AI understands the emergency" descr="phone-rep-2-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1753067" cy="3429000"/>
          </a:xfrm>
          <a:prstGeom prst="rect">
            <a:avLst/>
          </a:prstGeom>
        </p:spPr>
      </p:pic>
      <p:pic>
        <p:nvPicPr>
          <p:cNvPr id="29" name="Hospital accepted, 108 incident created" descr="phone-rep-6-inci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423160"/>
            <a:ext cx="1753067" cy="3429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58978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D656A"/>
                </a:solidFill>
                <a:latin typeface="Aptos"/>
              </a:rPr>
              <a:t>AI flags a possible cardiac emergency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8978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D656A"/>
                </a:solidFill>
                <a:latin typeface="Aptos"/>
              </a:rPr>
              <a:t>Hospital accepted + 108 incident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61264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17E7E"/>
                </a:solidFill>
                <a:latin typeface="Aptos"/>
              </a:rPr>
              <a:t>Result: </a:t>
            </a:r>
            <a:r>
              <a:rPr sz="1100" b="0" i="0">
                <a:solidFill>
                  <a:srgbClr val="19374B"/>
                </a:solidFill>
                <a:latin typeface="Aptos"/>
              </a:rPr>
              <a:t>the family leaves only after a capable hospital has said yes – and 108 already has the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One platform · three operational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B2373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>
                <a:solidFill>
                  <a:srgbClr val="262B2F"/>
                </a:solidFill>
                <a:latin typeface="Aptos"/>
              </a:defRPr>
            </a:pPr>
            <a:r>
              <a:t>•  Nearest hospital may not have the required specialist, ICU or equipment.</a:t>
            </a:r>
          </a:p>
          <a:p>
            <a:pPr>
              <a:spcAft>
                <a:spcPts val="400"/>
              </a:spcAft>
              <a:defRPr sz="1320">
                <a:solidFill>
                  <a:srgbClr val="262B2F"/>
                </a:solidFill>
                <a:latin typeface="Aptos"/>
              </a:defRPr>
            </a:pPr>
            <a:r>
              <a:t>•  Families often discover capacity problems only after reaching the gate.</a:t>
            </a:r>
          </a:p>
          <a:p>
            <a:pPr>
              <a:spcAft>
                <a:spcPts val="400"/>
              </a:spcAft>
              <a:defRPr sz="1320">
                <a:solidFill>
                  <a:srgbClr val="262B2F"/>
                </a:solidFill>
                <a:latin typeface="Aptos"/>
              </a:defRPr>
            </a:pPr>
            <a:r>
              <a:t>•  Hospital status can become outdated without a clear data owner.</a:t>
            </a:r>
          </a:p>
          <a:p>
            <a:pPr>
              <a:spcAft>
                <a:spcPts val="400"/>
              </a:spcAft>
              <a:defRPr sz="1320">
                <a:solidFill>
                  <a:srgbClr val="262B2F"/>
                </a:solidFill>
                <a:latin typeface="Aptos"/>
              </a:defRPr>
            </a:pPr>
            <a:r>
              <a:t>•  Rural users may have weak 2G / no reliable mobile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14300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317E7E"/>
                </a:solidFill>
                <a:latin typeface="Aptos"/>
              </a:defRPr>
            </a:pPr>
            <a:r>
              <a:t>MEDREACH CONNECTS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2148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64008" cy="3337560"/>
          </a:xfrm>
          <a:prstGeom prst="rect">
            <a:avLst/>
          </a:prstGeom>
          <a:solidFill>
            <a:srgbClr val="31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7647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17E7E"/>
                </a:solidFill>
                <a:latin typeface="Aptos"/>
              </a:defRPr>
            </a:pPr>
            <a:r>
              <a:t>CITIZEN / FAMILY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67128"/>
            <a:ext cx="178308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62B2F"/>
                </a:solidFill>
                <a:latin typeface="Aptos"/>
              </a:defRPr>
            </a:pPr>
            <a:r>
              <a:t>Voice or text emergency input</a:t>
            </a:r>
            <a:br/>
            <a:br/>
            <a:r>
              <a:t>Location + basic details</a:t>
            </a:r>
            <a:br/>
            <a:br/>
            <a:r>
              <a:t>See matched hospitals</a:t>
            </a:r>
            <a:br/>
            <a:br/>
            <a:r>
              <a:t>Track ambulance /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600200"/>
            <a:ext cx="2148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600200"/>
            <a:ext cx="64008" cy="3337560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7" y="17647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HOSPITAL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2167128"/>
            <a:ext cx="178308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62B2F"/>
                </a:solidFill>
                <a:latin typeface="Aptos"/>
              </a:defRPr>
            </a:pPr>
            <a:r>
              <a:t>Receive pre-alert</a:t>
            </a:r>
            <a:br/>
            <a:br/>
            <a:r>
              <a:t>Accept / decline referral</a:t>
            </a:r>
            <a:br/>
            <a:br/>
            <a:r>
              <a:t>Reserve receiving capacity</a:t>
            </a:r>
            <a:br/>
            <a:br/>
            <a:r>
              <a:t>Update beds, doctors,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00200"/>
            <a:ext cx="2148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00200"/>
            <a:ext cx="64008" cy="3337560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7647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t>CONTROL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167128"/>
            <a:ext cx="178308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62B2F"/>
                </a:solidFill>
                <a:latin typeface="Aptos"/>
              </a:defRPr>
            </a:pPr>
            <a:r>
              <a:t>Incident visibility</a:t>
            </a:r>
            <a:br/>
            <a:br/>
            <a:r>
              <a:t>Dispatch coordination</a:t>
            </a:r>
            <a:br/>
            <a:br/>
            <a:r>
              <a:t>Ambulance status</a:t>
            </a:r>
            <a:br/>
            <a:br/>
            <a:r>
              <a:t>Signed handover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86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C688C"/>
                </a:solidFill>
                <a:latin typeface="Aptos"/>
              </a:defRPr>
            </a:pPr>
            <a:r>
              <a:t>CORE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1">
                <a:solidFill>
                  <a:srgbClr val="19374B"/>
                </a:solidFill>
                <a:latin typeface="Aptos"/>
              </a:defRPr>
            </a:pPr>
            <a:r>
              <a:t>AI-assisted prioritization + capability matching + live capacity + routing +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40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262B2F"/>
                </a:solidFill>
                <a:latin typeface="Aptos"/>
              </a:defRPr>
            </a:pPr>
            <a:r>
              <a:t>The goal is not diagnosis. The goal is to reduce avoidable delay between the emergency, the right facility and the ambulance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Match score 92/100 screenshot frame"/>
          <p:cNvSpPr/>
          <p:nvPr/>
        </p:nvSpPr>
        <p:spPr>
          <a:xfrm>
            <a:off x="4535424" y="3977639"/>
            <a:ext cx="1947672" cy="7863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Match score 92/100 screenshot" descr="s3-citiz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4005072"/>
            <a:ext cx="1892807" cy="731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62856" y="4754880"/>
            <a:ext cx="189280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56A"/>
                </a:solidFill>
                <a:latin typeface="Aptos"/>
              </a:rPr>
              <a:t>Match score 92/100</a:t>
            </a:r>
          </a:p>
        </p:txBody>
      </p:sp>
      <p:sp>
        <p:nvSpPr>
          <p:cNvPr id="30" name="108-minute update screenshot frame"/>
          <p:cNvSpPr/>
          <p:nvPr/>
        </p:nvSpPr>
        <p:spPr>
          <a:xfrm>
            <a:off x="6821424" y="3977639"/>
            <a:ext cx="1947672" cy="7863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108-minute update screenshot" descr="s3-hospit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4005072"/>
            <a:ext cx="1892807" cy="7315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48856" y="4754880"/>
            <a:ext cx="189280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56A"/>
                </a:solidFill>
                <a:latin typeface="Aptos"/>
              </a:rPr>
              <a:t>108-minute update</a:t>
            </a:r>
          </a:p>
        </p:txBody>
      </p:sp>
      <p:sp>
        <p:nvSpPr>
          <p:cNvPr id="33" name="Live dispatch map screenshot frame"/>
          <p:cNvSpPr/>
          <p:nvPr/>
        </p:nvSpPr>
        <p:spPr>
          <a:xfrm>
            <a:off x="9107424" y="3977639"/>
            <a:ext cx="1947672" cy="7863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Live dispatch map screenshot" descr="s3-contro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4005072"/>
            <a:ext cx="1892807" cy="7315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34856" y="4754880"/>
            <a:ext cx="189280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56A"/>
                </a:solidFill>
                <a:latin typeface="Aptos"/>
              </a:rPr>
              <a:t>Live dispatch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456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23737"/>
                </a:solidFill>
                <a:latin typeface="Aptos"/>
              </a:rPr>
              <a:t>1,68,491</a:t>
            </a:r>
            <a:r>
              <a:rPr sz="1000" b="0" i="0">
                <a:solidFill>
                  <a:srgbClr val="5D656A"/>
                </a:solidFill>
                <a:latin typeface="Aptos"/>
              </a:rPr>
              <a:t> road-accident deaths in India in 2022 (MoRTH)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SOLUTION PROPOSED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From first words to a prepared emergency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5727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64008" cy="3246120"/>
          </a:xfrm>
          <a:prstGeom prst="rect">
            <a:avLst/>
          </a:prstGeom>
          <a:solidFill>
            <a:srgbClr val="31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8191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17E7E"/>
                </a:solidFill>
                <a:latin typeface="Aptos"/>
              </a:defRPr>
            </a:pPr>
            <a:r>
              <a:t>1  Speak /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84248"/>
            <a:ext cx="1207007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Voice, text or basic case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7249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5D656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0552" y="1417320"/>
            <a:ext cx="15727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0552" y="1417320"/>
            <a:ext cx="64008" cy="324612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58191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C688C"/>
                </a:solidFill>
                <a:latin typeface="Aptos"/>
              </a:defRPr>
            </a:pPr>
            <a:r>
              <a:t>2  Prioritize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984248"/>
            <a:ext cx="1207007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Red flags + urgency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249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5D656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8184" y="1417320"/>
            <a:ext cx="15727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58184" y="1417320"/>
            <a:ext cx="64008" cy="324612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158191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C688C"/>
                </a:solidFill>
                <a:latin typeface="Aptos"/>
              </a:defRPr>
            </a:pPr>
            <a:r>
              <a:t>3 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984248"/>
            <a:ext cx="1207007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Specialist, ICU, equipment, blood,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7249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5D656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5816" y="1417320"/>
            <a:ext cx="15727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5816" y="1417320"/>
            <a:ext cx="64008" cy="3246120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4" y="158191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4  Accept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984" y="1984248"/>
            <a:ext cx="1207007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Hospital confirms capability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27249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5D656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13448" y="1417320"/>
            <a:ext cx="15727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13448" y="1417320"/>
            <a:ext cx="64008" cy="3246120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14616" y="158191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5  Reserve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1984248"/>
            <a:ext cx="1207007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Receiving bay / resource prepared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216" y="27249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5D656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1417320"/>
            <a:ext cx="15727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1417320"/>
            <a:ext cx="64008" cy="3246120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158191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t>6  Dispatch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1984248"/>
            <a:ext cx="1207007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108 / 102 hand-off +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3848" y="27249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5D656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68712" y="1417320"/>
            <a:ext cx="15727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68712" y="1417320"/>
            <a:ext cx="64008" cy="3246120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158191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9374B"/>
                </a:solidFill>
                <a:latin typeface="Aptos"/>
              </a:defRPr>
            </a:pPr>
            <a:r>
              <a:t>7  Arrive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1984248"/>
            <a:ext cx="1207007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ER receives structured pre-alert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074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B23737"/>
                </a:solidFill>
                <a:latin typeface="Aptos"/>
              </a:defRPr>
            </a:pPr>
            <a:r>
              <a:t>OPERATING RULES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491947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0" y="4919472"/>
            <a:ext cx="64008" cy="1024128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44368" y="50840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rPr sz="1300" b="1">
                <a:solidFill>
                  <a:srgbClr val="38704F"/>
                </a:solidFill>
                <a:latin typeface="Aptos"/>
              </a:rPr>
              <a:t>ACCEPT FIRST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54864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62B2F"/>
                </a:solidFill>
                <a:latin typeface="Aptos"/>
              </a:defRPr>
            </a:pPr>
            <a:r>
              <a:t>Hospital accepts before the family travels.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491947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83480" y="4919472"/>
            <a:ext cx="64008" cy="1024128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84648" y="50840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C688C"/>
                </a:solidFill>
                <a:latin typeface="Aptos"/>
              </a:defRPr>
            </a:pPr>
            <a:r>
              <a:rPr sz="1300" b="1">
                <a:solidFill>
                  <a:srgbClr val="2C688C"/>
                </a:solidFill>
                <a:latin typeface="Aptos"/>
              </a:rPr>
              <a:t>CAPABLE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4648" y="54864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62B2F"/>
                </a:solidFill>
                <a:latin typeface="Aptos"/>
              </a:defRPr>
            </a:pPr>
            <a:r>
              <a:t>Only facilities that can handle the case are ranked.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491947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23760" y="4919472"/>
            <a:ext cx="64008" cy="10241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4928" y="50840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9374B"/>
                </a:solidFill>
                <a:latin typeface="Aptos"/>
              </a:defRPr>
            </a:pPr>
            <a:r>
              <a:rPr sz="1300" b="1">
                <a:solidFill>
                  <a:srgbClr val="19374B"/>
                </a:solidFill>
                <a:latin typeface="Aptos"/>
              </a:rPr>
              <a:t>NO DIAGNOSIS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4928" y="54864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62B2F"/>
                </a:solidFill>
                <a:latin typeface="Aptos"/>
              </a:defRPr>
            </a:pPr>
            <a:r>
              <a:t>AI uses “may indicate” language; it does not diagnose.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64040" y="491947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64040" y="4919472"/>
            <a:ext cx="64008" cy="1024128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65208" y="50840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rPr sz="1300" b="1">
                <a:solidFill>
                  <a:srgbClr val="B23737"/>
                </a:solidFill>
                <a:latin typeface="Aptos"/>
              </a:rPr>
              <a:t>108 ALWAYS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5208" y="54864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62B2F"/>
                </a:solidFill>
                <a:latin typeface="Aptos"/>
              </a:defRPr>
            </a:pPr>
            <a:r>
              <a:t>Call 108 remains visible and available.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60" name="step 1 screen" descr="phone-rep-1-de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32" y="2724912"/>
            <a:ext cx="958343" cy="1874519"/>
          </a:xfrm>
          <a:prstGeom prst="rect">
            <a:avLst/>
          </a:prstGeom>
        </p:spPr>
      </p:pic>
      <p:pic>
        <p:nvPicPr>
          <p:cNvPr id="61" name="step 2 screen" descr="phone-rep-2-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764" y="2724912"/>
            <a:ext cx="958343" cy="1874519"/>
          </a:xfrm>
          <a:prstGeom prst="rect">
            <a:avLst/>
          </a:prstGeom>
        </p:spPr>
      </p:pic>
      <p:pic>
        <p:nvPicPr>
          <p:cNvPr id="62" name="step 3 screen" descr="phone-rep-3b-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396" y="2724912"/>
            <a:ext cx="958343" cy="1874519"/>
          </a:xfrm>
          <a:prstGeom prst="rect">
            <a:avLst/>
          </a:prstGeom>
        </p:spPr>
      </p:pic>
      <p:pic>
        <p:nvPicPr>
          <p:cNvPr id="63" name="step 4 screen" descr="phone-rep-3c-wai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028" y="2724912"/>
            <a:ext cx="958343" cy="1874519"/>
          </a:xfrm>
          <a:prstGeom prst="rect">
            <a:avLst/>
          </a:prstGeom>
        </p:spPr>
      </p:pic>
      <p:pic>
        <p:nvPicPr>
          <p:cNvPr id="64" name="step 5 screen" descr="phone-rep-6-incid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0660" y="2724912"/>
            <a:ext cx="958343" cy="1874519"/>
          </a:xfrm>
          <a:prstGeom prst="rect">
            <a:avLst/>
          </a:prstGeom>
        </p:spPr>
      </p:pic>
      <p:pic>
        <p:nvPicPr>
          <p:cNvPr id="65" name="step 6 screen" descr="phone-rep-4-accep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8292" y="2724912"/>
            <a:ext cx="958343" cy="1874519"/>
          </a:xfrm>
          <a:prstGeom prst="rect">
            <a:avLst/>
          </a:prstGeom>
        </p:spPr>
      </p:pic>
      <p:pic>
        <p:nvPicPr>
          <p:cNvPr id="66" name="step 7 screen" descr="phone-rep-5-track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5924" y="2724912"/>
            <a:ext cx="958343" cy="187451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94360" y="541324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D656A"/>
                </a:solidFill>
                <a:latin typeface="Aptos"/>
              </a:rPr>
              <a:t>Built into the product, not just policy.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Simple architecture with integration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325880"/>
          </a:xfrm>
          <a:prstGeom prst="rect">
            <a:avLst/>
          </a:prstGeom>
          <a:solidFill>
            <a:srgbClr val="31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90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17E7E"/>
                </a:solidFill>
                <a:latin typeface="Aptos"/>
              </a:defRPr>
            </a:pPr>
            <a:r>
              <a:t>CITIZEN PWA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92807"/>
            <a:ext cx="1691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Voice · text · offline mode</a:t>
            </a:r>
            <a:br/>
            <a:r>
              <a:t>Location + case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260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926080"/>
            <a:ext cx="64008" cy="1325880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0906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HOSPITAL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493008"/>
            <a:ext cx="1691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Accept · update capacity</a:t>
            </a:r>
            <a:br/>
            <a:r>
              <a:t>Pre-arrival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262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526280"/>
            <a:ext cx="64008" cy="1325880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6908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t>CONTROL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093208"/>
            <a:ext cx="1691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Incidents · fleet · dispatch</a:t>
            </a:r>
            <a:br/>
            <a:r>
              <a:t>Status back to family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141732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1417320"/>
            <a:ext cx="64008" cy="1417320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4408" y="158191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9374B"/>
                </a:solidFill>
                <a:latin typeface="Aptos"/>
              </a:defRPr>
            </a:pPr>
            <a:r>
              <a:t>MEDREACH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1984248"/>
            <a:ext cx="24231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262B2F"/>
                </a:solidFill>
                <a:latin typeface="Aptos"/>
              </a:defRPr>
            </a:pPr>
            <a:r>
              <a:t>Node.js + Express</a:t>
            </a:r>
            <a:br/>
            <a:r>
              <a:t>REST APIs + Server-Sent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15468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3240" y="3154680"/>
            <a:ext cx="64008" cy="141732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4408" y="33192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C688C"/>
                </a:solidFill>
                <a:latin typeface="Aptos"/>
              </a:defRPr>
            </a:pPr>
            <a:r>
              <a:t>DECISION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4408" y="3721608"/>
            <a:ext cx="24231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262B2F"/>
                </a:solidFill>
                <a:latin typeface="Aptos"/>
              </a:defRPr>
            </a:pPr>
            <a:r>
              <a:t>AI-assisted triage</a:t>
            </a:r>
            <a:br/>
            <a:r>
              <a:t>Explainable match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4892040"/>
            <a:ext cx="2788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4892040"/>
            <a:ext cx="64008" cy="1005840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4408" y="5056631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9374B"/>
                </a:solidFill>
                <a:latin typeface="Aptos"/>
              </a:defRPr>
            </a:pPr>
            <a:r>
              <a:t>CASE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5458968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62B2F"/>
                </a:solidFill>
                <a:latin typeface="Aptos"/>
              </a:defRPr>
            </a:pPr>
            <a:r>
              <a:t>Encrypted fields + audit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188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B23737"/>
                </a:solidFill>
                <a:latin typeface="Aptos"/>
              </a:defRPr>
            </a:pPr>
            <a:r>
              <a:t>INTEGRATIONS / 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5544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1554480"/>
            <a:ext cx="64008" cy="1143000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17190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t>108 / 102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2121408"/>
            <a:ext cx="1965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Dispatch / incident hand-off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15544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23960" y="1554480"/>
            <a:ext cx="64008" cy="114300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5128" y="17190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C688C"/>
                </a:solidFill>
                <a:latin typeface="Aptos"/>
              </a:defRPr>
            </a:pPr>
            <a:r>
              <a:t>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2121408"/>
            <a:ext cx="1965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Road distance + ETA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9260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2926080"/>
            <a:ext cx="64008" cy="1143000"/>
          </a:xfrm>
          <a:prstGeom prst="rect">
            <a:avLst/>
          </a:prstGeom>
          <a:solidFill>
            <a:srgbClr val="31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7" y="30906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17E7E"/>
                </a:solidFill>
                <a:latin typeface="Aptos"/>
              </a:defRPr>
            </a:pPr>
            <a:r>
              <a:t>SMS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7" y="3493008"/>
            <a:ext cx="1965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Fallback for weak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29260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23960" y="2926080"/>
            <a:ext cx="64008" cy="1143000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5128" y="30906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MAPS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5128" y="3493008"/>
            <a:ext cx="1965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Leaflet / OpenStreetMap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2976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297680"/>
            <a:ext cx="64008" cy="1143000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7" y="44622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9374B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7" y="4864608"/>
            <a:ext cx="1965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OTP, rate limits, permissions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23960" y="42976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23960" y="4297680"/>
            <a:ext cx="64008" cy="1143000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5128" y="44622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9374B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4864608"/>
            <a:ext cx="1965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Hash-chained event 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7150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62B2F"/>
                </a:solidFill>
                <a:latin typeface="Aptos"/>
              </a:defRPr>
            </a:pPr>
            <a:r>
              <a:t>Open, low-cost stack • deployable on a small cloud server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59" name="smartphone icon" descr="ic-smart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463039"/>
            <a:ext cx="292608" cy="292608"/>
          </a:xfrm>
          <a:prstGeom prst="rect">
            <a:avLst/>
          </a:prstGeom>
        </p:spPr>
      </p:pic>
      <p:pic>
        <p:nvPicPr>
          <p:cNvPr id="60" name="dash icon" descr="ic-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3063240"/>
            <a:ext cx="292608" cy="292608"/>
          </a:xfrm>
          <a:prstGeom prst="rect">
            <a:avLst/>
          </a:prstGeom>
        </p:spPr>
      </p:pic>
      <p:pic>
        <p:nvPicPr>
          <p:cNvPr id="61" name="radio icon" descr="ic-ra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4663440"/>
            <a:ext cx="292608" cy="292608"/>
          </a:xfrm>
          <a:prstGeom prst="rect">
            <a:avLst/>
          </a:prstGeom>
        </p:spPr>
      </p:pic>
      <p:pic>
        <p:nvPicPr>
          <p:cNvPr id="62" name="server icon" descr="ic-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554480"/>
            <a:ext cx="292608" cy="292608"/>
          </a:xfrm>
          <a:prstGeom prst="rect">
            <a:avLst/>
          </a:prstGeom>
        </p:spPr>
      </p:pic>
      <p:pic>
        <p:nvPicPr>
          <p:cNvPr id="63" name="brain icon" descr="ic-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3291840"/>
            <a:ext cx="292608" cy="292608"/>
          </a:xfrm>
          <a:prstGeom prst="rect">
            <a:avLst/>
          </a:prstGeom>
        </p:spPr>
      </p:pic>
      <p:pic>
        <p:nvPicPr>
          <p:cNvPr id="64" name="lock icon" descr="ic-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248" y="5029200"/>
            <a:ext cx="292608" cy="292608"/>
          </a:xfrm>
          <a:prstGeom prst="rect">
            <a:avLst/>
          </a:prstGeom>
        </p:spPr>
      </p:pic>
      <p:pic>
        <p:nvPicPr>
          <p:cNvPr id="65" name="amb icon" descr="ic-am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7" y="1691639"/>
            <a:ext cx="292608" cy="292608"/>
          </a:xfrm>
          <a:prstGeom prst="rect">
            <a:avLst/>
          </a:prstGeom>
        </p:spPr>
      </p:pic>
      <p:pic>
        <p:nvPicPr>
          <p:cNvPr id="66" name="route icon" descr="ic-rou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6767" y="1691639"/>
            <a:ext cx="292608" cy="292608"/>
          </a:xfrm>
          <a:prstGeom prst="rect">
            <a:avLst/>
          </a:prstGeom>
        </p:spPr>
      </p:pic>
      <p:pic>
        <p:nvPicPr>
          <p:cNvPr id="67" name="sms icon" descr="ic-sm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6447" y="3063240"/>
            <a:ext cx="292608" cy="292608"/>
          </a:xfrm>
          <a:prstGeom prst="rect">
            <a:avLst/>
          </a:prstGeom>
        </p:spPr>
      </p:pic>
      <p:pic>
        <p:nvPicPr>
          <p:cNvPr id="68" name="map icon" descr="ic-ma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16767" y="3063240"/>
            <a:ext cx="292608" cy="292608"/>
          </a:xfrm>
          <a:prstGeom prst="rect">
            <a:avLst/>
          </a:prstGeom>
        </p:spPr>
      </p:pic>
      <p:pic>
        <p:nvPicPr>
          <p:cNvPr id="69" name="shield icon" descr="ic-shie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6447" y="4434840"/>
            <a:ext cx="292608" cy="292608"/>
          </a:xfrm>
          <a:prstGeom prst="rect">
            <a:avLst/>
          </a:prstGeom>
        </p:spPr>
      </p:pic>
      <p:pic>
        <p:nvPicPr>
          <p:cNvPr id="70" name="link icon" descr="ic-lin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6767" y="4434840"/>
            <a:ext cx="292608" cy="292608"/>
          </a:xfrm>
          <a:prstGeom prst="rect">
            <a:avLst/>
          </a:prstGeom>
        </p:spPr>
      </p:pic>
      <p:cxnSp>
        <p:nvCxnSpPr>
          <p:cNvPr id="71" name="flow arrow"/>
          <p:cNvCxnSpPr/>
          <p:nvPr/>
        </p:nvCxnSpPr>
        <p:spPr>
          <a:xfrm>
            <a:off x="2670048" y="1984248"/>
            <a:ext cx="374904" cy="0"/>
          </a:xfrm>
          <a:prstGeom prst="line">
            <a:avLst/>
          </a:prstGeom>
          <a:ln w="19050">
            <a:solidFill>
              <a:srgbClr val="317E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flow arrow"/>
          <p:cNvCxnSpPr/>
          <p:nvPr/>
        </p:nvCxnSpPr>
        <p:spPr>
          <a:xfrm>
            <a:off x="2670048" y="3584448"/>
            <a:ext cx="374904" cy="0"/>
          </a:xfrm>
          <a:prstGeom prst="line">
            <a:avLst/>
          </a:prstGeom>
          <a:ln w="19050">
            <a:solidFill>
              <a:srgbClr val="317E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flow arrow"/>
          <p:cNvCxnSpPr/>
          <p:nvPr/>
        </p:nvCxnSpPr>
        <p:spPr>
          <a:xfrm>
            <a:off x="2670048" y="5184648"/>
            <a:ext cx="374904" cy="210312"/>
          </a:xfrm>
          <a:prstGeom prst="line">
            <a:avLst/>
          </a:prstGeom>
          <a:ln w="19050">
            <a:solidFill>
              <a:srgbClr val="317E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flow arrow"/>
          <p:cNvCxnSpPr/>
          <p:nvPr/>
        </p:nvCxnSpPr>
        <p:spPr>
          <a:xfrm>
            <a:off x="5870448" y="2103120"/>
            <a:ext cx="374904" cy="0"/>
          </a:xfrm>
          <a:prstGeom prst="line">
            <a:avLst/>
          </a:prstGeom>
          <a:ln w="19050">
            <a:solidFill>
              <a:srgbClr val="B237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flow arrow"/>
          <p:cNvCxnSpPr/>
          <p:nvPr/>
        </p:nvCxnSpPr>
        <p:spPr>
          <a:xfrm>
            <a:off x="5870448" y="3840480"/>
            <a:ext cx="374904" cy="0"/>
          </a:xfrm>
          <a:prstGeom prst="line">
            <a:avLst/>
          </a:prstGeom>
          <a:ln w="19050">
            <a:solidFill>
              <a:srgbClr val="B237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flow arrow"/>
          <p:cNvCxnSpPr/>
          <p:nvPr/>
        </p:nvCxnSpPr>
        <p:spPr>
          <a:xfrm>
            <a:off x="5870448" y="5394960"/>
            <a:ext cx="374904" cy="0"/>
          </a:xfrm>
          <a:prstGeom prst="line">
            <a:avLst/>
          </a:prstGeom>
          <a:ln w="19050">
            <a:solidFill>
              <a:srgbClr val="B237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flow arrow"/>
          <p:cNvCxnSpPr/>
          <p:nvPr/>
        </p:nvCxnSpPr>
        <p:spPr>
          <a:xfrm>
            <a:off x="4457700" y="2852928"/>
            <a:ext cx="0" cy="283464"/>
          </a:xfrm>
          <a:prstGeom prst="line">
            <a:avLst/>
          </a:prstGeom>
          <a:ln w="19050">
            <a:solidFill>
              <a:srgbClr val="1937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flow arrow"/>
          <p:cNvCxnSpPr/>
          <p:nvPr/>
        </p:nvCxnSpPr>
        <p:spPr>
          <a:xfrm>
            <a:off x="4457700" y="4590288"/>
            <a:ext cx="0" cy="283464"/>
          </a:xfrm>
          <a:prstGeom prst="line">
            <a:avLst/>
          </a:prstGeom>
          <a:ln w="19050">
            <a:solidFill>
              <a:srgbClr val="1937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263640" y="60533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56A"/>
                </a:solidFill>
                <a:latin typeface="Aptos"/>
              </a:rPr>
              <a:t>Gemini 2.5 Flash · Web Speech · Tesseract.js · AES-256-GCM · HMAC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Built around a demonstrable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23444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B23737"/>
                </a:solidFill>
                <a:latin typeface="Aptos"/>
              </a:defRPr>
            </a:pPr>
            <a:r>
              <a:t>WHAT THE MVP DEMONSTRATES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91640"/>
            <a:ext cx="66294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691640"/>
            <a:ext cx="64008" cy="758952"/>
          </a:xfrm>
          <a:prstGeom prst="rect">
            <a:avLst/>
          </a:prstGeom>
          <a:solidFill>
            <a:srgbClr val="31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856232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17E7E"/>
                </a:solidFill>
                <a:latin typeface="Aptos"/>
              </a:defRPr>
            </a:pPr>
            <a:r>
              <a:t>Citizen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258568"/>
            <a:ext cx="6263640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Emergency input → matched facilities → acceptance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560320"/>
            <a:ext cx="66294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560320"/>
            <a:ext cx="64008" cy="758952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724912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Hospital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127248"/>
            <a:ext cx="6263640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Incoming referral → capability/capacity update → accept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429000"/>
            <a:ext cx="66294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3429000"/>
            <a:ext cx="64008" cy="758952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3593592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t>Control-room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995928"/>
            <a:ext cx="6263640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Incident → ambulance assignment → status updates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297680"/>
            <a:ext cx="66294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4297680"/>
            <a:ext cx="64008" cy="758952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4462272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C688C"/>
                </a:solidFill>
                <a:latin typeface="Aptos"/>
              </a:defRPr>
            </a:pPr>
            <a:r>
              <a:t>Rural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864608"/>
            <a:ext cx="6263640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SMS code / low-bandwidth path when internet is unreliable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5166360"/>
            <a:ext cx="66294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5166360"/>
            <a:ext cx="64008" cy="758952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5330952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9374B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5733288"/>
            <a:ext cx="6263640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262B2F"/>
                </a:solidFill>
                <a:latin typeface="Aptos"/>
              </a:defRPr>
            </a:pPr>
            <a:r>
              <a:t>Structured pre-arrival information reaches the receiving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6172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D656A"/>
                </a:solidFill>
                <a:latin typeface="Aptos"/>
              </a:defRPr>
            </a:pPr>
            <a:r>
              <a:t>Prototype today: 16 hospitals · 4 districts (sample data) · 9 practice ambulances · 94 automated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31" name="Hospital dashboard: referral with AI note" descr="laptop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840480" cy="24579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7200" y="370332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56A"/>
                </a:solidFill>
                <a:latin typeface="Aptos"/>
              </a:rPr>
              <a:t>Hospital dashboard – incoming referral with AI pre-arrival note</a:t>
            </a:r>
          </a:p>
        </p:txBody>
      </p:sp>
      <p:sp>
        <p:nvSpPr>
          <p:cNvPr id="33" name="stat tile"/>
          <p:cNvSpPr/>
          <p:nvPr/>
        </p:nvSpPr>
        <p:spPr>
          <a:xfrm>
            <a:off x="548640" y="406908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14223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C688C"/>
                </a:solidFill>
                <a:latin typeface="Aptos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57200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56A"/>
                </a:solidFill>
                <a:latin typeface="Aptos"/>
              </a:rPr>
              <a:t>hospitals · 4 districts</a:t>
            </a:r>
          </a:p>
        </p:txBody>
      </p:sp>
      <p:sp>
        <p:nvSpPr>
          <p:cNvPr id="36" name="stat tile"/>
          <p:cNvSpPr/>
          <p:nvPr/>
        </p:nvSpPr>
        <p:spPr>
          <a:xfrm>
            <a:off x="2441448" y="406908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51176" y="414223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3737"/>
                </a:solidFill>
                <a:latin typeface="Aptos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51176" y="457200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56A"/>
                </a:solidFill>
                <a:latin typeface="Aptos"/>
              </a:rPr>
              <a:t>practice 108 ambulances</a:t>
            </a:r>
          </a:p>
        </p:txBody>
      </p:sp>
      <p:sp>
        <p:nvSpPr>
          <p:cNvPr id="39" name="stat tile"/>
          <p:cNvSpPr/>
          <p:nvPr/>
        </p:nvSpPr>
        <p:spPr>
          <a:xfrm>
            <a:off x="548640" y="5047488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1206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8704F"/>
                </a:solidFill>
                <a:latin typeface="Aptos"/>
              </a:rPr>
              <a:t>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55040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56A"/>
                </a:solidFill>
                <a:latin typeface="Aptos"/>
              </a:rPr>
              <a:t>automated tests passing</a:t>
            </a:r>
          </a:p>
        </p:txBody>
      </p:sp>
      <p:sp>
        <p:nvSpPr>
          <p:cNvPr id="42" name="stat tile"/>
          <p:cNvSpPr/>
          <p:nvPr/>
        </p:nvSpPr>
        <p:spPr>
          <a:xfrm>
            <a:off x="2441448" y="5047488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51176" y="51206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17E7E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51176" y="555040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56A"/>
                </a:solidFill>
                <a:latin typeface="Aptos"/>
              </a:rPr>
              <a:t>network levels supported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INNOVATION /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Not another “nearest hospital”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2560320" cy="502920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447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79" y="1325880"/>
            <a:ext cx="2560320" cy="50292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4447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Calling around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2560320" cy="50292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4447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Map apps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1325880"/>
            <a:ext cx="2560320" cy="50292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7" y="14447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MedReach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847088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30" b="0">
                <a:solidFill>
                  <a:srgbClr val="262B2F"/>
                </a:solidFill>
                <a:latin typeface="Aptos"/>
              </a:defRPr>
            </a:pPr>
            <a:r>
              <a:t>Knows specialist / ICU availability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79" y="1847088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7791F"/>
                </a:solidFill>
              </a:rPr>
              <a:t>~  Usually 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847088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1847088"/>
            <a:ext cx="2560320" cy="566928"/>
          </a:xfrm>
          <a:prstGeom prst="rect">
            <a:avLst/>
          </a:prstGeom>
          <a:solidFill>
            <a:srgbClr val="E8F2EB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7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1">
                <a:solidFill>
                  <a:srgbClr val="262B2F"/>
                </a:solidFill>
                <a:latin typeface="Aptos"/>
              </a:defRPr>
            </a:pPr>
            <a:r>
              <a:rPr b="1">
                <a:solidFill>
                  <a:srgbClr val="38704F"/>
                </a:solidFill>
              </a:rPr>
              <a:t>✓ 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414016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25603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30" b="0">
                <a:solidFill>
                  <a:srgbClr val="262B2F"/>
                </a:solidFill>
                <a:latin typeface="Aptos"/>
              </a:defRPr>
            </a:pPr>
            <a:r>
              <a:t>Hospital confirms before travel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79" y="2414016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25603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414016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25603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19" y="2414016"/>
            <a:ext cx="2560320" cy="566928"/>
          </a:xfrm>
          <a:prstGeom prst="rect">
            <a:avLst/>
          </a:prstGeom>
          <a:solidFill>
            <a:srgbClr val="E8F2EB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7" y="25603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1">
                <a:solidFill>
                  <a:srgbClr val="262B2F"/>
                </a:solidFill>
                <a:latin typeface="Aptos"/>
              </a:defRPr>
            </a:pPr>
            <a:r>
              <a:rPr b="1">
                <a:solidFill>
                  <a:srgbClr val="38704F"/>
                </a:solidFill>
              </a:rPr>
              <a:t>✓  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980944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31272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30" b="0">
                <a:solidFill>
                  <a:srgbClr val="262B2F"/>
                </a:solidFill>
                <a:latin typeface="Aptos"/>
              </a:defRPr>
            </a:pPr>
            <a:r>
              <a:t>Explainable match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79" y="2980944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93008" y="31272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980944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31272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19" y="2980944"/>
            <a:ext cx="2560320" cy="566928"/>
          </a:xfrm>
          <a:prstGeom prst="rect">
            <a:avLst/>
          </a:prstGeom>
          <a:solidFill>
            <a:srgbClr val="E8F2EB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0847" y="31272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1">
                <a:solidFill>
                  <a:srgbClr val="262B2F"/>
                </a:solidFill>
                <a:latin typeface="Aptos"/>
              </a:defRPr>
            </a:pPr>
            <a:r>
              <a:rPr b="1">
                <a:solidFill>
                  <a:srgbClr val="38704F"/>
                </a:solidFill>
              </a:rPr>
              <a:t>✓  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547872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369417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30" b="0">
                <a:solidFill>
                  <a:srgbClr val="262B2F"/>
                </a:solidFill>
                <a:latin typeface="Aptos"/>
              </a:defRPr>
            </a:pPr>
            <a:r>
              <a:t>Hindi / Hinglish input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79" y="3547872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369417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7791F"/>
                </a:solidFill>
              </a:rPr>
              <a:t>~  Phone dependent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547872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369417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7791F"/>
                </a:solidFill>
              </a:rPr>
              <a:t>~  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19" y="3547872"/>
            <a:ext cx="2560320" cy="566928"/>
          </a:xfrm>
          <a:prstGeom prst="rect">
            <a:avLst/>
          </a:prstGeom>
          <a:solidFill>
            <a:srgbClr val="E8F2EB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0847" y="369417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1">
                <a:solidFill>
                  <a:srgbClr val="262B2F"/>
                </a:solidFill>
                <a:latin typeface="Aptos"/>
              </a:defRPr>
            </a:pPr>
            <a:r>
              <a:rPr b="1">
                <a:solidFill>
                  <a:srgbClr val="38704F"/>
                </a:solidFill>
              </a:rPr>
              <a:t>✓ 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114800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" y="426110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30" b="0">
                <a:solidFill>
                  <a:srgbClr val="262B2F"/>
                </a:solidFill>
                <a:latin typeface="Aptos"/>
              </a:defRPr>
            </a:pPr>
            <a:r>
              <a:t>2G / SMS / offline path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79" y="4114800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93008" y="426110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7791F"/>
                </a:solidFill>
              </a:rPr>
              <a:t>~  Variable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4114800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81928" y="426110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19" y="4114800"/>
            <a:ext cx="2560320" cy="566928"/>
          </a:xfrm>
          <a:prstGeom prst="rect">
            <a:avLst/>
          </a:prstGeom>
          <a:solidFill>
            <a:srgbClr val="E8F2EB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70847" y="426110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1">
                <a:solidFill>
                  <a:srgbClr val="262B2F"/>
                </a:solidFill>
                <a:latin typeface="Aptos"/>
              </a:defRPr>
            </a:pPr>
            <a:r>
              <a:rPr b="1">
                <a:solidFill>
                  <a:srgbClr val="38704F"/>
                </a:solidFill>
              </a:rPr>
              <a:t>✓  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681728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" y="482803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30" b="0">
                <a:solidFill>
                  <a:srgbClr val="262B2F"/>
                </a:solidFill>
                <a:latin typeface="Aptos"/>
              </a:defRPr>
            </a:pPr>
            <a:r>
              <a:t>Pre-arrival hospital handover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79" y="4681728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93008" y="482803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4681728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81928" y="482803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19" y="4681728"/>
            <a:ext cx="2560320" cy="566928"/>
          </a:xfrm>
          <a:prstGeom prst="rect">
            <a:avLst/>
          </a:prstGeom>
          <a:solidFill>
            <a:srgbClr val="E8F2EB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70847" y="482803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1">
                <a:solidFill>
                  <a:srgbClr val="262B2F"/>
                </a:solidFill>
                <a:latin typeface="Aptos"/>
              </a:defRPr>
            </a:pPr>
            <a:r>
              <a:rPr b="1">
                <a:solidFill>
                  <a:srgbClr val="38704F"/>
                </a:solidFill>
              </a:rPr>
              <a:t>✓  Yes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5248656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" y="539496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30" b="0">
                <a:solidFill>
                  <a:srgbClr val="262B2F"/>
                </a:solidFill>
                <a:latin typeface="Aptos"/>
              </a:defRPr>
            </a:pPr>
            <a:r>
              <a:t>Ambulance + accepting hospital linked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3279" y="5248656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93008" y="539496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7791F"/>
                </a:solidFill>
              </a:rPr>
              <a:t>~  Manual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5248656"/>
            <a:ext cx="2560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81928" y="539496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0">
                <a:solidFill>
                  <a:srgbClr val="262B2F"/>
                </a:solidFill>
                <a:latin typeface="Aptos"/>
              </a:defRPr>
            </a:pPr>
            <a:r>
              <a:rPr b="0">
                <a:solidFill>
                  <a:srgbClr val="B23737"/>
                </a:solidFill>
              </a:rPr>
              <a:t>✗  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19" y="5248656"/>
            <a:ext cx="2560320" cy="566928"/>
          </a:xfrm>
          <a:prstGeom prst="rect">
            <a:avLst/>
          </a:prstGeom>
          <a:solidFill>
            <a:srgbClr val="E8F2EB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70847" y="539496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30" b="1">
                <a:solidFill>
                  <a:srgbClr val="262B2F"/>
                </a:solidFill>
                <a:latin typeface="Aptos"/>
              </a:defRPr>
            </a:pPr>
            <a:r>
              <a:rPr b="1">
                <a:solidFill>
                  <a:srgbClr val="38704F"/>
                </a:solidFill>
              </a:rPr>
              <a:t>✓  Yes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9374B"/>
                </a:solidFill>
                <a:latin typeface="Aptos"/>
              </a:defRPr>
            </a:pPr>
            <a:r>
              <a:t>Positioning: MedReach does not replace hospitals or 108/102. It connects the pieces and makes the hand-off explicit.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IMPACT &amp; BENEFIT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Minutes saved matter at every hand-off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645920"/>
          </a:xfrm>
          <a:prstGeom prst="rect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90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B23737"/>
                </a:solidFill>
                <a:latin typeface="Aptos"/>
              </a:defRPr>
            </a:pPr>
            <a:r>
              <a:t>FIRST-TIME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92807"/>
            <a:ext cx="21488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Reduce unsuitable hospital visits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23737"/>
                </a:solidFill>
                <a:latin typeface="Aptos"/>
              </a:defRPr>
            </a:pPr>
            <a:r>
              <a:t>RIGHT FACILITY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79" y="1325880"/>
            <a:ext cx="64008" cy="1645920"/>
          </a:xfrm>
          <a:prstGeom prst="rect">
            <a:avLst/>
          </a:prstGeom>
          <a:solidFill>
            <a:srgbClr val="31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490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17E7E"/>
                </a:solidFill>
                <a:latin typeface="Aptos"/>
              </a:defRPr>
            </a:pPr>
            <a:r>
              <a:t>PRE-ALERT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892807"/>
            <a:ext cx="21488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Hospital knows before arrival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146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317E7E"/>
                </a:solidFill>
                <a:latin typeface="Aptos"/>
              </a:defRPr>
            </a:pPr>
            <a:r>
              <a:t>READY 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64008" cy="1645920"/>
          </a:xfrm>
          <a:prstGeom prst="rect">
            <a:avLst/>
          </a:prstGeom>
          <a:solidFill>
            <a:srgbClr val="2C6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490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C688C"/>
                </a:solidFill>
                <a:latin typeface="Aptos"/>
              </a:defRPr>
            </a:pPr>
            <a:r>
              <a:t>LIVE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892807"/>
            <a:ext cx="21488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Family sees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2C688C"/>
                </a:solidFill>
                <a:latin typeface="Aptos"/>
              </a:defRPr>
            </a:pPr>
            <a:r>
              <a:t>LESS UNCERTAINTY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19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19" y="1325880"/>
            <a:ext cx="64008" cy="1645920"/>
          </a:xfrm>
          <a:prstGeom prst="rect">
            <a:avLst/>
          </a:prstGeom>
          <a:solidFill>
            <a:srgbClr val="3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1490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8704F"/>
                </a:solidFill>
                <a:latin typeface="Aptos"/>
              </a:defRPr>
            </a:pPr>
            <a:r>
              <a:t>RURAL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1892807"/>
            <a:ext cx="21488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62B2F"/>
                </a:solidFill>
                <a:latin typeface="Aptos"/>
              </a:defRPr>
            </a:pPr>
            <a:r>
              <a:t>2G / SMS / offline pathway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25146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38704F"/>
                </a:solidFill>
                <a:latin typeface="Aptos"/>
              </a:defRPr>
            </a:pPr>
            <a:r>
              <a:t>MORE REACH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317E7E"/>
                </a:solidFill>
                <a:latin typeface="Aptos"/>
              </a:defRPr>
            </a:pPr>
            <a:r>
              <a:t>CITIZENS &amp; FAMILIES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767328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Speak instead of filling forms during panic.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See whether a hospital has accepted.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Track ambulance / incident status.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Reduce avoidable travel between facilities.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38704F"/>
                </a:solidFill>
                <a:latin typeface="Aptos"/>
              </a:defRPr>
            </a:pPr>
            <a:r>
              <a:t>HOSPITALS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767328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Receive a structured pre-arrival note.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Control who updates capacity.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Prepare receiving space before arrival.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Maintain an auditable case trail.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B23737"/>
                </a:solidFill>
                <a:latin typeface="Aptos"/>
              </a:defRPr>
            </a:pPr>
            <a:r>
              <a:t>HEALTH / CONTROL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767328"/>
            <a:ext cx="3337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Single incident view.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Connect location to accepting facility.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Monitor ambulance movement.</a:t>
            </a:r>
          </a:p>
          <a:p>
            <a:pPr>
              <a:spcAft>
                <a:spcPts val="400"/>
              </a:spcAft>
              <a:defRPr sz="1120">
                <a:solidFill>
                  <a:srgbClr val="262B2F"/>
                </a:solidFill>
                <a:latin typeface="Aptos"/>
              </a:defRPr>
            </a:pPr>
            <a:r>
              <a:t>•  Use demand data for planning.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>
                <a:solidFill>
                  <a:srgbClr val="19374B"/>
                </a:solidFill>
                <a:latin typeface="Aptos"/>
              </a:defRPr>
            </a:pPr>
            <a:r>
              <a:t>Scale path: pilot in a Bhopal-division cluster → state-wide hospital network → integration with any state 108/102 CAD.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36" name="target icon" descr="ic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463040"/>
            <a:ext cx="292608" cy="292608"/>
          </a:xfrm>
          <a:prstGeom prst="rect">
            <a:avLst/>
          </a:prstGeom>
        </p:spPr>
      </p:pic>
      <p:pic>
        <p:nvPicPr>
          <p:cNvPr id="37" name="bell icon" descr="ic-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79" y="1463040"/>
            <a:ext cx="292608" cy="292608"/>
          </a:xfrm>
          <a:prstGeom prst="rect">
            <a:avLst/>
          </a:prstGeom>
        </p:spPr>
      </p:pic>
      <p:pic>
        <p:nvPicPr>
          <p:cNvPr id="38" name="eye icon" descr="ic-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292608" cy="292608"/>
          </a:xfrm>
          <a:prstGeom prst="rect">
            <a:avLst/>
          </a:prstGeom>
        </p:spPr>
      </p:pic>
      <p:pic>
        <p:nvPicPr>
          <p:cNvPr id="39" name="wifi icon" descr="ic-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19" y="1463040"/>
            <a:ext cx="292608" cy="292608"/>
          </a:xfrm>
          <a:prstGeom prst="rect">
            <a:avLst/>
          </a:prstGeom>
        </p:spPr>
      </p:pic>
      <p:sp>
        <p:nvSpPr>
          <p:cNvPr id="40" name="benefit screenshot frame"/>
          <p:cNvSpPr/>
          <p:nvPr/>
        </p:nvSpPr>
        <p:spPr>
          <a:xfrm>
            <a:off x="566928" y="4837176"/>
            <a:ext cx="3072384" cy="1014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benefit screenshot" descr="s8-citize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864608"/>
            <a:ext cx="3017520" cy="960120"/>
          </a:xfrm>
          <a:prstGeom prst="rect">
            <a:avLst/>
          </a:prstGeom>
        </p:spPr>
      </p:pic>
      <p:sp>
        <p:nvSpPr>
          <p:cNvPr id="42" name="benefit screenshot frame"/>
          <p:cNvSpPr/>
          <p:nvPr/>
        </p:nvSpPr>
        <p:spPr>
          <a:xfrm>
            <a:off x="4133087" y="4837176"/>
            <a:ext cx="3072384" cy="1014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benefit screenshot" descr="s8-hospit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4864608"/>
            <a:ext cx="3017520" cy="960120"/>
          </a:xfrm>
          <a:prstGeom prst="rect">
            <a:avLst/>
          </a:prstGeom>
        </p:spPr>
      </p:pic>
      <p:sp>
        <p:nvSpPr>
          <p:cNvPr id="44" name="benefit screenshot frame"/>
          <p:cNvSpPr/>
          <p:nvPr/>
        </p:nvSpPr>
        <p:spPr>
          <a:xfrm>
            <a:off x="7699248" y="4837176"/>
            <a:ext cx="3072384" cy="1014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benefit screenshot" descr="s8-contro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79" y="4864608"/>
            <a:ext cx="30175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3737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651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4B"/>
                </a:solidFill>
                <a:latin typeface="Aptos Display"/>
              </a:defRPr>
            </a:pPr>
            <a:r>
              <a:t>WHY SHOULD WE SELECT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004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6A"/>
                </a:solidFill>
                <a:latin typeface="Aptos"/>
              </a:defRPr>
            </a:pPr>
            <a:r>
              <a:t>A practical, demonstrable and scalable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11155680" cy="13716"/>
          </a:xfrm>
          <a:prstGeom prst="rect">
            <a:avLst/>
          </a:prstGeom>
          <a:solidFill>
            <a:srgbClr val="E1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234440"/>
            <a:ext cx="347472" cy="347472"/>
          </a:xfrm>
          <a:prstGeom prst="ellipse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930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23444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9374B"/>
                </a:solidFill>
                <a:latin typeface="Aptos"/>
              </a:defRPr>
            </a:pPr>
            <a:r>
              <a:t>Works as an end-to-end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581912"/>
            <a:ext cx="5806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0" b="0">
                <a:solidFill>
                  <a:srgbClr val="262B2F"/>
                </a:solidFill>
                <a:latin typeface="Aptos"/>
              </a:defRPr>
            </a:pPr>
            <a:r>
              <a:t>Citizen → capable hospital → ambulance → tracking → handover.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377440"/>
            <a:ext cx="347472" cy="347472"/>
          </a:xfrm>
          <a:prstGeom prst="ellipse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3230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37744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9374B"/>
                </a:solidFill>
                <a:latin typeface="Aptos"/>
              </a:defRPr>
            </a:pPr>
            <a:r>
              <a:t>Designed for real operating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24912"/>
            <a:ext cx="5806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0" b="0">
                <a:solidFill>
                  <a:srgbClr val="262B2F"/>
                </a:solidFill>
                <a:latin typeface="Aptos"/>
              </a:defRPr>
            </a:pPr>
            <a:r>
              <a:t>Hindi input, low bandwidth, SMS fallback and explicit hospital acceptance.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520440"/>
            <a:ext cx="347472" cy="347472"/>
          </a:xfrm>
          <a:prstGeom prst="ellipse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7530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52044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9374B"/>
                </a:solidFill>
                <a:latin typeface="Aptos"/>
              </a:defRPr>
            </a:pPr>
            <a:r>
              <a:t>Responsible use of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867912"/>
            <a:ext cx="5806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0" b="0">
                <a:solidFill>
                  <a:srgbClr val="262B2F"/>
                </a:solidFill>
                <a:latin typeface="Aptos"/>
              </a:defRPr>
            </a:pPr>
            <a:r>
              <a:t>AI assists prioritization and matching; it does not diagnose or replace clinicians.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634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4663440"/>
            <a:ext cx="347472" cy="347472"/>
          </a:xfrm>
          <a:prstGeom prst="ellipse">
            <a:avLst/>
          </a:prstGeom>
          <a:solidFill>
            <a:srgbClr val="B2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18303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66344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9374B"/>
                </a:solidFill>
                <a:latin typeface="Aptos"/>
              </a:defRPr>
            </a:pPr>
            <a:r>
              <a:t>Low-cost and integrable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010912"/>
            <a:ext cx="5806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0" b="0">
                <a:solidFill>
                  <a:srgbClr val="262B2F"/>
                </a:solidFill>
                <a:latin typeface="Aptos"/>
              </a:defRPr>
            </a:pPr>
            <a:r>
              <a:t>Web-first architecture, open-source components and clear integration points.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978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23737"/>
                </a:solidFill>
                <a:latin typeface="Aptos"/>
              </a:defRPr>
            </a:pPr>
            <a:r>
              <a:t>LIVE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D656A"/>
                </a:solidFill>
                <a:latin typeface="Aptos"/>
              </a:defRPr>
            </a:pPr>
            <a:r>
              <a:t>medreach-2.onrender.com  |  GitHub: prakharporwal518-collab/Medreach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897880"/>
            <a:ext cx="4251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9374B"/>
                </a:solidFill>
                <a:latin typeface="Aptos"/>
              </a:defRPr>
            </a:pPr>
            <a:r>
              <a:t>MedReach connects the emergency journey — it does not replace emergency services.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5D656A"/>
                </a:solidFill>
                <a:latin typeface="Aptos"/>
              </a:defRPr>
            </a:pPr>
            <a:r>
              <a:t>MedReach · MPOnline Idea &amp; Innovation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56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5D656A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32" name="Hospital dashboard and citizen app" descr="tablet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188720"/>
            <a:ext cx="4343400" cy="2606040"/>
          </a:xfrm>
          <a:prstGeom prst="rect">
            <a:avLst/>
          </a:prstGeom>
        </p:spPr>
      </p:pic>
      <p:sp>
        <p:nvSpPr>
          <p:cNvPr id="33" name="QR panel"/>
          <p:cNvSpPr/>
          <p:nvPr/>
        </p:nvSpPr>
        <p:spPr>
          <a:xfrm>
            <a:off x="7498079" y="3977639"/>
            <a:ext cx="4023360" cy="1691640"/>
          </a:xfrm>
          <a:prstGeom prst="roundRect">
            <a:avLst>
              <a:gd name="adj" fmla="val 8000"/>
            </a:avLst>
          </a:prstGeom>
          <a:solidFill>
            <a:srgbClr val="F7F8F6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QR frame"/>
          <p:cNvSpPr/>
          <p:nvPr/>
        </p:nvSpPr>
        <p:spPr>
          <a:xfrm>
            <a:off x="7635240" y="4114800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QR code to the live prototype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4178808"/>
            <a:ext cx="1289304" cy="12893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35440" y="416052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3737"/>
                </a:solidFill>
                <a:latin typeface="Aptos"/>
              </a:rPr>
              <a:t>SCAN TO TRY IT LIVE</a:t>
            </a:r>
          </a:p>
          <a:p>
            <a:pPr algn="l"/>
            <a:r>
              <a:rPr sz="1150" b="1" i="0">
                <a:solidFill>
                  <a:srgbClr val="19374B"/>
                </a:solidFill>
                <a:latin typeface="Aptos"/>
              </a:rPr>
              <a:t>medreach-2.onrender.com</a:t>
            </a:r>
          </a:p>
          <a:p>
            <a:pPr algn="l"/>
            <a:r>
              <a:rPr sz="1000" b="0" i="0">
                <a:solidFill>
                  <a:srgbClr val="5D656A"/>
                </a:solidFill>
                <a:latin typeface="Aptos"/>
              </a:rPr>
              <a:t>Report in Hindi → hospital accepts → 108 dispatch → live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