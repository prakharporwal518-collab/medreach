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2e9a1028-3e0b-7965-b9ae-db52535d57c9}">
          <p14:sldIdLst>
            <p14:sldId id="256"/>
            <p14:sldId id="257"/>
          </p14:sldIdLst>
        </p14:section>
        <p14:section name="Problem" id="{538af902-abc8-9fc5-cc7d-608562cf8b14}">
          <p14:sldIdLst>
            <p14:sldId id="258"/>
            <p14:sldId id="259"/>
          </p14:sldIdLst>
        </p14:section>
        <p14:section name="Solution" id="{b72de5da-8d40-8a40-32b8-ffea1bcff9d4}">
          <p14:sldIdLst>
            <p14:sldId id="260"/>
            <p14:sldId id="261"/>
          </p14:sldIdLst>
        </p14:section>
        <p14:section name="Approach" id="{60cc3dbe-7b79-b1e7-fc73-ab57e7b39e7c}">
          <p14:sldIdLst>
            <p14:sldId id="262"/>
            <p14:sldId id="263"/>
            <p14:sldId id="264"/>
          </p14:sldIdLst>
        </p14:section>
        <p14:section name="Value" id="{068245ff-3f3e-e2fe-9e0d-1cff95f3054d}">
          <p14:sldIdLst>
            <p14:sldId id="265"/>
            <p14:sldId id="266"/>
            <p14:sldId id="267"/>
          </p14:sldIdLst>
        </p14:section>
        <p14:section name="Closing" id="{56b46f18-f271-a83e-4363-6573c11a7b7c}">
          <p14:sldIdLst>
            <p14:sldId id="268"/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Medreach gets an emergency patient to a hospital that can treat them right now and has already accepted them, before the family leaves home.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Medreach is a working, deployed product, not a mock-up. It has two private portals, one for citizens and one for hospital staff, and uses all seven technologies suggested by the challenge.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family did nothing wrong; they simply had no way to know which hospital could treat this emergency at this moment, and no hospital knew they were coming. Medreach fixes exactly that gap.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root cause is an information gap between citizens and hospitals: capability, live status and acceptance are not available before the family travels.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Medreach implements the flowchart end to end: emergency, AI understanding, location, capability matching with current status, ETA, hospital confirmation, transport, navigation and confirmed arrival.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Left: what the family sees on the phone. Right: the hospital accepts with a receiving bay, and the citizen dashboard shows the ambulance moving live to that hospital.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Stack: installable PWA, Node.js and Express with Server-Sent Events, Claude via the official SDK with the rules engine as floor and fallback, Leaflet with free OpenStreetMap tiles, Tesseract.js OCR on the device and the Web Speech API.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Trust is what makes hospital data usable by government. Only authorised staff can change what citizens see, every action is audited, and citizens share only what they consent 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Feasibility: open-source stack, free maps, one PWA for every phone, AI optional. Hospitals already have emergency desks; staff only confirm figures. Durations are planning estimates.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Existing tools answer “where is the nearest hospital”. Medreach answers “which hospital can treat this now, and has it said yes?”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Impact will be measured in the Bhopal pilot with these KPIs.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Run this live during judging. The free server sleeps when idle, so open the link a minute before presenting.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Ask: support to pilot Medreach with a group of Bhopal hospitals for three months, then integrate the Health Facility Registry, hospital systems, the 108 control room and ABDM for state-wide rollout.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with the one-line summary and the ask: a pilot in Bhopal. Then invite the judges to try the live demo.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R_DARK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691640"/>
            <a:ext cx="612648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3611880"/>
            <a:ext cx="603504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rgbClr val="CBD5E1"/>
                </a:solidFill>
              </a:defRPr>
            </a:lvl1pPr>
          </a:lstStyle>
          <a:p>
            <a:pPr algn="l" indent="0" marL="0"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R_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Medreach  ·  MPOnline Idea &amp; Innovation Hackathon 2026  ·  Challenge 5: Healthcare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R_CLOSING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image" Target="../media/image-4-8.png"/><Relationship Id="rId9" Type="http://schemas.openxmlformats.org/officeDocument/2006/relationships/image" Target="../media/image-4-9.png"/><Relationship Id="rId10" Type="http://schemas.openxmlformats.org/officeDocument/2006/relationships/image" Target="../media/image-4-10.png"/><Relationship Id="rId11" Type="http://schemas.openxmlformats.org/officeDocument/2006/relationships/image" Target="../media/image-4-11.png"/><Relationship Id="rId12" Type="http://schemas.openxmlformats.org/officeDocument/2006/relationships/slideLayout" Target="../slideLayouts/slideLayout3.xml"/><Relationship Id="rId1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2.jpg"/><Relationship Id="rId3" Type="http://schemas.openxmlformats.org/officeDocument/2006/relationships/image" Target="../media/image-6-3.jpg"/><Relationship Id="rId4" Type="http://schemas.openxmlformats.org/officeDocument/2006/relationships/image" Target="../media/image-6-4.jpg"/><Relationship Id="rId5" Type="http://schemas.openxmlformats.org/officeDocument/2006/relationships/image" Target="../media/image-6-5.jp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image" Target="../media/image-8-8.png"/><Relationship Id="rId9" Type="http://schemas.openxmlformats.org/officeDocument/2006/relationships/image" Target="../media/image-8-9.png"/><Relationship Id="rId10" Type="http://schemas.openxmlformats.org/officeDocument/2006/relationships/slideLayout" Target="../slideLayouts/slideLayout3.xml"/><Relationship Id="rId11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image" Target="../media/image-9-7.png"/><Relationship Id="rId8" Type="http://schemas.openxmlformats.org/officeDocument/2006/relationships/image" Target="../media/image-9-8.png"/><Relationship Id="rId9" Type="http://schemas.openxmlformats.org/officeDocument/2006/relationships/image" Target="../media/image-9-9.png"/><Relationship Id="rId10" Type="http://schemas.openxmlformats.org/officeDocument/2006/relationships/image" Target="../media/image-9-10.png"/><Relationship Id="rId11" Type="http://schemas.openxmlformats.org/officeDocument/2006/relationships/image" Target="../media/image-9-11.png"/><Relationship Id="rId12" Type="http://schemas.openxmlformats.org/officeDocument/2006/relationships/image" Target="../media/image-9-12.png"/><Relationship Id="rId13" Type="http://schemas.openxmlformats.org/officeDocument/2006/relationships/image" Target="../media/image-9-13.png"/><Relationship Id="rId14" Type="http://schemas.openxmlformats.org/officeDocument/2006/relationships/slideLayout" Target="../slideLayouts/slideLayout3.xml"/><Relationship Id="rId1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image" Target="../media/image-11-7.png"/><Relationship Id="rId8" Type="http://schemas.openxmlformats.org/officeDocument/2006/relationships/image" Target="../media/image-11-8.png"/><Relationship Id="rId9" Type="http://schemas.openxmlformats.org/officeDocument/2006/relationships/image" Target="../media/image-11-9.png"/><Relationship Id="rId10" Type="http://schemas.openxmlformats.org/officeDocument/2006/relationships/image" Target="../media/image-11-10.png"/><Relationship Id="rId11" Type="http://schemas.openxmlformats.org/officeDocument/2006/relationships/image" Target="../media/image-11-11.png"/><Relationship Id="rId12" Type="http://schemas.openxmlformats.org/officeDocument/2006/relationships/image" Target="../media/image-11-12.png"/><Relationship Id="rId13" Type="http://schemas.openxmlformats.org/officeDocument/2006/relationships/image" Target="../media/image-11-13.png"/><Relationship Id="rId14" Type="http://schemas.openxmlformats.org/officeDocument/2006/relationships/image" Target="../media/image-11-14.png"/><Relationship Id="rId15" Type="http://schemas.openxmlformats.org/officeDocument/2006/relationships/image" Target="../media/image-11-15.png"/><Relationship Id="rId16" Type="http://schemas.openxmlformats.org/officeDocument/2006/relationships/image" Target="../media/image-11-16.png"/><Relationship Id="rId17" Type="http://schemas.openxmlformats.org/officeDocument/2006/relationships/slideLayout" Target="../slideLayouts/slideLayout3.xml"/><Relationship Id="rId1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Medreach logo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685800"/>
            <a:ext cx="685800" cy="6858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481328" y="713232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Medreach</a:t>
            </a:r>
            <a:endParaRPr lang="en-US" sz="2600" dirty="0"/>
          </a:p>
        </p:txBody>
      </p:sp>
      <p:sp>
        <p:nvSpPr>
          <p:cNvPr id="4" name="Text 1"/>
          <p:cNvSpPr txBox="1"/>
          <p:nvPr/>
        </p:nvSpPr>
        <p:spPr>
          <a:xfrm>
            <a:off x="1481328" y="111556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5EEAD4"/>
                </a:solidFill>
              </a:rPr>
              <a:t>RIGHT HOSPITAL · RIGHT NOW</a:t>
            </a:r>
            <a:endParaRPr lang="en-US" sz="11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640080" y="169164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The right hospital, right now, </a:t>
            </a:r>
            <a:pPr algn="l" indent="0" marL="0">
              <a:buNone/>
            </a:pPr>
            <a:r>
              <a:rPr lang="en-US" sz="3600" b="1" dirty="0">
                <a:solidFill>
                  <a:srgbClr val="5EEAD4"/>
                </a:solidFill>
              </a:rPr>
              <a:t>confirmed before you leave home</a:t>
            </a:r>
            <a:endParaRPr lang="en-US" sz="3600" dirty="0"/>
          </a:p>
        </p:txBody>
      </p:sp>
      <p:sp>
        <p:nvSpPr>
          <p:cNvPr id="6" name="Text 0"/>
          <p:cNvSpPr/>
          <p:nvPr>
            <p:ph idx="101" type="body" hasCustomPrompt="1"/>
          </p:nvPr>
        </p:nvSpPr>
        <p:spPr>
          <a:xfrm>
            <a:off x="640080" y="361188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CBD5E1"/>
                </a:solidFill>
              </a:rPr>
              <a:t>AI-powered emergency coordination for Madhya Pradesh: understand the emergency, find a hospital that can treat it now, get it to accept, and guide the patient there.</a:t>
            </a:r>
            <a:endParaRPr lang="en-US" sz="1600" dirty="0"/>
          </a:p>
        </p:txBody>
      </p:sp>
      <p:sp>
        <p:nvSpPr>
          <p:cNvPr id="7" name="chip"/>
          <p:cNvSpPr/>
          <p:nvPr/>
        </p:nvSpPr>
        <p:spPr>
          <a:xfrm>
            <a:off x="640080" y="4937760"/>
            <a:ext cx="2973629" cy="384048"/>
          </a:xfrm>
          <a:prstGeom prst="roundRect">
            <a:avLst>
              <a:gd name="adj" fmla="val 50000"/>
            </a:avLst>
          </a:prstGeom>
          <a:solidFill>
            <a:srgbClr val="1E3A4C"/>
          </a:solidFill>
          <a:ln w="9525">
            <a:solidFill>
              <a:srgbClr val="2DD4B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4937760"/>
            <a:ext cx="297362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chemeClr val="bg1"/>
                </a:solidFill>
              </a:rPr>
              <a:t>MPOnline Idea &amp; Innovation Hackathon 2026</a:t>
            </a:r>
            <a:endParaRPr lang="en-US" sz="1150" dirty="0"/>
          </a:p>
        </p:txBody>
      </p:sp>
      <p:sp>
        <p:nvSpPr>
          <p:cNvPr id="9" name="chip"/>
          <p:cNvSpPr/>
          <p:nvPr/>
        </p:nvSpPr>
        <p:spPr>
          <a:xfrm>
            <a:off x="3750869" y="4937760"/>
            <a:ext cx="1854403" cy="384048"/>
          </a:xfrm>
          <a:prstGeom prst="roundRect">
            <a:avLst>
              <a:gd name="adj" fmla="val 50000"/>
            </a:avLst>
          </a:prstGeom>
          <a:solidFill>
            <a:srgbClr val="1E3A4C"/>
          </a:solidFill>
          <a:ln w="9525">
            <a:solidFill>
              <a:srgbClr val="2DD4B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750869" y="4937760"/>
            <a:ext cx="185440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chemeClr val="bg1"/>
                </a:solidFill>
              </a:rPr>
              <a:t>Challenge 5 · Healthcare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640080" y="5760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9F6E4"/>
                </a:solidFill>
              </a:rPr>
              <a:t>Live demo: medreach-wtne.onrender.com   ·   Code: github.com/prakharporwal518-collab/Medreach</a:t>
            </a:r>
            <a:endParaRPr lang="en-US" sz="1300" dirty="0"/>
          </a:p>
        </p:txBody>
      </p:sp>
      <p:sp>
        <p:nvSpPr>
          <p:cNvPr id="12" name="hero card"/>
          <p:cNvSpPr/>
          <p:nvPr/>
        </p:nvSpPr>
        <p:spPr>
          <a:xfrm>
            <a:off x="7086600" y="1005840"/>
            <a:ext cx="4572000" cy="4206240"/>
          </a:xfrm>
          <a:prstGeom prst="roundRect">
            <a:avLst>
              <a:gd name="adj" fmla="val 6522"/>
            </a:avLst>
          </a:prstGeom>
          <a:solidFill>
            <a:srgbClr val="F1F7F9"/>
          </a:solidFill>
          <a:ln w="12700">
            <a:solidFill>
              <a:srgbClr val="F1F7F9"/>
            </a:solidFill>
            <a:prstDash val="solid"/>
          </a:ln>
        </p:spPr>
      </p:sp>
      <p:pic>
        <p:nvPicPr>
          <p:cNvPr id="13" name="hero illustrati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0" y="1234440"/>
            <a:ext cx="4297680" cy="349033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Introduction: what Medreach is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6035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chemeClr val="tx1"/>
                </a:solidFill>
              </a:rPr>
              <a:t>Medreach is an AI-powered emergency coordination platform</a:t>
            </a:r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chemeClr val="tx2"/>
                </a:solidFill>
              </a:rPr>
              <a:t> for Madhya Pradesh. It understands an emergency described in Hindi, English or Hinglish, finds a hospital that can treat it right now using staff-verified data, gets that hospital to accept the patient, and guides the patient there with live tracking.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43200"/>
            <a:ext cx="6035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1"/>
                </a:solidFill>
              </a:rPr>
              <a:t>Challenge 5 · AI Innovation for Public Services &amp; Citizen-Centric Governance · Domain: Healthcare</a:t>
            </a:r>
            <a:endParaRPr lang="en-US" sz="1200" dirty="0"/>
          </a:p>
        </p:txBody>
      </p:sp>
      <p:sp>
        <p:nvSpPr>
          <p:cNvPr id="5" name="Citizens &amp; families circle"/>
          <p:cNvSpPr/>
          <p:nvPr/>
        </p:nvSpPr>
        <p:spPr>
          <a:xfrm>
            <a:off x="548640" y="3291840"/>
            <a:ext cx="566928" cy="566928"/>
          </a:xfrm>
          <a:prstGeom prst="ellipse">
            <a:avLst/>
          </a:prstGeom>
          <a:solidFill>
            <a:srgbClr val="E11D48"/>
          </a:solidFill>
          <a:ln w="12700">
            <a:solidFill>
              <a:srgbClr val="E11D48"/>
            </a:solidFill>
            <a:prstDash val="solid"/>
          </a:ln>
        </p:spPr>
      </p:sp>
      <p:pic>
        <p:nvPicPr>
          <p:cNvPr id="6" name="Citizens &amp; families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4703" y="3427903"/>
            <a:ext cx="294803" cy="29480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280160" y="3273552"/>
            <a:ext cx="5303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Citizens &amp; families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1280160" y="3602736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Voice-first emergency help, no login needed, “I’m alone” mode</a:t>
            </a:r>
            <a:endParaRPr lang="en-US" sz="1300" dirty="0"/>
          </a:p>
        </p:txBody>
      </p:sp>
      <p:sp>
        <p:nvSpPr>
          <p:cNvPr id="9" name="Hospitals circle"/>
          <p:cNvSpPr/>
          <p:nvPr/>
        </p:nvSpPr>
        <p:spPr>
          <a:xfrm>
            <a:off x="548640" y="4251960"/>
            <a:ext cx="566928" cy="56692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pic>
        <p:nvPicPr>
          <p:cNvPr id="10" name="Hospitals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4703" y="4388023"/>
            <a:ext cx="294803" cy="294803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280160" y="4233672"/>
            <a:ext cx="5303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Hospitals</a:t>
            </a:r>
            <a:endParaRPr lang="en-US" sz="1600" dirty="0"/>
          </a:p>
        </p:txBody>
      </p:sp>
      <p:sp>
        <p:nvSpPr>
          <p:cNvPr id="12" name="Text 8"/>
          <p:cNvSpPr txBox="1"/>
          <p:nvPr/>
        </p:nvSpPr>
        <p:spPr>
          <a:xfrm>
            <a:off x="1280160" y="4562856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Verified status board, referrals with an AI pre-arrival note</a:t>
            </a:r>
            <a:endParaRPr lang="en-US" sz="1300" dirty="0"/>
          </a:p>
        </p:txBody>
      </p:sp>
      <p:sp>
        <p:nvSpPr>
          <p:cNvPr id="13" name="Government of MP circle"/>
          <p:cNvSpPr/>
          <p:nvPr/>
        </p:nvSpPr>
        <p:spPr>
          <a:xfrm>
            <a:off x="548640" y="5212080"/>
            <a:ext cx="566928" cy="566928"/>
          </a:xfrm>
          <a:prstGeom prst="ellipse">
            <a:avLst/>
          </a:prstGeom>
          <a:solidFill>
            <a:srgbClr val="0F9488"/>
          </a:solidFill>
          <a:ln w="12700">
            <a:solidFill>
              <a:srgbClr val="0F9488"/>
            </a:solidFill>
            <a:prstDash val="solid"/>
          </a:ln>
        </p:spPr>
      </p:sp>
      <p:pic>
        <p:nvPicPr>
          <p:cNvPr id="14" name="Government of MP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4703" y="5348143"/>
            <a:ext cx="294803" cy="294803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280160" y="5193792"/>
            <a:ext cx="5303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Government of MP</a:t>
            </a:r>
            <a:endParaRPr lang="en-US" sz="1600" dirty="0"/>
          </a:p>
        </p:txBody>
      </p:sp>
      <p:sp>
        <p:nvSpPr>
          <p:cNvPr id="16" name="Text 11"/>
          <p:cNvSpPr txBox="1"/>
          <p:nvPr/>
        </p:nvSpPr>
        <p:spPr>
          <a:xfrm>
            <a:off x="1280160" y="5522976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Live, audited view of emergency capacity across hospitals</a:t>
            </a:r>
            <a:endParaRPr lang="en-US" sz="1300" dirty="0"/>
          </a:p>
        </p:txBody>
      </p:sp>
      <p:sp>
        <p:nvSpPr>
          <p:cNvPr id="17" name="stat tile"/>
          <p:cNvSpPr/>
          <p:nvPr/>
        </p:nvSpPr>
        <p:spPr>
          <a:xfrm>
            <a:off x="7040880" y="1325880"/>
            <a:ext cx="2194560" cy="1463040"/>
          </a:xfrm>
          <a:prstGeom prst="roundRect">
            <a:avLst>
              <a:gd name="adj" fmla="val 75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7223760" y="1463040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7</a:t>
            </a:r>
            <a:endParaRPr lang="en-US" sz="3600" dirty="0"/>
          </a:p>
        </p:txBody>
      </p:sp>
      <p:sp>
        <p:nvSpPr>
          <p:cNvPr id="19" name="Text 14"/>
          <p:cNvSpPr txBox="1"/>
          <p:nvPr/>
        </p:nvSpPr>
        <p:spPr>
          <a:xfrm>
            <a:off x="7223760" y="2167128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suggested technologies used</a:t>
            </a:r>
            <a:endParaRPr lang="en-US" sz="1200" dirty="0"/>
          </a:p>
        </p:txBody>
      </p:sp>
      <p:sp>
        <p:nvSpPr>
          <p:cNvPr id="20" name="stat tile"/>
          <p:cNvSpPr/>
          <p:nvPr/>
        </p:nvSpPr>
        <p:spPr>
          <a:xfrm>
            <a:off x="9372600" y="1325880"/>
            <a:ext cx="2194560" cy="1463040"/>
          </a:xfrm>
          <a:prstGeom prst="roundRect">
            <a:avLst>
              <a:gd name="adj" fmla="val 75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9555480" y="1463040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3600" dirty="0"/>
          </a:p>
        </p:txBody>
      </p:sp>
      <p:sp>
        <p:nvSpPr>
          <p:cNvPr id="22" name="Text 17"/>
          <p:cNvSpPr txBox="1"/>
          <p:nvPr/>
        </p:nvSpPr>
        <p:spPr>
          <a:xfrm>
            <a:off x="9555480" y="2167128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private portals: citizen &amp; hospital</a:t>
            </a:r>
            <a:endParaRPr lang="en-US" sz="1200" dirty="0"/>
          </a:p>
        </p:txBody>
      </p:sp>
      <p:sp>
        <p:nvSpPr>
          <p:cNvPr id="23" name="stat tile"/>
          <p:cNvSpPr/>
          <p:nvPr/>
        </p:nvSpPr>
        <p:spPr>
          <a:xfrm>
            <a:off x="7040880" y="2926080"/>
            <a:ext cx="2194560" cy="1463040"/>
          </a:xfrm>
          <a:prstGeom prst="roundRect">
            <a:avLst>
              <a:gd name="adj" fmla="val 75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7223760" y="3063240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0F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3600" dirty="0"/>
          </a:p>
        </p:txBody>
      </p:sp>
      <p:sp>
        <p:nvSpPr>
          <p:cNvPr id="25" name="Text 20"/>
          <p:cNvSpPr txBox="1"/>
          <p:nvPr/>
        </p:nvSpPr>
        <p:spPr>
          <a:xfrm>
            <a:off x="7223760" y="3767328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Bhopal-region hospitals in the demo</a:t>
            </a:r>
            <a:endParaRPr lang="en-US" sz="1200" dirty="0"/>
          </a:p>
        </p:txBody>
      </p:sp>
      <p:sp>
        <p:nvSpPr>
          <p:cNvPr id="26" name="stat tile"/>
          <p:cNvSpPr/>
          <p:nvPr/>
        </p:nvSpPr>
        <p:spPr>
          <a:xfrm>
            <a:off x="9372600" y="2926080"/>
            <a:ext cx="2194560" cy="1463040"/>
          </a:xfrm>
          <a:prstGeom prst="roundRect">
            <a:avLst>
              <a:gd name="adj" fmla="val 75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7" name="Text 22"/>
          <p:cNvSpPr txBox="1"/>
          <p:nvPr/>
        </p:nvSpPr>
        <p:spPr>
          <a:xfrm>
            <a:off x="9555480" y="3063240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51</a:t>
            </a:r>
            <a:endParaRPr lang="en-US" sz="3600" dirty="0"/>
          </a:p>
        </p:txBody>
      </p:sp>
      <p:sp>
        <p:nvSpPr>
          <p:cNvPr id="28" name="Text 23"/>
          <p:cNvSpPr txBox="1"/>
          <p:nvPr/>
        </p:nvSpPr>
        <p:spPr>
          <a:xfrm>
            <a:off x="9555480" y="3767328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automated tests passing</a:t>
            </a:r>
            <a:endParaRPr lang="en-US" sz="1200" dirty="0"/>
          </a:p>
        </p:txBody>
      </p:sp>
      <p:pic>
        <p:nvPicPr>
          <p:cNvPr id="29" name="citizens illustrati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30967" y="4572000"/>
            <a:ext cx="1791826" cy="1280160"/>
          </a:xfrm>
          <a:prstGeom prst="rect">
            <a:avLst/>
          </a:prstGeom>
        </p:spPr>
      </p:pic>
      <p:sp>
        <p:nvSpPr>
          <p:cNvPr id="30" name="Text 24"/>
          <p:cNvSpPr txBox="1"/>
          <p:nvPr/>
        </p:nvSpPr>
        <p:spPr>
          <a:xfrm>
            <a:off x="7040880" y="59436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Live and deployed: medreach-wtne.onrender.com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Scenario: chest pain at 11 pm in Bhopal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A 62-year-old man has chest pain and is sweating. Here is what happens today, and what happens with Medreach.</a:t>
            </a:r>
            <a:endParaRPr lang="en-US" sz="1600" dirty="0"/>
          </a:p>
        </p:txBody>
      </p:sp>
      <p:sp>
        <p:nvSpPr>
          <p:cNvPr id="4" name="today panel"/>
          <p:cNvSpPr/>
          <p:nvPr/>
        </p:nvSpPr>
        <p:spPr>
          <a:xfrm>
            <a:off x="548640" y="1783080"/>
            <a:ext cx="5120640" cy="3794760"/>
          </a:xfrm>
          <a:prstGeom prst="roundRect">
            <a:avLst>
              <a:gd name="adj" fmla="val 2892"/>
            </a:avLst>
          </a:prstGeom>
          <a:solidFill>
            <a:srgbClr val="FFF1F3"/>
          </a:solidFill>
          <a:ln w="12700">
            <a:solidFill>
              <a:srgbClr val="FFF1F3"/>
            </a:solidFill>
            <a:prstDash val="solid"/>
          </a:ln>
        </p:spPr>
      </p:sp>
      <p:sp>
        <p:nvSpPr>
          <p:cNvPr id="5" name="medreach panel"/>
          <p:cNvSpPr/>
          <p:nvPr/>
        </p:nvSpPr>
        <p:spPr>
          <a:xfrm>
            <a:off x="6492240" y="1783080"/>
            <a:ext cx="5120640" cy="3794760"/>
          </a:xfrm>
          <a:prstGeom prst="roundRect">
            <a:avLst>
              <a:gd name="adj" fmla="val 2892"/>
            </a:avLst>
          </a:prstGeom>
          <a:solidFill>
            <a:srgbClr val="E6F6F4"/>
          </a:solidFill>
          <a:ln w="12700">
            <a:solidFill>
              <a:srgbClr val="E6F6F4"/>
            </a:solidFill>
            <a:prstDash val="solid"/>
          </a:ln>
        </p:spPr>
      </p:sp>
      <p:sp>
        <p:nvSpPr>
          <p:cNvPr id="6" name="today icon circle"/>
          <p:cNvSpPr/>
          <p:nvPr/>
        </p:nvSpPr>
        <p:spPr>
          <a:xfrm>
            <a:off x="777240" y="1965960"/>
            <a:ext cx="502920" cy="502920"/>
          </a:xfrm>
          <a:prstGeom prst="ellipse">
            <a:avLst/>
          </a:prstGeom>
          <a:solidFill>
            <a:srgbClr val="E11D48"/>
          </a:solidFill>
          <a:ln w="12700">
            <a:solidFill>
              <a:srgbClr val="E11D48"/>
            </a:solidFill>
            <a:prstDash val="solid"/>
          </a:ln>
        </p:spPr>
      </p:sp>
      <p:pic>
        <p:nvPicPr>
          <p:cNvPr id="7" name="today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7941" y="2086661"/>
            <a:ext cx="261518" cy="261518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417320" y="201168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</a:t>
            </a:r>
            <a:endParaRPr lang="en-US" sz="2000" dirty="0"/>
          </a:p>
        </p:txBody>
      </p:sp>
      <p:sp>
        <p:nvSpPr>
          <p:cNvPr id="9" name="medreach icon circle"/>
          <p:cNvSpPr/>
          <p:nvPr/>
        </p:nvSpPr>
        <p:spPr>
          <a:xfrm>
            <a:off x="6720840" y="1965960"/>
            <a:ext cx="502920" cy="502920"/>
          </a:xfrm>
          <a:prstGeom prst="ellipse">
            <a:avLst/>
          </a:prstGeom>
          <a:solidFill>
            <a:srgbClr val="0F9488"/>
          </a:solidFill>
          <a:ln w="12700">
            <a:solidFill>
              <a:srgbClr val="0F9488"/>
            </a:solidFill>
            <a:prstDash val="solid"/>
          </a:ln>
        </p:spPr>
      </p:sp>
      <p:pic>
        <p:nvPicPr>
          <p:cNvPr id="10" name="medreach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41541" y="2086661"/>
            <a:ext cx="261518" cy="26151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360920" y="201168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 Medreach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822960" y="2697480"/>
            <a:ext cx="365760" cy="365760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13" name="Text 9"/>
          <p:cNvSpPr txBox="1"/>
          <p:nvPr/>
        </p:nvSpPr>
        <p:spPr>
          <a:xfrm>
            <a:off x="1325880" y="2679192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Family drives to the nearest hospital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1325880" y="297180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Chosen by distance, with no idea of who is on duty</a:t>
            </a:r>
            <a:endParaRPr lang="en-US" sz="1150" dirty="0"/>
          </a:p>
        </p:txBody>
      </p:sp>
      <p:sp>
        <p:nvSpPr>
          <p:cNvPr id="15" name="Text 11"/>
          <p:cNvSpPr txBox="1"/>
          <p:nvPr/>
        </p:nvSpPr>
        <p:spPr>
          <a:xfrm>
            <a:off x="6766560" y="2697480"/>
            <a:ext cx="365760" cy="36576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16" name="Text 12"/>
          <p:cNvSpPr txBox="1"/>
          <p:nvPr/>
        </p:nvSpPr>
        <p:spPr>
          <a:xfrm>
            <a:off x="7269480" y="2679192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Son speaks the emergency in Hindi</a:t>
            </a:r>
            <a:endParaRPr lang="en-US" sz="1400" dirty="0"/>
          </a:p>
        </p:txBody>
      </p:sp>
      <p:sp>
        <p:nvSpPr>
          <p:cNvPr id="17" name="Text 13"/>
          <p:cNvSpPr txBox="1"/>
          <p:nvPr/>
        </p:nvSpPr>
        <p:spPr>
          <a:xfrm>
            <a:off x="7269480" y="297180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“Papa ko seene mein dard hai, pasina aa raha hai”</a:t>
            </a:r>
            <a:endParaRPr lang="en-US" sz="1150" dirty="0"/>
          </a:p>
        </p:txBody>
      </p:sp>
      <p:sp>
        <p:nvSpPr>
          <p:cNvPr id="18" name="Text 14"/>
          <p:cNvSpPr txBox="1"/>
          <p:nvPr/>
        </p:nvSpPr>
        <p:spPr>
          <a:xfrm>
            <a:off x="822960" y="3383280"/>
            <a:ext cx="365760" cy="365760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9" name="Text 15"/>
          <p:cNvSpPr txBox="1"/>
          <p:nvPr/>
        </p:nvSpPr>
        <p:spPr>
          <a:xfrm>
            <a:off x="1325880" y="3364992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No cardiologist on duty, ICU full</a:t>
            </a:r>
            <a:endParaRPr lang="en-US" sz="1400" dirty="0"/>
          </a:p>
        </p:txBody>
      </p:sp>
      <p:sp>
        <p:nvSpPr>
          <p:cNvPr id="20" name="Text 16"/>
          <p:cNvSpPr txBox="1"/>
          <p:nvPr/>
        </p:nvSpPr>
        <p:spPr>
          <a:xfrm>
            <a:off x="1325880" y="365760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Discovered only at the gate</a:t>
            </a:r>
            <a:endParaRPr lang="en-US" sz="1150" dirty="0"/>
          </a:p>
        </p:txBody>
      </p:sp>
      <p:sp>
        <p:nvSpPr>
          <p:cNvPr id="21" name="Text 17"/>
          <p:cNvSpPr txBox="1"/>
          <p:nvPr/>
        </p:nvSpPr>
        <p:spPr>
          <a:xfrm>
            <a:off x="6766560" y="3383280"/>
            <a:ext cx="365760" cy="36576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22" name="Text 18"/>
          <p:cNvSpPr txBox="1"/>
          <p:nvPr/>
        </p:nvSpPr>
        <p:spPr>
          <a:xfrm>
            <a:off x="7269480" y="3364992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AI: may indicate heart attack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7269480" y="365760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Needs 24×7 emergency + cardiologist + ICU</a:t>
            </a:r>
            <a:endParaRPr lang="en-US" sz="1150" dirty="0"/>
          </a:p>
        </p:txBody>
      </p:sp>
      <p:sp>
        <p:nvSpPr>
          <p:cNvPr id="24" name="Text 20"/>
          <p:cNvSpPr txBox="1"/>
          <p:nvPr/>
        </p:nvSpPr>
        <p:spPr>
          <a:xfrm>
            <a:off x="822960" y="4069080"/>
            <a:ext cx="365760" cy="365760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25" name="Text 21"/>
          <p:cNvSpPr txBox="1"/>
          <p:nvPr/>
        </p:nvSpPr>
        <p:spPr>
          <a:xfrm>
            <a:off x="1325880" y="4050792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Referred onward: second trip</a:t>
            </a:r>
            <a:endParaRPr lang="en-US" sz="1400" dirty="0"/>
          </a:p>
        </p:txBody>
      </p:sp>
      <p:sp>
        <p:nvSpPr>
          <p:cNvPr id="26" name="Text 22"/>
          <p:cNvSpPr txBox="1"/>
          <p:nvPr/>
        </p:nvSpPr>
        <p:spPr>
          <a:xfrm>
            <a:off x="1325880" y="434340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Another drive across the city at night</a:t>
            </a:r>
            <a:endParaRPr lang="en-US" sz="1150" dirty="0"/>
          </a:p>
        </p:txBody>
      </p:sp>
      <p:sp>
        <p:nvSpPr>
          <p:cNvPr id="27" name="Text 23"/>
          <p:cNvSpPr txBox="1"/>
          <p:nvPr/>
        </p:nvSpPr>
        <p:spPr>
          <a:xfrm>
            <a:off x="6766560" y="4069080"/>
            <a:ext cx="365760" cy="36576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28" name="Text 24"/>
          <p:cNvSpPr txBox="1"/>
          <p:nvPr/>
        </p:nvSpPr>
        <p:spPr>
          <a:xfrm>
            <a:off x="7269480" y="4050792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Bansal Hospital accepts, bay Resus-02</a:t>
            </a:r>
            <a:endParaRPr lang="en-US" sz="1400" dirty="0"/>
          </a:p>
        </p:txBody>
      </p:sp>
      <p:sp>
        <p:nvSpPr>
          <p:cNvPr id="29" name="Text 25"/>
          <p:cNvSpPr txBox="1"/>
          <p:nvPr/>
        </p:nvSpPr>
        <p:spPr>
          <a:xfrm>
            <a:off x="7269480" y="434340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Named officer accepts before the family leaves</a:t>
            </a:r>
            <a:endParaRPr lang="en-US" sz="1150" dirty="0"/>
          </a:p>
        </p:txBody>
      </p:sp>
      <p:sp>
        <p:nvSpPr>
          <p:cNvPr id="30" name="Text 26"/>
          <p:cNvSpPr txBox="1"/>
          <p:nvPr/>
        </p:nvSpPr>
        <p:spPr>
          <a:xfrm>
            <a:off x="822960" y="4754880"/>
            <a:ext cx="365760" cy="365760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31" name="Text 27"/>
          <p:cNvSpPr txBox="1"/>
          <p:nvPr/>
        </p:nvSpPr>
        <p:spPr>
          <a:xfrm>
            <a:off x="1325880" y="4736592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ER unprepared; golden hour lost</a:t>
            </a:r>
            <a:endParaRPr lang="en-US" sz="1400" dirty="0"/>
          </a:p>
        </p:txBody>
      </p:sp>
      <p:sp>
        <p:nvSpPr>
          <p:cNvPr id="32" name="Text 28"/>
          <p:cNvSpPr txBox="1"/>
          <p:nvPr/>
        </p:nvSpPr>
        <p:spPr>
          <a:xfrm>
            <a:off x="1325880" y="502920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No notes, no bay, no specialist called in advance</a:t>
            </a:r>
            <a:endParaRPr lang="en-US" sz="1150" dirty="0"/>
          </a:p>
        </p:txBody>
      </p:sp>
      <p:sp>
        <p:nvSpPr>
          <p:cNvPr id="33" name="Text 29"/>
          <p:cNvSpPr txBox="1"/>
          <p:nvPr/>
        </p:nvSpPr>
        <p:spPr>
          <a:xfrm>
            <a:off x="6766560" y="4754880"/>
            <a:ext cx="365760" cy="36576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34" name="Text 30"/>
          <p:cNvSpPr txBox="1"/>
          <p:nvPr/>
        </p:nvSpPr>
        <p:spPr>
          <a:xfrm>
            <a:off x="7269480" y="4736592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Ambulance tracked live</a:t>
            </a:r>
            <a:endParaRPr lang="en-US" sz="1400" dirty="0"/>
          </a:p>
        </p:txBody>
      </p:sp>
      <p:sp>
        <p:nvSpPr>
          <p:cNvPr id="35" name="Text 31"/>
          <p:cNvSpPr txBox="1"/>
          <p:nvPr/>
        </p:nvSpPr>
        <p:spPr>
          <a:xfrm>
            <a:off x="7269480" y="502920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ER read the AI pre-arrival note in advance</a:t>
            </a:r>
            <a:endParaRPr lang="en-US" sz="1150" dirty="0"/>
          </a:p>
        </p:txBody>
      </p:sp>
      <p:sp>
        <p:nvSpPr>
          <p:cNvPr id="36" name="versus arrow circle"/>
          <p:cNvSpPr/>
          <p:nvPr/>
        </p:nvSpPr>
        <p:spPr>
          <a:xfrm>
            <a:off x="5788152" y="3383280"/>
            <a:ext cx="594360" cy="594360"/>
          </a:xfrm>
          <a:prstGeom prst="ellipse">
            <a:avLst/>
          </a:prstGeom>
          <a:solidFill>
            <a:srgbClr val="0B1427"/>
          </a:solidFill>
          <a:ln w="12700">
            <a:solidFill>
              <a:srgbClr val="0B1427"/>
            </a:solidFill>
            <a:prstDash val="solid"/>
          </a:ln>
        </p:spPr>
      </p:sp>
      <p:pic>
        <p:nvPicPr>
          <p:cNvPr id="37" name="versus arrow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0798" y="3525926"/>
            <a:ext cx="309067" cy="309067"/>
          </a:xfrm>
          <a:prstGeom prst="rect">
            <a:avLst/>
          </a:prstGeom>
        </p:spPr>
      </p:pic>
      <p:sp>
        <p:nvSpPr>
          <p:cNvPr id="38" name="result band"/>
          <p:cNvSpPr/>
          <p:nvPr/>
        </p:nvSpPr>
        <p:spPr>
          <a:xfrm>
            <a:off x="548640" y="5715000"/>
            <a:ext cx="11064240" cy="502920"/>
          </a:xfrm>
          <a:prstGeom prst="roundRect">
            <a:avLst>
              <a:gd name="adj" fmla="val 2181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9" name="Text 34"/>
          <p:cNvSpPr txBox="1"/>
          <p:nvPr/>
        </p:nvSpPr>
        <p:spPr>
          <a:xfrm>
            <a:off x="777240" y="5715000"/>
            <a:ext cx="10698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Result: 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one journey instead of two, and the hospital is ready when the patient arrives. (Illustrative scenario; time saved will be measured in the pilot.)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Overview: why patients lose the golden hour</a:t>
            </a:r>
            <a:endParaRPr lang="en-US" sz="3400" dirty="0"/>
          </a:p>
        </p:txBody>
      </p:sp>
      <p:sp>
        <p:nvSpPr>
          <p:cNvPr id="3" name="stat card"/>
          <p:cNvSpPr/>
          <p:nvPr/>
        </p:nvSpPr>
        <p:spPr>
          <a:xfrm>
            <a:off x="548640" y="1325880"/>
            <a:ext cx="3931920" cy="3154680"/>
          </a:xfrm>
          <a:prstGeom prst="roundRect">
            <a:avLst>
              <a:gd name="adj" fmla="val 3478"/>
            </a:avLst>
          </a:prstGeom>
          <a:solidFill>
            <a:srgbClr val="FFF1F3"/>
          </a:solidFill>
          <a:ln w="12700">
            <a:solidFill>
              <a:srgbClr val="FFF1F3"/>
            </a:solidFill>
            <a:prstDash val="solid"/>
          </a:ln>
        </p:spPr>
      </p:sp>
      <p:sp>
        <p:nvSpPr>
          <p:cNvPr id="4" name="stat icon circle"/>
          <p:cNvSpPr/>
          <p:nvPr/>
        </p:nvSpPr>
        <p:spPr>
          <a:xfrm>
            <a:off x="777240" y="1554480"/>
            <a:ext cx="502920" cy="502920"/>
          </a:xfrm>
          <a:prstGeom prst="ellipse">
            <a:avLst/>
          </a:prstGeom>
          <a:solidFill>
            <a:srgbClr val="E11D48"/>
          </a:solidFill>
          <a:ln w="12700">
            <a:solidFill>
              <a:srgbClr val="E11D48"/>
            </a:solidFill>
            <a:prstDash val="solid"/>
          </a:ln>
        </p:spPr>
      </p:sp>
      <p:pic>
        <p:nvPicPr>
          <p:cNvPr id="5" name="stat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7941" y="1675181"/>
            <a:ext cx="261518" cy="26151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7240" y="2194560"/>
            <a:ext cx="3566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1,68,491</a:t>
            </a:r>
            <a:endParaRPr lang="en-US" sz="54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310896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road-accident deaths in India, 2022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520440"/>
            <a:ext cx="3566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Source: MoRTH, “Road Accidents in India 2022”. Heart attacks, strokes, burns and obstetric emergencies add many more.</a:t>
            </a:r>
            <a:endParaRPr lang="en-US" sz="1200" dirty="0"/>
          </a:p>
        </p:txBody>
      </p:sp>
      <p:sp>
        <p:nvSpPr>
          <p:cNvPr id="9" name="cause card"/>
          <p:cNvSpPr/>
          <p:nvPr/>
        </p:nvSpPr>
        <p:spPr>
          <a:xfrm>
            <a:off x="4709160" y="1325880"/>
            <a:ext cx="3291840" cy="960120"/>
          </a:xfrm>
          <a:prstGeom prst="roundRect">
            <a:avLst>
              <a:gd name="adj" fmla="val 1142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Nearest ≠ capable circle"/>
          <p:cNvSpPr/>
          <p:nvPr/>
        </p:nvSpPr>
        <p:spPr>
          <a:xfrm>
            <a:off x="4873752" y="1545336"/>
            <a:ext cx="502920" cy="502920"/>
          </a:xfrm>
          <a:prstGeom prst="ellipse">
            <a:avLst/>
          </a:prstGeom>
          <a:solidFill>
            <a:srgbClr val="E11D48"/>
          </a:solidFill>
          <a:ln w="12700">
            <a:solidFill>
              <a:srgbClr val="E11D48"/>
            </a:solidFill>
            <a:prstDash val="solid"/>
          </a:ln>
        </p:spPr>
      </p:sp>
      <p:pic>
        <p:nvPicPr>
          <p:cNvPr id="11" name="Nearest ≠ capabl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94453" y="1666037"/>
            <a:ext cx="261518" cy="261518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513832" y="141732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Nearest ≠ capable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5513832" y="1719072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Maps don’t know if the specialist is on duty, the ICU is free or the CT works now.</a:t>
            </a:r>
            <a:endParaRPr lang="en-US" sz="1100" dirty="0"/>
          </a:p>
        </p:txBody>
      </p:sp>
      <p:sp>
        <p:nvSpPr>
          <p:cNvPr id="14" name="cause card"/>
          <p:cNvSpPr/>
          <p:nvPr/>
        </p:nvSpPr>
        <p:spPr>
          <a:xfrm>
            <a:off x="8183880" y="1325880"/>
            <a:ext cx="3291840" cy="960120"/>
          </a:xfrm>
          <a:prstGeom prst="roundRect">
            <a:avLst>
              <a:gd name="adj" fmla="val 1142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No trusted live status circle"/>
          <p:cNvSpPr/>
          <p:nvPr/>
        </p:nvSpPr>
        <p:spPr>
          <a:xfrm>
            <a:off x="8348472" y="1545336"/>
            <a:ext cx="502920" cy="502920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pic>
        <p:nvPicPr>
          <p:cNvPr id="16" name="No trusted live status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69173" y="1666037"/>
            <a:ext cx="261518" cy="261518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8988552" y="141732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No trusted live status</a:t>
            </a:r>
            <a:endParaRPr lang="en-US" sz="1400" dirty="0"/>
          </a:p>
        </p:txBody>
      </p:sp>
      <p:sp>
        <p:nvSpPr>
          <p:cNvPr id="18" name="Text 13"/>
          <p:cNvSpPr txBox="1"/>
          <p:nvPr/>
        </p:nvSpPr>
        <p:spPr>
          <a:xfrm>
            <a:off x="8988552" y="1719072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Availability is unpublished or outdated, with no owner and no time stamp.</a:t>
            </a:r>
            <a:endParaRPr lang="en-US" sz="1100" dirty="0"/>
          </a:p>
        </p:txBody>
      </p:sp>
      <p:sp>
        <p:nvSpPr>
          <p:cNvPr id="19" name="cause card"/>
          <p:cNvSpPr/>
          <p:nvPr/>
        </p:nvSpPr>
        <p:spPr>
          <a:xfrm>
            <a:off x="4709160" y="2395728"/>
            <a:ext cx="3291840" cy="960120"/>
          </a:xfrm>
          <a:prstGeom prst="roundRect">
            <a:avLst>
              <a:gd name="adj" fmla="val 1142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No acceptance first circle"/>
          <p:cNvSpPr/>
          <p:nvPr/>
        </p:nvSpPr>
        <p:spPr>
          <a:xfrm>
            <a:off x="4873752" y="2615184"/>
            <a:ext cx="502920" cy="50292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21" name="No acceptance first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94453" y="2735885"/>
            <a:ext cx="261518" cy="261518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5513832" y="2487168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No acceptance first</a:t>
            </a:r>
            <a:endParaRPr lang="en-US" sz="1400" dirty="0"/>
          </a:p>
        </p:txBody>
      </p:sp>
      <p:sp>
        <p:nvSpPr>
          <p:cNvPr id="23" name="Text 17"/>
          <p:cNvSpPr txBox="1"/>
          <p:nvPr/>
        </p:nvSpPr>
        <p:spPr>
          <a:xfrm>
            <a:off x="5513832" y="2788920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Families arrive unannounced; refusals happen at the gate.</a:t>
            </a:r>
            <a:endParaRPr lang="en-US" sz="1100" dirty="0"/>
          </a:p>
        </p:txBody>
      </p:sp>
      <p:sp>
        <p:nvSpPr>
          <p:cNvPr id="24" name="cause card"/>
          <p:cNvSpPr/>
          <p:nvPr/>
        </p:nvSpPr>
        <p:spPr>
          <a:xfrm>
            <a:off x="8183880" y="2395728"/>
            <a:ext cx="3291840" cy="960120"/>
          </a:xfrm>
          <a:prstGeom prst="roundRect">
            <a:avLst>
              <a:gd name="adj" fmla="val 1142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5" name="Panic &amp; language circle"/>
          <p:cNvSpPr/>
          <p:nvPr/>
        </p:nvSpPr>
        <p:spPr>
          <a:xfrm>
            <a:off x="8348472" y="2615184"/>
            <a:ext cx="502920" cy="502920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pic>
        <p:nvPicPr>
          <p:cNvPr id="26" name="Panic &amp; language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69173" y="2735885"/>
            <a:ext cx="261518" cy="261518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8988552" y="2487168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Panic &amp; language</a:t>
            </a:r>
            <a:endParaRPr lang="en-US" sz="1400" dirty="0"/>
          </a:p>
        </p:txBody>
      </p:sp>
      <p:sp>
        <p:nvSpPr>
          <p:cNvPr id="28" name="Text 21"/>
          <p:cNvSpPr txBox="1"/>
          <p:nvPr/>
        </p:nvSpPr>
        <p:spPr>
          <a:xfrm>
            <a:off x="8988552" y="2788920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Hard to type forms in panic; many prefer to speak in Hindi.</a:t>
            </a:r>
            <a:endParaRPr lang="en-US" sz="1100" dirty="0"/>
          </a:p>
        </p:txBody>
      </p:sp>
      <p:sp>
        <p:nvSpPr>
          <p:cNvPr id="29" name="cause card"/>
          <p:cNvSpPr/>
          <p:nvPr/>
        </p:nvSpPr>
        <p:spPr>
          <a:xfrm>
            <a:off x="4709160" y="3465576"/>
            <a:ext cx="3291840" cy="960120"/>
          </a:xfrm>
          <a:prstGeom prst="roundRect">
            <a:avLst>
              <a:gd name="adj" fmla="val 1142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0" name="People living alone circle"/>
          <p:cNvSpPr/>
          <p:nvPr/>
        </p:nvSpPr>
        <p:spPr>
          <a:xfrm>
            <a:off x="4873752" y="3685032"/>
            <a:ext cx="502920" cy="502920"/>
          </a:xfrm>
          <a:prstGeom prst="ellipse">
            <a:avLst/>
          </a:prstGeom>
          <a:solidFill>
            <a:srgbClr val="0F9488"/>
          </a:solidFill>
          <a:ln w="12700">
            <a:solidFill>
              <a:srgbClr val="0F9488"/>
            </a:solidFill>
            <a:prstDash val="solid"/>
          </a:ln>
        </p:spPr>
      </p:sp>
      <p:pic>
        <p:nvPicPr>
          <p:cNvPr id="31" name="People living alone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94453" y="3805733"/>
            <a:ext cx="261518" cy="261518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5513832" y="3557016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People living alone</a:t>
            </a:r>
            <a:endParaRPr lang="en-US" sz="1400" dirty="0"/>
          </a:p>
        </p:txBody>
      </p:sp>
      <p:sp>
        <p:nvSpPr>
          <p:cNvPr id="33" name="Text 25"/>
          <p:cNvSpPr txBox="1"/>
          <p:nvPr/>
        </p:nvSpPr>
        <p:spPr>
          <a:xfrm>
            <a:off x="5513832" y="3858768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Cannot call hospitals, arrange transport and inform family at once.</a:t>
            </a:r>
            <a:endParaRPr lang="en-US" sz="1100" dirty="0"/>
          </a:p>
        </p:txBody>
      </p:sp>
      <p:sp>
        <p:nvSpPr>
          <p:cNvPr id="34" name="cause card"/>
          <p:cNvSpPr/>
          <p:nvPr/>
        </p:nvSpPr>
        <p:spPr>
          <a:xfrm>
            <a:off x="8183880" y="3465576"/>
            <a:ext cx="3291840" cy="960120"/>
          </a:xfrm>
          <a:prstGeom prst="roundRect">
            <a:avLst>
              <a:gd name="adj" fmla="val 1142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5" name="Lost information circle"/>
          <p:cNvSpPr/>
          <p:nvPr/>
        </p:nvSpPr>
        <p:spPr>
          <a:xfrm>
            <a:off x="8348472" y="3685032"/>
            <a:ext cx="502920" cy="502920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pic>
        <p:nvPicPr>
          <p:cNvPr id="36" name="Lost information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69173" y="3805733"/>
            <a:ext cx="261518" cy="261518"/>
          </a:xfrm>
          <a:prstGeom prst="rect">
            <a:avLst/>
          </a:prstGeom>
        </p:spPr>
      </p:pic>
      <p:sp>
        <p:nvSpPr>
          <p:cNvPr id="37" name="Text 28"/>
          <p:cNvSpPr txBox="1"/>
          <p:nvPr/>
        </p:nvSpPr>
        <p:spPr>
          <a:xfrm>
            <a:off x="8988552" y="3557016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Lost information</a:t>
            </a:r>
            <a:endParaRPr lang="en-US" sz="1400" dirty="0"/>
          </a:p>
        </p:txBody>
      </p:sp>
      <p:sp>
        <p:nvSpPr>
          <p:cNvPr id="38" name="Text 29"/>
          <p:cNvSpPr txBox="1"/>
          <p:nvPr/>
        </p:nvSpPr>
        <p:spPr>
          <a:xfrm>
            <a:off x="8988552" y="3858768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Allergies and ABHA / Ayushman details don’t reach the ER doctor.</a:t>
            </a:r>
            <a:endParaRPr lang="en-US" sz="1100" dirty="0"/>
          </a:p>
        </p:txBody>
      </p:sp>
      <p:sp>
        <p:nvSpPr>
          <p:cNvPr id="39" name="Text 30"/>
          <p:cNvSpPr txBox="1"/>
          <p:nvPr/>
        </p:nvSpPr>
        <p:spPr>
          <a:xfrm>
            <a:off x="548640" y="4709160"/>
            <a:ext cx="5486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Who is affected</a:t>
            </a:r>
            <a:endParaRPr lang="en-US" sz="1600" dirty="0"/>
          </a:p>
        </p:txBody>
      </p:sp>
      <p:sp>
        <p:nvSpPr>
          <p:cNvPr id="40" name="Patients &amp; families circle"/>
          <p:cNvSpPr/>
          <p:nvPr/>
        </p:nvSpPr>
        <p:spPr>
          <a:xfrm>
            <a:off x="548640" y="5166360"/>
            <a:ext cx="457200" cy="457200"/>
          </a:xfrm>
          <a:prstGeom prst="ellipse">
            <a:avLst/>
          </a:prstGeom>
          <a:solidFill>
            <a:srgbClr val="E11D48"/>
          </a:solidFill>
          <a:ln w="12700">
            <a:solidFill>
              <a:srgbClr val="E11D48"/>
            </a:solidFill>
            <a:prstDash val="solid"/>
          </a:ln>
        </p:spPr>
      </p:sp>
      <p:pic>
        <p:nvPicPr>
          <p:cNvPr id="41" name="Patients &amp; families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8368" y="5276088"/>
            <a:ext cx="237744" cy="237744"/>
          </a:xfrm>
          <a:prstGeom prst="rect">
            <a:avLst/>
          </a:prstGeom>
        </p:spPr>
      </p:pic>
      <p:sp>
        <p:nvSpPr>
          <p:cNvPr id="42" name="Text 32"/>
          <p:cNvSpPr txBox="1"/>
          <p:nvPr/>
        </p:nvSpPr>
        <p:spPr>
          <a:xfrm>
            <a:off x="1097280" y="5120640"/>
            <a:ext cx="2148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Patients &amp; families</a:t>
            </a:r>
            <a:endParaRPr lang="en-US" sz="1300" dirty="0"/>
          </a:p>
        </p:txBody>
      </p:sp>
      <p:sp>
        <p:nvSpPr>
          <p:cNvPr id="43" name="Text 33"/>
          <p:cNvSpPr txBox="1"/>
          <p:nvPr/>
        </p:nvSpPr>
        <p:spPr>
          <a:xfrm>
            <a:off x="1097280" y="5422392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Wasted trips, refusals, delayed care</a:t>
            </a:r>
            <a:endParaRPr lang="en-US" sz="1100" dirty="0"/>
          </a:p>
        </p:txBody>
      </p:sp>
      <p:sp>
        <p:nvSpPr>
          <p:cNvPr id="44" name="Rural citizens &amp; ASHA workers circle"/>
          <p:cNvSpPr/>
          <p:nvPr/>
        </p:nvSpPr>
        <p:spPr>
          <a:xfrm>
            <a:off x="3355848" y="5166360"/>
            <a:ext cx="457200" cy="457200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pic>
        <p:nvPicPr>
          <p:cNvPr id="45" name="Rural citizens &amp; ASHA workers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465576" y="5276088"/>
            <a:ext cx="237744" cy="237744"/>
          </a:xfrm>
          <a:prstGeom prst="rect">
            <a:avLst/>
          </a:prstGeom>
        </p:spPr>
      </p:pic>
      <p:sp>
        <p:nvSpPr>
          <p:cNvPr id="46" name="Text 35"/>
          <p:cNvSpPr txBox="1"/>
          <p:nvPr/>
        </p:nvSpPr>
        <p:spPr>
          <a:xfrm>
            <a:off x="3904488" y="5120640"/>
            <a:ext cx="2148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Rural citizens &amp; ASHA workers</a:t>
            </a:r>
            <a:endParaRPr lang="en-US" sz="1300" dirty="0"/>
          </a:p>
        </p:txBody>
      </p:sp>
      <p:sp>
        <p:nvSpPr>
          <p:cNvPr id="47" name="Text 36"/>
          <p:cNvSpPr txBox="1"/>
          <p:nvPr/>
        </p:nvSpPr>
        <p:spPr>
          <a:xfrm>
            <a:off x="3904488" y="5422392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Long distances make a wrong choice costly</a:t>
            </a:r>
            <a:endParaRPr lang="en-US" sz="1100" dirty="0"/>
          </a:p>
        </p:txBody>
      </p:sp>
      <p:sp>
        <p:nvSpPr>
          <p:cNvPr id="48" name="Hospital ER teams circle"/>
          <p:cNvSpPr/>
          <p:nvPr/>
        </p:nvSpPr>
        <p:spPr>
          <a:xfrm>
            <a:off x="6163056" y="5166360"/>
            <a:ext cx="457200" cy="457200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pic>
        <p:nvPicPr>
          <p:cNvPr id="49" name="Hospital ER teams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272784" y="5276088"/>
            <a:ext cx="237744" cy="237744"/>
          </a:xfrm>
          <a:prstGeom prst="rect">
            <a:avLst/>
          </a:prstGeom>
        </p:spPr>
      </p:pic>
      <p:sp>
        <p:nvSpPr>
          <p:cNvPr id="50" name="Text 38"/>
          <p:cNvSpPr txBox="1"/>
          <p:nvPr/>
        </p:nvSpPr>
        <p:spPr>
          <a:xfrm>
            <a:off x="6711696" y="5120640"/>
            <a:ext cx="2148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Hospital ER teams</a:t>
            </a:r>
            <a:endParaRPr lang="en-US" sz="1300" dirty="0"/>
          </a:p>
        </p:txBody>
      </p:sp>
      <p:sp>
        <p:nvSpPr>
          <p:cNvPr id="51" name="Text 39"/>
          <p:cNvSpPr txBox="1"/>
          <p:nvPr/>
        </p:nvSpPr>
        <p:spPr>
          <a:xfrm>
            <a:off x="6711696" y="5422392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Unannounced critical arrivals, crowding</a:t>
            </a:r>
            <a:endParaRPr lang="en-US" sz="1100" dirty="0"/>
          </a:p>
        </p:txBody>
      </p:sp>
      <p:sp>
        <p:nvSpPr>
          <p:cNvPr id="52" name="Health department circle"/>
          <p:cNvSpPr/>
          <p:nvPr/>
        </p:nvSpPr>
        <p:spPr>
          <a:xfrm>
            <a:off x="8970264" y="5166360"/>
            <a:ext cx="457200" cy="457200"/>
          </a:xfrm>
          <a:prstGeom prst="ellipse">
            <a:avLst/>
          </a:prstGeom>
          <a:solidFill>
            <a:srgbClr val="0F9488"/>
          </a:solidFill>
          <a:ln w="12700">
            <a:solidFill>
              <a:srgbClr val="0F9488"/>
            </a:solidFill>
            <a:prstDash val="solid"/>
          </a:ln>
        </p:spPr>
      </p:sp>
      <p:pic>
        <p:nvPicPr>
          <p:cNvPr id="53" name="Health department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079992" y="5276088"/>
            <a:ext cx="237744" cy="237744"/>
          </a:xfrm>
          <a:prstGeom prst="rect">
            <a:avLst/>
          </a:prstGeom>
        </p:spPr>
      </p:pic>
      <p:sp>
        <p:nvSpPr>
          <p:cNvPr id="54" name="Text 41"/>
          <p:cNvSpPr txBox="1"/>
          <p:nvPr/>
        </p:nvSpPr>
        <p:spPr>
          <a:xfrm>
            <a:off x="9518904" y="5120640"/>
            <a:ext cx="2148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Health department</a:t>
            </a:r>
            <a:endParaRPr lang="en-US" sz="1300" dirty="0"/>
          </a:p>
        </p:txBody>
      </p:sp>
      <p:sp>
        <p:nvSpPr>
          <p:cNvPr id="55" name="Text 42"/>
          <p:cNvSpPr txBox="1"/>
          <p:nvPr/>
        </p:nvSpPr>
        <p:spPr>
          <a:xfrm>
            <a:off x="9518904" y="5422392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No live picture of emergency capacity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Solution: one flow from emergency to confirmed bed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An emergency coordination platform, not a diagnosis app. Every step of our flowchart is implemented and live.</a:t>
            </a:r>
            <a:endParaRPr lang="en-US" sz="1600" dirty="0"/>
          </a:p>
        </p:txBody>
      </p:sp>
      <p:sp>
        <p:nvSpPr>
          <p:cNvPr id="4" name="flow line"/>
          <p:cNvSpPr/>
          <p:nvPr/>
        </p:nvSpPr>
        <p:spPr>
          <a:xfrm>
            <a:off x="1338943" y="2331720"/>
            <a:ext cx="9483634" cy="0"/>
          </a:xfrm>
          <a:prstGeom prst="line">
            <a:avLst/>
          </a:prstGeom>
          <a:noFill/>
          <a:ln w="38100">
            <a:solidFill>
              <a:srgbClr val="DCE4EE"/>
            </a:solidFill>
            <a:prstDash val="dash"/>
          </a:ln>
        </p:spPr>
      </p:sp>
      <p:sp>
        <p:nvSpPr>
          <p:cNvPr id="5" name="Emergency icon circle"/>
          <p:cNvSpPr/>
          <p:nvPr/>
        </p:nvSpPr>
        <p:spPr>
          <a:xfrm>
            <a:off x="881743" y="1874520"/>
            <a:ext cx="914400" cy="914400"/>
          </a:xfrm>
          <a:prstGeom prst="ellipse">
            <a:avLst/>
          </a:prstGeom>
          <a:solidFill>
            <a:srgbClr val="E11D48"/>
          </a:solidFill>
          <a:ln w="12700">
            <a:solidFill>
              <a:srgbClr val="E11D48"/>
            </a:solidFill>
            <a:prstDash val="solid"/>
          </a:ln>
        </p:spPr>
      </p:sp>
      <p:pic>
        <p:nvPicPr>
          <p:cNvPr id="6" name="Emergency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1199" y="2093976"/>
            <a:ext cx="475488" cy="47548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40111" y="1755648"/>
            <a:ext cx="310896" cy="310896"/>
          </a:xfrm>
          <a:prstGeom prst="ellipse">
            <a:avLst/>
          </a:prstGeom>
          <a:solidFill>
            <a:schemeClr val="tx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594360" y="2907792"/>
            <a:ext cx="148916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Emergency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621792" y="3246120"/>
            <a:ext cx="143430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Speak, type, photo or scan a health card</a:t>
            </a:r>
            <a:endParaRPr lang="en-US" sz="1200" dirty="0"/>
          </a:p>
        </p:txBody>
      </p:sp>
      <p:sp>
        <p:nvSpPr>
          <p:cNvPr id="10" name="AI understands icon circle"/>
          <p:cNvSpPr/>
          <p:nvPr/>
        </p:nvSpPr>
        <p:spPr>
          <a:xfrm>
            <a:off x="2462349" y="1874520"/>
            <a:ext cx="914400" cy="91440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11" name="AI understands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81805" y="2093976"/>
            <a:ext cx="475488" cy="475488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3120717" y="1755648"/>
            <a:ext cx="310896" cy="310896"/>
          </a:xfrm>
          <a:prstGeom prst="ellipse">
            <a:avLst/>
          </a:prstGeom>
          <a:solidFill>
            <a:schemeClr val="tx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</a:t>
            </a:r>
            <a:endParaRPr lang="en-US" sz="1100" dirty="0"/>
          </a:p>
        </p:txBody>
      </p:sp>
      <p:sp>
        <p:nvSpPr>
          <p:cNvPr id="13" name="Text 9"/>
          <p:cNvSpPr txBox="1"/>
          <p:nvPr/>
        </p:nvSpPr>
        <p:spPr>
          <a:xfrm>
            <a:off x="2174966" y="2907792"/>
            <a:ext cx="148916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AI understands</a:t>
            </a:r>
            <a:endParaRPr lang="en-US" sz="1500" dirty="0"/>
          </a:p>
        </p:txBody>
      </p:sp>
      <p:sp>
        <p:nvSpPr>
          <p:cNvPr id="14" name="Text 10"/>
          <p:cNvSpPr txBox="1"/>
          <p:nvPr/>
        </p:nvSpPr>
        <p:spPr>
          <a:xfrm>
            <a:off x="2202398" y="3246120"/>
            <a:ext cx="143430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Type, severity, red flags, needed capabilities</a:t>
            </a:r>
            <a:endParaRPr lang="en-US" sz="1200" dirty="0"/>
          </a:p>
        </p:txBody>
      </p:sp>
      <p:sp>
        <p:nvSpPr>
          <p:cNvPr id="15" name="Match icon circle"/>
          <p:cNvSpPr/>
          <p:nvPr/>
        </p:nvSpPr>
        <p:spPr>
          <a:xfrm>
            <a:off x="4042954" y="1874520"/>
            <a:ext cx="914400" cy="914400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pic>
        <p:nvPicPr>
          <p:cNvPr id="16" name="Match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2410" y="2093976"/>
            <a:ext cx="475488" cy="475488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4701322" y="1755648"/>
            <a:ext cx="310896" cy="310896"/>
          </a:xfrm>
          <a:prstGeom prst="ellipse">
            <a:avLst/>
          </a:prstGeom>
          <a:solidFill>
            <a:schemeClr val="tx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3</a:t>
            </a:r>
            <a:endParaRPr lang="en-US" sz="1100" dirty="0"/>
          </a:p>
        </p:txBody>
      </p:sp>
      <p:sp>
        <p:nvSpPr>
          <p:cNvPr id="18" name="Text 13"/>
          <p:cNvSpPr txBox="1"/>
          <p:nvPr/>
        </p:nvSpPr>
        <p:spPr>
          <a:xfrm>
            <a:off x="3755571" y="2907792"/>
            <a:ext cx="148916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Match</a:t>
            </a:r>
            <a:endParaRPr lang="en-US" sz="1500" dirty="0"/>
          </a:p>
        </p:txBody>
      </p:sp>
      <p:sp>
        <p:nvSpPr>
          <p:cNvPr id="19" name="Text 14"/>
          <p:cNvSpPr txBox="1"/>
          <p:nvPr/>
        </p:nvSpPr>
        <p:spPr>
          <a:xfrm>
            <a:off x="3783003" y="3246120"/>
            <a:ext cx="143430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Specialist on duty, equipment working, bed</a:t>
            </a:r>
            <a:endParaRPr lang="en-US" sz="1200" dirty="0"/>
          </a:p>
        </p:txBody>
      </p:sp>
      <p:sp>
        <p:nvSpPr>
          <p:cNvPr id="20" name="Verify icon circle"/>
          <p:cNvSpPr/>
          <p:nvPr/>
        </p:nvSpPr>
        <p:spPr>
          <a:xfrm>
            <a:off x="5623560" y="1874520"/>
            <a:ext cx="914400" cy="914400"/>
          </a:xfrm>
          <a:prstGeom prst="ellipse">
            <a:avLst/>
          </a:prstGeom>
          <a:solidFill>
            <a:srgbClr val="0F9488"/>
          </a:solidFill>
          <a:ln w="12700">
            <a:solidFill>
              <a:srgbClr val="0F9488"/>
            </a:solidFill>
            <a:prstDash val="solid"/>
          </a:ln>
        </p:spPr>
      </p:sp>
      <p:pic>
        <p:nvPicPr>
          <p:cNvPr id="21" name="Verify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43016" y="2093976"/>
            <a:ext cx="475488" cy="475488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6281928" y="1755648"/>
            <a:ext cx="310896" cy="310896"/>
          </a:xfrm>
          <a:prstGeom prst="ellipse">
            <a:avLst/>
          </a:prstGeom>
          <a:solidFill>
            <a:schemeClr val="tx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4</a:t>
            </a:r>
            <a:endParaRPr lang="en-US" sz="1100" dirty="0"/>
          </a:p>
        </p:txBody>
      </p:sp>
      <p:sp>
        <p:nvSpPr>
          <p:cNvPr id="23" name="Text 17"/>
          <p:cNvSpPr txBox="1"/>
          <p:nvPr/>
        </p:nvSpPr>
        <p:spPr>
          <a:xfrm>
            <a:off x="5336177" y="2907792"/>
            <a:ext cx="148916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Verify</a:t>
            </a:r>
            <a:endParaRPr lang="en-US" sz="1500" dirty="0"/>
          </a:p>
        </p:txBody>
      </p:sp>
      <p:sp>
        <p:nvSpPr>
          <p:cNvPr id="24" name="Text 18"/>
          <p:cNvSpPr txBox="1"/>
          <p:nvPr/>
        </p:nvSpPr>
        <p:spPr>
          <a:xfrm>
            <a:off x="5363609" y="3246120"/>
            <a:ext cx="143430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Freshness: who updated, and when</a:t>
            </a:r>
            <a:endParaRPr lang="en-US" sz="1200" dirty="0"/>
          </a:p>
        </p:txBody>
      </p:sp>
      <p:sp>
        <p:nvSpPr>
          <p:cNvPr id="25" name="Accepted icon circle"/>
          <p:cNvSpPr/>
          <p:nvPr/>
        </p:nvSpPr>
        <p:spPr>
          <a:xfrm>
            <a:off x="7204166" y="1874520"/>
            <a:ext cx="914400" cy="914400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pic>
        <p:nvPicPr>
          <p:cNvPr id="26" name="Accepted 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23622" y="2093976"/>
            <a:ext cx="475488" cy="475488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7862534" y="1755648"/>
            <a:ext cx="310896" cy="310896"/>
          </a:xfrm>
          <a:prstGeom prst="ellipse">
            <a:avLst/>
          </a:prstGeom>
          <a:solidFill>
            <a:schemeClr val="tx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5</a:t>
            </a:r>
            <a:endParaRPr lang="en-US" sz="1100" dirty="0"/>
          </a:p>
        </p:txBody>
      </p:sp>
      <p:sp>
        <p:nvSpPr>
          <p:cNvPr id="28" name="Text 21"/>
          <p:cNvSpPr txBox="1"/>
          <p:nvPr/>
        </p:nvSpPr>
        <p:spPr>
          <a:xfrm>
            <a:off x="6916783" y="2907792"/>
            <a:ext cx="148916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Accepted</a:t>
            </a:r>
            <a:endParaRPr lang="en-US" sz="1500" dirty="0"/>
          </a:p>
        </p:txBody>
      </p:sp>
      <p:sp>
        <p:nvSpPr>
          <p:cNvPr id="29" name="Text 22"/>
          <p:cNvSpPr txBox="1"/>
          <p:nvPr/>
        </p:nvSpPr>
        <p:spPr>
          <a:xfrm>
            <a:off x="6944215" y="3246120"/>
            <a:ext cx="143430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Named officer accepts, assigns a bay</a:t>
            </a:r>
            <a:endParaRPr lang="en-US" sz="1200" dirty="0"/>
          </a:p>
        </p:txBody>
      </p:sp>
      <p:sp>
        <p:nvSpPr>
          <p:cNvPr id="30" name="Transport icon circle"/>
          <p:cNvSpPr/>
          <p:nvPr/>
        </p:nvSpPr>
        <p:spPr>
          <a:xfrm>
            <a:off x="8784771" y="1874520"/>
            <a:ext cx="914400" cy="914400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pic>
        <p:nvPicPr>
          <p:cNvPr id="31" name="Transport icon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04227" y="2093976"/>
            <a:ext cx="475488" cy="475488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9443139" y="1755648"/>
            <a:ext cx="310896" cy="310896"/>
          </a:xfrm>
          <a:prstGeom prst="ellipse">
            <a:avLst/>
          </a:prstGeom>
          <a:solidFill>
            <a:schemeClr val="tx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6</a:t>
            </a:r>
            <a:endParaRPr lang="en-US" sz="1100" dirty="0"/>
          </a:p>
        </p:txBody>
      </p:sp>
      <p:sp>
        <p:nvSpPr>
          <p:cNvPr id="33" name="Text 25"/>
          <p:cNvSpPr txBox="1"/>
          <p:nvPr/>
        </p:nvSpPr>
        <p:spPr>
          <a:xfrm>
            <a:off x="8497389" y="2907792"/>
            <a:ext cx="148916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Transport</a:t>
            </a:r>
            <a:endParaRPr lang="en-US" sz="1500" dirty="0"/>
          </a:p>
        </p:txBody>
      </p:sp>
      <p:sp>
        <p:nvSpPr>
          <p:cNvPr id="34" name="Text 26"/>
          <p:cNvSpPr txBox="1"/>
          <p:nvPr/>
        </p:nvSpPr>
        <p:spPr>
          <a:xfrm>
            <a:off x="8524821" y="3246120"/>
            <a:ext cx="143430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Ambulance or own vehicle, live map</a:t>
            </a:r>
            <a:endParaRPr lang="en-US" sz="1200" dirty="0"/>
          </a:p>
        </p:txBody>
      </p:sp>
      <p:sp>
        <p:nvSpPr>
          <p:cNvPr id="35" name="Arrival icon circle"/>
          <p:cNvSpPr/>
          <p:nvPr/>
        </p:nvSpPr>
        <p:spPr>
          <a:xfrm>
            <a:off x="10365377" y="1874520"/>
            <a:ext cx="914400" cy="914400"/>
          </a:xfrm>
          <a:prstGeom prst="ellipse">
            <a:avLst/>
          </a:prstGeom>
          <a:solidFill>
            <a:srgbClr val="0B1427"/>
          </a:solidFill>
          <a:ln w="12700">
            <a:solidFill>
              <a:srgbClr val="0B1427"/>
            </a:solidFill>
            <a:prstDash val="solid"/>
          </a:ln>
        </p:spPr>
      </p:sp>
      <p:pic>
        <p:nvPicPr>
          <p:cNvPr id="36" name="Arrival icon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584833" y="2093976"/>
            <a:ext cx="475488" cy="475488"/>
          </a:xfrm>
          <a:prstGeom prst="rect">
            <a:avLst/>
          </a:prstGeom>
        </p:spPr>
      </p:pic>
      <p:sp>
        <p:nvSpPr>
          <p:cNvPr id="37" name="Text 28"/>
          <p:cNvSpPr txBox="1"/>
          <p:nvPr/>
        </p:nvSpPr>
        <p:spPr>
          <a:xfrm>
            <a:off x="11023745" y="1755648"/>
            <a:ext cx="310896" cy="310896"/>
          </a:xfrm>
          <a:prstGeom prst="ellipse">
            <a:avLst/>
          </a:prstGeom>
          <a:solidFill>
            <a:schemeClr val="tx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7</a:t>
            </a:r>
            <a:endParaRPr lang="en-US" sz="1100" dirty="0"/>
          </a:p>
        </p:txBody>
      </p:sp>
      <p:sp>
        <p:nvSpPr>
          <p:cNvPr id="38" name="Text 29"/>
          <p:cNvSpPr txBox="1"/>
          <p:nvPr/>
        </p:nvSpPr>
        <p:spPr>
          <a:xfrm>
            <a:off x="10077994" y="2907792"/>
            <a:ext cx="148916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Arrival</a:t>
            </a:r>
            <a:endParaRPr lang="en-US" sz="1500" dirty="0"/>
          </a:p>
        </p:txBody>
      </p:sp>
      <p:sp>
        <p:nvSpPr>
          <p:cNvPr id="39" name="Text 30"/>
          <p:cNvSpPr txBox="1"/>
          <p:nvPr/>
        </p:nvSpPr>
        <p:spPr>
          <a:xfrm>
            <a:off x="10105426" y="3246120"/>
            <a:ext cx="143430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Confirmed destination, family informed</a:t>
            </a:r>
            <a:endParaRPr lang="en-US" sz="1200" dirty="0"/>
          </a:p>
        </p:txBody>
      </p:sp>
      <p:sp>
        <p:nvSpPr>
          <p:cNvPr id="40" name="promise card"/>
          <p:cNvSpPr/>
          <p:nvPr/>
        </p:nvSpPr>
        <p:spPr>
          <a:xfrm>
            <a:off x="548640" y="4343400"/>
            <a:ext cx="2651760" cy="1600200"/>
          </a:xfrm>
          <a:prstGeom prst="roundRect">
            <a:avLst>
              <a:gd name="adj" fmla="val 68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1" name="Text 32"/>
          <p:cNvSpPr txBox="1"/>
          <p:nvPr/>
        </p:nvSpPr>
        <p:spPr>
          <a:xfrm>
            <a:off x="777240" y="457200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Hindi · English · Hinglish</a:t>
            </a:r>
            <a:endParaRPr lang="en-US" sz="1800" dirty="0"/>
          </a:p>
        </p:txBody>
      </p:sp>
      <p:sp>
        <p:nvSpPr>
          <p:cNvPr id="42" name="Text 33"/>
          <p:cNvSpPr txBox="1"/>
          <p:nvPr/>
        </p:nvSpPr>
        <p:spPr>
          <a:xfrm>
            <a:off x="777240" y="5230368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Voice-first and built for panic; quick-pick chips and one question at a time</a:t>
            </a:r>
            <a:endParaRPr lang="en-US" sz="1200" dirty="0"/>
          </a:p>
        </p:txBody>
      </p:sp>
      <p:sp>
        <p:nvSpPr>
          <p:cNvPr id="43" name="promise card"/>
          <p:cNvSpPr/>
          <p:nvPr/>
        </p:nvSpPr>
        <p:spPr>
          <a:xfrm>
            <a:off x="3383280" y="4343400"/>
            <a:ext cx="2651760" cy="1600200"/>
          </a:xfrm>
          <a:prstGeom prst="roundRect">
            <a:avLst>
              <a:gd name="adj" fmla="val 68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4" name="Text 35"/>
          <p:cNvSpPr txBox="1"/>
          <p:nvPr/>
        </p:nvSpPr>
        <p:spPr>
          <a:xfrm>
            <a:off x="3611880" y="457200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capable hospitals</a:t>
            </a:r>
            <a:endParaRPr lang="en-US" sz="1800" dirty="0"/>
          </a:p>
        </p:txBody>
      </p:sp>
      <p:sp>
        <p:nvSpPr>
          <p:cNvPr id="45" name="Text 36"/>
          <p:cNvSpPr txBox="1"/>
          <p:nvPr/>
        </p:nvSpPr>
        <p:spPr>
          <a:xfrm>
            <a:off x="3611880" y="5230368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Deterministic, explainable matching on staff-verified, time-stamped data</a:t>
            </a:r>
            <a:endParaRPr lang="en-US" sz="1200" dirty="0"/>
          </a:p>
        </p:txBody>
      </p:sp>
      <p:sp>
        <p:nvSpPr>
          <p:cNvPr id="46" name="promise card"/>
          <p:cNvSpPr/>
          <p:nvPr/>
        </p:nvSpPr>
        <p:spPr>
          <a:xfrm>
            <a:off x="6217920" y="4343400"/>
            <a:ext cx="2651760" cy="1600200"/>
          </a:xfrm>
          <a:prstGeom prst="roundRect">
            <a:avLst>
              <a:gd name="adj" fmla="val 68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7" name="Text 38"/>
          <p:cNvSpPr txBox="1"/>
          <p:nvPr/>
        </p:nvSpPr>
        <p:spPr>
          <a:xfrm>
            <a:off x="6446520" y="457200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Accepted before travel</a:t>
            </a:r>
            <a:endParaRPr lang="en-US" sz="1800" dirty="0"/>
          </a:p>
        </p:txBody>
      </p:sp>
      <p:sp>
        <p:nvSpPr>
          <p:cNvPr id="48" name="Text 39"/>
          <p:cNvSpPr txBox="1"/>
          <p:nvPr/>
        </p:nvSpPr>
        <p:spPr>
          <a:xfrm>
            <a:off x="6446520" y="5230368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A named officer accepts and prepares a bay; no refusals at the gate</a:t>
            </a:r>
            <a:endParaRPr lang="en-US" sz="1200" dirty="0"/>
          </a:p>
        </p:txBody>
      </p:sp>
      <p:sp>
        <p:nvSpPr>
          <p:cNvPr id="49" name="promise card"/>
          <p:cNvSpPr/>
          <p:nvPr/>
        </p:nvSpPr>
        <p:spPr>
          <a:xfrm>
            <a:off x="9052560" y="4343400"/>
            <a:ext cx="2651760" cy="1600200"/>
          </a:xfrm>
          <a:prstGeom prst="roundRect">
            <a:avLst>
              <a:gd name="adj" fmla="val 68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0" name="Text 41"/>
          <p:cNvSpPr txBox="1"/>
          <p:nvPr/>
        </p:nvSpPr>
        <p:spPr>
          <a:xfrm>
            <a:off x="9281160" y="457200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11D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 s auto-fallback</a:t>
            </a:r>
            <a:endParaRPr lang="en-US" sz="1800" dirty="0"/>
          </a:p>
        </p:txBody>
      </p:sp>
      <p:sp>
        <p:nvSpPr>
          <p:cNvPr id="51" name="Text 42"/>
          <p:cNvSpPr txBox="1"/>
          <p:nvPr/>
        </p:nvSpPr>
        <p:spPr>
          <a:xfrm>
            <a:off x="9281160" y="5230368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No answer or a decline → the next suitable hospital is asked automatically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Solution in action: citizen and hospital</a:t>
            </a:r>
            <a:endParaRPr lang="en-US" sz="3400" dirty="0"/>
          </a:p>
        </p:txBody>
      </p:sp>
      <p:sp>
        <p:nvSpPr>
          <p:cNvPr id="3" name="citizen screen 1 frame"/>
          <p:cNvSpPr/>
          <p:nvPr/>
        </p:nvSpPr>
        <p:spPr>
          <a:xfrm>
            <a:off x="576072" y="1261872"/>
            <a:ext cx="1829225" cy="3785616"/>
          </a:xfrm>
          <a:prstGeom prst="roundRect">
            <a:avLst>
              <a:gd name="adj" fmla="val 8998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427">
                <a:alpha val="12000"/>
              </a:srgbClr>
            </a:outerShdw>
          </a:effectLst>
        </p:spPr>
      </p:sp>
      <p:pic>
        <p:nvPicPr>
          <p:cNvPr id="4" name="citizen screen 1" descr="/tmp/claude-0/-home-user-Sehat-Setu/b06e8423-ed6e-57c3-bbb1-ac94b2a1720d/scratchpad/pdf/img/s/phone-2-ai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325880"/>
            <a:ext cx="1701209" cy="3657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5166360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AI understands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5468112"/>
            <a:ext cx="1874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May indicate heart attack · CRITICAL; “How was this decided?” shown</a:t>
            </a:r>
            <a:endParaRPr lang="en-US" sz="1100" dirty="0"/>
          </a:p>
        </p:txBody>
      </p:sp>
      <p:sp>
        <p:nvSpPr>
          <p:cNvPr id="7" name="citizen screen 2 frame"/>
          <p:cNvSpPr/>
          <p:nvPr/>
        </p:nvSpPr>
        <p:spPr>
          <a:xfrm>
            <a:off x="2587752" y="1261872"/>
            <a:ext cx="1829225" cy="3785616"/>
          </a:xfrm>
          <a:prstGeom prst="roundRect">
            <a:avLst>
              <a:gd name="adj" fmla="val 8998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427">
                <a:alpha val="12000"/>
              </a:srgbClr>
            </a:outerShdw>
          </a:effectLst>
        </p:spPr>
      </p:sp>
      <p:pic>
        <p:nvPicPr>
          <p:cNvPr id="8" name="citizen screen 2" descr="/tmp/claude-0/-home-user-Sehat-Setu/b06e8423-ed6e-57c3-bbb1-ac94b2a1720d/scratchpad/pdf/img/s/phone-3-hospitals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1760" y="1325880"/>
            <a:ext cx="1701209" cy="365760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2560320" y="5166360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Capable hospitals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2560320" y="5468112"/>
            <a:ext cx="1874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Ranked from verified data, with freshness badges</a:t>
            </a:r>
            <a:endParaRPr lang="en-US" sz="1100" dirty="0"/>
          </a:p>
        </p:txBody>
      </p:sp>
      <p:sp>
        <p:nvSpPr>
          <p:cNvPr id="11" name="citizen screen 3 frame"/>
          <p:cNvSpPr/>
          <p:nvPr/>
        </p:nvSpPr>
        <p:spPr>
          <a:xfrm>
            <a:off x="4599432" y="1261872"/>
            <a:ext cx="1829225" cy="3785616"/>
          </a:xfrm>
          <a:prstGeom prst="roundRect">
            <a:avLst>
              <a:gd name="adj" fmla="val 8998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427">
                <a:alpha val="12000"/>
              </a:srgbClr>
            </a:outerShdw>
          </a:effectLst>
        </p:spPr>
      </p:sp>
      <p:pic>
        <p:nvPicPr>
          <p:cNvPr id="12" name="citizen screen 3" descr="/tmp/claude-0/-home-user-Sehat-Setu/b06e8423-ed6e-57c3-bbb1-ac94b2a1720d/scratchpad/pdf/img/s/phone-5-accepted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3440" y="1325880"/>
            <a:ext cx="1701209" cy="365760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4572000" y="5166360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Accepted</a:t>
            </a:r>
            <a:endParaRPr lang="en-US" sz="1400" dirty="0"/>
          </a:p>
        </p:txBody>
      </p:sp>
      <p:sp>
        <p:nvSpPr>
          <p:cNvPr id="14" name="Text 9"/>
          <p:cNvSpPr txBox="1"/>
          <p:nvPr/>
        </p:nvSpPr>
        <p:spPr>
          <a:xfrm>
            <a:off x="4572000" y="5468112"/>
            <a:ext cx="1874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Reported capacity → accepted → confirmed bay</a:t>
            </a:r>
            <a:endParaRPr lang="en-US" sz="1100" dirty="0"/>
          </a:p>
        </p:txBody>
      </p:sp>
      <p:pic>
        <p:nvPicPr>
          <p:cNvPr id="15" name="hospital referral screenshot" descr="/tmp/claude-0/-home-user-Sehat-Setu/b06e8423-ed6e-57c3-bbb1-ac94b2a1720d/scratchpad/pdf/img/s/hosp-referral.jp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720840" y="1325880"/>
            <a:ext cx="4892040" cy="2148840"/>
          </a:xfrm>
          <a:prstGeom prst="rect">
            <a:avLst/>
          </a:prstGeom>
          <a:effectLst>
            <a:outerShdw sx="100000" sy="100000" kx="0" ky="0" algn="bl" rotWithShape="0" blurRad="101600" dist="25400" dir="5400000">
              <a:srgbClr val="0B1427">
                <a:alpha val="12000"/>
              </a:srgbClr>
            </a:outerShdw>
          </a:effectLst>
        </p:spPr>
      </p:pic>
      <p:sp>
        <p:nvSpPr>
          <p:cNvPr id="16" name="Text 10"/>
          <p:cNvSpPr txBox="1"/>
          <p:nvPr/>
        </p:nvSpPr>
        <p:spPr>
          <a:xfrm>
            <a:off x="6720840" y="3520440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Hospital reviews the AI pre-arrival note and accepts with a receiving bay</a:t>
            </a:r>
            <a:endParaRPr lang="en-US" sz="1100" dirty="0"/>
          </a:p>
        </p:txBody>
      </p:sp>
      <p:pic>
        <p:nvPicPr>
          <p:cNvPr id="17" name="citizen live map screenshot" descr="/tmp/claude-0/-home-user-Sehat-Setu/b06e8423-ed6e-57c3-bbb1-ac94b2a1720d/scratchpad/pdf/img/s/citizen-cases.jp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6720840" y="3931920"/>
            <a:ext cx="4892040" cy="2057400"/>
          </a:xfrm>
          <a:prstGeom prst="rect">
            <a:avLst/>
          </a:prstGeom>
          <a:effectLst>
            <a:outerShdw sx="100000" sy="100000" kx="0" ky="0" algn="bl" rotWithShape="0" blurRad="101600" dist="25400" dir="5400000">
              <a:srgbClr val="0B1427">
                <a:alpha val="12000"/>
              </a:srgbClr>
            </a:outerShdw>
          </a:effectLst>
        </p:spPr>
      </p:pic>
      <p:sp>
        <p:nvSpPr>
          <p:cNvPr id="18" name="Text 11"/>
          <p:cNvSpPr txBox="1"/>
          <p:nvPr/>
        </p:nvSpPr>
        <p:spPr>
          <a:xfrm>
            <a:off x="6720840" y="6035040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Citizen dashboard: live map, ambulance on the way to the accepted hospital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Technical approach: architecture and AI</a:t>
            </a:r>
            <a:endParaRPr lang="en-US" sz="3400" dirty="0"/>
          </a:p>
        </p:txBody>
      </p:sp>
      <p:sp>
        <p:nvSpPr>
          <p:cNvPr id="3" name="architecture panel"/>
          <p:cNvSpPr/>
          <p:nvPr/>
        </p:nvSpPr>
        <p:spPr>
          <a:xfrm>
            <a:off x="548640" y="1325880"/>
            <a:ext cx="6492240" cy="4251960"/>
          </a:xfrm>
          <a:prstGeom prst="roundRect">
            <a:avLst>
              <a:gd name="adj" fmla="val 258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Citizen PWA"/>
          <p:cNvSpPr/>
          <p:nvPr/>
        </p:nvSpPr>
        <p:spPr>
          <a:xfrm>
            <a:off x="777240" y="1508760"/>
            <a:ext cx="1874520" cy="868680"/>
          </a:xfrm>
          <a:prstGeom prst="roundRect">
            <a:avLst>
              <a:gd name="adj" fmla="val 10526"/>
            </a:avLst>
          </a:prstGeom>
          <a:solidFill>
            <a:schemeClr val="bg1"/>
          </a:solidFill>
          <a:ln w="22225">
            <a:solidFill>
              <a:srgbClr val="E11D4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86968" y="1581912"/>
            <a:ext cx="1655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E11D48"/>
                </a:solidFill>
              </a:rPr>
              <a:t>Citizen PWA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886968" y="1874520"/>
            <a:ext cx="1655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Voice · photo · OCR · offline</a:t>
            </a:r>
            <a:endParaRPr lang="en-US" sz="1050" dirty="0"/>
          </a:p>
        </p:txBody>
      </p:sp>
      <p:sp>
        <p:nvSpPr>
          <p:cNvPr id="7" name="Family link"/>
          <p:cNvSpPr/>
          <p:nvPr/>
        </p:nvSpPr>
        <p:spPr>
          <a:xfrm>
            <a:off x="777240" y="2606040"/>
            <a:ext cx="1874520" cy="868680"/>
          </a:xfrm>
          <a:prstGeom prst="roundRect">
            <a:avLst>
              <a:gd name="adj" fmla="val 10526"/>
            </a:avLst>
          </a:prstGeom>
          <a:solidFill>
            <a:schemeClr val="bg1"/>
          </a:solidFill>
          <a:ln w="22225">
            <a:solidFill>
              <a:srgbClr val="D9770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86968" y="2679192"/>
            <a:ext cx="1655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D97706"/>
                </a:solidFill>
              </a:rPr>
              <a:t>Family link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86968" y="2971800"/>
            <a:ext cx="1655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Status · hospital · ETA only</a:t>
            </a:r>
            <a:endParaRPr lang="en-US" sz="1050" dirty="0"/>
          </a:p>
        </p:txBody>
      </p:sp>
      <p:sp>
        <p:nvSpPr>
          <p:cNvPr id="10" name="Hospital dashboard"/>
          <p:cNvSpPr/>
          <p:nvPr/>
        </p:nvSpPr>
        <p:spPr>
          <a:xfrm>
            <a:off x="777240" y="3703320"/>
            <a:ext cx="1874520" cy="868680"/>
          </a:xfrm>
          <a:prstGeom prst="roundRect">
            <a:avLst>
              <a:gd name="adj" fmla="val 10526"/>
            </a:avLst>
          </a:prstGeom>
          <a:solidFill>
            <a:schemeClr val="bg1"/>
          </a:solidFill>
          <a:ln w="22225">
            <a:solidFill>
              <a:srgbClr val="2563E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86968" y="3776472"/>
            <a:ext cx="1655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563EB"/>
                </a:solidFill>
              </a:rPr>
              <a:t>Hospital dashboard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886968" y="4069080"/>
            <a:ext cx="1655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Referrals · beds · live map</a:t>
            </a:r>
            <a:endParaRPr lang="en-US" sz="1050" dirty="0"/>
          </a:p>
        </p:txBody>
      </p:sp>
      <p:sp>
        <p:nvSpPr>
          <p:cNvPr id="13" name="API layer"/>
          <p:cNvSpPr/>
          <p:nvPr/>
        </p:nvSpPr>
        <p:spPr>
          <a:xfrm>
            <a:off x="3017520" y="1508760"/>
            <a:ext cx="1874520" cy="868680"/>
          </a:xfrm>
          <a:prstGeom prst="roundRect">
            <a:avLst>
              <a:gd name="adj" fmla="val 10526"/>
            </a:avLst>
          </a:prstGeom>
          <a:solidFill>
            <a:schemeClr val="bg1"/>
          </a:solidFill>
          <a:ln w="22225">
            <a:solidFill>
              <a:srgbClr val="0F948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127248" y="1581912"/>
            <a:ext cx="1655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9488"/>
                </a:solidFill>
              </a:rPr>
              <a:t>API layer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3127248" y="1874520"/>
            <a:ext cx="1655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One set of routes &amp; rules</a:t>
            </a:r>
            <a:endParaRPr lang="en-US" sz="1050" dirty="0"/>
          </a:p>
        </p:txBody>
      </p:sp>
      <p:sp>
        <p:nvSpPr>
          <p:cNvPr id="16" name="Auth &amp; roles"/>
          <p:cNvSpPr/>
          <p:nvPr/>
        </p:nvSpPr>
        <p:spPr>
          <a:xfrm>
            <a:off x="3017520" y="2606040"/>
            <a:ext cx="1874520" cy="868680"/>
          </a:xfrm>
          <a:prstGeom prst="roundRect">
            <a:avLst>
              <a:gd name="adj" fmla="val 10526"/>
            </a:avLst>
          </a:prstGeom>
          <a:solidFill>
            <a:schemeClr val="bg1"/>
          </a:solidFill>
          <a:ln w="22225">
            <a:solidFill>
              <a:srgbClr val="7C3AED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127248" y="2679192"/>
            <a:ext cx="1655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7C3AED"/>
                </a:solidFill>
              </a:rPr>
              <a:t>Auth &amp; roles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3127248" y="2971800"/>
            <a:ext cx="1655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Hospital ID + Staff ID + OTP</a:t>
            </a:r>
            <a:endParaRPr lang="en-US" sz="1050" dirty="0"/>
          </a:p>
        </p:txBody>
      </p:sp>
      <p:sp>
        <p:nvSpPr>
          <p:cNvPr id="19" name="Case store"/>
          <p:cNvSpPr/>
          <p:nvPr/>
        </p:nvSpPr>
        <p:spPr>
          <a:xfrm>
            <a:off x="3017520" y="3703320"/>
            <a:ext cx="1874520" cy="868680"/>
          </a:xfrm>
          <a:prstGeom prst="roundRect">
            <a:avLst>
              <a:gd name="adj" fmla="val 10526"/>
            </a:avLst>
          </a:prstGeom>
          <a:solidFill>
            <a:schemeClr val="bg1"/>
          </a:solidFill>
          <a:ln w="22225">
            <a:solidFill>
              <a:srgbClr val="0B1427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127248" y="3776472"/>
            <a:ext cx="1655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B1427"/>
                </a:solidFill>
              </a:rPr>
              <a:t>Case store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3127248" y="4069080"/>
            <a:ext cx="1655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Live events · audit · consent</a:t>
            </a:r>
            <a:endParaRPr lang="en-US" sz="1050" dirty="0"/>
          </a:p>
        </p:txBody>
      </p:sp>
      <p:sp>
        <p:nvSpPr>
          <p:cNvPr id="22" name="Generative AI"/>
          <p:cNvSpPr/>
          <p:nvPr/>
        </p:nvSpPr>
        <p:spPr>
          <a:xfrm>
            <a:off x="5029200" y="1508760"/>
            <a:ext cx="1828800" cy="868680"/>
          </a:xfrm>
          <a:prstGeom prst="roundRect">
            <a:avLst>
              <a:gd name="adj" fmla="val 10526"/>
            </a:avLst>
          </a:prstGeom>
          <a:solidFill>
            <a:schemeClr val="bg1"/>
          </a:solidFill>
          <a:ln w="22225">
            <a:solidFill>
              <a:srgbClr val="7C3AED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138928" y="1581912"/>
            <a:ext cx="16093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7C3AED"/>
                </a:solidFill>
              </a:rPr>
              <a:t>Generative AI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5138928" y="1874520"/>
            <a:ext cx="16093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Claude (optional)</a:t>
            </a:r>
            <a:endParaRPr lang="en-US" sz="1050" dirty="0"/>
          </a:p>
        </p:txBody>
      </p:sp>
      <p:sp>
        <p:nvSpPr>
          <p:cNvPr id="25" name="Shared engines"/>
          <p:cNvSpPr/>
          <p:nvPr/>
        </p:nvSpPr>
        <p:spPr>
          <a:xfrm>
            <a:off x="5029200" y="2606040"/>
            <a:ext cx="1828800" cy="868680"/>
          </a:xfrm>
          <a:prstGeom prst="roundRect">
            <a:avLst>
              <a:gd name="adj" fmla="val 10526"/>
            </a:avLst>
          </a:prstGeom>
          <a:solidFill>
            <a:schemeClr val="bg1"/>
          </a:solidFill>
          <a:ln w="22225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138928" y="2679192"/>
            <a:ext cx="16093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6A34A"/>
                </a:solidFill>
              </a:rPr>
              <a:t>Shared engines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5138928" y="2971800"/>
            <a:ext cx="16093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Triage · match · predict</a:t>
            </a:r>
            <a:endParaRPr lang="en-US" sz="1050" dirty="0"/>
          </a:p>
        </p:txBody>
      </p:sp>
      <p:sp>
        <p:nvSpPr>
          <p:cNvPr id="28" name="Live mode"/>
          <p:cNvSpPr/>
          <p:nvPr/>
        </p:nvSpPr>
        <p:spPr>
          <a:xfrm>
            <a:off x="5029200" y="3703320"/>
            <a:ext cx="1828800" cy="868680"/>
          </a:xfrm>
          <a:prstGeom prst="roundRect">
            <a:avLst>
              <a:gd name="adj" fmla="val 10526"/>
            </a:avLst>
          </a:prstGeom>
          <a:solidFill>
            <a:schemeClr val="bg1"/>
          </a:solidFill>
          <a:ln w="22225">
            <a:solidFill>
              <a:srgbClr val="64748B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138928" y="3776472"/>
            <a:ext cx="16093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64748B"/>
                </a:solidFill>
              </a:rPr>
              <a:t>Live mode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5138928" y="4069080"/>
            <a:ext cx="16093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HFR · HMIS · 108 · ABDM</a:t>
            </a:r>
            <a:endParaRPr lang="en-US" sz="1050" dirty="0"/>
          </a:p>
        </p:txBody>
      </p:sp>
      <p:sp>
        <p:nvSpPr>
          <p:cNvPr id="31" name="arrow"/>
          <p:cNvSpPr/>
          <p:nvPr/>
        </p:nvSpPr>
        <p:spPr>
          <a:xfrm>
            <a:off x="2670048" y="1938528"/>
            <a:ext cx="329184" cy="0"/>
          </a:xfrm>
          <a:prstGeom prst="line">
            <a:avLst/>
          </a:prstGeom>
          <a:noFill/>
          <a:ln w="3175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32" name="arrow"/>
          <p:cNvSpPr/>
          <p:nvPr/>
        </p:nvSpPr>
        <p:spPr>
          <a:xfrm>
            <a:off x="2670048" y="3035808"/>
            <a:ext cx="329184" cy="0"/>
          </a:xfrm>
          <a:prstGeom prst="line">
            <a:avLst/>
          </a:prstGeom>
          <a:noFill/>
          <a:ln w="3175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33" name="arrow"/>
          <p:cNvSpPr/>
          <p:nvPr/>
        </p:nvSpPr>
        <p:spPr>
          <a:xfrm>
            <a:off x="2670048" y="4133088"/>
            <a:ext cx="329184" cy="0"/>
          </a:xfrm>
          <a:prstGeom prst="line">
            <a:avLst/>
          </a:prstGeom>
          <a:noFill/>
          <a:ln w="3175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34" name="Text 32"/>
          <p:cNvSpPr txBox="1"/>
          <p:nvPr/>
        </p:nvSpPr>
        <p:spPr>
          <a:xfrm>
            <a:off x="777240" y="4681728"/>
            <a:ext cx="6080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REST + live updates (SSE) over HTTPS · engines also run on the phone, so triage works offline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777240" y="5047488"/>
            <a:ext cx="78638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99D5C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1"/>
                </a:solidFill>
              </a:rPr>
              <a:t>Node.js 22</a:t>
            </a:r>
            <a:endParaRPr lang="en-US" sz="1000" dirty="0"/>
          </a:p>
        </p:txBody>
      </p:sp>
      <p:sp>
        <p:nvSpPr>
          <p:cNvPr id="36" name="Text 34"/>
          <p:cNvSpPr txBox="1"/>
          <p:nvPr/>
        </p:nvSpPr>
        <p:spPr>
          <a:xfrm>
            <a:off x="1636776" y="5047488"/>
            <a:ext cx="72603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99D5C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1"/>
                </a:solidFill>
              </a:rPr>
              <a:t>Express 5</a:t>
            </a:r>
            <a:endParaRPr lang="en-US" sz="1000" dirty="0"/>
          </a:p>
        </p:txBody>
      </p:sp>
      <p:sp>
        <p:nvSpPr>
          <p:cNvPr id="37" name="Text 35"/>
          <p:cNvSpPr txBox="1"/>
          <p:nvPr/>
        </p:nvSpPr>
        <p:spPr>
          <a:xfrm>
            <a:off x="2435962" y="5047488"/>
            <a:ext cx="363931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99D5C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1"/>
                </a:solidFill>
              </a:rPr>
              <a:t>PWA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2873045" y="5047488"/>
            <a:ext cx="96743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99D5C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1"/>
                </a:solidFill>
              </a:rPr>
              <a:t>Leaflet + OSM</a:t>
            </a:r>
            <a:endParaRPr lang="en-US" sz="1000" dirty="0"/>
          </a:p>
        </p:txBody>
      </p:sp>
      <p:sp>
        <p:nvSpPr>
          <p:cNvPr id="39" name="Text 37"/>
          <p:cNvSpPr txBox="1"/>
          <p:nvPr/>
        </p:nvSpPr>
        <p:spPr>
          <a:xfrm>
            <a:off x="3913632" y="5047488"/>
            <a:ext cx="90708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99D5C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1"/>
                </a:solidFill>
              </a:rPr>
              <a:t>Tesseract.js</a:t>
            </a:r>
            <a:endParaRPr lang="en-US" sz="1000" dirty="0"/>
          </a:p>
        </p:txBody>
      </p:sp>
      <p:sp>
        <p:nvSpPr>
          <p:cNvPr id="40" name="Text 38"/>
          <p:cNvSpPr txBox="1"/>
          <p:nvPr/>
        </p:nvSpPr>
        <p:spPr>
          <a:xfrm>
            <a:off x="4893869" y="5047488"/>
            <a:ext cx="78638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99D5C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1"/>
                </a:solidFill>
              </a:rPr>
              <a:t>Web Speech</a:t>
            </a:r>
            <a:endParaRPr lang="en-US" sz="1000" dirty="0"/>
          </a:p>
        </p:txBody>
      </p:sp>
      <p:sp>
        <p:nvSpPr>
          <p:cNvPr id="41" name="Text 39"/>
          <p:cNvSpPr txBox="1"/>
          <p:nvPr/>
        </p:nvSpPr>
        <p:spPr>
          <a:xfrm>
            <a:off x="5753405" y="5047488"/>
            <a:ext cx="78638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99D5C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1"/>
                </a:solidFill>
              </a:rPr>
              <a:t>Claude SDK</a:t>
            </a:r>
            <a:endParaRPr lang="en-US" sz="1000" dirty="0"/>
          </a:p>
        </p:txBody>
      </p:sp>
      <p:sp>
        <p:nvSpPr>
          <p:cNvPr id="42" name="Text 40"/>
          <p:cNvSpPr txBox="1"/>
          <p:nvPr/>
        </p:nvSpPr>
        <p:spPr>
          <a:xfrm>
            <a:off x="7315200" y="1325880"/>
            <a:ext cx="4297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All 7 technologies in code</a:t>
            </a:r>
            <a:endParaRPr lang="en-US" sz="1600" dirty="0"/>
          </a:p>
        </p:txBody>
      </p:sp>
      <p:sp>
        <p:nvSpPr>
          <p:cNvPr id="43" name="Generative AI circle"/>
          <p:cNvSpPr/>
          <p:nvPr/>
        </p:nvSpPr>
        <p:spPr>
          <a:xfrm>
            <a:off x="7315200" y="1783080"/>
            <a:ext cx="411480" cy="41148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44" name="Generative AI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13955" y="1881835"/>
            <a:ext cx="213970" cy="213970"/>
          </a:xfrm>
          <a:prstGeom prst="rect">
            <a:avLst/>
          </a:prstGeom>
        </p:spPr>
      </p:pic>
      <p:sp>
        <p:nvSpPr>
          <p:cNvPr id="45" name="Text 42"/>
          <p:cNvSpPr txBox="1"/>
          <p:nvPr/>
        </p:nvSpPr>
        <p:spPr>
          <a:xfrm>
            <a:off x="7863840" y="1801368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Generative AI</a:t>
            </a:r>
            <a:pPr indent="0" marL="0">
              <a:buNone/>
            </a:pPr>
            <a:r>
              <a:rPr lang="en-US" sz="1250" dirty="0">
                <a:solidFill>
                  <a:schemeClr val="tx2"/>
                </a:solidFill>
              </a:rPr>
              <a:t>  requirements + SBAR note</a:t>
            </a:r>
            <a:endParaRPr lang="en-US" sz="1250" dirty="0"/>
          </a:p>
        </p:txBody>
      </p:sp>
      <p:sp>
        <p:nvSpPr>
          <p:cNvPr id="46" name="Voice Bots circle"/>
          <p:cNvSpPr/>
          <p:nvPr/>
        </p:nvSpPr>
        <p:spPr>
          <a:xfrm>
            <a:off x="7315200" y="2331720"/>
            <a:ext cx="411480" cy="411480"/>
          </a:xfrm>
          <a:prstGeom prst="ellipse">
            <a:avLst/>
          </a:prstGeom>
          <a:solidFill>
            <a:srgbClr val="E11D48"/>
          </a:solidFill>
          <a:ln w="12700">
            <a:solidFill>
              <a:srgbClr val="E11D48"/>
            </a:solidFill>
            <a:prstDash val="solid"/>
          </a:ln>
        </p:spPr>
      </p:sp>
      <p:pic>
        <p:nvPicPr>
          <p:cNvPr id="47" name="Voice Bots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3955" y="2430475"/>
            <a:ext cx="213970" cy="213970"/>
          </a:xfrm>
          <a:prstGeom prst="rect">
            <a:avLst/>
          </a:prstGeom>
        </p:spPr>
      </p:pic>
      <p:sp>
        <p:nvSpPr>
          <p:cNvPr id="48" name="Text 44"/>
          <p:cNvSpPr txBox="1"/>
          <p:nvPr/>
        </p:nvSpPr>
        <p:spPr>
          <a:xfrm>
            <a:off x="7863840" y="2350008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Voice Bots</a:t>
            </a:r>
            <a:pPr indent="0" marL="0">
              <a:buNone/>
            </a:pPr>
            <a:r>
              <a:rPr lang="en-US" sz="1250" dirty="0">
                <a:solidFill>
                  <a:schemeClr val="tx2"/>
                </a:solidFill>
              </a:rPr>
              <a:t>  Hindi / English in and out</a:t>
            </a:r>
            <a:endParaRPr lang="en-US" sz="1250" dirty="0"/>
          </a:p>
        </p:txBody>
      </p:sp>
      <p:sp>
        <p:nvSpPr>
          <p:cNvPr id="49" name="Computer Vision circle"/>
          <p:cNvSpPr/>
          <p:nvPr/>
        </p:nvSpPr>
        <p:spPr>
          <a:xfrm>
            <a:off x="7315200" y="2880360"/>
            <a:ext cx="411480" cy="411480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pic>
        <p:nvPicPr>
          <p:cNvPr id="50" name="Computer Visi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13955" y="2979115"/>
            <a:ext cx="213970" cy="213970"/>
          </a:xfrm>
          <a:prstGeom prst="rect">
            <a:avLst/>
          </a:prstGeom>
        </p:spPr>
      </p:pic>
      <p:sp>
        <p:nvSpPr>
          <p:cNvPr id="51" name="Text 46"/>
          <p:cNvSpPr txBox="1"/>
          <p:nvPr/>
        </p:nvSpPr>
        <p:spPr>
          <a:xfrm>
            <a:off x="7863840" y="2898648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Computer Vision</a:t>
            </a:r>
            <a:pPr indent="0" marL="0">
              <a:buNone/>
            </a:pPr>
            <a:r>
              <a:rPr lang="en-US" sz="1250" dirty="0">
                <a:solidFill>
                  <a:schemeClr val="tx2"/>
                </a:solidFill>
              </a:rPr>
              <a:t>  photo of injury → findings</a:t>
            </a:r>
            <a:endParaRPr lang="en-US" sz="1250" dirty="0"/>
          </a:p>
        </p:txBody>
      </p:sp>
      <p:sp>
        <p:nvSpPr>
          <p:cNvPr id="52" name="OCR circle"/>
          <p:cNvSpPr/>
          <p:nvPr/>
        </p:nvSpPr>
        <p:spPr>
          <a:xfrm>
            <a:off x="7315200" y="3429000"/>
            <a:ext cx="411480" cy="411480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pic>
        <p:nvPicPr>
          <p:cNvPr id="53" name="OCR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13955" y="3527755"/>
            <a:ext cx="213970" cy="213970"/>
          </a:xfrm>
          <a:prstGeom prst="rect">
            <a:avLst/>
          </a:prstGeom>
        </p:spPr>
      </p:pic>
      <p:sp>
        <p:nvSpPr>
          <p:cNvPr id="54" name="Text 48"/>
          <p:cNvSpPr txBox="1"/>
          <p:nvPr/>
        </p:nvSpPr>
        <p:spPr>
          <a:xfrm>
            <a:off x="7863840" y="3447288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OCR</a:t>
            </a:r>
            <a:pPr indent="0" marL="0">
              <a:buNone/>
            </a:pPr>
            <a:r>
              <a:rPr lang="en-US" sz="1250" dirty="0">
                <a:solidFill>
                  <a:schemeClr val="tx2"/>
                </a:solidFill>
              </a:rPr>
              <a:t>  Ayushman / ABHA card on phone</a:t>
            </a:r>
            <a:endParaRPr lang="en-US" sz="1250" dirty="0"/>
          </a:p>
        </p:txBody>
      </p:sp>
      <p:sp>
        <p:nvSpPr>
          <p:cNvPr id="55" name="Predictive Analytics circle"/>
          <p:cNvSpPr/>
          <p:nvPr/>
        </p:nvSpPr>
        <p:spPr>
          <a:xfrm>
            <a:off x="7315200" y="3977640"/>
            <a:ext cx="411480" cy="411480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pic>
        <p:nvPicPr>
          <p:cNvPr id="56" name="Predictive Analytics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13955" y="4076395"/>
            <a:ext cx="213970" cy="213970"/>
          </a:xfrm>
          <a:prstGeom prst="rect">
            <a:avLst/>
          </a:prstGeom>
        </p:spPr>
      </p:pic>
      <p:sp>
        <p:nvSpPr>
          <p:cNvPr id="57" name="Text 50"/>
          <p:cNvSpPr txBox="1"/>
          <p:nvPr/>
        </p:nvSpPr>
        <p:spPr>
          <a:xfrm>
            <a:off x="7863840" y="3995928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Predictive Analytics</a:t>
            </a:r>
            <a:pPr indent="0" marL="0">
              <a:buNone/>
            </a:pPr>
            <a:r>
              <a:rPr lang="en-US" sz="1250" dirty="0">
                <a:solidFill>
                  <a:schemeClr val="tx2"/>
                </a:solidFill>
              </a:rPr>
              <a:t>  ETA, bed-on-arrival, forecast</a:t>
            </a:r>
            <a:endParaRPr lang="en-US" sz="1250" dirty="0"/>
          </a:p>
        </p:txBody>
      </p:sp>
      <p:sp>
        <p:nvSpPr>
          <p:cNvPr id="58" name="Conversational AI circle"/>
          <p:cNvSpPr/>
          <p:nvPr/>
        </p:nvSpPr>
        <p:spPr>
          <a:xfrm>
            <a:off x="7315200" y="4526280"/>
            <a:ext cx="411480" cy="411480"/>
          </a:xfrm>
          <a:prstGeom prst="ellipse">
            <a:avLst/>
          </a:prstGeom>
          <a:solidFill>
            <a:srgbClr val="0F9488"/>
          </a:solidFill>
          <a:ln w="12700">
            <a:solidFill>
              <a:srgbClr val="0F9488"/>
            </a:solidFill>
            <a:prstDash val="solid"/>
          </a:ln>
        </p:spPr>
      </p:sp>
      <p:pic>
        <p:nvPicPr>
          <p:cNvPr id="59" name="Conversational AI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13955" y="4625035"/>
            <a:ext cx="213970" cy="213970"/>
          </a:xfrm>
          <a:prstGeom prst="rect">
            <a:avLst/>
          </a:prstGeom>
        </p:spPr>
      </p:pic>
      <p:sp>
        <p:nvSpPr>
          <p:cNvPr id="60" name="Text 52"/>
          <p:cNvSpPr txBox="1"/>
          <p:nvPr/>
        </p:nvSpPr>
        <p:spPr>
          <a:xfrm>
            <a:off x="7863840" y="4544568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Conversational AI</a:t>
            </a:r>
            <a:pPr indent="0" marL="0">
              <a:buNone/>
            </a:pPr>
            <a:r>
              <a:rPr lang="en-US" sz="1250" dirty="0">
                <a:solidFill>
                  <a:schemeClr val="tx2"/>
                </a:solidFill>
              </a:rPr>
              <a:t>  one follow-up at a time</a:t>
            </a:r>
            <a:endParaRPr lang="en-US" sz="1250" dirty="0"/>
          </a:p>
        </p:txBody>
      </p:sp>
      <p:sp>
        <p:nvSpPr>
          <p:cNvPr id="61" name="Mobile App circle"/>
          <p:cNvSpPr/>
          <p:nvPr/>
        </p:nvSpPr>
        <p:spPr>
          <a:xfrm>
            <a:off x="7315200" y="5074920"/>
            <a:ext cx="411480" cy="411480"/>
          </a:xfrm>
          <a:prstGeom prst="ellipse">
            <a:avLst/>
          </a:prstGeom>
          <a:solidFill>
            <a:srgbClr val="0B1427"/>
          </a:solidFill>
          <a:ln w="12700">
            <a:solidFill>
              <a:srgbClr val="0B1427"/>
            </a:solidFill>
            <a:prstDash val="solid"/>
          </a:ln>
        </p:spPr>
      </p:sp>
      <p:pic>
        <p:nvPicPr>
          <p:cNvPr id="62" name="Mobile App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13955" y="5173675"/>
            <a:ext cx="213970" cy="213970"/>
          </a:xfrm>
          <a:prstGeom prst="rect">
            <a:avLst/>
          </a:prstGeom>
        </p:spPr>
      </p:pic>
      <p:sp>
        <p:nvSpPr>
          <p:cNvPr id="63" name="Text 54"/>
          <p:cNvSpPr txBox="1"/>
          <p:nvPr/>
        </p:nvSpPr>
        <p:spPr>
          <a:xfrm>
            <a:off x="7863840" y="5093208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Mobile App</a:t>
            </a:r>
            <a:pPr indent="0" marL="0">
              <a:buNone/>
            </a:pPr>
            <a:r>
              <a:rPr lang="en-US" sz="1250" dirty="0">
                <a:solidFill>
                  <a:schemeClr val="tx2"/>
                </a:solidFill>
              </a:rPr>
              <a:t>  offline, bilingual PWA</a:t>
            </a:r>
            <a:endParaRPr lang="en-US" sz="1250" dirty="0"/>
          </a:p>
        </p:txBody>
      </p:sp>
      <p:sp>
        <p:nvSpPr>
          <p:cNvPr id="64" name="principle band"/>
          <p:cNvSpPr/>
          <p:nvPr/>
        </p:nvSpPr>
        <p:spPr>
          <a:xfrm>
            <a:off x="548640" y="5715000"/>
            <a:ext cx="11064240" cy="502920"/>
          </a:xfrm>
          <a:prstGeom prst="roundRect">
            <a:avLst>
              <a:gd name="adj" fmla="val 21818"/>
            </a:avLst>
          </a:prstGeom>
          <a:solidFill>
            <a:srgbClr val="E6F6F4"/>
          </a:solidFill>
          <a:ln w="12700">
            <a:solidFill>
              <a:srgbClr val="E6F6F4"/>
            </a:solidFill>
            <a:prstDash val="solid"/>
          </a:ln>
        </p:spPr>
      </p:sp>
      <p:sp>
        <p:nvSpPr>
          <p:cNvPr id="65" name="Text 56"/>
          <p:cNvSpPr txBox="1"/>
          <p:nvPr/>
        </p:nvSpPr>
        <p:spPr>
          <a:xfrm>
            <a:off x="777240" y="5715000"/>
            <a:ext cx="10698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AI understands; rules decide.  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Severity = max(AI, rules), so AI can never lower urgency. A deterministic, tested engine chooses the hospital.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Security, privacy and trust by design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Who can change what citizens see</a:t>
            </a:r>
            <a:endParaRPr lang="en-US" sz="1500" dirty="0"/>
          </a:p>
        </p:txBody>
      </p:sp>
      <p:graphicFrame>
        <p:nvGraphicFramePr>
          <p:cNvPr id="9" name="roles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37360"/>
          <a:ext cx="502920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3108960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chemeClr val="bg1"/>
                          </a:solidFill>
                        </a:rPr>
                        <a:t>Role</a:t>
                      </a:r>
                      <a:endParaRPr lang="en-US" sz="115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chemeClr val="bg1"/>
                          </a:solidFill>
                        </a:rPr>
                        <a:t>Can do</a:t>
                      </a:r>
                      <a:endParaRPr lang="en-US" sz="115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chemeClr val="tx1"/>
                          </a:solidFill>
                        </a:rPr>
                        <a:t>Hospital Nodal Officer</a:t>
                      </a:r>
                      <a:endParaRPr lang="en-US" sz="115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Everything for their hospital + audit log</a:t>
                      </a:r>
                      <a:endParaRPr lang="en-US" sz="115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chemeClr val="tx1"/>
                          </a:solidFill>
                        </a:rPr>
                        <a:t>Emergency Desk Officer</a:t>
                      </a:r>
                      <a:endParaRPr lang="en-US" sz="115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Accept / decline referrals, ER open / busy / diverting</a:t>
                      </a:r>
                      <a:endParaRPr lang="en-US" sz="115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chemeClr val="tx1"/>
                          </a:solidFill>
                        </a:rPr>
                        <a:t>Resource Manager</a:t>
                      </a:r>
                      <a:endParaRPr lang="en-US" sz="115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Beds, specialists on duty, equipment</a:t>
                      </a:r>
                      <a:endParaRPr lang="en-US" sz="115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chemeClr val="tx1"/>
                          </a:solidFill>
                        </a:rPr>
                        <a:t>State Health Admin</a:t>
                      </a:r>
                      <a:endParaRPr lang="en-US" sz="115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Read-only view of all hospitals + audit logs</a:t>
                      </a:r>
                      <a:endParaRPr lang="en-US" sz="115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5" name="login control circle"/>
          <p:cNvSpPr/>
          <p:nvPr/>
        </p:nvSpPr>
        <p:spPr>
          <a:xfrm>
            <a:off x="548640" y="4023360"/>
            <a:ext cx="420624" cy="420624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6" name="login control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9590" y="4124310"/>
            <a:ext cx="218724" cy="218724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097280" y="4041648"/>
            <a:ext cx="4480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Hospital ID + Staff ID + OTP; session bound to one hospital</a:t>
            </a:r>
            <a:endParaRPr lang="en-US" sz="1200" dirty="0"/>
          </a:p>
        </p:txBody>
      </p:sp>
      <p:sp>
        <p:nvSpPr>
          <p:cNvPr id="8" name="login control circle"/>
          <p:cNvSpPr/>
          <p:nvPr/>
        </p:nvSpPr>
        <p:spPr>
          <a:xfrm>
            <a:off x="548640" y="4590288"/>
            <a:ext cx="420624" cy="420624"/>
          </a:xfrm>
          <a:prstGeom prst="ellipse">
            <a:avLst/>
          </a:prstGeom>
          <a:solidFill>
            <a:srgbClr val="E11D48"/>
          </a:solidFill>
          <a:ln w="12700">
            <a:solidFill>
              <a:srgbClr val="E11D48"/>
            </a:solidFill>
            <a:prstDash val="solid"/>
          </a:ln>
        </p:spPr>
      </p:sp>
      <p:pic>
        <p:nvPicPr>
          <p:cNvPr id="9" name="login control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590" y="4691238"/>
            <a:ext cx="218724" cy="218724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1097280" y="4608576"/>
            <a:ext cx="4480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Staff accounts cannot be self-registered</a:t>
            </a:r>
            <a:endParaRPr lang="en-US" sz="1200" dirty="0"/>
          </a:p>
        </p:txBody>
      </p:sp>
      <p:sp>
        <p:nvSpPr>
          <p:cNvPr id="11" name="login control circle"/>
          <p:cNvSpPr/>
          <p:nvPr/>
        </p:nvSpPr>
        <p:spPr>
          <a:xfrm>
            <a:off x="548640" y="5157216"/>
            <a:ext cx="420624" cy="420624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pic>
        <p:nvPicPr>
          <p:cNvPr id="12" name="login control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590" y="5258166"/>
            <a:ext cx="218724" cy="218724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1097280" y="5175504"/>
            <a:ext cx="4480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Every login, change, decision and denied attempt is logged</a:t>
            </a:r>
            <a:endParaRPr lang="en-US" sz="1200" dirty="0"/>
          </a:p>
        </p:txBody>
      </p:sp>
      <p:sp>
        <p:nvSpPr>
          <p:cNvPr id="14" name="privacy card"/>
          <p:cNvSpPr/>
          <p:nvPr/>
        </p:nvSpPr>
        <p:spPr>
          <a:xfrm>
            <a:off x="5897880" y="1325880"/>
            <a:ext cx="2761488" cy="123444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Consent first circle"/>
          <p:cNvSpPr/>
          <p:nvPr/>
        </p:nvSpPr>
        <p:spPr>
          <a:xfrm>
            <a:off x="6062472" y="1508760"/>
            <a:ext cx="457200" cy="457200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pic>
        <p:nvPicPr>
          <p:cNvPr id="16" name="Consent first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1618488"/>
            <a:ext cx="237744" cy="237744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6629400" y="1472184"/>
            <a:ext cx="19385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Consent first</a:t>
            </a:r>
            <a:endParaRPr lang="en-US" sz="1300" dirty="0"/>
          </a:p>
        </p:txBody>
      </p:sp>
      <p:sp>
        <p:nvSpPr>
          <p:cNvPr id="18" name="Text 11"/>
          <p:cNvSpPr txBox="1"/>
          <p:nvPr/>
        </p:nvSpPr>
        <p:spPr>
          <a:xfrm>
            <a:off x="6062472" y="2039112"/>
            <a:ext cx="2514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Patient details reach the hospital only if the family agrees.</a:t>
            </a:r>
            <a:endParaRPr lang="en-US" sz="1050" dirty="0"/>
          </a:p>
        </p:txBody>
      </p:sp>
      <p:sp>
        <p:nvSpPr>
          <p:cNvPr id="19" name="privacy card"/>
          <p:cNvSpPr/>
          <p:nvPr/>
        </p:nvSpPr>
        <p:spPr>
          <a:xfrm>
            <a:off x="8796528" y="1325880"/>
            <a:ext cx="2761488" cy="123444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Masked IDs circle"/>
          <p:cNvSpPr/>
          <p:nvPr/>
        </p:nvSpPr>
        <p:spPr>
          <a:xfrm>
            <a:off x="8961120" y="1508760"/>
            <a:ext cx="457200" cy="457200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pic>
        <p:nvPicPr>
          <p:cNvPr id="21" name="Masked IDs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70848" y="1618488"/>
            <a:ext cx="237744" cy="237744"/>
          </a:xfrm>
          <a:prstGeom prst="rect">
            <a:avLst/>
          </a:prstGeom>
        </p:spPr>
      </p:pic>
      <p:sp>
        <p:nvSpPr>
          <p:cNvPr id="22" name="Text 14"/>
          <p:cNvSpPr txBox="1"/>
          <p:nvPr/>
        </p:nvSpPr>
        <p:spPr>
          <a:xfrm>
            <a:off x="9528048" y="1472184"/>
            <a:ext cx="19385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Masked IDs</a:t>
            </a:r>
            <a:endParaRPr lang="en-US" sz="1300" dirty="0"/>
          </a:p>
        </p:txBody>
      </p:sp>
      <p:sp>
        <p:nvSpPr>
          <p:cNvPr id="23" name="Text 15"/>
          <p:cNvSpPr txBox="1"/>
          <p:nvPr/>
        </p:nvSpPr>
        <p:spPr>
          <a:xfrm>
            <a:off x="8961120" y="2039112"/>
            <a:ext cx="2514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ABHA / Ayushman numbers masked; pick-up point rounded ~100 m.</a:t>
            </a:r>
            <a:endParaRPr lang="en-US" sz="1050" dirty="0"/>
          </a:p>
        </p:txBody>
      </p:sp>
      <p:sp>
        <p:nvSpPr>
          <p:cNvPr id="24" name="privacy card"/>
          <p:cNvSpPr/>
          <p:nvPr/>
        </p:nvSpPr>
        <p:spPr>
          <a:xfrm>
            <a:off x="5897880" y="2697480"/>
            <a:ext cx="2761488" cy="123444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5" name="Hospital-scoped access circle"/>
          <p:cNvSpPr/>
          <p:nvPr/>
        </p:nvSpPr>
        <p:spPr>
          <a:xfrm>
            <a:off x="6062472" y="2880360"/>
            <a:ext cx="457200" cy="457200"/>
          </a:xfrm>
          <a:prstGeom prst="ellipse">
            <a:avLst/>
          </a:prstGeom>
          <a:solidFill>
            <a:srgbClr val="0F9488"/>
          </a:solidFill>
          <a:ln w="12700">
            <a:solidFill>
              <a:srgbClr val="0F9488"/>
            </a:solidFill>
            <a:prstDash val="solid"/>
          </a:ln>
        </p:spPr>
      </p:sp>
      <p:pic>
        <p:nvPicPr>
          <p:cNvPr id="26" name="Hospital-scoped access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72200" y="2990088"/>
            <a:ext cx="237744" cy="237744"/>
          </a:xfrm>
          <a:prstGeom prst="rect">
            <a:avLst/>
          </a:prstGeom>
        </p:spPr>
      </p:pic>
      <p:sp>
        <p:nvSpPr>
          <p:cNvPr id="27" name="Text 18"/>
          <p:cNvSpPr txBox="1"/>
          <p:nvPr/>
        </p:nvSpPr>
        <p:spPr>
          <a:xfrm>
            <a:off x="6629400" y="2843784"/>
            <a:ext cx="19385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Hospital-scoped access</a:t>
            </a:r>
            <a:endParaRPr lang="en-US" sz="1300" dirty="0"/>
          </a:p>
        </p:txBody>
      </p:sp>
      <p:sp>
        <p:nvSpPr>
          <p:cNvPr id="28" name="Text 19"/>
          <p:cNvSpPr txBox="1"/>
          <p:nvPr/>
        </p:nvSpPr>
        <p:spPr>
          <a:xfrm>
            <a:off x="6062472" y="3410712"/>
            <a:ext cx="2514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Staff see only referrals sent to their own hospital.</a:t>
            </a:r>
            <a:endParaRPr lang="en-US" sz="1050" dirty="0"/>
          </a:p>
        </p:txBody>
      </p:sp>
      <p:sp>
        <p:nvSpPr>
          <p:cNvPr id="29" name="privacy card"/>
          <p:cNvSpPr/>
          <p:nvPr/>
        </p:nvSpPr>
        <p:spPr>
          <a:xfrm>
            <a:off x="8796528" y="2697480"/>
            <a:ext cx="2761488" cy="123444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0" name="Citizen data on device circle"/>
          <p:cNvSpPr/>
          <p:nvPr/>
        </p:nvSpPr>
        <p:spPr>
          <a:xfrm>
            <a:off x="8961120" y="2880360"/>
            <a:ext cx="457200" cy="45720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31" name="Citizen data on device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70848" y="2990088"/>
            <a:ext cx="237744" cy="237744"/>
          </a:xfrm>
          <a:prstGeom prst="rect">
            <a:avLst/>
          </a:prstGeom>
        </p:spPr>
      </p:pic>
      <p:sp>
        <p:nvSpPr>
          <p:cNvPr id="32" name="Text 22"/>
          <p:cNvSpPr txBox="1"/>
          <p:nvPr/>
        </p:nvSpPr>
        <p:spPr>
          <a:xfrm>
            <a:off x="9528048" y="2843784"/>
            <a:ext cx="19385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Citizen data on device</a:t>
            </a:r>
            <a:endParaRPr lang="en-US" sz="1300" dirty="0"/>
          </a:p>
        </p:txBody>
      </p:sp>
      <p:sp>
        <p:nvSpPr>
          <p:cNvPr id="33" name="Text 23"/>
          <p:cNvSpPr txBox="1"/>
          <p:nvPr/>
        </p:nvSpPr>
        <p:spPr>
          <a:xfrm>
            <a:off x="8961120" y="3410712"/>
            <a:ext cx="2514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Profile and records stay on the phone (PBKDF2 password hash).</a:t>
            </a:r>
            <a:endParaRPr lang="en-US" sz="1050" dirty="0"/>
          </a:p>
        </p:txBody>
      </p:sp>
      <p:sp>
        <p:nvSpPr>
          <p:cNvPr id="34" name="privacy card"/>
          <p:cNvSpPr/>
          <p:nvPr/>
        </p:nvSpPr>
        <p:spPr>
          <a:xfrm>
            <a:off x="5897880" y="4069080"/>
            <a:ext cx="2761488" cy="123444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5" name="Family link without medical data circle"/>
          <p:cNvSpPr/>
          <p:nvPr/>
        </p:nvSpPr>
        <p:spPr>
          <a:xfrm>
            <a:off x="6062472" y="4251960"/>
            <a:ext cx="457200" cy="457200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pic>
        <p:nvPicPr>
          <p:cNvPr id="36" name="Family link without medical data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72200" y="4361688"/>
            <a:ext cx="237744" cy="237744"/>
          </a:xfrm>
          <a:prstGeom prst="rect">
            <a:avLst/>
          </a:prstGeom>
        </p:spPr>
      </p:pic>
      <p:sp>
        <p:nvSpPr>
          <p:cNvPr id="37" name="Text 26"/>
          <p:cNvSpPr txBox="1"/>
          <p:nvPr/>
        </p:nvSpPr>
        <p:spPr>
          <a:xfrm>
            <a:off x="6629400" y="4215384"/>
            <a:ext cx="19385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Family link without medical data</a:t>
            </a:r>
            <a:endParaRPr lang="en-US" sz="1300" dirty="0"/>
          </a:p>
        </p:txBody>
      </p:sp>
      <p:sp>
        <p:nvSpPr>
          <p:cNvPr id="38" name="Text 27"/>
          <p:cNvSpPr txBox="1"/>
          <p:nvPr/>
        </p:nvSpPr>
        <p:spPr>
          <a:xfrm>
            <a:off x="6062472" y="4782312"/>
            <a:ext cx="2514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Status, hospital and ETA only, via a read-only token.</a:t>
            </a:r>
            <a:endParaRPr lang="en-US" sz="1050" dirty="0"/>
          </a:p>
        </p:txBody>
      </p:sp>
      <p:sp>
        <p:nvSpPr>
          <p:cNvPr id="39" name="privacy card"/>
          <p:cNvSpPr/>
          <p:nvPr/>
        </p:nvSpPr>
        <p:spPr>
          <a:xfrm>
            <a:off x="8796528" y="4069080"/>
            <a:ext cx="2761488" cy="123444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0" name="24-hour deletion circle"/>
          <p:cNvSpPr/>
          <p:nvPr/>
        </p:nvSpPr>
        <p:spPr>
          <a:xfrm>
            <a:off x="8961120" y="4251960"/>
            <a:ext cx="457200" cy="457200"/>
          </a:xfrm>
          <a:prstGeom prst="ellipse">
            <a:avLst/>
          </a:prstGeom>
          <a:solidFill>
            <a:srgbClr val="E11D48"/>
          </a:solidFill>
          <a:ln w="12700">
            <a:solidFill>
              <a:srgbClr val="E11D48"/>
            </a:solidFill>
            <a:prstDash val="solid"/>
          </a:ln>
        </p:spPr>
      </p:sp>
      <p:pic>
        <p:nvPicPr>
          <p:cNvPr id="41" name="24-hour deletion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070848" y="4361688"/>
            <a:ext cx="237744" cy="237744"/>
          </a:xfrm>
          <a:prstGeom prst="rect">
            <a:avLst/>
          </a:prstGeom>
        </p:spPr>
      </p:pic>
      <p:sp>
        <p:nvSpPr>
          <p:cNvPr id="42" name="Text 30"/>
          <p:cNvSpPr txBox="1"/>
          <p:nvPr/>
        </p:nvSpPr>
        <p:spPr>
          <a:xfrm>
            <a:off x="9528048" y="4215384"/>
            <a:ext cx="19385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24-hour deletion</a:t>
            </a:r>
            <a:endParaRPr lang="en-US" sz="1300" dirty="0"/>
          </a:p>
        </p:txBody>
      </p:sp>
      <p:sp>
        <p:nvSpPr>
          <p:cNvPr id="43" name="Text 31"/>
          <p:cNvSpPr txBox="1"/>
          <p:nvPr/>
        </p:nvSpPr>
        <p:spPr>
          <a:xfrm>
            <a:off x="8961120" y="4782312"/>
            <a:ext cx="2514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Personal and health details purged after hand-over.</a:t>
            </a:r>
            <a:endParaRPr lang="en-US" sz="1050" dirty="0"/>
          </a:p>
        </p:txBody>
      </p:sp>
      <p:sp>
        <p:nvSpPr>
          <p:cNvPr id="44" name="honesty band"/>
          <p:cNvSpPr/>
          <p:nvPr/>
        </p:nvSpPr>
        <p:spPr>
          <a:xfrm>
            <a:off x="548640" y="5715000"/>
            <a:ext cx="11064240" cy="502920"/>
          </a:xfrm>
          <a:prstGeom prst="roundRect">
            <a:avLst>
              <a:gd name="adj" fmla="val 21818"/>
            </a:avLst>
          </a:prstGeom>
          <a:solidFill>
            <a:srgbClr val="E6F6F4"/>
          </a:solidFill>
          <a:ln w="12700">
            <a:solidFill>
              <a:srgbClr val="E6F6F4"/>
            </a:solidFill>
            <a:prstDash val="solid"/>
          </a:ln>
        </p:spPr>
      </p:sp>
      <p:sp>
        <p:nvSpPr>
          <p:cNvPr id="45" name="Text 33"/>
          <p:cNvSpPr txBox="1"/>
          <p:nvPr/>
        </p:nvSpPr>
        <p:spPr>
          <a:xfrm>
            <a:off x="777240" y="5715000"/>
            <a:ext cx="10698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accent1"/>
                </a:solidFill>
              </a:rPr>
              <a:t>Honest by design:  </a:t>
            </a:r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reported capacity ≠ referral accepted ≠ confirmed destination; simulated demo data is always labelled. Aligned with the DPDP Act 2023.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Implementation: from prototype to statewide</a:t>
            </a:r>
            <a:endParaRPr lang="en-US" sz="3400" dirty="0"/>
          </a:p>
        </p:txBody>
      </p:sp>
      <p:sp>
        <p:nvSpPr>
          <p:cNvPr id="3" name="timeline"/>
          <p:cNvSpPr/>
          <p:nvPr/>
        </p:nvSpPr>
        <p:spPr>
          <a:xfrm>
            <a:off x="914400" y="1645920"/>
            <a:ext cx="8503920" cy="0"/>
          </a:xfrm>
          <a:prstGeom prst="line">
            <a:avLst/>
          </a:prstGeom>
          <a:noFill/>
          <a:ln w="38100">
            <a:solidFill>
              <a:srgbClr val="DCE4EE"/>
            </a:solidFill>
            <a:prstDash val="solid"/>
          </a:ln>
        </p:spPr>
      </p:sp>
      <p:sp>
        <p:nvSpPr>
          <p:cNvPr id="4" name="Prototype circle"/>
          <p:cNvSpPr/>
          <p:nvPr/>
        </p:nvSpPr>
        <p:spPr>
          <a:xfrm>
            <a:off x="548640" y="1325880"/>
            <a:ext cx="640080" cy="640080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pic>
        <p:nvPicPr>
          <p:cNvPr id="5" name="Prototyp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2259" y="1479499"/>
            <a:ext cx="332842" cy="33284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2103120"/>
            <a:ext cx="2651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Prototype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2432304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Done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2724912"/>
            <a:ext cx="2606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Both portals live, AI triage, matching, acceptance, live maps, 51 tests</a:t>
            </a:r>
            <a:endParaRPr lang="en-US" sz="1200" dirty="0"/>
          </a:p>
        </p:txBody>
      </p:sp>
      <p:sp>
        <p:nvSpPr>
          <p:cNvPr id="9" name="Pilot · Bhopal circle"/>
          <p:cNvSpPr/>
          <p:nvPr/>
        </p:nvSpPr>
        <p:spPr>
          <a:xfrm>
            <a:off x="3383280" y="1325880"/>
            <a:ext cx="640080" cy="640080"/>
          </a:xfrm>
          <a:prstGeom prst="ellipse">
            <a:avLst/>
          </a:prstGeom>
          <a:solidFill>
            <a:srgbClr val="0F9488"/>
          </a:solidFill>
          <a:ln w="12700">
            <a:solidFill>
              <a:srgbClr val="0F9488"/>
            </a:solidFill>
            <a:prstDash val="solid"/>
          </a:ln>
        </p:spPr>
      </p:sp>
      <p:pic>
        <p:nvPicPr>
          <p:cNvPr id="10" name="Pilot · Bhopal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36899" y="1479499"/>
            <a:ext cx="332842" cy="33284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383280" y="2103120"/>
            <a:ext cx="2651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Pilot · Bhopal</a:t>
            </a:r>
            <a:endParaRPr lang="en-US" sz="1600" dirty="0"/>
          </a:p>
        </p:txBody>
      </p:sp>
      <p:sp>
        <p:nvSpPr>
          <p:cNvPr id="12" name="Text 8"/>
          <p:cNvSpPr txBox="1"/>
          <p:nvPr/>
        </p:nvSpPr>
        <p:spPr>
          <a:xfrm>
            <a:off x="3383280" y="2432304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F9488"/>
                </a:solidFill>
              </a:rPr>
              <a:t>~3 months</a:t>
            </a:r>
            <a:endParaRPr lang="en-US" sz="1200" dirty="0"/>
          </a:p>
        </p:txBody>
      </p:sp>
      <p:sp>
        <p:nvSpPr>
          <p:cNvPr id="13" name="Text 9"/>
          <p:cNvSpPr txBox="1"/>
          <p:nvPr/>
        </p:nvSpPr>
        <p:spPr>
          <a:xfrm>
            <a:off x="3383280" y="2724912"/>
            <a:ext cx="2606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Onboard hospitals, nodal officers, ER desk training, clinical review, SMS OTP</a:t>
            </a:r>
            <a:endParaRPr lang="en-US" sz="1200" dirty="0"/>
          </a:p>
        </p:txBody>
      </p:sp>
      <p:sp>
        <p:nvSpPr>
          <p:cNvPr id="14" name="Integrate circle"/>
          <p:cNvSpPr/>
          <p:nvPr/>
        </p:nvSpPr>
        <p:spPr>
          <a:xfrm>
            <a:off x="6217920" y="1325880"/>
            <a:ext cx="640080" cy="640080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pic>
        <p:nvPicPr>
          <p:cNvPr id="15" name="Integrat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1539" y="1479499"/>
            <a:ext cx="332842" cy="332842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217920" y="2103120"/>
            <a:ext cx="2651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Integrate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6217920" y="2432304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</a:rPr>
              <a:t>~3–6 months</a:t>
            </a:r>
            <a:endParaRPr lang="en-US" sz="1200" dirty="0"/>
          </a:p>
        </p:txBody>
      </p:sp>
      <p:sp>
        <p:nvSpPr>
          <p:cNvPr id="18" name="Text 13"/>
          <p:cNvSpPr txBox="1"/>
          <p:nvPr/>
        </p:nvSpPr>
        <p:spPr>
          <a:xfrm>
            <a:off x="6217920" y="2724912"/>
            <a:ext cx="2606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Health Facility Registry, HMIS, 108 control room, ABDM, encrypted database</a:t>
            </a:r>
            <a:endParaRPr lang="en-US" sz="1200" dirty="0"/>
          </a:p>
        </p:txBody>
      </p:sp>
      <p:sp>
        <p:nvSpPr>
          <p:cNvPr id="19" name="Scale · MP circle"/>
          <p:cNvSpPr/>
          <p:nvPr/>
        </p:nvSpPr>
        <p:spPr>
          <a:xfrm>
            <a:off x="9052560" y="1325880"/>
            <a:ext cx="640080" cy="64008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20" name="Scale · MP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06179" y="1479499"/>
            <a:ext cx="332842" cy="332842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9052560" y="2103120"/>
            <a:ext cx="2651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Scale · MP</a:t>
            </a:r>
            <a:endParaRPr lang="en-US" sz="1600" dirty="0"/>
          </a:p>
        </p:txBody>
      </p:sp>
      <p:sp>
        <p:nvSpPr>
          <p:cNvPr id="22" name="Text 16"/>
          <p:cNvSpPr txBox="1"/>
          <p:nvPr/>
        </p:nvSpPr>
        <p:spPr>
          <a:xfrm>
            <a:off x="9052560" y="2432304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7C3AED"/>
                </a:solidFill>
              </a:rPr>
              <a:t>~6–12 months</a:t>
            </a:r>
            <a:endParaRPr lang="en-US" sz="1200" dirty="0"/>
          </a:p>
        </p:txBody>
      </p:sp>
      <p:sp>
        <p:nvSpPr>
          <p:cNvPr id="23" name="Text 17"/>
          <p:cNvSpPr txBox="1"/>
          <p:nvPr/>
        </p:nvSpPr>
        <p:spPr>
          <a:xfrm>
            <a:off x="9052560" y="2724912"/>
            <a:ext cx="2606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District-by-district rollout, state command view, IVR for feature phones</a:t>
            </a:r>
            <a:endParaRPr lang="en-US" sz="1200" dirty="0"/>
          </a:p>
        </p:txBody>
      </p:sp>
      <p:sp>
        <p:nvSpPr>
          <p:cNvPr id="24" name="Text 18"/>
          <p:cNvSpPr txBox="1"/>
          <p:nvPr/>
        </p:nvSpPr>
        <p:spPr>
          <a:xfrm>
            <a:off x="548640" y="3703320"/>
            <a:ext cx="5303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Integrations for live mode</a:t>
            </a:r>
            <a:endParaRPr lang="en-US" sz="1500" dirty="0"/>
          </a:p>
        </p:txBody>
      </p:sp>
      <p:sp>
        <p:nvSpPr>
          <p:cNvPr id="25" name="NHA Health Facility Registry circle"/>
          <p:cNvSpPr/>
          <p:nvPr/>
        </p:nvSpPr>
        <p:spPr>
          <a:xfrm>
            <a:off x="548640" y="4160520"/>
            <a:ext cx="411480" cy="411480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pic>
        <p:nvPicPr>
          <p:cNvPr id="26" name="NHA Health Facility Registry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7395" y="4259275"/>
            <a:ext cx="213970" cy="213970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1051560" y="4178808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NHA Health Facility Registry</a:t>
            </a:r>
            <a:endParaRPr lang="en-US" sz="1200" dirty="0"/>
          </a:p>
        </p:txBody>
      </p:sp>
      <p:sp>
        <p:nvSpPr>
          <p:cNvPr id="28" name="Hospital HMIS feeds circle"/>
          <p:cNvSpPr/>
          <p:nvPr/>
        </p:nvSpPr>
        <p:spPr>
          <a:xfrm>
            <a:off x="3246120" y="4160520"/>
            <a:ext cx="411480" cy="411480"/>
          </a:xfrm>
          <a:prstGeom prst="ellipse">
            <a:avLst/>
          </a:prstGeom>
          <a:solidFill>
            <a:srgbClr val="0F9488"/>
          </a:solidFill>
          <a:ln w="12700">
            <a:solidFill>
              <a:srgbClr val="0F9488"/>
            </a:solidFill>
            <a:prstDash val="solid"/>
          </a:ln>
        </p:spPr>
      </p:sp>
      <p:pic>
        <p:nvPicPr>
          <p:cNvPr id="29" name="Hospital HMIS feeds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44875" y="4259275"/>
            <a:ext cx="213970" cy="213970"/>
          </a:xfrm>
          <a:prstGeom prst="rect">
            <a:avLst/>
          </a:prstGeom>
        </p:spPr>
      </p:pic>
      <p:sp>
        <p:nvSpPr>
          <p:cNvPr id="30" name="Text 22"/>
          <p:cNvSpPr txBox="1"/>
          <p:nvPr/>
        </p:nvSpPr>
        <p:spPr>
          <a:xfrm>
            <a:off x="3749040" y="4178808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Hospital HMIS feeds</a:t>
            </a:r>
            <a:endParaRPr lang="en-US" sz="1200" dirty="0"/>
          </a:p>
        </p:txBody>
      </p:sp>
      <p:sp>
        <p:nvSpPr>
          <p:cNvPr id="31" name="108 control room (CAD) circle"/>
          <p:cNvSpPr/>
          <p:nvPr/>
        </p:nvSpPr>
        <p:spPr>
          <a:xfrm>
            <a:off x="548640" y="4818888"/>
            <a:ext cx="411480" cy="411480"/>
          </a:xfrm>
          <a:prstGeom prst="ellipse">
            <a:avLst/>
          </a:prstGeom>
          <a:solidFill>
            <a:srgbClr val="E11D48"/>
          </a:solidFill>
          <a:ln w="12700">
            <a:solidFill>
              <a:srgbClr val="E11D48"/>
            </a:solidFill>
            <a:prstDash val="solid"/>
          </a:ln>
        </p:spPr>
      </p:sp>
      <p:pic>
        <p:nvPicPr>
          <p:cNvPr id="32" name="108 control room (CAD)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7395" y="4917643"/>
            <a:ext cx="213970" cy="213970"/>
          </a:xfrm>
          <a:prstGeom prst="rect">
            <a:avLst/>
          </a:prstGeom>
        </p:spPr>
      </p:pic>
      <p:sp>
        <p:nvSpPr>
          <p:cNvPr id="33" name="Text 24"/>
          <p:cNvSpPr txBox="1"/>
          <p:nvPr/>
        </p:nvSpPr>
        <p:spPr>
          <a:xfrm>
            <a:off x="1051560" y="4837176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108 control room (CAD)</a:t>
            </a:r>
            <a:endParaRPr lang="en-US" sz="1200" dirty="0"/>
          </a:p>
        </p:txBody>
      </p:sp>
      <p:sp>
        <p:nvSpPr>
          <p:cNvPr id="34" name="ABDM / ABHA records circle"/>
          <p:cNvSpPr/>
          <p:nvPr/>
        </p:nvSpPr>
        <p:spPr>
          <a:xfrm>
            <a:off x="3246120" y="4818888"/>
            <a:ext cx="411480" cy="41148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35" name="ABDM / ABHA records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344875" y="4917643"/>
            <a:ext cx="213970" cy="213970"/>
          </a:xfrm>
          <a:prstGeom prst="rect">
            <a:avLst/>
          </a:prstGeom>
        </p:spPr>
      </p:pic>
      <p:sp>
        <p:nvSpPr>
          <p:cNvPr id="36" name="Text 26"/>
          <p:cNvSpPr txBox="1"/>
          <p:nvPr/>
        </p:nvSpPr>
        <p:spPr>
          <a:xfrm>
            <a:off x="3749040" y="4837176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ABDM / ABHA records</a:t>
            </a:r>
            <a:endParaRPr lang="en-US" sz="1200" dirty="0"/>
          </a:p>
        </p:txBody>
      </p:sp>
      <p:sp>
        <p:nvSpPr>
          <p:cNvPr id="37" name="SMS gateway (OTP, alerts) circle"/>
          <p:cNvSpPr/>
          <p:nvPr/>
        </p:nvSpPr>
        <p:spPr>
          <a:xfrm>
            <a:off x="548640" y="5477256"/>
            <a:ext cx="411480" cy="411480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pic>
        <p:nvPicPr>
          <p:cNvPr id="38" name="SMS gateway (OTP, alerts)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7395" y="5576011"/>
            <a:ext cx="213970" cy="213970"/>
          </a:xfrm>
          <a:prstGeom prst="rect">
            <a:avLst/>
          </a:prstGeom>
        </p:spPr>
      </p:pic>
      <p:sp>
        <p:nvSpPr>
          <p:cNvPr id="39" name="Text 28"/>
          <p:cNvSpPr txBox="1"/>
          <p:nvPr/>
        </p:nvSpPr>
        <p:spPr>
          <a:xfrm>
            <a:off x="1051560" y="5495544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SMS gateway (OTP, alerts)</a:t>
            </a:r>
            <a:endParaRPr lang="en-US" sz="1200" dirty="0"/>
          </a:p>
        </p:txBody>
      </p:sp>
      <p:sp>
        <p:nvSpPr>
          <p:cNvPr id="40" name="OpenStreetMap, no API keys circle"/>
          <p:cNvSpPr/>
          <p:nvPr/>
        </p:nvSpPr>
        <p:spPr>
          <a:xfrm>
            <a:off x="3246120" y="5477256"/>
            <a:ext cx="411480" cy="411480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pic>
        <p:nvPicPr>
          <p:cNvPr id="41" name="OpenStreetMap, no API keys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344875" y="5576011"/>
            <a:ext cx="213970" cy="213970"/>
          </a:xfrm>
          <a:prstGeom prst="rect">
            <a:avLst/>
          </a:prstGeom>
        </p:spPr>
      </p:pic>
      <p:sp>
        <p:nvSpPr>
          <p:cNvPr id="42" name="Text 30"/>
          <p:cNvSpPr txBox="1"/>
          <p:nvPr/>
        </p:nvSpPr>
        <p:spPr>
          <a:xfrm>
            <a:off x="3749040" y="5495544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OpenStreetMap, no API keys</a:t>
            </a:r>
            <a:endParaRPr lang="en-US" sz="1200" dirty="0"/>
          </a:p>
        </p:txBody>
      </p:sp>
      <p:graphicFrame>
        <p:nvGraphicFramePr>
          <p:cNvPr id="10" name="risk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35040" y="3611880"/>
          <a:ext cx="557784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36576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Risk</a:t>
                      </a:r>
                      <a:endParaRPr lang="en-US" sz="110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Mitigation</a:t>
                      </a:r>
                      <a:endParaRPr lang="en-US" sz="110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Hospitals don’t update data</a:t>
                      </a:r>
                      <a:endParaRPr lang="en-US" sz="110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Freshness on every figure, stale ranked lower, one-click confirm</a:t>
                      </a:r>
                      <a:endParaRPr lang="en-US" sz="110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Wrong AI reading</a:t>
                      </a:r>
                      <a:endParaRPr lang="en-US" sz="110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AI only raises urgency; deterministic matching; 108 always visible</a:t>
                      </a:r>
                      <a:endParaRPr lang="en-US" sz="110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No hospital answers</a:t>
                      </a:r>
                      <a:endParaRPr lang="en-US" sz="110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60 s timeout → next suitable hospital</a:t>
                      </a:r>
                      <a:endParaRPr lang="en-US" sz="110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Weak network</a:t>
                      </a:r>
                      <a:endParaRPr lang="en-US" sz="110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Offline PWA runs triage &amp; matching on the phone</a:t>
                      </a:r>
                      <a:endParaRPr lang="en-US" sz="110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44" name="Low cost circle"/>
          <p:cNvSpPr/>
          <p:nvPr/>
        </p:nvSpPr>
        <p:spPr>
          <a:xfrm>
            <a:off x="6035040" y="5943600"/>
            <a:ext cx="329184" cy="329184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pic>
        <p:nvPicPr>
          <p:cNvPr id="45" name="Low cost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114044" y="6022604"/>
            <a:ext cx="171176" cy="171176"/>
          </a:xfrm>
          <a:prstGeom prst="rect">
            <a:avLst/>
          </a:prstGeom>
        </p:spPr>
      </p:pic>
      <p:sp>
        <p:nvSpPr>
          <p:cNvPr id="46" name="Text 32"/>
          <p:cNvSpPr txBox="1"/>
          <p:nvPr/>
        </p:nvSpPr>
        <p:spPr>
          <a:xfrm>
            <a:off x="6428232" y="5943600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Low cost</a:t>
            </a:r>
            <a:endParaRPr lang="en-US" sz="1200" dirty="0"/>
          </a:p>
        </p:txBody>
      </p:sp>
      <p:sp>
        <p:nvSpPr>
          <p:cNvPr id="47" name="Fits existing roles circle"/>
          <p:cNvSpPr/>
          <p:nvPr/>
        </p:nvSpPr>
        <p:spPr>
          <a:xfrm>
            <a:off x="7927848" y="5943600"/>
            <a:ext cx="329184" cy="329184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pic>
        <p:nvPicPr>
          <p:cNvPr id="48" name="Fits existing roles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006852" y="6022604"/>
            <a:ext cx="171176" cy="171176"/>
          </a:xfrm>
          <a:prstGeom prst="rect">
            <a:avLst/>
          </a:prstGeom>
        </p:spPr>
      </p:pic>
      <p:sp>
        <p:nvSpPr>
          <p:cNvPr id="49" name="Text 34"/>
          <p:cNvSpPr txBox="1"/>
          <p:nvPr/>
        </p:nvSpPr>
        <p:spPr>
          <a:xfrm>
            <a:off x="8321040" y="5943600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</a:rPr>
              <a:t>Fits existing roles</a:t>
            </a:r>
            <a:endParaRPr lang="en-US" sz="1200" dirty="0"/>
          </a:p>
        </p:txBody>
      </p:sp>
      <p:sp>
        <p:nvSpPr>
          <p:cNvPr id="50" name="Cloud-ready circle"/>
          <p:cNvSpPr/>
          <p:nvPr/>
        </p:nvSpPr>
        <p:spPr>
          <a:xfrm>
            <a:off x="9820656" y="5943600"/>
            <a:ext cx="329184" cy="329184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51" name="Cloud-ready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899660" y="6022604"/>
            <a:ext cx="171176" cy="171176"/>
          </a:xfrm>
          <a:prstGeom prst="rect">
            <a:avLst/>
          </a:prstGeom>
        </p:spPr>
      </p:pic>
      <p:sp>
        <p:nvSpPr>
          <p:cNvPr id="52" name="Text 36"/>
          <p:cNvSpPr txBox="1"/>
          <p:nvPr/>
        </p:nvSpPr>
        <p:spPr>
          <a:xfrm>
            <a:off x="10213848" y="5943600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C3AED"/>
                </a:solidFill>
              </a:rPr>
              <a:t>Cloud-ready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Innovation: what makes Medreach different</a:t>
            </a:r>
            <a:endParaRPr lang="en-US" sz="3400" dirty="0"/>
          </a:p>
        </p:txBody>
      </p:sp>
      <p:graphicFrame>
        <p:nvGraphicFramePr>
          <p:cNvPr id="11" name="comparison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731520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1051560"/>
                <a:gridCol w="1097280"/>
                <a:gridCol w="1051560"/>
                <a:gridCol w="11887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Capability</a:t>
                      </a:r>
                      <a:endParaRPr lang="en-US" sz="1200" dirty="0"/>
                    </a:p>
                  </a:txBody>
                  <a:tcPr marL="64008" marR="64008" marT="64008" marB="64008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4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Map search</a:t>
                      </a:r>
                      <a:endParaRPr lang="en-US" sz="1200" dirty="0"/>
                    </a:p>
                  </a:txBody>
                  <a:tcPr marL="64008" marR="64008" marT="64008" marB="64008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4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Bed portals</a:t>
                      </a:r>
                      <a:endParaRPr lang="en-US" sz="1200" dirty="0"/>
                    </a:p>
                  </a:txBody>
                  <a:tcPr marL="64008" marR="64008" marT="64008" marB="64008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4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Helplines</a:t>
                      </a:r>
                      <a:endParaRPr lang="en-US" sz="1200" dirty="0"/>
                    </a:p>
                  </a:txBody>
                  <a:tcPr marL="64008" marR="64008" marT="64008" marB="64008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4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Medreach</a:t>
                      </a:r>
                      <a:endParaRPr lang="en-US" sz="1200" dirty="0"/>
                    </a:p>
                  </a:txBody>
                  <a:tcPr marL="64008" marR="64008" marT="64008" marB="64008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948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1427"/>
                          </a:solidFill>
                        </a:rPr>
                        <a:t>Understands the emergency (voice, Hindi)</a:t>
                      </a:r>
                      <a:endParaRPr lang="en-US" sz="1200" dirty="0"/>
                    </a:p>
                  </a:txBody>
                  <a:tcPr marL="64008" marR="64008" marT="64008" marB="64008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E11D48"/>
                          </a:solidFill>
                        </a:rPr>
                        <a:t>No</a:t>
                      </a:r>
                      <a:endParaRPr lang="en-US" sz="1200" dirty="0"/>
                    </a:p>
                  </a:txBody>
                  <a:tcPr marL="64008" marR="64008" marT="64008" marB="64008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E11D48"/>
                          </a:solidFill>
                        </a:rPr>
                        <a:t>No</a:t>
                      </a:r>
                      <a:endParaRPr lang="en-US" sz="1200" dirty="0"/>
                    </a:p>
                  </a:txBody>
                  <a:tcPr marL="64008" marR="64008" marT="64008" marB="64008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D97706"/>
                          </a:solidFill>
                        </a:rPr>
                        <a:t>Operator</a:t>
                      </a:r>
                      <a:endParaRPr lang="en-US" sz="1200" dirty="0"/>
                    </a:p>
                  </a:txBody>
                  <a:tcPr marL="64008" marR="64008" marT="64008" marB="64008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6A34A"/>
                          </a:solidFill>
                        </a:rPr>
                        <a:t>AI + voice</a:t>
                      </a:r>
                      <a:endParaRPr lang="en-US" sz="1200" dirty="0"/>
                    </a:p>
                  </a:txBody>
                  <a:tcPr marL="64008" marR="64008" marT="64008" marB="64008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1427"/>
                          </a:solidFill>
                        </a:rPr>
                        <a:t>Matches capability (specialist, equipment)</a:t>
                      </a:r>
                      <a:endParaRPr lang="en-US" sz="1200" dirty="0"/>
                    </a:p>
                  </a:txBody>
                  <a:tcPr marL="64008" marR="64008" marT="64008" marB="64008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E11D48"/>
                          </a:solidFill>
                        </a:rPr>
                        <a:t>No</a:t>
                      </a:r>
                      <a:endParaRPr lang="en-US" sz="1200" dirty="0"/>
                    </a:p>
                  </a:txBody>
                  <a:tcPr marL="64008" marR="64008" marT="64008" marB="64008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D97706"/>
                          </a:solidFill>
                        </a:rPr>
                        <a:t>Beds only</a:t>
                      </a:r>
                      <a:endParaRPr lang="en-US" sz="1200" dirty="0"/>
                    </a:p>
                  </a:txBody>
                  <a:tcPr marL="64008" marR="64008" marT="64008" marB="64008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D97706"/>
                          </a:solidFill>
                        </a:rPr>
                        <a:t>Manual</a:t>
                      </a:r>
                      <a:endParaRPr lang="en-US" sz="1200" dirty="0"/>
                    </a:p>
                  </a:txBody>
                  <a:tcPr marL="64008" marR="64008" marT="64008" marB="64008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6A34A"/>
                          </a:solidFill>
                        </a:rPr>
                        <a:t>Yes</a:t>
                      </a:r>
                      <a:endParaRPr lang="en-US" sz="1200" dirty="0"/>
                    </a:p>
                  </a:txBody>
                  <a:tcPr marL="64008" marR="64008" marT="64008" marB="64008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1427"/>
                          </a:solidFill>
                        </a:rPr>
                        <a:t>Shows freshness &amp; who updated data</a:t>
                      </a:r>
                      <a:endParaRPr lang="en-US" sz="1200" dirty="0"/>
                    </a:p>
                  </a:txBody>
                  <a:tcPr marL="64008" marR="64008" marT="64008" marB="64008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E11D48"/>
                          </a:solidFill>
                        </a:rPr>
                        <a:t>No</a:t>
                      </a:r>
                      <a:endParaRPr lang="en-US" sz="1200" dirty="0"/>
                    </a:p>
                  </a:txBody>
                  <a:tcPr marL="64008" marR="64008" marT="64008" marB="64008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D97706"/>
                          </a:solidFill>
                        </a:rPr>
                        <a:t>Rarely</a:t>
                      </a:r>
                      <a:endParaRPr lang="en-US" sz="1200" dirty="0"/>
                    </a:p>
                  </a:txBody>
                  <a:tcPr marL="64008" marR="64008" marT="64008" marB="64008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E11D48"/>
                          </a:solidFill>
                        </a:rPr>
                        <a:t>No</a:t>
                      </a:r>
                      <a:endParaRPr lang="en-US" sz="1200" dirty="0"/>
                    </a:p>
                  </a:txBody>
                  <a:tcPr marL="64008" marR="64008" marT="64008" marB="64008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6A34A"/>
                          </a:solidFill>
                        </a:rPr>
                        <a:t>Every figure</a:t>
                      </a:r>
                      <a:endParaRPr lang="en-US" sz="1200" dirty="0"/>
                    </a:p>
                  </a:txBody>
                  <a:tcPr marL="64008" marR="64008" marT="64008" marB="64008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1427"/>
                          </a:solidFill>
                        </a:rPr>
                        <a:t>Hospital accepts before travel</a:t>
                      </a:r>
                      <a:endParaRPr lang="en-US" sz="1200" dirty="0"/>
                    </a:p>
                  </a:txBody>
                  <a:tcPr marL="64008" marR="64008" marT="64008" marB="64008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E11D48"/>
                          </a:solidFill>
                        </a:rPr>
                        <a:t>No</a:t>
                      </a:r>
                      <a:endParaRPr lang="en-US" sz="1200" dirty="0"/>
                    </a:p>
                  </a:txBody>
                  <a:tcPr marL="64008" marR="64008" marT="64008" marB="64008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E11D48"/>
                          </a:solidFill>
                        </a:rPr>
                        <a:t>No</a:t>
                      </a:r>
                      <a:endParaRPr lang="en-US" sz="1200" dirty="0"/>
                    </a:p>
                  </a:txBody>
                  <a:tcPr marL="64008" marR="64008" marT="64008" marB="64008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D97706"/>
                          </a:solidFill>
                        </a:rPr>
                        <a:t>Sometimes</a:t>
                      </a:r>
                      <a:endParaRPr lang="en-US" sz="1200" dirty="0"/>
                    </a:p>
                  </a:txBody>
                  <a:tcPr marL="64008" marR="64008" marT="64008" marB="64008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6A34A"/>
                          </a:solidFill>
                        </a:rPr>
                        <a:t>Yes + bay</a:t>
                      </a:r>
                      <a:endParaRPr lang="en-US" sz="1200" dirty="0"/>
                    </a:p>
                  </a:txBody>
                  <a:tcPr marL="64008" marR="64008" marT="64008" marB="64008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1427"/>
                          </a:solidFill>
                        </a:rPr>
                        <a:t>Automatic fallback to next hospital</a:t>
                      </a:r>
                      <a:endParaRPr lang="en-US" sz="1200" dirty="0"/>
                    </a:p>
                  </a:txBody>
                  <a:tcPr marL="64008" marR="64008" marT="64008" marB="64008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E11D48"/>
                          </a:solidFill>
                        </a:rPr>
                        <a:t>No</a:t>
                      </a:r>
                      <a:endParaRPr lang="en-US" sz="1200" dirty="0"/>
                    </a:p>
                  </a:txBody>
                  <a:tcPr marL="64008" marR="64008" marT="64008" marB="64008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E11D48"/>
                          </a:solidFill>
                        </a:rPr>
                        <a:t>No</a:t>
                      </a:r>
                      <a:endParaRPr lang="en-US" sz="1200" dirty="0"/>
                    </a:p>
                  </a:txBody>
                  <a:tcPr marL="64008" marR="64008" marT="64008" marB="64008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D97706"/>
                          </a:solidFill>
                        </a:rPr>
                        <a:t>Manual</a:t>
                      </a:r>
                      <a:endParaRPr lang="en-US" sz="1200" dirty="0"/>
                    </a:p>
                  </a:txBody>
                  <a:tcPr marL="64008" marR="64008" marT="64008" marB="64008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6A34A"/>
                          </a:solidFill>
                        </a:rPr>
                        <a:t>60 s</a:t>
                      </a:r>
                      <a:endParaRPr lang="en-US" sz="1200" dirty="0"/>
                    </a:p>
                  </a:txBody>
                  <a:tcPr marL="64008" marR="64008" marT="64008" marB="64008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1427"/>
                          </a:solidFill>
                        </a:rPr>
                        <a:t>AI pre-arrival note for ER doctor</a:t>
                      </a:r>
                      <a:endParaRPr lang="en-US" sz="1200" dirty="0"/>
                    </a:p>
                  </a:txBody>
                  <a:tcPr marL="64008" marR="64008" marT="64008" marB="64008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E11D48"/>
                          </a:solidFill>
                        </a:rPr>
                        <a:t>No</a:t>
                      </a:r>
                      <a:endParaRPr lang="en-US" sz="1200" dirty="0"/>
                    </a:p>
                  </a:txBody>
                  <a:tcPr marL="64008" marR="64008" marT="64008" marB="64008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E11D48"/>
                          </a:solidFill>
                        </a:rPr>
                        <a:t>No</a:t>
                      </a:r>
                      <a:endParaRPr lang="en-US" sz="1200" dirty="0"/>
                    </a:p>
                  </a:txBody>
                  <a:tcPr marL="64008" marR="64008" marT="64008" marB="64008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E11D48"/>
                          </a:solidFill>
                        </a:rPr>
                        <a:t>No</a:t>
                      </a:r>
                      <a:endParaRPr lang="en-US" sz="1200" dirty="0"/>
                    </a:p>
                  </a:txBody>
                  <a:tcPr marL="64008" marR="64008" marT="64008" marB="64008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6A34A"/>
                          </a:solidFill>
                        </a:rPr>
                        <a:t>SBAR note</a:t>
                      </a:r>
                      <a:endParaRPr lang="en-US" sz="1200" dirty="0"/>
                    </a:p>
                  </a:txBody>
                  <a:tcPr marL="64008" marR="64008" marT="64008" marB="64008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1427"/>
                          </a:solidFill>
                        </a:rPr>
                        <a:t>Help for a person living alone</a:t>
                      </a:r>
                      <a:endParaRPr lang="en-US" sz="1200" dirty="0"/>
                    </a:p>
                  </a:txBody>
                  <a:tcPr marL="64008" marR="64008" marT="64008" marB="64008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E11D48"/>
                          </a:solidFill>
                        </a:rPr>
                        <a:t>No</a:t>
                      </a:r>
                      <a:endParaRPr lang="en-US" sz="1200" dirty="0"/>
                    </a:p>
                  </a:txBody>
                  <a:tcPr marL="64008" marR="64008" marT="64008" marB="64008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E11D48"/>
                          </a:solidFill>
                        </a:rPr>
                        <a:t>No</a:t>
                      </a:r>
                      <a:endParaRPr lang="en-US" sz="1200" dirty="0"/>
                    </a:p>
                  </a:txBody>
                  <a:tcPr marL="64008" marR="64008" marT="64008" marB="64008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E11D48"/>
                          </a:solidFill>
                        </a:rPr>
                        <a:t>No</a:t>
                      </a:r>
                      <a:endParaRPr lang="en-US" sz="1200" dirty="0"/>
                    </a:p>
                  </a:txBody>
                  <a:tcPr marL="64008" marR="64008" marT="64008" marB="64008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6A34A"/>
                          </a:solidFill>
                        </a:rPr>
                        <a:t>“I’m alone”</a:t>
                      </a:r>
                      <a:endParaRPr lang="en-US" sz="1200" dirty="0"/>
                    </a:p>
                  </a:txBody>
                  <a:tcPr marL="64008" marR="64008" marT="64008" marB="64008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7"/>
                    </a:solidFill>
                  </a:tcPr>
                </a:tc>
              </a:tr>
            </a:tbl>
          </a:graphicData>
        </a:graphic>
      </p:graphicFrame>
      <p:sp>
        <p:nvSpPr>
          <p:cNvPr id="4" name="innovation card"/>
          <p:cNvSpPr/>
          <p:nvPr/>
        </p:nvSpPr>
        <p:spPr>
          <a:xfrm>
            <a:off x="8138160" y="1325880"/>
            <a:ext cx="3474720" cy="1069848"/>
          </a:xfrm>
          <a:prstGeom prst="roundRect">
            <a:avLst>
              <a:gd name="adj" fmla="val 1025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hree truths kept separate circle"/>
          <p:cNvSpPr/>
          <p:nvPr/>
        </p:nvSpPr>
        <p:spPr>
          <a:xfrm>
            <a:off x="8302752" y="1581912"/>
            <a:ext cx="530352" cy="530352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pic>
        <p:nvPicPr>
          <p:cNvPr id="6" name="Three truths kept separat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0036" y="1709196"/>
            <a:ext cx="275783" cy="275783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8979408" y="1435608"/>
            <a:ext cx="25603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Three truths kept separate</a:t>
            </a:r>
            <a:endParaRPr lang="en-US" sz="1400" dirty="0"/>
          </a:p>
        </p:txBody>
      </p:sp>
      <p:sp>
        <p:nvSpPr>
          <p:cNvPr id="8" name="Text 4"/>
          <p:cNvSpPr txBox="1"/>
          <p:nvPr/>
        </p:nvSpPr>
        <p:spPr>
          <a:xfrm>
            <a:off x="8979408" y="1746504"/>
            <a:ext cx="25603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Reported capacity ≠ referral accepted ≠ confirmed destination.</a:t>
            </a:r>
            <a:endParaRPr lang="en-US" sz="1100" dirty="0"/>
          </a:p>
        </p:txBody>
      </p:sp>
      <p:sp>
        <p:nvSpPr>
          <p:cNvPr id="9" name="innovation card"/>
          <p:cNvSpPr/>
          <p:nvPr/>
        </p:nvSpPr>
        <p:spPr>
          <a:xfrm>
            <a:off x="8138160" y="2514600"/>
            <a:ext cx="3474720" cy="1069848"/>
          </a:xfrm>
          <a:prstGeom prst="roundRect">
            <a:avLst>
              <a:gd name="adj" fmla="val 1025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Explainable score circle"/>
          <p:cNvSpPr/>
          <p:nvPr/>
        </p:nvSpPr>
        <p:spPr>
          <a:xfrm>
            <a:off x="8302752" y="2770632"/>
            <a:ext cx="530352" cy="530352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11" name="Explainable scor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30036" y="2897916"/>
            <a:ext cx="275783" cy="275783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8979408" y="2624328"/>
            <a:ext cx="25603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Explainable score</a:t>
            </a:r>
            <a:endParaRPr lang="en-US" sz="1400" dirty="0"/>
          </a:p>
        </p:txBody>
      </p:sp>
      <p:sp>
        <p:nvSpPr>
          <p:cNvPr id="13" name="Text 8"/>
          <p:cNvSpPr txBox="1"/>
          <p:nvPr/>
        </p:nvSpPr>
        <p:spPr>
          <a:xfrm>
            <a:off x="8979408" y="2935224"/>
            <a:ext cx="25603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“Why this hospital?” checklist first; every score part shown.</a:t>
            </a:r>
            <a:endParaRPr lang="en-US" sz="1100" dirty="0"/>
          </a:p>
        </p:txBody>
      </p:sp>
      <p:sp>
        <p:nvSpPr>
          <p:cNvPr id="14" name="innovation card"/>
          <p:cNvSpPr/>
          <p:nvPr/>
        </p:nvSpPr>
        <p:spPr>
          <a:xfrm>
            <a:off x="8138160" y="3703320"/>
            <a:ext cx="3474720" cy="1069848"/>
          </a:xfrm>
          <a:prstGeom prst="roundRect">
            <a:avLst>
              <a:gd name="adj" fmla="val 1025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Privacy by design circle"/>
          <p:cNvSpPr/>
          <p:nvPr/>
        </p:nvSpPr>
        <p:spPr>
          <a:xfrm>
            <a:off x="8302752" y="3959352"/>
            <a:ext cx="530352" cy="530352"/>
          </a:xfrm>
          <a:prstGeom prst="ellipse">
            <a:avLst/>
          </a:prstGeom>
          <a:solidFill>
            <a:srgbClr val="0F9488"/>
          </a:solidFill>
          <a:ln w="12700">
            <a:solidFill>
              <a:srgbClr val="0F9488"/>
            </a:solidFill>
            <a:prstDash val="solid"/>
          </a:ln>
        </p:spPr>
      </p:sp>
      <p:pic>
        <p:nvPicPr>
          <p:cNvPr id="16" name="Privacy by desig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30036" y="4086636"/>
            <a:ext cx="275783" cy="275783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8979408" y="3813048"/>
            <a:ext cx="25603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Privacy by design</a:t>
            </a:r>
            <a:endParaRPr lang="en-US" sz="1400" dirty="0"/>
          </a:p>
        </p:txBody>
      </p:sp>
      <p:sp>
        <p:nvSpPr>
          <p:cNvPr id="18" name="Text 12"/>
          <p:cNvSpPr txBox="1"/>
          <p:nvPr/>
        </p:nvSpPr>
        <p:spPr>
          <a:xfrm>
            <a:off x="8979408" y="4123944"/>
            <a:ext cx="25603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Consent, masked IDs, audit log, deletion 24 h after hand-over.</a:t>
            </a:r>
            <a:endParaRPr lang="en-US" sz="1100" dirty="0"/>
          </a:p>
        </p:txBody>
      </p:sp>
      <p:sp>
        <p:nvSpPr>
          <p:cNvPr id="19" name="innovation card"/>
          <p:cNvSpPr/>
          <p:nvPr/>
        </p:nvSpPr>
        <p:spPr>
          <a:xfrm>
            <a:off x="8138160" y="4892040"/>
            <a:ext cx="3474720" cy="1069848"/>
          </a:xfrm>
          <a:prstGeom prst="roundRect">
            <a:avLst>
              <a:gd name="adj" fmla="val 1025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Offline-first circle"/>
          <p:cNvSpPr/>
          <p:nvPr/>
        </p:nvSpPr>
        <p:spPr>
          <a:xfrm>
            <a:off x="8302752" y="5148072"/>
            <a:ext cx="530352" cy="530352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pic>
        <p:nvPicPr>
          <p:cNvPr id="21" name="Offline-first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30036" y="5275356"/>
            <a:ext cx="275783" cy="275783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8979408" y="5001768"/>
            <a:ext cx="25603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Offline-first</a:t>
            </a:r>
            <a:endParaRPr lang="en-US" sz="1400" dirty="0"/>
          </a:p>
        </p:txBody>
      </p:sp>
      <p:sp>
        <p:nvSpPr>
          <p:cNvPr id="23" name="Text 16"/>
          <p:cNvSpPr txBox="1"/>
          <p:nvPr/>
        </p:nvSpPr>
        <p:spPr>
          <a:xfrm>
            <a:off x="8979408" y="5312664"/>
            <a:ext cx="25603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Same engines run on server and phone; works on weak networks.</a:t>
            </a:r>
            <a:endParaRPr lang="en-US" sz="1100" dirty="0"/>
          </a:p>
        </p:txBody>
      </p:sp>
      <p:sp>
        <p:nvSpPr>
          <p:cNvPr id="24" name="Text 17"/>
          <p:cNvSpPr txBox="1"/>
          <p:nvPr/>
        </p:nvSpPr>
        <p:spPr>
          <a:xfrm>
            <a:off x="548640" y="51206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1"/>
                </a:solidFill>
              </a:rPr>
              <a:t>Live proof: when a hospital sets its ER to “Diverting”, it disappears from every citizen’s list within a second.</a:t>
            </a:r>
            <a:endParaRPr lang="en-US" sz="1300" dirty="0"/>
          </a:p>
        </p:txBody>
      </p:sp>
      <p:sp>
        <p:nvSpPr>
          <p:cNvPr id="25" name="innovation stat"/>
          <p:cNvSpPr/>
          <p:nvPr/>
        </p:nvSpPr>
        <p:spPr>
          <a:xfrm>
            <a:off x="548640" y="5532120"/>
            <a:ext cx="2331720" cy="731520"/>
          </a:xfrm>
          <a:prstGeom prst="roundRect">
            <a:avLst>
              <a:gd name="adj" fmla="val 1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6" name="Text 19"/>
          <p:cNvSpPr txBox="1"/>
          <p:nvPr/>
        </p:nvSpPr>
        <p:spPr>
          <a:xfrm>
            <a:off x="685800" y="5577840"/>
            <a:ext cx="868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&lt; 1 s</a:t>
            </a:r>
            <a:endParaRPr lang="en-US" sz="2200" dirty="0"/>
          </a:p>
        </p:txBody>
      </p:sp>
      <p:sp>
        <p:nvSpPr>
          <p:cNvPr id="27" name="Text 20"/>
          <p:cNvSpPr txBox="1"/>
          <p:nvPr/>
        </p:nvSpPr>
        <p:spPr>
          <a:xfrm>
            <a:off x="1554480" y="5577840"/>
            <a:ext cx="12618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hospital status change reaches every citizen</a:t>
            </a:r>
            <a:endParaRPr lang="en-US" sz="1050" dirty="0"/>
          </a:p>
        </p:txBody>
      </p:sp>
      <p:sp>
        <p:nvSpPr>
          <p:cNvPr id="28" name="innovation stat"/>
          <p:cNvSpPr/>
          <p:nvPr/>
        </p:nvSpPr>
        <p:spPr>
          <a:xfrm>
            <a:off x="3035808" y="5532120"/>
            <a:ext cx="2331720" cy="731520"/>
          </a:xfrm>
          <a:prstGeom prst="roundRect">
            <a:avLst>
              <a:gd name="adj" fmla="val 1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9" name="Text 22"/>
          <p:cNvSpPr txBox="1"/>
          <p:nvPr/>
        </p:nvSpPr>
        <p:spPr>
          <a:xfrm>
            <a:off x="3172968" y="5577840"/>
            <a:ext cx="868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11D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 s</a:t>
            </a:r>
            <a:endParaRPr lang="en-US" sz="2200" dirty="0"/>
          </a:p>
        </p:txBody>
      </p:sp>
      <p:sp>
        <p:nvSpPr>
          <p:cNvPr id="30" name="Text 23"/>
          <p:cNvSpPr txBox="1"/>
          <p:nvPr/>
        </p:nvSpPr>
        <p:spPr>
          <a:xfrm>
            <a:off x="4041648" y="5577840"/>
            <a:ext cx="12618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no answer → next hospital asked</a:t>
            </a:r>
            <a:endParaRPr lang="en-US" sz="1050" dirty="0"/>
          </a:p>
        </p:txBody>
      </p:sp>
      <p:sp>
        <p:nvSpPr>
          <p:cNvPr id="31" name="innovation stat"/>
          <p:cNvSpPr/>
          <p:nvPr/>
        </p:nvSpPr>
        <p:spPr>
          <a:xfrm>
            <a:off x="5522976" y="5532120"/>
            <a:ext cx="2331720" cy="731520"/>
          </a:xfrm>
          <a:prstGeom prst="roundRect">
            <a:avLst>
              <a:gd name="adj" fmla="val 1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5660136" y="5577840"/>
            <a:ext cx="868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2200" dirty="0"/>
          </a:p>
        </p:txBody>
      </p:sp>
      <p:sp>
        <p:nvSpPr>
          <p:cNvPr id="33" name="Text 26"/>
          <p:cNvSpPr txBox="1"/>
          <p:nvPr/>
        </p:nvSpPr>
        <p:spPr>
          <a:xfrm>
            <a:off x="6528816" y="5577840"/>
            <a:ext cx="12618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API keys needed for the maps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Impact and benefits</a:t>
            </a:r>
            <a:endParaRPr lang="en-US" sz="3400" dirty="0"/>
          </a:p>
        </p:txBody>
      </p:sp>
      <p:sp>
        <p:nvSpPr>
          <p:cNvPr id="3" name="impact card"/>
          <p:cNvSpPr/>
          <p:nvPr/>
        </p:nvSpPr>
        <p:spPr>
          <a:xfrm>
            <a:off x="548640" y="1325880"/>
            <a:ext cx="2377440" cy="1737360"/>
          </a:xfrm>
          <a:prstGeom prst="roundRect">
            <a:avLst>
              <a:gd name="adj" fmla="val 631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ocial circle"/>
          <p:cNvSpPr/>
          <p:nvPr/>
        </p:nvSpPr>
        <p:spPr>
          <a:xfrm>
            <a:off x="731520" y="1508760"/>
            <a:ext cx="475488" cy="475488"/>
          </a:xfrm>
          <a:prstGeom prst="ellipse">
            <a:avLst/>
          </a:prstGeom>
          <a:solidFill>
            <a:srgbClr val="E11D48"/>
          </a:solidFill>
          <a:ln w="12700">
            <a:solidFill>
              <a:srgbClr val="E11D48"/>
            </a:solidFill>
            <a:prstDash val="solid"/>
          </a:ln>
        </p:spPr>
      </p:sp>
      <p:pic>
        <p:nvPicPr>
          <p:cNvPr id="5" name="Social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5637" y="1622877"/>
            <a:ext cx="247254" cy="24725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25880" y="1563624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Social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2103120"/>
            <a:ext cx="2057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Right care the first time; equal access for rural, elderly and Hindi-speaking citizens</a:t>
            </a:r>
            <a:endParaRPr lang="en-US" sz="1150" dirty="0"/>
          </a:p>
        </p:txBody>
      </p:sp>
      <p:sp>
        <p:nvSpPr>
          <p:cNvPr id="8" name="impact card"/>
          <p:cNvSpPr/>
          <p:nvPr/>
        </p:nvSpPr>
        <p:spPr>
          <a:xfrm>
            <a:off x="3063240" y="1325880"/>
            <a:ext cx="2377440" cy="1737360"/>
          </a:xfrm>
          <a:prstGeom prst="roundRect">
            <a:avLst>
              <a:gd name="adj" fmla="val 631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Economic circle"/>
          <p:cNvSpPr/>
          <p:nvPr/>
        </p:nvSpPr>
        <p:spPr>
          <a:xfrm>
            <a:off x="3246120" y="1508760"/>
            <a:ext cx="475488" cy="475488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pic>
        <p:nvPicPr>
          <p:cNvPr id="10" name="Economic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60237" y="1622877"/>
            <a:ext cx="247254" cy="24725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840480" y="1563624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Economic</a:t>
            </a:r>
            <a:endParaRPr lang="en-US" sz="1600" dirty="0"/>
          </a:p>
        </p:txBody>
      </p:sp>
      <p:sp>
        <p:nvSpPr>
          <p:cNvPr id="12" name="Text 8"/>
          <p:cNvSpPr txBox="1"/>
          <p:nvPr/>
        </p:nvSpPr>
        <p:spPr>
          <a:xfrm>
            <a:off x="3246120" y="2103120"/>
            <a:ext cx="2057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No repeat trips or wasted visits; better use of ICU beds and specialists</a:t>
            </a:r>
            <a:endParaRPr lang="en-US" sz="1150" dirty="0"/>
          </a:p>
        </p:txBody>
      </p:sp>
      <p:sp>
        <p:nvSpPr>
          <p:cNvPr id="13" name="impact card"/>
          <p:cNvSpPr/>
          <p:nvPr/>
        </p:nvSpPr>
        <p:spPr>
          <a:xfrm>
            <a:off x="5577840" y="1325880"/>
            <a:ext cx="2377440" cy="1737360"/>
          </a:xfrm>
          <a:prstGeom prst="roundRect">
            <a:avLst>
              <a:gd name="adj" fmla="val 631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Governance circle"/>
          <p:cNvSpPr/>
          <p:nvPr/>
        </p:nvSpPr>
        <p:spPr>
          <a:xfrm>
            <a:off x="5760720" y="1508760"/>
            <a:ext cx="475488" cy="47548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pic>
        <p:nvPicPr>
          <p:cNvPr id="15" name="Governanc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4837" y="1622877"/>
            <a:ext cx="247254" cy="24725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355080" y="1563624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Governance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5760720" y="2103120"/>
            <a:ext cx="2057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Live, audited view of emergency capacity for planning beds and ambulances</a:t>
            </a:r>
            <a:endParaRPr lang="en-US" sz="1150" dirty="0"/>
          </a:p>
        </p:txBody>
      </p:sp>
      <p:sp>
        <p:nvSpPr>
          <p:cNvPr id="18" name="impact card"/>
          <p:cNvSpPr/>
          <p:nvPr/>
        </p:nvSpPr>
        <p:spPr>
          <a:xfrm>
            <a:off x="548640" y="3200400"/>
            <a:ext cx="2377440" cy="1737360"/>
          </a:xfrm>
          <a:prstGeom prst="roundRect">
            <a:avLst>
              <a:gd name="adj" fmla="val 631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Educational circle"/>
          <p:cNvSpPr/>
          <p:nvPr/>
        </p:nvSpPr>
        <p:spPr>
          <a:xfrm>
            <a:off x="731520" y="3383280"/>
            <a:ext cx="475488" cy="475488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pic>
        <p:nvPicPr>
          <p:cNvPr id="20" name="Educational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5637" y="3497397"/>
            <a:ext cx="247254" cy="247254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325880" y="3438144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Educational</a:t>
            </a:r>
            <a:endParaRPr lang="en-US" sz="1600" dirty="0"/>
          </a:p>
        </p:txBody>
      </p:sp>
      <p:sp>
        <p:nvSpPr>
          <p:cNvPr id="22" name="Text 16"/>
          <p:cNvSpPr txBox="1"/>
          <p:nvPr/>
        </p:nvSpPr>
        <p:spPr>
          <a:xfrm>
            <a:off x="731520" y="3977640"/>
            <a:ext cx="2057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Safe first-aid steps, “not a diagnosis” clarity, awareness of Ayushman, ABHA, 108</a:t>
            </a:r>
            <a:endParaRPr lang="en-US" sz="1150" dirty="0"/>
          </a:p>
        </p:txBody>
      </p:sp>
      <p:sp>
        <p:nvSpPr>
          <p:cNvPr id="23" name="impact card"/>
          <p:cNvSpPr/>
          <p:nvPr/>
        </p:nvSpPr>
        <p:spPr>
          <a:xfrm>
            <a:off x="3063240" y="3200400"/>
            <a:ext cx="2377440" cy="1737360"/>
          </a:xfrm>
          <a:prstGeom prst="roundRect">
            <a:avLst>
              <a:gd name="adj" fmla="val 631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User circle"/>
          <p:cNvSpPr/>
          <p:nvPr/>
        </p:nvSpPr>
        <p:spPr>
          <a:xfrm>
            <a:off x="3246120" y="3383280"/>
            <a:ext cx="475488" cy="475488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25" name="User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60237" y="3497397"/>
            <a:ext cx="247254" cy="247254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3840480" y="3438144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User</a:t>
            </a:r>
            <a:endParaRPr lang="en-US" sz="1600" dirty="0"/>
          </a:p>
        </p:txBody>
      </p:sp>
      <p:sp>
        <p:nvSpPr>
          <p:cNvPr id="27" name="Text 20"/>
          <p:cNvSpPr txBox="1"/>
          <p:nvPr/>
        </p:nvSpPr>
        <p:spPr>
          <a:xfrm>
            <a:off x="3246120" y="3977640"/>
            <a:ext cx="2057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One button, voice, bilingual, clear status and a family tracking link</a:t>
            </a:r>
            <a:endParaRPr lang="en-US" sz="1150" dirty="0"/>
          </a:p>
        </p:txBody>
      </p:sp>
      <p:sp>
        <p:nvSpPr>
          <p:cNvPr id="28" name="impact card"/>
          <p:cNvSpPr/>
          <p:nvPr/>
        </p:nvSpPr>
        <p:spPr>
          <a:xfrm>
            <a:off x="5577840" y="3200400"/>
            <a:ext cx="2377440" cy="1737360"/>
          </a:xfrm>
          <a:prstGeom prst="roundRect">
            <a:avLst>
              <a:gd name="adj" fmla="val 631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9" name="Health system circle"/>
          <p:cNvSpPr/>
          <p:nvPr/>
        </p:nvSpPr>
        <p:spPr>
          <a:xfrm>
            <a:off x="5760720" y="3383280"/>
            <a:ext cx="475488" cy="475488"/>
          </a:xfrm>
          <a:prstGeom prst="ellipse">
            <a:avLst/>
          </a:prstGeom>
          <a:solidFill>
            <a:srgbClr val="0F9488"/>
          </a:solidFill>
          <a:ln w="12700">
            <a:solidFill>
              <a:srgbClr val="0F9488"/>
            </a:solidFill>
            <a:prstDash val="solid"/>
          </a:ln>
        </p:spPr>
      </p:sp>
      <p:pic>
        <p:nvPicPr>
          <p:cNvPr id="30" name="Health system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74837" y="3497397"/>
            <a:ext cx="247254" cy="247254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6355080" y="3438144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Health system</a:t>
            </a:r>
            <a:endParaRPr lang="en-US" sz="1600" dirty="0"/>
          </a:p>
        </p:txBody>
      </p:sp>
      <p:sp>
        <p:nvSpPr>
          <p:cNvPr id="32" name="Text 24"/>
          <p:cNvSpPr txBox="1"/>
          <p:nvPr/>
        </p:nvSpPr>
        <p:spPr>
          <a:xfrm>
            <a:off x="5760720" y="3977640"/>
            <a:ext cx="2057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Fewer surprise arrivals, less ER crowding, fewer inter-hospital transfers</a:t>
            </a:r>
            <a:endParaRPr lang="en-US" sz="1150" dirty="0"/>
          </a:p>
        </p:txBody>
      </p:sp>
      <p:sp>
        <p:nvSpPr>
          <p:cNvPr id="33" name="Text 25"/>
          <p:cNvSpPr txBox="1"/>
          <p:nvPr/>
        </p:nvSpPr>
        <p:spPr>
          <a:xfrm>
            <a:off x="548640" y="5120640"/>
            <a:ext cx="7406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How we will measure it in the pilot</a:t>
            </a:r>
            <a:endParaRPr lang="en-US" sz="1300" dirty="0"/>
          </a:p>
        </p:txBody>
      </p:sp>
      <p:sp>
        <p:nvSpPr>
          <p:cNvPr id="34" name="Time to definitive care circle"/>
          <p:cNvSpPr/>
          <p:nvPr/>
        </p:nvSpPr>
        <p:spPr>
          <a:xfrm>
            <a:off x="548640" y="5532120"/>
            <a:ext cx="384048" cy="384048"/>
          </a:xfrm>
          <a:prstGeom prst="ellipse">
            <a:avLst/>
          </a:prstGeom>
          <a:solidFill>
            <a:srgbClr val="0F9488"/>
          </a:solidFill>
          <a:ln w="12700">
            <a:solidFill>
              <a:srgbClr val="0F9488"/>
            </a:solidFill>
            <a:prstDash val="solid"/>
          </a:ln>
        </p:spPr>
      </p:sp>
      <p:pic>
        <p:nvPicPr>
          <p:cNvPr id="35" name="Time to definitive care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0812" y="5624292"/>
            <a:ext cx="199705" cy="199705"/>
          </a:xfrm>
          <a:prstGeom prst="rect">
            <a:avLst/>
          </a:prstGeom>
        </p:spPr>
      </p:pic>
      <p:sp>
        <p:nvSpPr>
          <p:cNvPr id="36" name="Text 27"/>
          <p:cNvSpPr txBox="1"/>
          <p:nvPr/>
        </p:nvSpPr>
        <p:spPr>
          <a:xfrm>
            <a:off x="1005840" y="550468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Time to definitive care</a:t>
            </a:r>
            <a:endParaRPr lang="en-US" sz="1100" dirty="0"/>
          </a:p>
        </p:txBody>
      </p:sp>
      <p:sp>
        <p:nvSpPr>
          <p:cNvPr id="37" name="Secondary transfers avoided circle"/>
          <p:cNvSpPr/>
          <p:nvPr/>
        </p:nvSpPr>
        <p:spPr>
          <a:xfrm>
            <a:off x="2441448" y="5532120"/>
            <a:ext cx="384048" cy="384048"/>
          </a:xfrm>
          <a:prstGeom prst="ellipse">
            <a:avLst/>
          </a:prstGeom>
          <a:solidFill>
            <a:srgbClr val="E11D48"/>
          </a:solidFill>
          <a:ln w="12700">
            <a:solidFill>
              <a:srgbClr val="E11D48"/>
            </a:solidFill>
            <a:prstDash val="solid"/>
          </a:ln>
        </p:spPr>
      </p:sp>
      <p:pic>
        <p:nvPicPr>
          <p:cNvPr id="38" name="Secondary transfers avoided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533620" y="5624292"/>
            <a:ext cx="199705" cy="199705"/>
          </a:xfrm>
          <a:prstGeom prst="rect">
            <a:avLst/>
          </a:prstGeom>
        </p:spPr>
      </p:pic>
      <p:sp>
        <p:nvSpPr>
          <p:cNvPr id="39" name="Text 29"/>
          <p:cNvSpPr txBox="1"/>
          <p:nvPr/>
        </p:nvSpPr>
        <p:spPr>
          <a:xfrm>
            <a:off x="2898648" y="550468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Secondary transfers avoided</a:t>
            </a:r>
            <a:endParaRPr lang="en-US" sz="1100" dirty="0"/>
          </a:p>
        </p:txBody>
      </p:sp>
      <p:sp>
        <p:nvSpPr>
          <p:cNvPr id="40" name="Referral acceptance time circle"/>
          <p:cNvSpPr/>
          <p:nvPr/>
        </p:nvSpPr>
        <p:spPr>
          <a:xfrm>
            <a:off x="4334256" y="5532120"/>
            <a:ext cx="384048" cy="384048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pic>
        <p:nvPicPr>
          <p:cNvPr id="41" name="Referral acceptance time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426428" y="5624292"/>
            <a:ext cx="199705" cy="199705"/>
          </a:xfrm>
          <a:prstGeom prst="rect">
            <a:avLst/>
          </a:prstGeom>
        </p:spPr>
      </p:pic>
      <p:sp>
        <p:nvSpPr>
          <p:cNvPr id="42" name="Text 31"/>
          <p:cNvSpPr txBox="1"/>
          <p:nvPr/>
        </p:nvSpPr>
        <p:spPr>
          <a:xfrm>
            <a:off x="4791456" y="550468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Referral acceptance time</a:t>
            </a:r>
            <a:endParaRPr lang="en-US" sz="1100" dirty="0"/>
          </a:p>
        </p:txBody>
      </p:sp>
      <p:sp>
        <p:nvSpPr>
          <p:cNvPr id="43" name="Data freshness (&lt; 15 min) circle"/>
          <p:cNvSpPr/>
          <p:nvPr/>
        </p:nvSpPr>
        <p:spPr>
          <a:xfrm>
            <a:off x="6227064" y="5532120"/>
            <a:ext cx="384048" cy="38404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pic>
        <p:nvPicPr>
          <p:cNvPr id="44" name="Data freshness (&lt; 15 min)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319236" y="5624292"/>
            <a:ext cx="199705" cy="199705"/>
          </a:xfrm>
          <a:prstGeom prst="rect">
            <a:avLst/>
          </a:prstGeom>
        </p:spPr>
      </p:pic>
      <p:sp>
        <p:nvSpPr>
          <p:cNvPr id="45" name="Text 33"/>
          <p:cNvSpPr txBox="1"/>
          <p:nvPr/>
        </p:nvSpPr>
        <p:spPr>
          <a:xfrm>
            <a:off x="6684264" y="550468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Data freshness (&lt; 15 min)</a:t>
            </a:r>
            <a:endParaRPr lang="en-US" sz="1100" dirty="0"/>
          </a:p>
        </p:txBody>
      </p:sp>
      <p:sp>
        <p:nvSpPr>
          <p:cNvPr id="46" name="stakeholder panel"/>
          <p:cNvSpPr/>
          <p:nvPr/>
        </p:nvSpPr>
        <p:spPr>
          <a:xfrm>
            <a:off x="8275320" y="1325880"/>
            <a:ext cx="3337560" cy="4846320"/>
          </a:xfrm>
          <a:prstGeom prst="roundRect">
            <a:avLst>
              <a:gd name="adj" fmla="val 3288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47" name="Text 35"/>
          <p:cNvSpPr txBox="1"/>
          <p:nvPr/>
        </p:nvSpPr>
        <p:spPr>
          <a:xfrm>
            <a:off x="8503920" y="150876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Benefits by stakeholder</a:t>
            </a:r>
            <a:endParaRPr lang="en-US" sz="1600" dirty="0"/>
          </a:p>
        </p:txBody>
      </p:sp>
      <p:pic>
        <p:nvPicPr>
          <p:cNvPr id="48" name="stakeholder icon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522208" y="2157984"/>
            <a:ext cx="292608" cy="292608"/>
          </a:xfrm>
          <a:prstGeom prst="rect">
            <a:avLst/>
          </a:prstGeom>
        </p:spPr>
      </p:pic>
      <p:sp>
        <p:nvSpPr>
          <p:cNvPr id="49" name="Text 36"/>
          <p:cNvSpPr txBox="1"/>
          <p:nvPr/>
        </p:nvSpPr>
        <p:spPr>
          <a:xfrm>
            <a:off x="8961120" y="2103120"/>
            <a:ext cx="2514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Patient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Treated sooner, bay ready</a:t>
            </a:r>
            <a:endParaRPr lang="en-US" sz="1200" dirty="0"/>
          </a:p>
        </p:txBody>
      </p:sp>
      <p:pic>
        <p:nvPicPr>
          <p:cNvPr id="50" name="stakeholder icon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522208" y="2816352"/>
            <a:ext cx="292608" cy="292608"/>
          </a:xfrm>
          <a:prstGeom prst="rect">
            <a:avLst/>
          </a:prstGeom>
        </p:spPr>
      </p:pic>
      <p:sp>
        <p:nvSpPr>
          <p:cNvPr id="51" name="Text 37"/>
          <p:cNvSpPr txBox="1"/>
          <p:nvPr/>
        </p:nvSpPr>
        <p:spPr>
          <a:xfrm>
            <a:off x="8961120" y="2761488"/>
            <a:ext cx="2514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Family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Live link, no medical data</a:t>
            </a:r>
            <a:endParaRPr lang="en-US" sz="1200" dirty="0"/>
          </a:p>
        </p:txBody>
      </p:sp>
      <p:pic>
        <p:nvPicPr>
          <p:cNvPr id="52" name="stakeholder icon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522208" y="3474720"/>
            <a:ext cx="292608" cy="292608"/>
          </a:xfrm>
          <a:prstGeom prst="rect">
            <a:avLst/>
          </a:prstGeom>
        </p:spPr>
      </p:pic>
      <p:sp>
        <p:nvSpPr>
          <p:cNvPr id="53" name="Text 38"/>
          <p:cNvSpPr txBox="1"/>
          <p:nvPr/>
        </p:nvSpPr>
        <p:spPr>
          <a:xfrm>
            <a:off x="8961120" y="3419856"/>
            <a:ext cx="2514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ER team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Advance notice + AI note</a:t>
            </a:r>
            <a:endParaRPr lang="en-US" sz="1200" dirty="0"/>
          </a:p>
        </p:txBody>
      </p:sp>
      <p:pic>
        <p:nvPicPr>
          <p:cNvPr id="54" name="stakeholder icon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522208" y="4133088"/>
            <a:ext cx="292608" cy="292608"/>
          </a:xfrm>
          <a:prstGeom prst="rect">
            <a:avLst/>
          </a:prstGeom>
        </p:spPr>
      </p:pic>
      <p:sp>
        <p:nvSpPr>
          <p:cNvPr id="55" name="Text 39"/>
          <p:cNvSpPr txBox="1"/>
          <p:nvPr/>
        </p:nvSpPr>
        <p:spPr>
          <a:xfrm>
            <a:off x="8961120" y="4078224"/>
            <a:ext cx="2514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Government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Audited capacity data</a:t>
            </a:r>
            <a:endParaRPr lang="en-US" sz="1200" dirty="0"/>
          </a:p>
        </p:txBody>
      </p:sp>
      <p:pic>
        <p:nvPicPr>
          <p:cNvPr id="56" name="stakeholder icon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522208" y="4791456"/>
            <a:ext cx="292608" cy="292608"/>
          </a:xfrm>
          <a:prstGeom prst="rect">
            <a:avLst/>
          </a:prstGeom>
        </p:spPr>
      </p:pic>
      <p:sp>
        <p:nvSpPr>
          <p:cNvPr id="57" name="Text 40"/>
          <p:cNvSpPr txBox="1"/>
          <p:nvPr/>
        </p:nvSpPr>
        <p:spPr>
          <a:xfrm>
            <a:off x="8961120" y="4736592"/>
            <a:ext cx="2514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108 service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Destination already accepted</a:t>
            </a:r>
            <a:endParaRPr lang="en-US" sz="1200" dirty="0"/>
          </a:p>
        </p:txBody>
      </p:sp>
      <p:pic>
        <p:nvPicPr>
          <p:cNvPr id="58" name="stakeholder icon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522208" y="5449824"/>
            <a:ext cx="292608" cy="292608"/>
          </a:xfrm>
          <a:prstGeom prst="rect">
            <a:avLst/>
          </a:prstGeom>
        </p:spPr>
      </p:pic>
      <p:sp>
        <p:nvSpPr>
          <p:cNvPr id="59" name="Text 41"/>
          <p:cNvSpPr txBox="1"/>
          <p:nvPr/>
        </p:nvSpPr>
        <p:spPr>
          <a:xfrm>
            <a:off x="8961120" y="5394960"/>
            <a:ext cx="2514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ASHA workers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Raise an emergency by voice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Live demo: try it yourself in 3 minutes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457200" cy="457200"/>
          </a:xfrm>
          <a:prstGeom prst="ellipse">
            <a:avLst/>
          </a:prstGeom>
          <a:solidFill>
            <a:srgbClr val="2563E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43000" y="1353312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Hospital staff signs in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143000" y="1682496"/>
            <a:ext cx="3154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Bansal Hospital → BANSAL-ED01 → OTP shown on screen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468880"/>
            <a:ext cx="457200" cy="457200"/>
          </a:xfrm>
          <a:prstGeom prst="ellipse">
            <a:avLst/>
          </a:prstGeom>
          <a:solidFill>
            <a:srgbClr val="7C3AE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2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143000" y="2450592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Speak the emergency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143000" y="2779776"/>
            <a:ext cx="3154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“Papa ko seene mein dard hai, pasina aa raha hai, 62 saal”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566160"/>
            <a:ext cx="457200" cy="457200"/>
          </a:xfrm>
          <a:prstGeom prst="ellipse">
            <a:avLst/>
          </a:prstGeom>
          <a:solidFill>
            <a:srgbClr val="7C3AE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143000" y="3547872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See what AI understood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143000" y="3877056"/>
            <a:ext cx="3154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May indicate heart attack · CRITICAL; open “How was this decided?”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4663440"/>
            <a:ext cx="457200" cy="457200"/>
          </a:xfrm>
          <a:prstGeom prst="ellipse">
            <a:avLst/>
          </a:prstGeom>
          <a:solidFill>
            <a:srgbClr val="0F948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4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143000" y="4645152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Find hospitals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143000" y="4974336"/>
            <a:ext cx="3154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Open “Why this hospital?” and tap the match score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4480560" y="1371600"/>
            <a:ext cx="457200" cy="457200"/>
          </a:xfrm>
          <a:prstGeom prst="ellipse">
            <a:avLst/>
          </a:prstGeom>
          <a:solidFill>
            <a:srgbClr val="E11D4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5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5074920" y="1353312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Prove the data is live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5074920" y="1682496"/>
            <a:ext cx="3154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Set ER to Diverting: the hospital vanishes from the phone instantly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4480560" y="2468880"/>
            <a:ext cx="457200" cy="457200"/>
          </a:xfrm>
          <a:prstGeom prst="ellipse">
            <a:avLst/>
          </a:prstGeom>
          <a:solidFill>
            <a:srgbClr val="16A34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6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5074920" y="2450592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Ask the hospital to accept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5074920" y="2779776"/>
            <a:ext cx="3154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Staff reads the SBAR note and accepts with bay Resus-02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4480560" y="3566160"/>
            <a:ext cx="457200" cy="457200"/>
          </a:xfrm>
          <a:prstGeom prst="ellipse">
            <a:avLst/>
          </a:prstGeom>
          <a:solidFill>
            <a:srgbClr val="D9770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7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5074920" y="3547872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Request the ambulance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5074920" y="3877056"/>
            <a:ext cx="3154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Watch it move on both live maps; preview the family link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4480560" y="4663440"/>
            <a:ext cx="457200" cy="457200"/>
          </a:xfrm>
          <a:prstGeom prst="ellipse">
            <a:avLst/>
          </a:prstGeom>
          <a:solidFill>
            <a:srgbClr val="E11D4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8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5074920" y="4645152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Try “I’m alone”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5074920" y="4974336"/>
            <a:ext cx="3154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With a saved contact, all five steps run by themselves</a:t>
            </a:r>
            <a:endParaRPr lang="en-US" sz="1150" dirty="0"/>
          </a:p>
        </p:txBody>
      </p:sp>
      <p:sp>
        <p:nvSpPr>
          <p:cNvPr id="27" name="links panel"/>
          <p:cNvSpPr/>
          <p:nvPr/>
        </p:nvSpPr>
        <p:spPr>
          <a:xfrm>
            <a:off x="8503920" y="1325880"/>
            <a:ext cx="3108960" cy="4892040"/>
          </a:xfrm>
          <a:prstGeom prst="roundRect">
            <a:avLst>
              <a:gd name="adj" fmla="val 3529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732520" y="150876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Open it now</a:t>
            </a:r>
            <a:endParaRPr lang="en-US" sz="1700" dirty="0"/>
          </a:p>
        </p:txBody>
      </p:sp>
      <p:sp>
        <p:nvSpPr>
          <p:cNvPr id="29" name="Text 27"/>
          <p:cNvSpPr txBox="1"/>
          <p:nvPr/>
        </p:nvSpPr>
        <p:spPr>
          <a:xfrm>
            <a:off x="8732520" y="201168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5EEAD4"/>
                </a:solidFill>
              </a:rPr>
              <a:t>Live app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2E8F0"/>
                </a:solidFill>
              </a:rPr>
              <a:t>medreach-wtne.onrender.com</a:t>
            </a:r>
            <a:endParaRPr lang="en-US" sz="1150" dirty="0"/>
          </a:p>
        </p:txBody>
      </p:sp>
      <p:sp>
        <p:nvSpPr>
          <p:cNvPr id="30" name="Text 28"/>
          <p:cNvSpPr txBox="1"/>
          <p:nvPr/>
        </p:nvSpPr>
        <p:spPr>
          <a:xfrm>
            <a:off x="8732520" y="269748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5EEAD4"/>
                </a:solidFill>
              </a:rPr>
              <a:t>Report emergency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2E8F0"/>
                </a:solidFill>
              </a:rPr>
              <a:t>/report  (no login)</a:t>
            </a:r>
            <a:endParaRPr lang="en-US" sz="1150" dirty="0"/>
          </a:p>
        </p:txBody>
      </p:sp>
      <p:sp>
        <p:nvSpPr>
          <p:cNvPr id="31" name="Text 29"/>
          <p:cNvSpPr txBox="1"/>
          <p:nvPr/>
        </p:nvSpPr>
        <p:spPr>
          <a:xfrm>
            <a:off x="8732520" y="338328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5EEAD4"/>
                </a:solidFill>
              </a:rPr>
              <a:t>Citizen dashboard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2E8F0"/>
                </a:solidFill>
              </a:rPr>
              <a:t>/citizen</a:t>
            </a:r>
            <a:endParaRPr lang="en-US" sz="1150" dirty="0"/>
          </a:p>
        </p:txBody>
      </p:sp>
      <p:sp>
        <p:nvSpPr>
          <p:cNvPr id="32" name="Text 30"/>
          <p:cNvSpPr txBox="1"/>
          <p:nvPr/>
        </p:nvSpPr>
        <p:spPr>
          <a:xfrm>
            <a:off x="8732520" y="406908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5EEAD4"/>
                </a:solidFill>
              </a:rPr>
              <a:t>Hospital dashboard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2E8F0"/>
                </a:solidFill>
              </a:rPr>
              <a:t>/hospital</a:t>
            </a:r>
            <a:endParaRPr lang="en-US" sz="1150" dirty="0"/>
          </a:p>
        </p:txBody>
      </p:sp>
      <p:sp>
        <p:nvSpPr>
          <p:cNvPr id="33" name="Text 31"/>
          <p:cNvSpPr txBox="1"/>
          <p:nvPr/>
        </p:nvSpPr>
        <p:spPr>
          <a:xfrm>
            <a:off x="8732520" y="475488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5EEAD4"/>
                </a:solidFill>
              </a:rPr>
              <a:t>Source code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2E8F0"/>
                </a:solidFill>
              </a:rPr>
              <a:t>github.com/prakharporwal518-collab/Medreach</a:t>
            </a:r>
            <a:endParaRPr lang="en-US" sz="1150" dirty="0"/>
          </a:p>
        </p:txBody>
      </p:sp>
      <p:sp>
        <p:nvSpPr>
          <p:cNvPr id="34" name="Text 32"/>
          <p:cNvSpPr txBox="1"/>
          <p:nvPr/>
        </p:nvSpPr>
        <p:spPr>
          <a:xfrm>
            <a:off x="8732520" y="544068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5EEAD4"/>
                </a:solidFill>
              </a:rPr>
              <a:t>Offline demo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2E8F0"/>
                </a:solidFill>
              </a:rPr>
              <a:t>demo/medreach-prototype.html (one file)</a:t>
            </a:r>
            <a:endParaRPr lang="en-US" sz="1150" dirty="0"/>
          </a:p>
        </p:txBody>
      </p:sp>
      <p:sp>
        <p:nvSpPr>
          <p:cNvPr id="35" name="demo note"/>
          <p:cNvSpPr/>
          <p:nvPr/>
        </p:nvSpPr>
        <p:spPr>
          <a:xfrm>
            <a:off x="548640" y="5852160"/>
            <a:ext cx="7726680" cy="411480"/>
          </a:xfrm>
          <a:prstGeom prst="roundRect">
            <a:avLst>
              <a:gd name="adj" fmla="val 26667"/>
            </a:avLst>
          </a:prstGeom>
          <a:solidFill>
            <a:srgbClr val="FFF7E8"/>
          </a:solidFill>
          <a:ln w="12700">
            <a:solidFill>
              <a:srgbClr val="FFF7E8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731520" y="5852160"/>
            <a:ext cx="7406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8350F"/>
                </a:solidFill>
              </a:rPr>
              <a:t>Demo mode: hospital figures, SMS and ambulance dispatch are simulated and clearly labelled in the app.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Why should Medreach be selected?</a:t>
            </a:r>
            <a:endParaRPr lang="en-US" sz="3400" dirty="0"/>
          </a:p>
        </p:txBody>
      </p:sp>
      <p:sp>
        <p:nvSpPr>
          <p:cNvPr id="3" name="reason card"/>
          <p:cNvSpPr/>
          <p:nvPr/>
        </p:nvSpPr>
        <p:spPr>
          <a:xfrm>
            <a:off x="548640" y="137160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16233A"/>
          </a:solidFill>
          <a:ln w="12700">
            <a:solidFill>
              <a:srgbClr val="16233A"/>
            </a:solidFill>
            <a:prstDash val="solid"/>
          </a:ln>
        </p:spPr>
      </p:sp>
      <p:sp>
        <p:nvSpPr>
          <p:cNvPr id="4" name="Real, urgent problem circle"/>
          <p:cNvSpPr/>
          <p:nvPr/>
        </p:nvSpPr>
        <p:spPr>
          <a:xfrm>
            <a:off x="777240" y="1600200"/>
            <a:ext cx="548640" cy="548640"/>
          </a:xfrm>
          <a:prstGeom prst="ellipse">
            <a:avLst/>
          </a:prstGeom>
          <a:solidFill>
            <a:srgbClr val="E11D48"/>
          </a:solidFill>
          <a:ln w="12700">
            <a:solidFill>
              <a:srgbClr val="E11D48"/>
            </a:solidFill>
            <a:prstDash val="solid"/>
          </a:ln>
        </p:spPr>
      </p:sp>
      <p:pic>
        <p:nvPicPr>
          <p:cNvPr id="5" name="Real, urgent problem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8914" y="1731874"/>
            <a:ext cx="285293" cy="285293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63040" y="164592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EEAD4"/>
                </a:solidFill>
              </a:rPr>
              <a:t>Real, urgent problem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28600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2E8F0"/>
                </a:solidFill>
              </a:rPr>
              <a:t>Solves a life-or-death gap for citizens of Madhya Pradesh: the right hospital, the first time, with the bed confirmed before travel.</a:t>
            </a:r>
            <a:endParaRPr lang="en-US" sz="1250" dirty="0"/>
          </a:p>
        </p:txBody>
      </p:sp>
      <p:sp>
        <p:nvSpPr>
          <p:cNvPr id="8" name="reason card"/>
          <p:cNvSpPr/>
          <p:nvPr/>
        </p:nvSpPr>
        <p:spPr>
          <a:xfrm>
            <a:off x="4270248" y="137160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16233A"/>
          </a:solidFill>
          <a:ln w="12700">
            <a:solidFill>
              <a:srgbClr val="16233A"/>
            </a:solidFill>
            <a:prstDash val="solid"/>
          </a:ln>
        </p:spPr>
      </p:sp>
      <p:sp>
        <p:nvSpPr>
          <p:cNvPr id="9" name="Working, deployed product circle"/>
          <p:cNvSpPr/>
          <p:nvPr/>
        </p:nvSpPr>
        <p:spPr>
          <a:xfrm>
            <a:off x="4498848" y="1600200"/>
            <a:ext cx="548640" cy="548640"/>
          </a:xfrm>
          <a:prstGeom prst="ellipse">
            <a:avLst/>
          </a:prstGeom>
          <a:solidFill>
            <a:srgbClr val="0F9488"/>
          </a:solidFill>
          <a:ln w="12700">
            <a:solidFill>
              <a:srgbClr val="0F9488"/>
            </a:solidFill>
            <a:prstDash val="solid"/>
          </a:ln>
        </p:spPr>
      </p:sp>
      <p:pic>
        <p:nvPicPr>
          <p:cNvPr id="10" name="Working, deployed product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0522" y="1731874"/>
            <a:ext cx="285293" cy="285293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184648" y="164592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EEAD4"/>
                </a:solidFill>
              </a:rPr>
              <a:t>Working, deployed product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4498848" y="228600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2E8F0"/>
                </a:solidFill>
              </a:rPr>
              <a:t>Both portals live on the web today, not slides or a mock-up. Judges can try the full flow in 3 minutes.</a:t>
            </a:r>
            <a:endParaRPr lang="en-US" sz="1250" dirty="0"/>
          </a:p>
        </p:txBody>
      </p:sp>
      <p:sp>
        <p:nvSpPr>
          <p:cNvPr id="13" name="reason card"/>
          <p:cNvSpPr/>
          <p:nvPr/>
        </p:nvSpPr>
        <p:spPr>
          <a:xfrm>
            <a:off x="7991856" y="137160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16233A"/>
          </a:solidFill>
          <a:ln w="12700">
            <a:solidFill>
              <a:srgbClr val="16233A"/>
            </a:solidFill>
            <a:prstDash val="solid"/>
          </a:ln>
        </p:spPr>
      </p:sp>
      <p:sp>
        <p:nvSpPr>
          <p:cNvPr id="14" name="All 7 technologies circle"/>
          <p:cNvSpPr/>
          <p:nvPr/>
        </p:nvSpPr>
        <p:spPr>
          <a:xfrm>
            <a:off x="8220456" y="1600200"/>
            <a:ext cx="548640" cy="54864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15" name="All 7 technologies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52130" y="1731874"/>
            <a:ext cx="285293" cy="285293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906256" y="164592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EEAD4"/>
                </a:solidFill>
              </a:rPr>
              <a:t>All 7 technologies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8220456" y="228600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2E8F0"/>
                </a:solidFill>
              </a:rPr>
              <a:t>Generative AI, voice, vision, OCR, predictive and conversational AI in a mobile app, each in working code.</a:t>
            </a:r>
            <a:endParaRPr lang="en-US" sz="1250" dirty="0"/>
          </a:p>
        </p:txBody>
      </p:sp>
      <p:sp>
        <p:nvSpPr>
          <p:cNvPr id="18" name="reason card"/>
          <p:cNvSpPr/>
          <p:nvPr/>
        </p:nvSpPr>
        <p:spPr>
          <a:xfrm>
            <a:off x="548640" y="333756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16233A"/>
          </a:solidFill>
          <a:ln w="12700">
            <a:solidFill>
              <a:srgbClr val="16233A"/>
            </a:solidFill>
            <a:prstDash val="solid"/>
          </a:ln>
        </p:spPr>
      </p:sp>
      <p:sp>
        <p:nvSpPr>
          <p:cNvPr id="19" name="Safe &amp; explainable AI circle"/>
          <p:cNvSpPr/>
          <p:nvPr/>
        </p:nvSpPr>
        <p:spPr>
          <a:xfrm>
            <a:off x="777240" y="3566160"/>
            <a:ext cx="548640" cy="548640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pic>
        <p:nvPicPr>
          <p:cNvPr id="20" name="Safe &amp; explainable AI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8914" y="3697834"/>
            <a:ext cx="285293" cy="285293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463040" y="361188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EEAD4"/>
                </a:solidFill>
              </a:rPr>
              <a:t>Safe &amp; explainable AI</a:t>
            </a:r>
            <a:endParaRPr lang="en-US" sz="1500" dirty="0"/>
          </a:p>
        </p:txBody>
      </p:sp>
      <p:sp>
        <p:nvSpPr>
          <p:cNvPr id="22" name="Text 16"/>
          <p:cNvSpPr txBox="1"/>
          <p:nvPr/>
        </p:nvSpPr>
        <p:spPr>
          <a:xfrm>
            <a:off x="777240" y="425196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2E8F0"/>
                </a:solidFill>
              </a:rPr>
              <a:t>AI can only raise urgency; a tested engine decides and explains why. Never a diagnosis; 108 always one tap away.</a:t>
            </a:r>
            <a:endParaRPr lang="en-US" sz="1250" dirty="0"/>
          </a:p>
        </p:txBody>
      </p:sp>
      <p:sp>
        <p:nvSpPr>
          <p:cNvPr id="23" name="reason card"/>
          <p:cNvSpPr/>
          <p:nvPr/>
        </p:nvSpPr>
        <p:spPr>
          <a:xfrm>
            <a:off x="4270248" y="333756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16233A"/>
          </a:solidFill>
          <a:ln w="12700">
            <a:solidFill>
              <a:srgbClr val="16233A"/>
            </a:solidFill>
            <a:prstDash val="solid"/>
          </a:ln>
        </p:spPr>
      </p:sp>
      <p:sp>
        <p:nvSpPr>
          <p:cNvPr id="24" name="Privacy by design circle"/>
          <p:cNvSpPr/>
          <p:nvPr/>
        </p:nvSpPr>
        <p:spPr>
          <a:xfrm>
            <a:off x="4498848" y="3566160"/>
            <a:ext cx="548640" cy="548640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pic>
        <p:nvPicPr>
          <p:cNvPr id="25" name="Privacy by desig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30522" y="3697834"/>
            <a:ext cx="285293" cy="285293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5184648" y="361188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EEAD4"/>
                </a:solidFill>
              </a:rPr>
              <a:t>Privacy by design</a:t>
            </a:r>
            <a:endParaRPr lang="en-US" sz="1500" dirty="0"/>
          </a:p>
        </p:txBody>
      </p:sp>
      <p:sp>
        <p:nvSpPr>
          <p:cNvPr id="27" name="Text 20"/>
          <p:cNvSpPr txBox="1"/>
          <p:nvPr/>
        </p:nvSpPr>
        <p:spPr>
          <a:xfrm>
            <a:off x="4498848" y="425196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2E8F0"/>
                </a:solidFill>
              </a:rPr>
              <a:t>Consent, masked IDs, staff OTP and roles, audit logs and 24-hour deletion; aligned with the DPDP Act 2023.</a:t>
            </a:r>
            <a:endParaRPr lang="en-US" sz="1250" dirty="0"/>
          </a:p>
        </p:txBody>
      </p:sp>
      <p:sp>
        <p:nvSpPr>
          <p:cNvPr id="28" name="reason card"/>
          <p:cNvSpPr/>
          <p:nvPr/>
        </p:nvSpPr>
        <p:spPr>
          <a:xfrm>
            <a:off x="7991856" y="333756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16233A"/>
          </a:solidFill>
          <a:ln w="12700">
            <a:solidFill>
              <a:srgbClr val="16233A"/>
            </a:solidFill>
            <a:prstDash val="solid"/>
          </a:ln>
        </p:spPr>
      </p:sp>
      <p:sp>
        <p:nvSpPr>
          <p:cNvPr id="29" name="Ready to scale circle"/>
          <p:cNvSpPr/>
          <p:nvPr/>
        </p:nvSpPr>
        <p:spPr>
          <a:xfrm>
            <a:off x="8220456" y="3566160"/>
            <a:ext cx="548640" cy="548640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pic>
        <p:nvPicPr>
          <p:cNvPr id="30" name="Ready to scale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52130" y="3697834"/>
            <a:ext cx="285293" cy="285293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8906256" y="361188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EEAD4"/>
                </a:solidFill>
              </a:rPr>
              <a:t>Ready to scale</a:t>
            </a:r>
            <a:endParaRPr lang="en-US" sz="1500" dirty="0"/>
          </a:p>
        </p:txBody>
      </p:sp>
      <p:sp>
        <p:nvSpPr>
          <p:cNvPr id="32" name="Text 24"/>
          <p:cNvSpPr txBox="1"/>
          <p:nvPr/>
        </p:nvSpPr>
        <p:spPr>
          <a:xfrm>
            <a:off x="8220456" y="425196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2E8F0"/>
                </a:solidFill>
              </a:rPr>
              <a:t>Low-cost open stack with a clear pilot plan and integration path to HFR, HMIS, 108 and ABDM.</a:t>
            </a:r>
            <a:endParaRPr lang="en-US" sz="1250" dirty="0"/>
          </a:p>
        </p:txBody>
      </p:sp>
      <p:sp>
        <p:nvSpPr>
          <p:cNvPr id="33" name="Text 25"/>
          <p:cNvSpPr txBox="1"/>
          <p:nvPr/>
        </p:nvSpPr>
        <p:spPr>
          <a:xfrm>
            <a:off x="548640" y="562356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CBD5E1"/>
                </a:solidFill>
              </a:rPr>
              <a:t>Built for Madhya Pradesh first: Hindi voice, Ayushman / ABHA awareness, 108 always one tap away, and real Bhopal-region hospitals in the demo.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Conclusion: the right hospital, the first time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801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BD5E1"/>
                </a:solidFill>
              </a:rPr>
              <a:t>In an emergency, the question is not “where is the nearest hospital?” but “which hospital can treat this now, and has it said yes?”. Medreach answers it before the family leaves home.</a:t>
            </a:r>
            <a:endParaRPr lang="en-US" sz="1600" dirty="0"/>
          </a:p>
        </p:txBody>
      </p:sp>
      <p:sp>
        <p:nvSpPr>
          <p:cNvPr id="4" name="takeaway card"/>
          <p:cNvSpPr/>
          <p:nvPr/>
        </p:nvSpPr>
        <p:spPr>
          <a:xfrm>
            <a:off x="548640" y="2240280"/>
            <a:ext cx="3520440" cy="2011680"/>
          </a:xfrm>
          <a:prstGeom prst="roundRect">
            <a:avLst>
              <a:gd name="adj" fmla="val 5455"/>
            </a:avLst>
          </a:prstGeom>
          <a:solidFill>
            <a:srgbClr val="16233A"/>
          </a:solidFill>
          <a:ln w="12700">
            <a:solidFill>
              <a:srgbClr val="16233A"/>
            </a:solidFill>
            <a:prstDash val="solid"/>
          </a:ln>
        </p:spPr>
      </p:sp>
      <p:sp>
        <p:nvSpPr>
          <p:cNvPr id="5" name="The problem circle"/>
          <p:cNvSpPr/>
          <p:nvPr/>
        </p:nvSpPr>
        <p:spPr>
          <a:xfrm>
            <a:off x="777240" y="2468880"/>
            <a:ext cx="548640" cy="548640"/>
          </a:xfrm>
          <a:prstGeom prst="ellipse">
            <a:avLst/>
          </a:prstGeom>
          <a:solidFill>
            <a:srgbClr val="E11D48"/>
          </a:solidFill>
          <a:ln w="12700">
            <a:solidFill>
              <a:srgbClr val="E11D48"/>
            </a:solidFill>
            <a:prstDash val="solid"/>
          </a:ln>
        </p:spPr>
      </p:sp>
      <p:pic>
        <p:nvPicPr>
          <p:cNvPr id="6" name="The problem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8914" y="2600554"/>
            <a:ext cx="285293" cy="28529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63040" y="251460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5EEAD4"/>
                </a:solidFill>
              </a:rPr>
              <a:t>The problem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15468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2E8F0"/>
                </a:solidFill>
              </a:rPr>
              <a:t>Families go to the nearest hospital, find no specialist or bed, and lose the golden hour travelling again.</a:t>
            </a:r>
            <a:endParaRPr lang="en-US" sz="1250" dirty="0"/>
          </a:p>
        </p:txBody>
      </p:sp>
      <p:sp>
        <p:nvSpPr>
          <p:cNvPr id="9" name="takeaway card"/>
          <p:cNvSpPr/>
          <p:nvPr/>
        </p:nvSpPr>
        <p:spPr>
          <a:xfrm>
            <a:off x="4270248" y="2240280"/>
            <a:ext cx="3520440" cy="2011680"/>
          </a:xfrm>
          <a:prstGeom prst="roundRect">
            <a:avLst>
              <a:gd name="adj" fmla="val 5455"/>
            </a:avLst>
          </a:prstGeom>
          <a:solidFill>
            <a:srgbClr val="16233A"/>
          </a:solidFill>
          <a:ln w="12700">
            <a:solidFill>
              <a:srgbClr val="16233A"/>
            </a:solidFill>
            <a:prstDash val="solid"/>
          </a:ln>
        </p:spPr>
      </p:sp>
      <p:sp>
        <p:nvSpPr>
          <p:cNvPr id="10" name="Our solution circle"/>
          <p:cNvSpPr/>
          <p:nvPr/>
        </p:nvSpPr>
        <p:spPr>
          <a:xfrm>
            <a:off x="4498848" y="2468880"/>
            <a:ext cx="548640" cy="548640"/>
          </a:xfrm>
          <a:prstGeom prst="ellipse">
            <a:avLst/>
          </a:prstGeom>
          <a:solidFill>
            <a:srgbClr val="0F9488"/>
          </a:solidFill>
          <a:ln w="12700">
            <a:solidFill>
              <a:srgbClr val="0F9488"/>
            </a:solidFill>
            <a:prstDash val="solid"/>
          </a:ln>
        </p:spPr>
      </p:sp>
      <p:pic>
        <p:nvPicPr>
          <p:cNvPr id="11" name="Our soluti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0522" y="2600554"/>
            <a:ext cx="285293" cy="285293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184648" y="251460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5EEAD4"/>
                </a:solidFill>
              </a:rPr>
              <a:t>Our solution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4498848" y="315468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2E8F0"/>
                </a:solidFill>
              </a:rPr>
              <a:t>AI understands the emergency; verified, time-stamped data finds a capable hospital; the hospital accepts before travel.</a:t>
            </a:r>
            <a:endParaRPr lang="en-US" sz="1250" dirty="0"/>
          </a:p>
        </p:txBody>
      </p:sp>
      <p:sp>
        <p:nvSpPr>
          <p:cNvPr id="14" name="takeaway card"/>
          <p:cNvSpPr/>
          <p:nvPr/>
        </p:nvSpPr>
        <p:spPr>
          <a:xfrm>
            <a:off x="7991856" y="2240280"/>
            <a:ext cx="3520440" cy="2011680"/>
          </a:xfrm>
          <a:prstGeom prst="roundRect">
            <a:avLst>
              <a:gd name="adj" fmla="val 5455"/>
            </a:avLst>
          </a:prstGeom>
          <a:solidFill>
            <a:srgbClr val="16233A"/>
          </a:solidFill>
          <a:ln w="12700">
            <a:solidFill>
              <a:srgbClr val="16233A"/>
            </a:solidFill>
            <a:prstDash val="solid"/>
          </a:ln>
        </p:spPr>
      </p:sp>
      <p:sp>
        <p:nvSpPr>
          <p:cNvPr id="15" name="The proof circle"/>
          <p:cNvSpPr/>
          <p:nvPr/>
        </p:nvSpPr>
        <p:spPr>
          <a:xfrm>
            <a:off x="8220456" y="2468880"/>
            <a:ext cx="548640" cy="548640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pic>
        <p:nvPicPr>
          <p:cNvPr id="16" name="The proof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52130" y="2600554"/>
            <a:ext cx="285293" cy="285293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8906256" y="251460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5EEAD4"/>
                </a:solidFill>
              </a:rPr>
              <a:t>The proof</a:t>
            </a:r>
            <a:endParaRPr lang="en-US" sz="1700" dirty="0"/>
          </a:p>
        </p:txBody>
      </p:sp>
      <p:sp>
        <p:nvSpPr>
          <p:cNvPr id="18" name="Text 13"/>
          <p:cNvSpPr txBox="1"/>
          <p:nvPr/>
        </p:nvSpPr>
        <p:spPr>
          <a:xfrm>
            <a:off x="8220456" y="315468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2E8F0"/>
                </a:solidFill>
              </a:rPr>
              <a:t>Deployed and working today: two portals, live maps, all 7 technologies, 51 automated tests, privacy by design.</a:t>
            </a:r>
            <a:endParaRPr lang="en-US" sz="1250" dirty="0"/>
          </a:p>
        </p:txBody>
      </p:sp>
      <p:sp>
        <p:nvSpPr>
          <p:cNvPr id="19" name="ask band"/>
          <p:cNvSpPr/>
          <p:nvPr/>
        </p:nvSpPr>
        <p:spPr>
          <a:xfrm>
            <a:off x="548640" y="448056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20" name="ask icon circle"/>
          <p:cNvSpPr/>
          <p:nvPr/>
        </p:nvSpPr>
        <p:spPr>
          <a:xfrm>
            <a:off x="731520" y="4599432"/>
            <a:ext cx="548640" cy="548640"/>
          </a:xfrm>
          <a:prstGeom prst="ellipse">
            <a:avLst/>
          </a:prstGeom>
          <a:solidFill>
            <a:srgbClr val="0B1427"/>
          </a:solidFill>
          <a:ln w="12700">
            <a:solidFill>
              <a:srgbClr val="0B1427"/>
            </a:solidFill>
            <a:prstDash val="solid"/>
          </a:ln>
        </p:spPr>
      </p:sp>
      <p:pic>
        <p:nvPicPr>
          <p:cNvPr id="21" name="ask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3194" y="4731106"/>
            <a:ext cx="285293" cy="285293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463040" y="4480560"/>
            <a:ext cx="9966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Our ask: </a:t>
            </a:r>
            <a:pPr indent="0" marL="0">
              <a:buNone/>
            </a:pPr>
            <a:r>
              <a:rPr lang="en-US" sz="1400" dirty="0">
                <a:solidFill>
                  <a:srgbClr val="ECFEFF"/>
                </a:solidFill>
              </a:rPr>
              <a:t>support a 3-month pilot with Bhopal hospitals, then integration with the Health Facility Registry, hospital HMIS, the 108 control room and ABDM for a state-wide rollout.</a:t>
            </a:r>
            <a:endParaRPr lang="en-US" sz="1400" dirty="0"/>
          </a:p>
        </p:txBody>
      </p:sp>
      <p:sp>
        <p:nvSpPr>
          <p:cNvPr id="23" name="Text 17"/>
          <p:cNvSpPr txBox="1"/>
          <p:nvPr/>
        </p:nvSpPr>
        <p:spPr>
          <a:xfrm>
            <a:off x="548640" y="5486400"/>
            <a:ext cx="8412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94A3B8"/>
                </a:solidFill>
              </a:rPr>
              <a:t>Live demo: </a:t>
            </a:r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99F6E4"/>
                </a:solidFill>
              </a:rPr>
              <a:t>medreach-wtne.onrender.com</a:t>
            </a:r>
            <a:endParaRPr lang="en-US" sz="12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94A3B8"/>
                </a:solidFill>
              </a:rPr>
              <a:t>Code: </a:t>
            </a:r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99F6E4"/>
                </a:solidFill>
              </a:rPr>
              <a:t>github.com/prakharporwal518-collab/Medreach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94A3B8"/>
                </a:solidFill>
              </a:rPr>
              <a:t>     Hospital login: 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FFFFF"/>
                </a:solidFill>
              </a:rPr>
              <a:t>Bansal Hospital · BANSAL-ED01</a:t>
            </a:r>
            <a:endParaRPr lang="en-US" sz="1250" dirty="0"/>
          </a:p>
        </p:txBody>
      </p:sp>
      <p:sp>
        <p:nvSpPr>
          <p:cNvPr id="24" name="Text 18"/>
          <p:cNvSpPr txBox="1"/>
          <p:nvPr/>
        </p:nvSpPr>
        <p:spPr>
          <a:xfrm>
            <a:off x="8961120" y="548640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5EEA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edreach">
  <a:themeElements>
    <a:clrScheme name="Medreach">
      <a:dk1>
        <a:srgbClr val="0B1427"/>
      </a:dk1>
      <a:lt1>
        <a:srgbClr val="FFFFFF"/>
      </a:lt1>
      <a:dk2>
        <a:srgbClr val="334155"/>
      </a:dk2>
      <a:lt2>
        <a:srgbClr val="EEF4F7"/>
      </a:lt2>
      <a:accent1>
        <a:srgbClr val="0F9488"/>
      </a:accent1>
      <a:accent2>
        <a:srgbClr val="E11D48"/>
      </a:accent2>
      <a:accent3>
        <a:srgbClr val="2563EB"/>
      </a:accent3>
      <a:accent4>
        <a:srgbClr val="D97706"/>
      </a:accent4>
      <a:accent5>
        <a:srgbClr val="7C3AED"/>
      </a:accent5>
      <a:accent6>
        <a:srgbClr val="16A34A"/>
      </a:accent6>
      <a:hlink>
        <a:srgbClr val="0F766E"/>
      </a:hlink>
      <a:folHlink>
        <a:srgbClr val="7C3AED"/>
      </a:folHlink>
    </a:clrScheme>
    <a:fontScheme name="Medreach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Team Medreach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Medreach – Right hospital, right now</dc:title>
  <dc:subject>PptxGenJS Presentation</dc:subject>
  <dc:creator>Team Medreach</dc:creator>
  <cp:lastModifiedBy>Team Medreach</cp:lastModifiedBy>
  <cp:revision>1</cp:revision>
  <dcterms:created xsi:type="dcterms:W3CDTF">2026-10-07T13:11:04Z</dcterms:created>
  <dcterms:modified xsi:type="dcterms:W3CDTF">2026-10-07T13:11:04Z</dcterms:modified>
</cp:coreProperties>
</file>