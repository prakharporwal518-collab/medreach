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e9a1028-3e0b-7965-b9ae-db52535d57c9}">
          <p14:sldIdLst>
            <p14:sldId id="256"/>
            <p14:sldId id="257"/>
          </p14:sldIdLst>
        </p14:section>
        <p14:section name="Problem" id="{538af902-abc8-9fc5-cc7d-608562cf8b14}">
          <p14:sldIdLst>
            <p14:sldId id="258"/>
            <p14:sldId id="259"/>
          </p14:sldIdLst>
        </p14:section>
        <p14:section name="Solution" id="{b72de5da-8d40-8a40-32b8-ffea1bcff9d4}">
          <p14:sldIdLst>
            <p14:sldId id="260"/>
            <p14:sldId id="261"/>
          </p14:sldIdLst>
        </p14:section>
        <p14:section name="Approach" id="{60cc3dbe-7b79-b1e7-fc73-ab57e7b39e7c}">
          <p14:sldIdLst>
            <p14:sldId id="262"/>
            <p14:sldId id="263"/>
            <p14:sldId id="264"/>
          </p14:sldIdLst>
        </p14:section>
        <p14:section name="Value" id="{068245ff-3f3e-e2fe-9e0d-1cff95f3054d}">
          <p14:sldIdLst>
            <p14:sldId id="265"/>
            <p14:sldId id="266"/>
            <p14:sldId id="267"/>
          </p14:sldIdLst>
        </p14:section>
        <p14:section name="Closing" id="{56b46f18-f271-a83e-4363-6573c11a7b7c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gets an emergency patient to a hospital that can treat them right now and has already accepted them, before the family leaves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is a working, deployed product, not a mock-up. It has two private portals, one for citizens and one for hospital staff, and uses all seven technologies suggested by the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family did nothing wrong; they simply had no way to know which hospital could treat this emergency at this moment, and no hospital knew they were coming. Medreach fixes exactly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 cause is an information gap between citizens and hospitals: capability, live status and acceptance are not available before the family travels.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implements the flowchart end to end: emergency, AI understanding, location, capability matching with current status, ETA, hospital confirmation, transport, navigation and confirmed arrival.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the family sees on the phone. Right: the hospital accepts with a receiving bay, and the citizen dashboard shows the ambulance moving live to that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installable PWA, Node.js and Express with Server-Sent Events, Claude via the official SDK with the rules engine as floor and fallback, Leaflet with free OpenStreetMap tiles, Tesseract.js OCR on the device and the Web Speech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is what makes hospital data usable by government. Only authorised staff can change what citizens see, every action is audited, and citizens share only what they consent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open-source stack, free maps, one PWA for every phone, AI optional. Hospitals already have emergency desks; staff only confirm figures. Durations are planning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tools answer “where is the nearest hospital”. Medreach answers “which hospital can treat this now, and has it said yes?”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will be measured in the Bhopal pilot with these KPIs.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during judging. The free server sleeps when idle, so open the link a minute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support to pilot Medreach with a group of Bhopal hospitals for three months, then integrate the Health Facility Registry, hospital systems, the 108 control room and ABDM for state-wide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summary and the ask: a pilot in Bhopal. Then invite the judges to try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91640"/>
            <a:ext cx="6126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Medreach  ·  MPOnline Idea &amp; Innovation Hackathon 2026  ·  Challenge 5: Healthcare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reach 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81328" y="713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Medreach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1481328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</a:rPr>
              <a:t>RIGHT HOSPITAL · RIGHT NOW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69164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right hospital, right now, </a:t>
            </a:r>
            <a:pPr algn="l" indent="0" marL="0">
              <a:buNone/>
            </a:pPr>
            <a:r>
              <a:rPr lang="en-US" sz="3600" b="1" dirty="0">
                <a:solidFill>
                  <a:srgbClr val="5EEAD4"/>
                </a:solidFill>
              </a:rPr>
              <a:t>confirmed before you leave home</a:t>
            </a:r>
            <a:endParaRPr lang="en-US" sz="3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36118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AI-powered emergency coordination for Madhya Pradesh: understand the emergency, find a hospital that can treat it now, get it to accept, and guide the patient there.</a:t>
            </a:r>
            <a:endParaRPr lang="en-US" sz="1600" dirty="0"/>
          </a:p>
        </p:txBody>
      </p:sp>
      <p:sp>
        <p:nvSpPr>
          <p:cNvPr id="7" name="chip"/>
          <p:cNvSpPr/>
          <p:nvPr/>
        </p:nvSpPr>
        <p:spPr>
          <a:xfrm>
            <a:off x="640080" y="4937760"/>
            <a:ext cx="2973629" cy="384048"/>
          </a:xfrm>
          <a:prstGeom prst="roundRect">
            <a:avLst>
              <a:gd name="adj" fmla="val 50000"/>
            </a:avLst>
          </a:prstGeom>
          <a:solidFill>
            <a:srgbClr val="1E3A4C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937760"/>
            <a:ext cx="2973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MPOnline Idea &amp; Innovation Hackathon 2026</a:t>
            </a:r>
            <a:endParaRPr lang="en-US" sz="1150" dirty="0"/>
          </a:p>
        </p:txBody>
      </p:sp>
      <p:sp>
        <p:nvSpPr>
          <p:cNvPr id="9" name="chip"/>
          <p:cNvSpPr/>
          <p:nvPr/>
        </p:nvSpPr>
        <p:spPr>
          <a:xfrm>
            <a:off x="3750869" y="493776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1E3A4C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50869" y="4937760"/>
            <a:ext cx="18544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Challenge 5 · Healthcare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</a:rPr>
              <a:t>Live demo: medreach-2.onrender.com   ·   Code: github.com/prakharporwal518-collab/Medreach</a:t>
            </a:r>
            <a:endParaRPr lang="en-US" sz="1300" dirty="0"/>
          </a:p>
        </p:txBody>
      </p:sp>
      <p:sp>
        <p:nvSpPr>
          <p:cNvPr id="12" name="hero card"/>
          <p:cNvSpPr/>
          <p:nvPr/>
        </p:nvSpPr>
        <p:spPr>
          <a:xfrm>
            <a:off x="7086600" y="1005840"/>
            <a:ext cx="4572000" cy="4206240"/>
          </a:xfrm>
          <a:prstGeom prst="roundRect">
            <a:avLst>
              <a:gd name="adj" fmla="val 6522"/>
            </a:avLst>
          </a:prstGeom>
          <a:solidFill>
            <a:srgbClr val="F1F7F9"/>
          </a:solidFill>
          <a:ln w="12700">
            <a:solidFill>
              <a:srgbClr val="F1F7F9"/>
            </a:solidFill>
            <a:prstDash val="solid"/>
          </a:ln>
        </p:spPr>
      </p:sp>
      <p:pic>
        <p:nvPicPr>
          <p:cNvPr id="13" name="hero illustr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297680" cy="3490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Introduction: what Medreach 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Medreach is an AI-powered emergency coordination platform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 for Madhya Pradesh. It understands an emergency described in Hindi, English or Hinglish, finds a hospital that can treat it right now using staff-verified data, gets that hospital to accept the patient, and guides the patient there with live tracking.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Challenge 5 · AI Innovation for Public Services &amp; Citizen-Centric Governance · Domain: Healthcare</a:t>
            </a:r>
            <a:endParaRPr lang="en-US" sz="1200" dirty="0"/>
          </a:p>
        </p:txBody>
      </p:sp>
      <p:sp>
        <p:nvSpPr>
          <p:cNvPr id="5" name="Citizens &amp; families circle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Citizens &amp; famili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34279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32735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Citizens &amp; families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36027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Voice-first emergency help, no login needed, “I’m alone” mode</a:t>
            </a:r>
            <a:endParaRPr lang="en-US" sz="1300" dirty="0"/>
          </a:p>
        </p:txBody>
      </p:sp>
      <p:sp>
        <p:nvSpPr>
          <p:cNvPr id="9" name="Hospitals circle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Hospital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438802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23367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Hospitals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45628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Verified status board, referrals with an AI pre-arrival note</a:t>
            </a:r>
            <a:endParaRPr lang="en-US" sz="1300" dirty="0"/>
          </a:p>
        </p:txBody>
      </p:sp>
      <p:sp>
        <p:nvSpPr>
          <p:cNvPr id="13" name="Government of MP circle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4" name="Government of M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34814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51937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Government of MP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55229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Live, audited view of emergency capacity across hospitals</a:t>
            </a:r>
            <a:endParaRPr lang="en-US" sz="1300" dirty="0"/>
          </a:p>
        </p:txBody>
      </p:sp>
      <p:sp>
        <p:nvSpPr>
          <p:cNvPr id="17" name="stat tile"/>
          <p:cNvSpPr/>
          <p:nvPr/>
        </p:nvSpPr>
        <p:spPr>
          <a:xfrm>
            <a:off x="7040880" y="13258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22376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7223760" y="2167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suggested technologies used</a:t>
            </a:r>
            <a:endParaRPr lang="en-US" sz="1200" dirty="0"/>
          </a:p>
        </p:txBody>
      </p:sp>
      <p:sp>
        <p:nvSpPr>
          <p:cNvPr id="20" name="stat tile"/>
          <p:cNvSpPr/>
          <p:nvPr/>
        </p:nvSpPr>
        <p:spPr>
          <a:xfrm>
            <a:off x="9372600" y="13258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55548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9555480" y="2167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private portals: citizen &amp; hospital</a:t>
            </a:r>
            <a:endParaRPr lang="en-US" sz="1200" dirty="0"/>
          </a:p>
        </p:txBody>
      </p:sp>
      <p:sp>
        <p:nvSpPr>
          <p:cNvPr id="23" name="stat tile"/>
          <p:cNvSpPr/>
          <p:nvPr/>
        </p:nvSpPr>
        <p:spPr>
          <a:xfrm>
            <a:off x="7040880" y="29260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223760" y="3063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7223760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Bhopal-region hospitals in the demo</a:t>
            </a:r>
            <a:endParaRPr lang="en-US" sz="1200" dirty="0"/>
          </a:p>
        </p:txBody>
      </p:sp>
      <p:sp>
        <p:nvSpPr>
          <p:cNvPr id="26" name="stat tile"/>
          <p:cNvSpPr/>
          <p:nvPr/>
        </p:nvSpPr>
        <p:spPr>
          <a:xfrm>
            <a:off x="9372600" y="29260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555480" y="3063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600" dirty="0"/>
          </a:p>
        </p:txBody>
      </p:sp>
      <p:sp>
        <p:nvSpPr>
          <p:cNvPr id="28" name="Text 23"/>
          <p:cNvSpPr txBox="1"/>
          <p:nvPr/>
        </p:nvSpPr>
        <p:spPr>
          <a:xfrm>
            <a:off x="9555480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automated tests passing</a:t>
            </a:r>
            <a:endParaRPr lang="en-US" sz="1200" dirty="0"/>
          </a:p>
        </p:txBody>
      </p:sp>
      <p:pic>
        <p:nvPicPr>
          <p:cNvPr id="29" name="citizens illustra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967" y="4572000"/>
            <a:ext cx="1791826" cy="12801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04088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Live and deployed: medreach-2.onrender.com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Scenario: chest pain at 11 pm in Bhopal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62-year-old man has chest pain and is sweating. Here is what happens today, and what happens with Medreach.</a:t>
            </a:r>
            <a:endParaRPr lang="en-US" sz="1600" dirty="0"/>
          </a:p>
        </p:txBody>
      </p:sp>
      <p:sp>
        <p:nvSpPr>
          <p:cNvPr id="4" name="today panel"/>
          <p:cNvSpPr/>
          <p:nvPr/>
        </p:nvSpPr>
        <p:spPr>
          <a:xfrm>
            <a:off x="548640" y="17830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5" name="medreach panel"/>
          <p:cNvSpPr/>
          <p:nvPr/>
        </p:nvSpPr>
        <p:spPr>
          <a:xfrm>
            <a:off x="6492240" y="17830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6" name="today icon circle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7" name="tod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8666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000" dirty="0"/>
          </a:p>
        </p:txBody>
      </p:sp>
      <p:sp>
        <p:nvSpPr>
          <p:cNvPr id="9" name="medreach icon circle"/>
          <p:cNvSpPr/>
          <p:nvPr/>
        </p:nvSpPr>
        <p:spPr>
          <a:xfrm>
            <a:off x="6720840" y="1965960"/>
            <a:ext cx="502920" cy="50292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0" name="medreach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20866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Medreach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2679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Family drives to the nearest hospital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Chosen by distance, with no idea of who is on duty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766560" y="26974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269480" y="2679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Son speaks the emergency in Hindi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26948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“Papa ko seene mein dard hai, pasina aa raha hai”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22960" y="33832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3364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cardiologist on duty, ICU full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32588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Discovered only at the gate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33832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269480" y="3364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AI: may indicate heart attack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726948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Needs 24×7 emergency + cardiologist + ICU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40690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32588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Referred onward: second trip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325880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Another drive across the city at night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6766560" y="40690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Bansal Hospital accepts, bay Resus-02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7269480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Named officer accepts before the family leaves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325880" y="4736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 unprepared; golden hour lost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1325880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 notes, no bay, no specialist called in advance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6766560" y="4754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7269480" y="4736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Ambulance tracked live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7269480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ER read the AI pre-arrival note in advance</a:t>
            </a:r>
            <a:endParaRPr lang="en-US" sz="1150" dirty="0"/>
          </a:p>
        </p:txBody>
      </p:sp>
      <p:sp>
        <p:nvSpPr>
          <p:cNvPr id="36" name="versus arrow circle"/>
          <p:cNvSpPr/>
          <p:nvPr/>
        </p:nvSpPr>
        <p:spPr>
          <a:xfrm>
            <a:off x="5788152" y="3383280"/>
            <a:ext cx="594360" cy="59436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37" name="versus 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798" y="3525926"/>
            <a:ext cx="309067" cy="309067"/>
          </a:xfrm>
          <a:prstGeom prst="rect">
            <a:avLst/>
          </a:prstGeom>
        </p:spPr>
      </p:pic>
      <p:sp>
        <p:nvSpPr>
          <p:cNvPr id="38" name="result band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Result: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journey instead of two, and the hospital is ready when the patient arrives. (Illustrative scenario; time saved will be measured in the pilot.)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Overview: why patients lose the golden hour</a:t>
            </a:r>
            <a:endParaRPr lang="en-US" sz="3400" dirty="0"/>
          </a:p>
        </p:txBody>
      </p:sp>
      <p:sp>
        <p:nvSpPr>
          <p:cNvPr id="3" name="stat card"/>
          <p:cNvSpPr/>
          <p:nvPr/>
        </p:nvSpPr>
        <p:spPr>
          <a:xfrm>
            <a:off x="548640" y="1325880"/>
            <a:ext cx="3931920" cy="3154680"/>
          </a:xfrm>
          <a:prstGeom prst="roundRect">
            <a:avLst>
              <a:gd name="adj" fmla="val 3478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4" name="stat icon circle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5" name="sta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94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1,68,491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road-accident deaths in India, 2022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Source: MoRTH, “Road Accidents in India 2022”. Heart attacks, strokes, burns and obstetric emergencies add many more.</a:t>
            </a:r>
            <a:endParaRPr lang="en-US" sz="1200" dirty="0"/>
          </a:p>
        </p:txBody>
      </p:sp>
      <p:sp>
        <p:nvSpPr>
          <p:cNvPr id="9" name="cause card"/>
          <p:cNvSpPr/>
          <p:nvPr/>
        </p:nvSpPr>
        <p:spPr>
          <a:xfrm>
            <a:off x="4709160" y="132588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earest ≠ capable circle"/>
          <p:cNvSpPr/>
          <p:nvPr/>
        </p:nvSpPr>
        <p:spPr>
          <a:xfrm>
            <a:off x="4873752" y="1545336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1" name="Nearest ≠ capab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453" y="1666037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13832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Nearest ≠ capable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13832" y="1719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Maps don’t know if the specialist is on duty, the ICU is free or the CT works now.</a:t>
            </a:r>
            <a:endParaRPr lang="en-US" sz="1100" dirty="0"/>
          </a:p>
        </p:txBody>
      </p:sp>
      <p:sp>
        <p:nvSpPr>
          <p:cNvPr id="14" name="cause card"/>
          <p:cNvSpPr/>
          <p:nvPr/>
        </p:nvSpPr>
        <p:spPr>
          <a:xfrm>
            <a:off x="8183880" y="132588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o trusted live status circle"/>
          <p:cNvSpPr/>
          <p:nvPr/>
        </p:nvSpPr>
        <p:spPr>
          <a:xfrm>
            <a:off x="8348472" y="1545336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No trusted live statu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1666037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88552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trusted live status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988552" y="1719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Availability is unpublished or outdated, with no owner and no time stamp.</a:t>
            </a:r>
            <a:endParaRPr lang="en-US" sz="1100" dirty="0"/>
          </a:p>
        </p:txBody>
      </p:sp>
      <p:sp>
        <p:nvSpPr>
          <p:cNvPr id="19" name="cause card"/>
          <p:cNvSpPr/>
          <p:nvPr/>
        </p:nvSpPr>
        <p:spPr>
          <a:xfrm>
            <a:off x="4709160" y="2395728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o acceptance first circle"/>
          <p:cNvSpPr/>
          <p:nvPr/>
        </p:nvSpPr>
        <p:spPr>
          <a:xfrm>
            <a:off x="4873752" y="2615184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No acceptance fir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453" y="2735885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13832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acceptance first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513832" y="2788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Families arrive unannounced; refusals happen at the gate.</a:t>
            </a:r>
            <a:endParaRPr lang="en-US" sz="1100" dirty="0"/>
          </a:p>
        </p:txBody>
      </p:sp>
      <p:sp>
        <p:nvSpPr>
          <p:cNvPr id="24" name="cause card"/>
          <p:cNvSpPr/>
          <p:nvPr/>
        </p:nvSpPr>
        <p:spPr>
          <a:xfrm>
            <a:off x="8183880" y="2395728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nic &amp; language circle"/>
          <p:cNvSpPr/>
          <p:nvPr/>
        </p:nvSpPr>
        <p:spPr>
          <a:xfrm>
            <a:off x="8348472" y="2615184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Panic &amp; languag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2735885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988552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Panic &amp; language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8988552" y="2788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Hard to type forms in panic; many prefer to speak in Hindi.</a:t>
            </a:r>
            <a:endParaRPr lang="en-US" sz="1100" dirty="0"/>
          </a:p>
        </p:txBody>
      </p:sp>
      <p:sp>
        <p:nvSpPr>
          <p:cNvPr id="29" name="cause card"/>
          <p:cNvSpPr/>
          <p:nvPr/>
        </p:nvSpPr>
        <p:spPr>
          <a:xfrm>
            <a:off x="4709160" y="3465576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eople living alone circle"/>
          <p:cNvSpPr/>
          <p:nvPr/>
        </p:nvSpPr>
        <p:spPr>
          <a:xfrm>
            <a:off x="4873752" y="3685032"/>
            <a:ext cx="502920" cy="50292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31" name="People living al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453" y="380573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13832" y="3557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People living alone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513832" y="38587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Cannot call hospitals, arrange transport and inform family at once.</a:t>
            </a:r>
            <a:endParaRPr lang="en-US" sz="1100" dirty="0"/>
          </a:p>
        </p:txBody>
      </p:sp>
      <p:sp>
        <p:nvSpPr>
          <p:cNvPr id="34" name="cause card"/>
          <p:cNvSpPr/>
          <p:nvPr/>
        </p:nvSpPr>
        <p:spPr>
          <a:xfrm>
            <a:off x="8183880" y="3465576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Lost information circle"/>
          <p:cNvSpPr/>
          <p:nvPr/>
        </p:nvSpPr>
        <p:spPr>
          <a:xfrm>
            <a:off x="8348472" y="368503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6" name="Lost informati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9173" y="3805733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988552" y="3557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Lost information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8988552" y="38587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Allergies and ABHA / Ayushman details don’t reach the ER doctor.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548640" y="4709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is affected</a:t>
            </a:r>
            <a:endParaRPr lang="en-US" sz="1600" dirty="0"/>
          </a:p>
        </p:txBody>
      </p:sp>
      <p:sp>
        <p:nvSpPr>
          <p:cNvPr id="40" name="Patients &amp; families circle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1" name="Patients &amp; families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5276088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97280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Patients &amp; families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1097280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Wasted trips, refusals, delayed care</a:t>
            </a:r>
            <a:endParaRPr lang="en-US" sz="1100" dirty="0"/>
          </a:p>
        </p:txBody>
      </p:sp>
      <p:sp>
        <p:nvSpPr>
          <p:cNvPr id="44" name="Rural citizens &amp; ASHA workers circle"/>
          <p:cNvSpPr/>
          <p:nvPr/>
        </p:nvSpPr>
        <p:spPr>
          <a:xfrm>
            <a:off x="3355848" y="51663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5" name="Rural citizens &amp; ASHA workers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5576" y="5276088"/>
            <a:ext cx="237744" cy="23774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3904488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Rural citizens &amp; ASHA workers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3904488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Long distances make a wrong choice costly</a:t>
            </a:r>
            <a:endParaRPr lang="en-US" sz="1100" dirty="0"/>
          </a:p>
        </p:txBody>
      </p:sp>
      <p:sp>
        <p:nvSpPr>
          <p:cNvPr id="48" name="Hospital ER teams circle"/>
          <p:cNvSpPr/>
          <p:nvPr/>
        </p:nvSpPr>
        <p:spPr>
          <a:xfrm>
            <a:off x="6163056" y="51663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9" name="Hospital ER teams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5276088"/>
            <a:ext cx="237744" cy="237744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711696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Hospital ER teams</a:t>
            </a:r>
            <a:endParaRPr lang="en-US" sz="1300" dirty="0"/>
          </a:p>
        </p:txBody>
      </p:sp>
      <p:sp>
        <p:nvSpPr>
          <p:cNvPr id="51" name="Text 39"/>
          <p:cNvSpPr txBox="1"/>
          <p:nvPr/>
        </p:nvSpPr>
        <p:spPr>
          <a:xfrm>
            <a:off x="6711696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Unannounced critical arrivals, crowding</a:t>
            </a:r>
            <a:endParaRPr lang="en-US" sz="1100" dirty="0"/>
          </a:p>
        </p:txBody>
      </p:sp>
      <p:sp>
        <p:nvSpPr>
          <p:cNvPr id="52" name="Health department circle"/>
          <p:cNvSpPr/>
          <p:nvPr/>
        </p:nvSpPr>
        <p:spPr>
          <a:xfrm>
            <a:off x="8970264" y="5166360"/>
            <a:ext cx="457200" cy="45720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53" name="Health department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9992" y="5276088"/>
            <a:ext cx="237744" cy="237744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9518904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Health department</a:t>
            </a:r>
            <a:endParaRPr lang="en-US" sz="1300" dirty="0"/>
          </a:p>
        </p:txBody>
      </p:sp>
      <p:sp>
        <p:nvSpPr>
          <p:cNvPr id="55" name="Text 42"/>
          <p:cNvSpPr txBox="1"/>
          <p:nvPr/>
        </p:nvSpPr>
        <p:spPr>
          <a:xfrm>
            <a:off x="9518904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 live picture of emergency capacity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Solution: one flow from emergency to confirmed bed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 emergency coordination platform, not a diagnosis app. Every step of our flowchart is implemented and live.</a:t>
            </a:r>
            <a:endParaRPr lang="en-US" sz="1600" dirty="0"/>
          </a:p>
        </p:txBody>
      </p:sp>
      <p:sp>
        <p:nvSpPr>
          <p:cNvPr id="4" name="flow line"/>
          <p:cNvSpPr/>
          <p:nvPr/>
        </p:nvSpPr>
        <p:spPr>
          <a:xfrm>
            <a:off x="1338943" y="2331720"/>
            <a:ext cx="9483634" cy="0"/>
          </a:xfrm>
          <a:prstGeom prst="line">
            <a:avLst/>
          </a:prstGeom>
          <a:noFill/>
          <a:ln w="38100">
            <a:solidFill>
              <a:srgbClr val="DCE4EE"/>
            </a:solidFill>
            <a:prstDash val="dash"/>
          </a:ln>
        </p:spPr>
      </p:sp>
      <p:sp>
        <p:nvSpPr>
          <p:cNvPr id="5" name="Emergency icon circle"/>
          <p:cNvSpPr/>
          <p:nvPr/>
        </p:nvSpPr>
        <p:spPr>
          <a:xfrm>
            <a:off x="881743" y="1874520"/>
            <a:ext cx="914400" cy="9144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Emergenc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199" y="20939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0111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Emergency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Speak, type, photo or scan a health card</a:t>
            </a:r>
            <a:endParaRPr lang="en-US" sz="1200" dirty="0"/>
          </a:p>
        </p:txBody>
      </p:sp>
      <p:sp>
        <p:nvSpPr>
          <p:cNvPr id="10" name="AI understands icon circle"/>
          <p:cNvSpPr/>
          <p:nvPr/>
        </p:nvSpPr>
        <p:spPr>
          <a:xfrm>
            <a:off x="2462349" y="187452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AI understand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05" y="20939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20717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174966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understands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202398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Type, severity, red flags, needed capabilities</a:t>
            </a:r>
            <a:endParaRPr lang="en-US" sz="1200" dirty="0"/>
          </a:p>
        </p:txBody>
      </p:sp>
      <p:sp>
        <p:nvSpPr>
          <p:cNvPr id="15" name="Match icon circle"/>
          <p:cNvSpPr/>
          <p:nvPr/>
        </p:nvSpPr>
        <p:spPr>
          <a:xfrm>
            <a:off x="4042954" y="187452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6" name="Matc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10" y="209397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01322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755571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Match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783003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Specialist on duty, equipment working, bed</a:t>
            </a:r>
            <a:endParaRPr lang="en-US" sz="1200" dirty="0"/>
          </a:p>
        </p:txBody>
      </p:sp>
      <p:sp>
        <p:nvSpPr>
          <p:cNvPr id="20" name="Verify icon circle"/>
          <p:cNvSpPr/>
          <p:nvPr/>
        </p:nvSpPr>
        <p:spPr>
          <a:xfrm>
            <a:off x="5623560" y="1874520"/>
            <a:ext cx="914400" cy="91440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21" name="Verif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209397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81928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336177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Verify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363609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Freshness: who updated, and when</a:t>
            </a:r>
            <a:endParaRPr lang="en-US" sz="1200" dirty="0"/>
          </a:p>
        </p:txBody>
      </p:sp>
      <p:sp>
        <p:nvSpPr>
          <p:cNvPr id="25" name="Accepted icon circle"/>
          <p:cNvSpPr/>
          <p:nvPr/>
        </p:nvSpPr>
        <p:spPr>
          <a:xfrm>
            <a:off x="7204166" y="1874520"/>
            <a:ext cx="914400" cy="9144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6" name="Accepte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622" y="2093976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62534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916783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Accepted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944215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Named officer accepts, assigns a bay</a:t>
            </a:r>
            <a:endParaRPr lang="en-US" sz="1200" dirty="0"/>
          </a:p>
        </p:txBody>
      </p:sp>
      <p:sp>
        <p:nvSpPr>
          <p:cNvPr id="30" name="Transport icon circle"/>
          <p:cNvSpPr/>
          <p:nvPr/>
        </p:nvSpPr>
        <p:spPr>
          <a:xfrm>
            <a:off x="8784771" y="1874520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Transpor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227" y="2093976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443139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497389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Transport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524821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Ambulance or own vehicle, live map</a:t>
            </a:r>
            <a:endParaRPr lang="en-US" sz="1200" dirty="0"/>
          </a:p>
        </p:txBody>
      </p:sp>
      <p:sp>
        <p:nvSpPr>
          <p:cNvPr id="35" name="Arrival icon circle"/>
          <p:cNvSpPr/>
          <p:nvPr/>
        </p:nvSpPr>
        <p:spPr>
          <a:xfrm>
            <a:off x="10365377" y="1874520"/>
            <a:ext cx="914400" cy="91440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36" name="Arrival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4833" y="2093976"/>
            <a:ext cx="475488" cy="47548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1023745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10077994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Arrival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10105426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Confirmed destination, family informed</a:t>
            </a:r>
            <a:endParaRPr lang="en-US" sz="1200" dirty="0"/>
          </a:p>
        </p:txBody>
      </p:sp>
      <p:sp>
        <p:nvSpPr>
          <p:cNvPr id="40" name="promise card"/>
          <p:cNvSpPr/>
          <p:nvPr/>
        </p:nvSpPr>
        <p:spPr>
          <a:xfrm>
            <a:off x="54864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7724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· English · Hinglish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777240" y="5230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Voice-first and built for panic; quick-pick chips and one question at a time</a:t>
            </a:r>
            <a:endParaRPr lang="en-US" sz="1200" dirty="0"/>
          </a:p>
        </p:txBody>
      </p:sp>
      <p:sp>
        <p:nvSpPr>
          <p:cNvPr id="43" name="promise card"/>
          <p:cNvSpPr/>
          <p:nvPr/>
        </p:nvSpPr>
        <p:spPr>
          <a:xfrm>
            <a:off x="338328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361188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capable hospitals</a:t>
            </a:r>
            <a:endParaRPr lang="en-US" sz="1800" dirty="0"/>
          </a:p>
        </p:txBody>
      </p:sp>
      <p:sp>
        <p:nvSpPr>
          <p:cNvPr id="45" name="Text 36"/>
          <p:cNvSpPr txBox="1"/>
          <p:nvPr/>
        </p:nvSpPr>
        <p:spPr>
          <a:xfrm>
            <a:off x="3611880" y="5230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Deterministic, explainable matching on staff-verified, time-stamped data</a:t>
            </a:r>
            <a:endParaRPr lang="en-US" sz="1200" dirty="0"/>
          </a:p>
        </p:txBody>
      </p:sp>
      <p:sp>
        <p:nvSpPr>
          <p:cNvPr id="46" name="promise card"/>
          <p:cNvSpPr/>
          <p:nvPr/>
        </p:nvSpPr>
        <p:spPr>
          <a:xfrm>
            <a:off x="621792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644652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before travel</a:t>
            </a:r>
            <a:endParaRPr lang="en-US" sz="1800" dirty="0"/>
          </a:p>
        </p:txBody>
      </p:sp>
      <p:sp>
        <p:nvSpPr>
          <p:cNvPr id="48" name="Text 39"/>
          <p:cNvSpPr txBox="1"/>
          <p:nvPr/>
        </p:nvSpPr>
        <p:spPr>
          <a:xfrm>
            <a:off x="6446520" y="5230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named officer accepts and prepares a bay; no refusals at the gate</a:t>
            </a:r>
            <a:endParaRPr lang="en-US" sz="1200" dirty="0"/>
          </a:p>
        </p:txBody>
      </p:sp>
      <p:sp>
        <p:nvSpPr>
          <p:cNvPr id="49" name="promise card"/>
          <p:cNvSpPr/>
          <p:nvPr/>
        </p:nvSpPr>
        <p:spPr>
          <a:xfrm>
            <a:off x="905256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928116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 auto-fallback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9281160" y="52303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 answer or a decline → the next suitable hospital is asked automatically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Solution in action: citizen and hospital</a:t>
            </a:r>
            <a:endParaRPr lang="en-US" sz="3400" dirty="0"/>
          </a:p>
        </p:txBody>
      </p:sp>
      <p:sp>
        <p:nvSpPr>
          <p:cNvPr id="3" name="citizen screen 1 frame"/>
          <p:cNvSpPr/>
          <p:nvPr/>
        </p:nvSpPr>
        <p:spPr>
          <a:xfrm>
            <a:off x="576072" y="1261872"/>
            <a:ext cx="1829225" cy="3785616"/>
          </a:xfrm>
          <a:prstGeom prst="roundRect">
            <a:avLst>
              <a:gd name="adj" fmla="val 89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sp>
      <p:pic>
        <p:nvPicPr>
          <p:cNvPr id="4" name="citizen screen 1" descr="/tmp/claude-0/-home-user-Sehat-Setu/b06e8423-ed6e-57c3-bbb1-ac94b2a1720d/scratchpad/pdf/img/s/phone-2-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701209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66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understands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6811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May indicate heart attack · CRITICAL; “How was this decided?” shown</a:t>
            </a:r>
            <a:endParaRPr lang="en-US" sz="1100" dirty="0"/>
          </a:p>
        </p:txBody>
      </p:sp>
      <p:sp>
        <p:nvSpPr>
          <p:cNvPr id="7" name="citizen screen 2 frame"/>
          <p:cNvSpPr/>
          <p:nvPr/>
        </p:nvSpPr>
        <p:spPr>
          <a:xfrm>
            <a:off x="2587752" y="1261872"/>
            <a:ext cx="1829225" cy="3785616"/>
          </a:xfrm>
          <a:prstGeom prst="roundRect">
            <a:avLst>
              <a:gd name="adj" fmla="val 89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sp>
      <p:pic>
        <p:nvPicPr>
          <p:cNvPr id="8" name="citizen screen 2" descr="/tmp/claude-0/-home-user-Sehat-Setu/b06e8423-ed6e-57c3-bbb1-ac94b2a1720d/scratchpad/pdf/img/s/phone-3-hospital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25880"/>
            <a:ext cx="1701209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60320" y="5166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Capable hospitals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546811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Ranked from verified data, with freshness badges</a:t>
            </a:r>
            <a:endParaRPr lang="en-US" sz="1100" dirty="0"/>
          </a:p>
        </p:txBody>
      </p:sp>
      <p:sp>
        <p:nvSpPr>
          <p:cNvPr id="11" name="citizen screen 3 frame"/>
          <p:cNvSpPr/>
          <p:nvPr/>
        </p:nvSpPr>
        <p:spPr>
          <a:xfrm>
            <a:off x="4599432" y="1261872"/>
            <a:ext cx="1829225" cy="3785616"/>
          </a:xfrm>
          <a:prstGeom prst="roundRect">
            <a:avLst>
              <a:gd name="adj" fmla="val 89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sp>
      <p:pic>
        <p:nvPicPr>
          <p:cNvPr id="12" name="citizen screen 3" descr="/tmp/claude-0/-home-user-Sehat-Setu/b06e8423-ed6e-57c3-bbb1-ac94b2a1720d/scratchpad/pdf/img/s/phone-5-accept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1701209" cy="3657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0" y="5166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Accepted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546811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Reported capacity → accepted → confirmed bay</a:t>
            </a:r>
            <a:endParaRPr lang="en-US" sz="1100" dirty="0"/>
          </a:p>
        </p:txBody>
      </p:sp>
      <p:pic>
        <p:nvPicPr>
          <p:cNvPr id="15" name="hospital referral screenshot" descr="/tmp/claude-0/-home-user-Sehat-Setu/b06e8423-ed6e-57c3-bbb1-ac94b2a1720d/scratchpad/pdf/img/s/hosp-referra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20840" y="1325880"/>
            <a:ext cx="4892040" cy="21488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pic>
      <p:sp>
        <p:nvSpPr>
          <p:cNvPr id="16" name="Text 10"/>
          <p:cNvSpPr txBox="1"/>
          <p:nvPr/>
        </p:nvSpPr>
        <p:spPr>
          <a:xfrm>
            <a:off x="672084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Hospital reviews the AI pre-arrival note and accepts with a receiving bay</a:t>
            </a:r>
            <a:endParaRPr lang="en-US" sz="1100" dirty="0"/>
          </a:p>
        </p:txBody>
      </p:sp>
      <p:pic>
        <p:nvPicPr>
          <p:cNvPr id="17" name="citizen live map screenshot" descr="/tmp/claude-0/-home-user-Sehat-Setu/b06e8423-ed6e-57c3-bbb1-ac94b2a1720d/scratchpad/pdf/img/s/citizen-case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20840" y="3931920"/>
            <a:ext cx="4892040" cy="20574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pic>
      <p:sp>
        <p:nvSpPr>
          <p:cNvPr id="18" name="Text 11"/>
          <p:cNvSpPr txBox="1"/>
          <p:nvPr/>
        </p:nvSpPr>
        <p:spPr>
          <a:xfrm>
            <a:off x="6720840" y="60350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Citizen dashboard: live map, ambulance on the way to the accepted hospital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Technical approach: architecture and AI</a:t>
            </a:r>
            <a:endParaRPr lang="en-US" sz="3400" dirty="0"/>
          </a:p>
        </p:txBody>
      </p:sp>
      <p:sp>
        <p:nvSpPr>
          <p:cNvPr id="3" name="architecture panel"/>
          <p:cNvSpPr/>
          <p:nvPr/>
        </p:nvSpPr>
        <p:spPr>
          <a:xfrm>
            <a:off x="548640" y="1325880"/>
            <a:ext cx="649224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tizen PWA"/>
          <p:cNvSpPr/>
          <p:nvPr/>
        </p:nvSpPr>
        <p:spPr>
          <a:xfrm>
            <a:off x="777240" y="150876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E11D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58191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</a:rPr>
              <a:t>Citizen PWA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187452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Voice · photo · OCR · offline</a:t>
            </a:r>
            <a:endParaRPr lang="en-US" sz="1050" dirty="0"/>
          </a:p>
        </p:txBody>
      </p:sp>
      <p:sp>
        <p:nvSpPr>
          <p:cNvPr id="7" name="Family link"/>
          <p:cNvSpPr/>
          <p:nvPr/>
        </p:nvSpPr>
        <p:spPr>
          <a:xfrm>
            <a:off x="777240" y="260604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6791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Family link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97180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Status · hospital · ETA only</a:t>
            </a:r>
            <a:endParaRPr lang="en-US" sz="1050" dirty="0"/>
          </a:p>
        </p:txBody>
      </p:sp>
      <p:sp>
        <p:nvSpPr>
          <p:cNvPr id="10" name="Hospital dashboard"/>
          <p:cNvSpPr/>
          <p:nvPr/>
        </p:nvSpPr>
        <p:spPr>
          <a:xfrm>
            <a:off x="77724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77647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Hospital dashboard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0690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Referrals · beds · live map</a:t>
            </a:r>
            <a:endParaRPr lang="en-US" sz="1050" dirty="0"/>
          </a:p>
        </p:txBody>
      </p:sp>
      <p:sp>
        <p:nvSpPr>
          <p:cNvPr id="13" name="API layer"/>
          <p:cNvSpPr/>
          <p:nvPr/>
        </p:nvSpPr>
        <p:spPr>
          <a:xfrm>
            <a:off x="3017520" y="150876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0F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27248" y="158191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</a:rPr>
              <a:t>API layer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27248" y="187452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One set of routes &amp; rules</a:t>
            </a:r>
            <a:endParaRPr lang="en-US" sz="1050" dirty="0"/>
          </a:p>
        </p:txBody>
      </p:sp>
      <p:sp>
        <p:nvSpPr>
          <p:cNvPr id="16" name="Auth &amp; roles"/>
          <p:cNvSpPr/>
          <p:nvPr/>
        </p:nvSpPr>
        <p:spPr>
          <a:xfrm>
            <a:off x="3017520" y="260604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27248" y="26791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Auth &amp; roles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27248" y="297180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Hospital ID + Staff ID + OTP</a:t>
            </a:r>
            <a:endParaRPr lang="en-US" sz="1050" dirty="0"/>
          </a:p>
        </p:txBody>
      </p:sp>
      <p:sp>
        <p:nvSpPr>
          <p:cNvPr id="19" name="Case store"/>
          <p:cNvSpPr/>
          <p:nvPr/>
        </p:nvSpPr>
        <p:spPr>
          <a:xfrm>
            <a:off x="301752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0B14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27248" y="377647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7"/>
                </a:solidFill>
              </a:rPr>
              <a:t>Case store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27248" y="40690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Live events · audit · consent</a:t>
            </a:r>
            <a:endParaRPr lang="en-US" sz="1050" dirty="0"/>
          </a:p>
        </p:txBody>
      </p:sp>
      <p:sp>
        <p:nvSpPr>
          <p:cNvPr id="22" name="Generative AI"/>
          <p:cNvSpPr/>
          <p:nvPr/>
        </p:nvSpPr>
        <p:spPr>
          <a:xfrm>
            <a:off x="5029200" y="150876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38928" y="158191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38928" y="187452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Claude (optional)</a:t>
            </a:r>
            <a:endParaRPr lang="en-US" sz="1050" dirty="0"/>
          </a:p>
        </p:txBody>
      </p:sp>
      <p:sp>
        <p:nvSpPr>
          <p:cNvPr id="25" name="Shared engines"/>
          <p:cNvSpPr/>
          <p:nvPr/>
        </p:nvSpPr>
        <p:spPr>
          <a:xfrm>
            <a:off x="5029200" y="260604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38928" y="2679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Shared engines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38928" y="29718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Triage · match · predict</a:t>
            </a:r>
            <a:endParaRPr lang="en-US" sz="1050" dirty="0"/>
          </a:p>
        </p:txBody>
      </p:sp>
      <p:sp>
        <p:nvSpPr>
          <p:cNvPr id="28" name="Live mode"/>
          <p:cNvSpPr/>
          <p:nvPr/>
        </p:nvSpPr>
        <p:spPr>
          <a:xfrm>
            <a:off x="5029200" y="370332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38928" y="37764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Live mode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38928" y="40690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HFR · HMIS · 108 · ABDM</a:t>
            </a:r>
            <a:endParaRPr lang="en-US" sz="1050" dirty="0"/>
          </a:p>
        </p:txBody>
      </p:sp>
      <p:sp>
        <p:nvSpPr>
          <p:cNvPr id="31" name="arrow"/>
          <p:cNvSpPr/>
          <p:nvPr/>
        </p:nvSpPr>
        <p:spPr>
          <a:xfrm>
            <a:off x="2670048" y="1938528"/>
            <a:ext cx="329184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2670048" y="3035808"/>
            <a:ext cx="329184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>
            <a:off x="2670048" y="4133088"/>
            <a:ext cx="329184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77240" y="4681728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REST + live updates (SSE) over HTTPS · engines also run on the phone, so triage works offline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0474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Node.js 22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636776" y="5047488"/>
            <a:ext cx="72603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Express 5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435962" y="5047488"/>
            <a:ext cx="36393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PWA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873045" y="5047488"/>
            <a:ext cx="96743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Leaflet + OSM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913632" y="5047488"/>
            <a:ext cx="90708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Tesseract.js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893869" y="50474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Web Speech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753405" y="50474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9D5C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Claude SDK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315200" y="13258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All 7 technologies in code</a:t>
            </a:r>
            <a:endParaRPr lang="en-US" sz="1600" dirty="0"/>
          </a:p>
        </p:txBody>
      </p:sp>
      <p:sp>
        <p:nvSpPr>
          <p:cNvPr id="43" name="Generative AI circle"/>
          <p:cNvSpPr/>
          <p:nvPr/>
        </p:nvSpPr>
        <p:spPr>
          <a:xfrm>
            <a:off x="7315200" y="17830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4" name="Generative A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955" y="1881835"/>
            <a:ext cx="213970" cy="213970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7863840" y="1801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Generative AI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requirements + SBAR note</a:t>
            </a:r>
            <a:endParaRPr lang="en-US" sz="1250" dirty="0"/>
          </a:p>
        </p:txBody>
      </p:sp>
      <p:sp>
        <p:nvSpPr>
          <p:cNvPr id="46" name="Voice Bots circle"/>
          <p:cNvSpPr/>
          <p:nvPr/>
        </p:nvSpPr>
        <p:spPr>
          <a:xfrm>
            <a:off x="7315200" y="2331720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7" name="Voice Bo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2430475"/>
            <a:ext cx="213970" cy="213970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7863840" y="2350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Voice Bots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Hindi / English in and out</a:t>
            </a:r>
            <a:endParaRPr lang="en-US" sz="1250" dirty="0"/>
          </a:p>
        </p:txBody>
      </p:sp>
      <p:sp>
        <p:nvSpPr>
          <p:cNvPr id="49" name="Computer Vision circle"/>
          <p:cNvSpPr/>
          <p:nvPr/>
        </p:nvSpPr>
        <p:spPr>
          <a:xfrm>
            <a:off x="7315200" y="288036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0" name="Computer Vis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955" y="2979115"/>
            <a:ext cx="213970" cy="213970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7863840" y="2898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Computer Vision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photo of injury → findings</a:t>
            </a:r>
            <a:endParaRPr lang="en-US" sz="1250" dirty="0"/>
          </a:p>
        </p:txBody>
      </p:sp>
      <p:sp>
        <p:nvSpPr>
          <p:cNvPr id="52" name="OCR circle"/>
          <p:cNvSpPr/>
          <p:nvPr/>
        </p:nvSpPr>
        <p:spPr>
          <a:xfrm>
            <a:off x="7315200" y="34290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3" name="OC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955" y="3527755"/>
            <a:ext cx="213970" cy="213970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7863840" y="34472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OCR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Ayushman / ABHA card on phone</a:t>
            </a:r>
            <a:endParaRPr lang="en-US" sz="1250" dirty="0"/>
          </a:p>
        </p:txBody>
      </p:sp>
      <p:sp>
        <p:nvSpPr>
          <p:cNvPr id="55" name="Predictive Analytics circle"/>
          <p:cNvSpPr/>
          <p:nvPr/>
        </p:nvSpPr>
        <p:spPr>
          <a:xfrm>
            <a:off x="7315200" y="397764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6" name="Predictive Analytic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955" y="4076395"/>
            <a:ext cx="213970" cy="213970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7863840" y="3995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Predictive Analytics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ETA, bed-on-arrival, forecast</a:t>
            </a:r>
            <a:endParaRPr lang="en-US" sz="1250" dirty="0"/>
          </a:p>
        </p:txBody>
      </p:sp>
      <p:sp>
        <p:nvSpPr>
          <p:cNvPr id="58" name="Conversational AI circle"/>
          <p:cNvSpPr/>
          <p:nvPr/>
        </p:nvSpPr>
        <p:spPr>
          <a:xfrm>
            <a:off x="7315200" y="4526280"/>
            <a:ext cx="411480" cy="4114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59" name="Conversational A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4625035"/>
            <a:ext cx="213970" cy="21397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7863840" y="4544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Conversational AI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one follow-up at a time</a:t>
            </a:r>
            <a:endParaRPr lang="en-US" sz="1250" dirty="0"/>
          </a:p>
        </p:txBody>
      </p:sp>
      <p:sp>
        <p:nvSpPr>
          <p:cNvPr id="61" name="Mobile App circle"/>
          <p:cNvSpPr/>
          <p:nvPr/>
        </p:nvSpPr>
        <p:spPr>
          <a:xfrm>
            <a:off x="7315200" y="5074920"/>
            <a:ext cx="411480" cy="41148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62" name="Mobile App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955" y="5173675"/>
            <a:ext cx="213970" cy="213970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7863840" y="5093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Mobile App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offline, bilingual PWA</a:t>
            </a:r>
            <a:endParaRPr lang="en-US" sz="1250" dirty="0"/>
          </a:p>
        </p:txBody>
      </p:sp>
      <p:sp>
        <p:nvSpPr>
          <p:cNvPr id="64" name="principle band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 understands; rules decide.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Severity = max(AI, rules), so AI can never lower urgency. A deterministic, tested engine chooses the hospital.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Security, privacy and trust by design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Who can change what citizens see</a:t>
            </a:r>
            <a:endParaRPr lang="en-US" sz="1500" dirty="0"/>
          </a:p>
        </p:txBody>
      </p:sp>
      <p:graphicFrame>
        <p:nvGraphicFramePr>
          <p:cNvPr id="9" name="ro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029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Can do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Hospital Nodal Officer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Everything for their hospital + audit log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Emergency Desk Officer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Accept / decline referrals, ER open / busy / diverting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Resource Manager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Beds, specialists on duty, equipment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State Health Admin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Read-only view of all hospitals + audit logs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login control circle"/>
          <p:cNvSpPr/>
          <p:nvPr/>
        </p:nvSpPr>
        <p:spPr>
          <a:xfrm>
            <a:off x="548640" y="402336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login contro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4124310"/>
            <a:ext cx="218724" cy="2187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404164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Hospital ID + Staff ID + OTP; session bound to one hospital</a:t>
            </a:r>
            <a:endParaRPr lang="en-US" sz="1200" dirty="0"/>
          </a:p>
        </p:txBody>
      </p:sp>
      <p:sp>
        <p:nvSpPr>
          <p:cNvPr id="8" name="login control circle"/>
          <p:cNvSpPr/>
          <p:nvPr/>
        </p:nvSpPr>
        <p:spPr>
          <a:xfrm>
            <a:off x="548640" y="4590288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9" name="login contro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4691238"/>
            <a:ext cx="218724" cy="2187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7280" y="460857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Staff accounts cannot be self-registered</a:t>
            </a:r>
            <a:endParaRPr lang="en-US" sz="1200" dirty="0"/>
          </a:p>
        </p:txBody>
      </p:sp>
      <p:sp>
        <p:nvSpPr>
          <p:cNvPr id="11" name="login control circle"/>
          <p:cNvSpPr/>
          <p:nvPr/>
        </p:nvSpPr>
        <p:spPr>
          <a:xfrm>
            <a:off x="548640" y="5157216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2" name="login contro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5258166"/>
            <a:ext cx="218724" cy="21872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97280" y="517550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login, change, decision and denied attempt is logged</a:t>
            </a:r>
            <a:endParaRPr lang="en-US" sz="1200" dirty="0"/>
          </a:p>
        </p:txBody>
      </p:sp>
      <p:sp>
        <p:nvSpPr>
          <p:cNvPr id="14" name="privacy card"/>
          <p:cNvSpPr/>
          <p:nvPr/>
        </p:nvSpPr>
        <p:spPr>
          <a:xfrm>
            <a:off x="5897880" y="1325880"/>
            <a:ext cx="276148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onsent first circle"/>
          <p:cNvSpPr/>
          <p:nvPr/>
        </p:nvSpPr>
        <p:spPr>
          <a:xfrm>
            <a:off x="6062472" y="150876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6" name="Consent fir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1848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629400" y="147218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Consent first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6062472" y="20391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Patient details reach the hospital only if the family agrees.</a:t>
            </a:r>
            <a:endParaRPr lang="en-US" sz="1050" dirty="0"/>
          </a:p>
        </p:txBody>
      </p:sp>
      <p:sp>
        <p:nvSpPr>
          <p:cNvPr id="19" name="privacy card"/>
          <p:cNvSpPr/>
          <p:nvPr/>
        </p:nvSpPr>
        <p:spPr>
          <a:xfrm>
            <a:off x="8796528" y="1325880"/>
            <a:ext cx="276148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Masked IDs circle"/>
          <p:cNvSpPr/>
          <p:nvPr/>
        </p:nvSpPr>
        <p:spPr>
          <a:xfrm>
            <a:off x="8961120" y="15087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Masked ID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161848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528048" y="147218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Masked IDs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8961120" y="20391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ABHA / Ayushman numbers masked; pick-up point rounded ~100 m.</a:t>
            </a:r>
            <a:endParaRPr lang="en-US" sz="1050" dirty="0"/>
          </a:p>
        </p:txBody>
      </p:sp>
      <p:sp>
        <p:nvSpPr>
          <p:cNvPr id="24" name="privacy card"/>
          <p:cNvSpPr/>
          <p:nvPr/>
        </p:nvSpPr>
        <p:spPr>
          <a:xfrm>
            <a:off x="5897880" y="2697480"/>
            <a:ext cx="276148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Hospital-scoped access circle"/>
          <p:cNvSpPr/>
          <p:nvPr/>
        </p:nvSpPr>
        <p:spPr>
          <a:xfrm>
            <a:off x="6062472" y="2880360"/>
            <a:ext cx="457200" cy="45720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26" name="Hospital-scoped acces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90088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629400" y="284378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Hospital-scoped access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6062472" y="34107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Staff see only referrals sent to their own hospital.</a:t>
            </a:r>
            <a:endParaRPr lang="en-US" sz="1050" dirty="0"/>
          </a:p>
        </p:txBody>
      </p:sp>
      <p:sp>
        <p:nvSpPr>
          <p:cNvPr id="29" name="privacy card"/>
          <p:cNvSpPr/>
          <p:nvPr/>
        </p:nvSpPr>
        <p:spPr>
          <a:xfrm>
            <a:off x="8796528" y="2697480"/>
            <a:ext cx="276148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itizen data on device circle"/>
          <p:cNvSpPr/>
          <p:nvPr/>
        </p:nvSpPr>
        <p:spPr>
          <a:xfrm>
            <a:off x="8961120" y="2880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1" name="Citizen data on devic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848" y="2990088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528048" y="284378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Citizen data on device</a:t>
            </a:r>
            <a:endParaRPr lang="en-US" sz="1300" dirty="0"/>
          </a:p>
        </p:txBody>
      </p:sp>
      <p:sp>
        <p:nvSpPr>
          <p:cNvPr id="33" name="Text 23"/>
          <p:cNvSpPr txBox="1"/>
          <p:nvPr/>
        </p:nvSpPr>
        <p:spPr>
          <a:xfrm>
            <a:off x="8961120" y="34107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Profile and records stay on the phone (PBKDF2 password hash).</a:t>
            </a:r>
            <a:endParaRPr lang="en-US" sz="1050" dirty="0"/>
          </a:p>
        </p:txBody>
      </p:sp>
      <p:sp>
        <p:nvSpPr>
          <p:cNvPr id="34" name="privacy card"/>
          <p:cNvSpPr/>
          <p:nvPr/>
        </p:nvSpPr>
        <p:spPr>
          <a:xfrm>
            <a:off x="5897880" y="4069080"/>
            <a:ext cx="276148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Family link without medical data circle"/>
          <p:cNvSpPr/>
          <p:nvPr/>
        </p:nvSpPr>
        <p:spPr>
          <a:xfrm>
            <a:off x="6062472" y="42519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6" name="Family link without medical dat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361688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629400" y="421538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Family link without medical data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6062472" y="47823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Status, hospital and ETA only, via a read-only token.</a:t>
            </a:r>
            <a:endParaRPr lang="en-US" sz="1050" dirty="0"/>
          </a:p>
        </p:txBody>
      </p:sp>
      <p:sp>
        <p:nvSpPr>
          <p:cNvPr id="39" name="privacy card"/>
          <p:cNvSpPr/>
          <p:nvPr/>
        </p:nvSpPr>
        <p:spPr>
          <a:xfrm>
            <a:off x="8796528" y="4069080"/>
            <a:ext cx="2761488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24-hour deletion circle"/>
          <p:cNvSpPr/>
          <p:nvPr/>
        </p:nvSpPr>
        <p:spPr>
          <a:xfrm>
            <a:off x="8961120" y="4251960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1" name="24-hour deleti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0848" y="4361688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9528048" y="4215384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24-hour deletion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8961120" y="47823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Personal and health details purged after hand-over.</a:t>
            </a:r>
            <a:endParaRPr lang="en-US" sz="1050" dirty="0"/>
          </a:p>
        </p:txBody>
      </p:sp>
      <p:sp>
        <p:nvSpPr>
          <p:cNvPr id="44" name="honesty band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Honest by design: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reported capacity ≠ referral accepted ≠ confirmed destination; simulated demo data is always labelled. Aligned with the DPDP Act 2023.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Implementation: from prototype to statewide</a:t>
            </a:r>
            <a:endParaRPr lang="en-US" sz="3400" dirty="0"/>
          </a:p>
        </p:txBody>
      </p:sp>
      <p:sp>
        <p:nvSpPr>
          <p:cNvPr id="3" name="timeline"/>
          <p:cNvSpPr/>
          <p:nvPr/>
        </p:nvSpPr>
        <p:spPr>
          <a:xfrm>
            <a:off x="914400" y="1645920"/>
            <a:ext cx="8503920" cy="0"/>
          </a:xfrm>
          <a:prstGeom prst="line">
            <a:avLst/>
          </a:prstGeom>
          <a:noFill/>
          <a:ln w="38100">
            <a:solidFill>
              <a:srgbClr val="DCE4EE"/>
            </a:solidFill>
            <a:prstDash val="solid"/>
          </a:ln>
        </p:spPr>
      </p:sp>
      <p:sp>
        <p:nvSpPr>
          <p:cNvPr id="4" name="Prototype circle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Prototy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4794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Prototype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Done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Both portals live, AI triage, matching, acceptance, live maps, 51 tests</a:t>
            </a:r>
            <a:endParaRPr lang="en-US" sz="1200" dirty="0"/>
          </a:p>
        </p:txBody>
      </p:sp>
      <p:sp>
        <p:nvSpPr>
          <p:cNvPr id="9" name="Pilot · Bhopal circle"/>
          <p:cNvSpPr/>
          <p:nvPr/>
        </p:nvSpPr>
        <p:spPr>
          <a:xfrm>
            <a:off x="3383280" y="1325880"/>
            <a:ext cx="640080" cy="6400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0" name="Pilot · Bhop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899" y="14794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Pilot · Bhopal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</a:rPr>
              <a:t>~3 months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Onboard hospitals, nodal officers, ER desk training, clinical review, SMS OTP</a:t>
            </a:r>
            <a:endParaRPr lang="en-US" sz="1200" dirty="0"/>
          </a:p>
        </p:txBody>
      </p:sp>
      <p:sp>
        <p:nvSpPr>
          <p:cNvPr id="14" name="Integrate circle"/>
          <p:cNvSpPr/>
          <p:nvPr/>
        </p:nvSpPr>
        <p:spPr>
          <a:xfrm>
            <a:off x="6217920" y="132588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ntegra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14794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Integrate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~3–6 months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Health Facility Registry, HMIS, 108 control room, ABDM, encrypted database</a:t>
            </a:r>
            <a:endParaRPr lang="en-US" sz="1200" dirty="0"/>
          </a:p>
        </p:txBody>
      </p:sp>
      <p:sp>
        <p:nvSpPr>
          <p:cNvPr id="19" name="Scale · MP circle"/>
          <p:cNvSpPr/>
          <p:nvPr/>
        </p:nvSpPr>
        <p:spPr>
          <a:xfrm>
            <a:off x="9052560" y="13258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Scale · M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79" y="14794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Scale · MP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05256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~6–12 months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05256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District-by-district rollout, state command view, IVR for feature phones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7033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Integrations for live mode</a:t>
            </a:r>
            <a:endParaRPr lang="en-US" sz="1500" dirty="0"/>
          </a:p>
        </p:txBody>
      </p:sp>
      <p:sp>
        <p:nvSpPr>
          <p:cNvPr id="25" name="NHA Health Facility Registry circle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NHA Health Facility Registr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" y="4259275"/>
            <a:ext cx="213970" cy="21397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1560" y="41788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NHA Health Facility Registry</a:t>
            </a:r>
            <a:endParaRPr lang="en-US" sz="1200" dirty="0"/>
          </a:p>
        </p:txBody>
      </p:sp>
      <p:sp>
        <p:nvSpPr>
          <p:cNvPr id="28" name="Hospital HMIS feeds circle"/>
          <p:cNvSpPr/>
          <p:nvPr/>
        </p:nvSpPr>
        <p:spPr>
          <a:xfrm>
            <a:off x="3246120" y="4160520"/>
            <a:ext cx="411480" cy="4114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29" name="Hospital HMIS feed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4875" y="4259275"/>
            <a:ext cx="213970" cy="21397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749040" y="41788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Hospital HMIS feeds</a:t>
            </a:r>
            <a:endParaRPr lang="en-US" sz="1200" dirty="0"/>
          </a:p>
        </p:txBody>
      </p:sp>
      <p:sp>
        <p:nvSpPr>
          <p:cNvPr id="31" name="108 control room (CAD) circle"/>
          <p:cNvSpPr/>
          <p:nvPr/>
        </p:nvSpPr>
        <p:spPr>
          <a:xfrm>
            <a:off x="548640" y="4818888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2" name="108 control room (CAD)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" y="4917643"/>
            <a:ext cx="213970" cy="21397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51560" y="483717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108 control room (CAD)</a:t>
            </a:r>
            <a:endParaRPr lang="en-US" sz="1200" dirty="0"/>
          </a:p>
        </p:txBody>
      </p:sp>
      <p:sp>
        <p:nvSpPr>
          <p:cNvPr id="34" name="ABDM / ABHA records circle"/>
          <p:cNvSpPr/>
          <p:nvPr/>
        </p:nvSpPr>
        <p:spPr>
          <a:xfrm>
            <a:off x="3246120" y="481888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ABDM / ABHA records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4875" y="4917643"/>
            <a:ext cx="213970" cy="21397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3749040" y="483717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ABDM / ABHA records</a:t>
            </a:r>
            <a:endParaRPr lang="en-US" sz="1200" dirty="0"/>
          </a:p>
        </p:txBody>
      </p:sp>
      <p:sp>
        <p:nvSpPr>
          <p:cNvPr id="37" name="SMS gateway (OTP, alerts) circle"/>
          <p:cNvSpPr/>
          <p:nvPr/>
        </p:nvSpPr>
        <p:spPr>
          <a:xfrm>
            <a:off x="548640" y="5477256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8" name="SMS gateway (OTP, alerts)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" y="5576011"/>
            <a:ext cx="213970" cy="21397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051560" y="54955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SMS gateway (OTP, alerts)</a:t>
            </a:r>
            <a:endParaRPr lang="en-US" sz="1200" dirty="0"/>
          </a:p>
        </p:txBody>
      </p:sp>
      <p:sp>
        <p:nvSpPr>
          <p:cNvPr id="40" name="OpenStreetMap, no API keys circle"/>
          <p:cNvSpPr/>
          <p:nvPr/>
        </p:nvSpPr>
        <p:spPr>
          <a:xfrm>
            <a:off x="3246120" y="5477256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1" name="OpenStreetMap, no API keys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4875" y="5576011"/>
            <a:ext cx="213970" cy="21397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3749040" y="54955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OpenStreetMap, no API keys</a:t>
            </a:r>
            <a:endParaRPr lang="en-US" sz="1200" dirty="0"/>
          </a:p>
        </p:txBody>
      </p:sp>
      <p:graphicFrame>
        <p:nvGraphicFramePr>
          <p:cNvPr id="10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611880"/>
          <a:ext cx="5577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Hospitals don’t update data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Freshness on every figure, stale ranked lower, one-click confirm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Wrong AI reading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AI only raises urgency; deterministic matching; 108 always visible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hospital answers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60 s timeout → next suitable hospital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Weak network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Offline PWA runs triage &amp; matching on the phone</a:t>
                      </a:r>
                      <a:endParaRPr lang="en-US" sz="11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Low cost circle"/>
          <p:cNvSpPr/>
          <p:nvPr/>
        </p:nvSpPr>
        <p:spPr>
          <a:xfrm>
            <a:off x="6035040" y="594360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5" name="Low cost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4044" y="6022604"/>
            <a:ext cx="171176" cy="17117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428232" y="59436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Low cost</a:t>
            </a:r>
            <a:endParaRPr lang="en-US" sz="1200" dirty="0"/>
          </a:p>
        </p:txBody>
      </p:sp>
      <p:sp>
        <p:nvSpPr>
          <p:cNvPr id="47" name="Fits existing roles circle"/>
          <p:cNvSpPr/>
          <p:nvPr/>
        </p:nvSpPr>
        <p:spPr>
          <a:xfrm>
            <a:off x="7927848" y="594360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8" name="Fits existing roles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6852" y="6022604"/>
            <a:ext cx="171176" cy="171176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8321040" y="59436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Fits existing roles</a:t>
            </a:r>
            <a:endParaRPr lang="en-US" sz="1200" dirty="0"/>
          </a:p>
        </p:txBody>
      </p:sp>
      <p:sp>
        <p:nvSpPr>
          <p:cNvPr id="50" name="Cloud-ready circle"/>
          <p:cNvSpPr/>
          <p:nvPr/>
        </p:nvSpPr>
        <p:spPr>
          <a:xfrm>
            <a:off x="9820656" y="594360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1" name="Cloud-ready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9660" y="6022604"/>
            <a:ext cx="171176" cy="171176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10213848" y="59436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Cloud-ready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Innovation: what makes Medreach different</a:t>
            </a:r>
            <a:endParaRPr lang="en-US" sz="3400" dirty="0"/>
          </a:p>
        </p:txBody>
      </p:sp>
      <p:graphicFrame>
        <p:nvGraphicFramePr>
          <p:cNvPr id="1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51560"/>
                <a:gridCol w="1097280"/>
                <a:gridCol w="105156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 search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Bed portals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Helplines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Medreach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Understands the emergency (voice, Hindi)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Operator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AI + voice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Matches capability (specialist, equipment)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Beds only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Shows freshness &amp; who updated data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Rarely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Every figure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Hospital accepts before travel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Sometimes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Yes + bay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Automatic fallback to next hospital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60 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AI pre-arrival note for ER doctor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SBAR note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Help for a person living alone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“I’m alone”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innovation card"/>
          <p:cNvSpPr/>
          <p:nvPr/>
        </p:nvSpPr>
        <p:spPr>
          <a:xfrm>
            <a:off x="8138160" y="132588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hree truths kept separate circle"/>
          <p:cNvSpPr/>
          <p:nvPr/>
        </p:nvSpPr>
        <p:spPr>
          <a:xfrm>
            <a:off x="8302752" y="158191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Three truths kept separa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036" y="1709196"/>
            <a:ext cx="275783" cy="2757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79408" y="143560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Three truths kept separate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979408" y="1746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Reported capacity ≠ referral accepted ≠ confirmed destination.</a:t>
            </a:r>
            <a:endParaRPr lang="en-US" sz="1100" dirty="0"/>
          </a:p>
        </p:txBody>
      </p:sp>
      <p:sp>
        <p:nvSpPr>
          <p:cNvPr id="9" name="innovation card"/>
          <p:cNvSpPr/>
          <p:nvPr/>
        </p:nvSpPr>
        <p:spPr>
          <a:xfrm>
            <a:off x="8138160" y="251460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xplainable score circle"/>
          <p:cNvSpPr/>
          <p:nvPr/>
        </p:nvSpPr>
        <p:spPr>
          <a:xfrm>
            <a:off x="8302752" y="277063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Explainable sco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036" y="2897916"/>
            <a:ext cx="275783" cy="27578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979408" y="26243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Explainable score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979408" y="293522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“Why this hospital?” checklist first; every score part shown.</a:t>
            </a:r>
            <a:endParaRPr lang="en-US" sz="1100" dirty="0"/>
          </a:p>
        </p:txBody>
      </p:sp>
      <p:sp>
        <p:nvSpPr>
          <p:cNvPr id="14" name="innovation card"/>
          <p:cNvSpPr/>
          <p:nvPr/>
        </p:nvSpPr>
        <p:spPr>
          <a:xfrm>
            <a:off x="8138160" y="370332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rivacy by design circle"/>
          <p:cNvSpPr/>
          <p:nvPr/>
        </p:nvSpPr>
        <p:spPr>
          <a:xfrm>
            <a:off x="8302752" y="3959352"/>
            <a:ext cx="530352" cy="530352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6" name="Privacy by desig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036" y="4086636"/>
            <a:ext cx="275783" cy="27578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79408" y="3813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Privacy by design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8979408" y="4123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Consent, masked IDs, audit log, deletion 24 h after hand-over.</a:t>
            </a:r>
            <a:endParaRPr lang="en-US" sz="1100" dirty="0"/>
          </a:p>
        </p:txBody>
      </p:sp>
      <p:sp>
        <p:nvSpPr>
          <p:cNvPr id="19" name="innovation card"/>
          <p:cNvSpPr/>
          <p:nvPr/>
        </p:nvSpPr>
        <p:spPr>
          <a:xfrm>
            <a:off x="8138160" y="489204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ffline-first circle"/>
          <p:cNvSpPr/>
          <p:nvPr/>
        </p:nvSpPr>
        <p:spPr>
          <a:xfrm>
            <a:off x="8302752" y="5148072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Offline-fir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036" y="5275356"/>
            <a:ext cx="275783" cy="27578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79408" y="50017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Offline-first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8979408" y="531266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engines run on server and phone; works on weak networks.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Live proof: when a hospital sets its ER to “Diverting”, it disappears from every citizen’s list within a second.</a:t>
            </a:r>
            <a:endParaRPr lang="en-US" sz="1300" dirty="0"/>
          </a:p>
        </p:txBody>
      </p:sp>
      <p:sp>
        <p:nvSpPr>
          <p:cNvPr id="25" name="innovation stat"/>
          <p:cNvSpPr/>
          <p:nvPr/>
        </p:nvSpPr>
        <p:spPr>
          <a:xfrm>
            <a:off x="548640" y="5532120"/>
            <a:ext cx="2331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85800" y="5577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1554480" y="55778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hospital status change reaches every citizen</a:t>
            </a:r>
            <a:endParaRPr lang="en-US" sz="1050" dirty="0"/>
          </a:p>
        </p:txBody>
      </p:sp>
      <p:sp>
        <p:nvSpPr>
          <p:cNvPr id="28" name="innovation stat"/>
          <p:cNvSpPr/>
          <p:nvPr/>
        </p:nvSpPr>
        <p:spPr>
          <a:xfrm>
            <a:off x="3035808" y="5532120"/>
            <a:ext cx="2331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3172968" y="5577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4041648" y="55778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no answer → next hospital asked</a:t>
            </a:r>
            <a:endParaRPr lang="en-US" sz="1050" dirty="0"/>
          </a:p>
        </p:txBody>
      </p:sp>
      <p:sp>
        <p:nvSpPr>
          <p:cNvPr id="31" name="innovation stat"/>
          <p:cNvSpPr/>
          <p:nvPr/>
        </p:nvSpPr>
        <p:spPr>
          <a:xfrm>
            <a:off x="5522976" y="5532120"/>
            <a:ext cx="233172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660136" y="5577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33" name="Text 26"/>
          <p:cNvSpPr txBox="1"/>
          <p:nvPr/>
        </p:nvSpPr>
        <p:spPr>
          <a:xfrm>
            <a:off x="6528816" y="55778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API keys needed for the maps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Impact and benefits</a:t>
            </a:r>
            <a:endParaRPr lang="en-US" sz="3400" dirty="0"/>
          </a:p>
        </p:txBody>
      </p:sp>
      <p:sp>
        <p:nvSpPr>
          <p:cNvPr id="3" name="impact card"/>
          <p:cNvSpPr/>
          <p:nvPr/>
        </p:nvSpPr>
        <p:spPr>
          <a:xfrm>
            <a:off x="548640" y="132588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ocial circle"/>
          <p:cNvSpPr/>
          <p:nvPr/>
        </p:nvSpPr>
        <p:spPr>
          <a:xfrm>
            <a:off x="731520" y="1508760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5" name="Soci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1622877"/>
            <a:ext cx="247254" cy="247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63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Social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Right care the first time; equal access for rural, elderly and Hindi-speaking citizens</a:t>
            </a:r>
            <a:endParaRPr lang="en-US" sz="1150" dirty="0"/>
          </a:p>
        </p:txBody>
      </p:sp>
      <p:sp>
        <p:nvSpPr>
          <p:cNvPr id="8" name="impact card"/>
          <p:cNvSpPr/>
          <p:nvPr/>
        </p:nvSpPr>
        <p:spPr>
          <a:xfrm>
            <a:off x="3063240" y="132588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conomic circle"/>
          <p:cNvSpPr/>
          <p:nvPr/>
        </p:nvSpPr>
        <p:spPr>
          <a:xfrm>
            <a:off x="3246120" y="150876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Econom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237" y="1622877"/>
            <a:ext cx="247254" cy="247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40480" y="1563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Economic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 repeat trips or wasted visits; better use of ICU beds and specialists</a:t>
            </a:r>
            <a:endParaRPr lang="en-US" sz="1150" dirty="0"/>
          </a:p>
        </p:txBody>
      </p:sp>
      <p:sp>
        <p:nvSpPr>
          <p:cNvPr id="13" name="impact card"/>
          <p:cNvSpPr/>
          <p:nvPr/>
        </p:nvSpPr>
        <p:spPr>
          <a:xfrm>
            <a:off x="5577840" y="132588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Governance circle"/>
          <p:cNvSpPr/>
          <p:nvPr/>
        </p:nvSpPr>
        <p:spPr>
          <a:xfrm>
            <a:off x="5760720" y="150876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Governanc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837" y="1622877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1563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Governance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76072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Live, audited view of emergency capacity for planning beds and ambulances</a:t>
            </a:r>
            <a:endParaRPr lang="en-US" sz="1150" dirty="0"/>
          </a:p>
        </p:txBody>
      </p:sp>
      <p:sp>
        <p:nvSpPr>
          <p:cNvPr id="18" name="impact card"/>
          <p:cNvSpPr/>
          <p:nvPr/>
        </p:nvSpPr>
        <p:spPr>
          <a:xfrm>
            <a:off x="548640" y="32004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Educational circle"/>
          <p:cNvSpPr/>
          <p:nvPr/>
        </p:nvSpPr>
        <p:spPr>
          <a:xfrm>
            <a:off x="731520" y="338328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Educationa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37" y="3497397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Educational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977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Safe first-aid steps, “not a diagnosis” clarity, awareness of Ayushman, ABHA, 108</a:t>
            </a:r>
            <a:endParaRPr lang="en-US" sz="1150" dirty="0"/>
          </a:p>
        </p:txBody>
      </p:sp>
      <p:sp>
        <p:nvSpPr>
          <p:cNvPr id="23" name="impact card"/>
          <p:cNvSpPr/>
          <p:nvPr/>
        </p:nvSpPr>
        <p:spPr>
          <a:xfrm>
            <a:off x="3063240" y="32004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User circle"/>
          <p:cNvSpPr/>
          <p:nvPr/>
        </p:nvSpPr>
        <p:spPr>
          <a:xfrm>
            <a:off x="3246120" y="338328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Us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0237" y="3497397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84048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246120" y="3977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One button, voice, bilingual, clear status and a family tracking link</a:t>
            </a:r>
            <a:endParaRPr lang="en-US" sz="1150" dirty="0"/>
          </a:p>
        </p:txBody>
      </p:sp>
      <p:sp>
        <p:nvSpPr>
          <p:cNvPr id="28" name="impact card"/>
          <p:cNvSpPr/>
          <p:nvPr/>
        </p:nvSpPr>
        <p:spPr>
          <a:xfrm>
            <a:off x="5577840" y="32004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Health system circle"/>
          <p:cNvSpPr/>
          <p:nvPr/>
        </p:nvSpPr>
        <p:spPr>
          <a:xfrm>
            <a:off x="5760720" y="3383280"/>
            <a:ext cx="475488" cy="475488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30" name="Health system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4837" y="3497397"/>
            <a:ext cx="247254" cy="24725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35508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Health system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760720" y="3977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Fewer surprise arrivals, less ER crowding, fewer inter-hospital transfers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1206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How we will measure it in the pilot</a:t>
            </a:r>
            <a:endParaRPr lang="en-US" sz="1300" dirty="0"/>
          </a:p>
        </p:txBody>
      </p:sp>
      <p:sp>
        <p:nvSpPr>
          <p:cNvPr id="34" name="Time to definitive care circle"/>
          <p:cNvSpPr/>
          <p:nvPr/>
        </p:nvSpPr>
        <p:spPr>
          <a:xfrm>
            <a:off x="548640" y="5532120"/>
            <a:ext cx="384048" cy="384048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35" name="Time to definitive car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2" y="5624292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05840" y="5504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Time to definitive care</a:t>
            </a:r>
            <a:endParaRPr lang="en-US" sz="1100" dirty="0"/>
          </a:p>
        </p:txBody>
      </p:sp>
      <p:sp>
        <p:nvSpPr>
          <p:cNvPr id="37" name="Secondary transfers avoided circle"/>
          <p:cNvSpPr/>
          <p:nvPr/>
        </p:nvSpPr>
        <p:spPr>
          <a:xfrm>
            <a:off x="2441448" y="5532120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8" name="Secondary transfers avoided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3620" y="5624292"/>
            <a:ext cx="199705" cy="19970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2898648" y="5504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Secondary transfers avoided</a:t>
            </a:r>
            <a:endParaRPr lang="en-US" sz="1100" dirty="0"/>
          </a:p>
        </p:txBody>
      </p:sp>
      <p:sp>
        <p:nvSpPr>
          <p:cNvPr id="40" name="Referral acceptance time circle"/>
          <p:cNvSpPr/>
          <p:nvPr/>
        </p:nvSpPr>
        <p:spPr>
          <a:xfrm>
            <a:off x="4334256" y="553212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1" name="Referral acceptance tim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6428" y="5624292"/>
            <a:ext cx="199705" cy="199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791456" y="5504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Referral acceptance time</a:t>
            </a:r>
            <a:endParaRPr lang="en-US" sz="1100" dirty="0"/>
          </a:p>
        </p:txBody>
      </p:sp>
      <p:sp>
        <p:nvSpPr>
          <p:cNvPr id="43" name="Data freshness (&lt; 15 min) circle"/>
          <p:cNvSpPr/>
          <p:nvPr/>
        </p:nvSpPr>
        <p:spPr>
          <a:xfrm>
            <a:off x="6227064" y="55321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4" name="Data freshness (&lt; 15 min)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9236" y="5624292"/>
            <a:ext cx="199705" cy="19970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684264" y="5504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 freshness (&lt; 15 min)</a:t>
            </a:r>
            <a:endParaRPr lang="en-US" sz="1100" dirty="0"/>
          </a:p>
        </p:txBody>
      </p:sp>
      <p:sp>
        <p:nvSpPr>
          <p:cNvPr id="46" name="stakeholder panel"/>
          <p:cNvSpPr/>
          <p:nvPr/>
        </p:nvSpPr>
        <p:spPr>
          <a:xfrm>
            <a:off x="8275320" y="1325880"/>
            <a:ext cx="3337560" cy="4846320"/>
          </a:xfrm>
          <a:prstGeom prst="roundRect">
            <a:avLst>
              <a:gd name="adj" fmla="val 328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850392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Benefits by stakeholder</a:t>
            </a:r>
            <a:endParaRPr lang="en-US" sz="1600" dirty="0"/>
          </a:p>
        </p:txBody>
      </p:sp>
      <p:pic>
        <p:nvPicPr>
          <p:cNvPr id="48" name="stakeholder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2208" y="2157984"/>
            <a:ext cx="292608" cy="292608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8961120" y="210312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Treated sooner, bay ready</a:t>
            </a:r>
            <a:endParaRPr lang="en-US" sz="1200" dirty="0"/>
          </a:p>
        </p:txBody>
      </p:sp>
      <p:pic>
        <p:nvPicPr>
          <p:cNvPr id="50" name="stakeholder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2208" y="2816352"/>
            <a:ext cx="292608" cy="29260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961120" y="276148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Family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Live link, no medical data</a:t>
            </a:r>
            <a:endParaRPr lang="en-US" sz="1200" dirty="0"/>
          </a:p>
        </p:txBody>
      </p:sp>
      <p:pic>
        <p:nvPicPr>
          <p:cNvPr id="52" name="stakeholder 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2208" y="3474720"/>
            <a:ext cx="292608" cy="292608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8961120" y="3419856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Advance notice + AI note</a:t>
            </a:r>
            <a:endParaRPr lang="en-US" sz="1200" dirty="0"/>
          </a:p>
        </p:txBody>
      </p:sp>
      <p:pic>
        <p:nvPicPr>
          <p:cNvPr id="54" name="stakeholder 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22208" y="4133088"/>
            <a:ext cx="292608" cy="292608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8961120" y="4078224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Audited capacity data</a:t>
            </a:r>
            <a:endParaRPr lang="en-US" sz="1200" dirty="0"/>
          </a:p>
        </p:txBody>
      </p:sp>
      <p:pic>
        <p:nvPicPr>
          <p:cNvPr id="56" name="stakeholder 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2208" y="4791456"/>
            <a:ext cx="292608" cy="292608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8961120" y="473659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108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Destination already accepted</a:t>
            </a:r>
            <a:endParaRPr lang="en-US" sz="1200" dirty="0"/>
          </a:p>
        </p:txBody>
      </p:sp>
      <p:pic>
        <p:nvPicPr>
          <p:cNvPr id="58" name="stakeholder 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22208" y="5449824"/>
            <a:ext cx="292608" cy="292608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8961120" y="53949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ASHA workers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Raise an emergency by voice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demo: try it yourself in 3 minutes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3533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Hospital staff signs in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8249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Bansal Hospital → BANSAL-ED01 → OTP shown on screen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505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Speak the emergency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7977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“Papa ko seene mein dard hai, pasina aa raha hai, 62 saal”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5478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See what AI understood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87705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May indicate heart attack · CRITICAL; open “How was this decided?”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0F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6451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Find hospitals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97433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Open “Why this hospital?” and tap the match score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137160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135331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Prove the data is live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168249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Set ER to Diverting: the hospital vanishes from the phone instantly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46888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24505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the hospital to accept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77977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Staff reads the SBAR note and accepts with bay Resus-02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5661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354787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Request the ambulance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387705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Watch it move on both live maps; preview the family link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66344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46451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Try “I’m alone”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497433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With a saved contact, all five steps run by themselves</a:t>
            </a:r>
            <a:endParaRPr lang="en-US" sz="1150" dirty="0"/>
          </a:p>
        </p:txBody>
      </p:sp>
      <p:sp>
        <p:nvSpPr>
          <p:cNvPr id="27" name="links panel"/>
          <p:cNvSpPr/>
          <p:nvPr/>
        </p:nvSpPr>
        <p:spPr>
          <a:xfrm>
            <a:off x="8503920" y="1325880"/>
            <a:ext cx="3108960" cy="489204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3252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Open it now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</a:rPr>
              <a:t>Live app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medreach-2.onrender.com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</a:rPr>
              <a:t>Report emergency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/report  (no login)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73252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</a:rPr>
              <a:t>Citizen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/citizen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4069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</a:rPr>
              <a:t>Hospital dashboard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/hospital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754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</a:rPr>
              <a:t>Source code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github.com/prakharporwal518-collab/Medreach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732520" y="5440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</a:rPr>
              <a:t>Offline demo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demo/medreach-prototype.html (one file)</a:t>
            </a:r>
            <a:endParaRPr lang="en-US" sz="1150" dirty="0"/>
          </a:p>
        </p:txBody>
      </p:sp>
      <p:sp>
        <p:nvSpPr>
          <p:cNvPr id="35" name="demo note"/>
          <p:cNvSpPr/>
          <p:nvPr/>
        </p:nvSpPr>
        <p:spPr>
          <a:xfrm>
            <a:off x="548640" y="5852160"/>
            <a:ext cx="7726680" cy="411480"/>
          </a:xfrm>
          <a:prstGeom prst="roundRect">
            <a:avLst>
              <a:gd name="adj" fmla="val 26667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8521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350F"/>
                </a:solidFill>
              </a:rPr>
              <a:t>Demo mode: hospital figures, SMS and ambulance dispatch are simulated and clearly labelled in the app.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Why should Medreach be selected?</a:t>
            </a:r>
            <a:endParaRPr lang="en-US" sz="3400" dirty="0"/>
          </a:p>
        </p:txBody>
      </p:sp>
      <p:sp>
        <p:nvSpPr>
          <p:cNvPr id="3" name="reason card"/>
          <p:cNvSpPr/>
          <p:nvPr/>
        </p:nvSpPr>
        <p:spPr>
          <a:xfrm>
            <a:off x="548640" y="1371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4" name="Real, urgent problem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5" name="Real, urgent proble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Real, urgent problem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Solves a life-or-death gap for citizens of Madhya Pradesh: the right hospital, the first time, with the bed confirmed before travel.</a:t>
            </a:r>
            <a:endParaRPr lang="en-US" sz="1250" dirty="0"/>
          </a:p>
        </p:txBody>
      </p:sp>
      <p:sp>
        <p:nvSpPr>
          <p:cNvPr id="8" name="reason card"/>
          <p:cNvSpPr/>
          <p:nvPr/>
        </p:nvSpPr>
        <p:spPr>
          <a:xfrm>
            <a:off x="4270248" y="1371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9" name="Working, deployed product circle"/>
          <p:cNvSpPr/>
          <p:nvPr/>
        </p:nvSpPr>
        <p:spPr>
          <a:xfrm>
            <a:off x="4498848" y="1600200"/>
            <a:ext cx="548640" cy="54864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0" name="Working, deployed produc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522" y="17318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84648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Working, deployed product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98848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Both portals live on the web today, not slides or a mock-up. Judges can try the full flow in 3 minutes.</a:t>
            </a:r>
            <a:endParaRPr lang="en-US" sz="1250" dirty="0"/>
          </a:p>
        </p:txBody>
      </p:sp>
      <p:sp>
        <p:nvSpPr>
          <p:cNvPr id="13" name="reason card"/>
          <p:cNvSpPr/>
          <p:nvPr/>
        </p:nvSpPr>
        <p:spPr>
          <a:xfrm>
            <a:off x="7991856" y="1371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4" name="All 7 technologies circle"/>
          <p:cNvSpPr/>
          <p:nvPr/>
        </p:nvSpPr>
        <p:spPr>
          <a:xfrm>
            <a:off x="8220456" y="16002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All 7 technologi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130" y="17318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06256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All 7 technologies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220456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Generative AI, voice, vision, OCR, predictive and conversational AI in a mobile app, each in working code.</a:t>
            </a:r>
            <a:endParaRPr lang="en-US" sz="1250" dirty="0"/>
          </a:p>
        </p:txBody>
      </p:sp>
      <p:sp>
        <p:nvSpPr>
          <p:cNvPr id="18" name="reason card"/>
          <p:cNvSpPr/>
          <p:nvPr/>
        </p:nvSpPr>
        <p:spPr>
          <a:xfrm>
            <a:off x="548640" y="33375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9" name="Safe &amp; explainable AI circle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Safe &amp; explainable A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6978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Safe &amp; explainable AI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AI can only raise urgency; a tested engine decides and explains why. Never a diagnosis; 108 always one tap away.</a:t>
            </a:r>
            <a:endParaRPr lang="en-US" sz="1250" dirty="0"/>
          </a:p>
        </p:txBody>
      </p:sp>
      <p:sp>
        <p:nvSpPr>
          <p:cNvPr id="23" name="reason card"/>
          <p:cNvSpPr/>
          <p:nvPr/>
        </p:nvSpPr>
        <p:spPr>
          <a:xfrm>
            <a:off x="4270248" y="33375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24" name="Privacy by design circle"/>
          <p:cNvSpPr/>
          <p:nvPr/>
        </p:nvSpPr>
        <p:spPr>
          <a:xfrm>
            <a:off x="4498848" y="356616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Privacy by desig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522" y="369783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84648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Privacy by design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498848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Consent, masked IDs, staff OTP and roles, audit logs and 24-hour deletion; aligned with the DPDP Act 2023.</a:t>
            </a:r>
            <a:endParaRPr lang="en-US" sz="1250" dirty="0"/>
          </a:p>
        </p:txBody>
      </p:sp>
      <p:sp>
        <p:nvSpPr>
          <p:cNvPr id="28" name="reason card"/>
          <p:cNvSpPr/>
          <p:nvPr/>
        </p:nvSpPr>
        <p:spPr>
          <a:xfrm>
            <a:off x="7991856" y="33375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29" name="Ready to scale circle"/>
          <p:cNvSpPr/>
          <p:nvPr/>
        </p:nvSpPr>
        <p:spPr>
          <a:xfrm>
            <a:off x="8220456" y="35661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0" name="Ready to sca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130" y="369783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06256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Ready to scale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220456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Low-cost open stack with a clear pilot plan and integration path to HFR, HMIS, 108 and ABDM.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Built for Madhya Pradesh first: Hindi voice, Ayushman / ABHA awareness, 108 always one tap away, and real Bhopal-region hospitals in the demo.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Conclusion: the right hospital, the first time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In an emergency, the question is not “where is the nearest hospital?” but “which hospital can treat this now, and has it said yes?”. Medreach answers it before the family leaves home.</a:t>
            </a:r>
            <a:endParaRPr lang="en-US" sz="1600" dirty="0"/>
          </a:p>
        </p:txBody>
      </p:sp>
      <p:sp>
        <p:nvSpPr>
          <p:cNvPr id="4" name="takeaway card"/>
          <p:cNvSpPr/>
          <p:nvPr/>
        </p:nvSpPr>
        <p:spPr>
          <a:xfrm>
            <a:off x="548640" y="22402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5" name="The problem circle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The proble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6005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Families go to the nearest hospital, find no specialist or bed, and lose the golden hour travelling again.</a:t>
            </a:r>
            <a:endParaRPr lang="en-US" sz="1250" dirty="0"/>
          </a:p>
        </p:txBody>
      </p:sp>
      <p:sp>
        <p:nvSpPr>
          <p:cNvPr id="9" name="takeaway card"/>
          <p:cNvSpPr/>
          <p:nvPr/>
        </p:nvSpPr>
        <p:spPr>
          <a:xfrm>
            <a:off x="4270248" y="22402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0" name="Our solution circle"/>
          <p:cNvSpPr/>
          <p:nvPr/>
        </p:nvSpPr>
        <p:spPr>
          <a:xfrm>
            <a:off x="4498848" y="2468880"/>
            <a:ext cx="548640" cy="54864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1" name="Our solu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522" y="26005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84648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</a:rPr>
              <a:t>Our solution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3154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AI understands the emergency; verified, time-stamped data finds a capable hospital; the hospital accepts before travel.</a:t>
            </a:r>
            <a:endParaRPr lang="en-US" sz="1250" dirty="0"/>
          </a:p>
        </p:txBody>
      </p:sp>
      <p:sp>
        <p:nvSpPr>
          <p:cNvPr id="14" name="takeaway card"/>
          <p:cNvSpPr/>
          <p:nvPr/>
        </p:nvSpPr>
        <p:spPr>
          <a:xfrm>
            <a:off x="7991856" y="22402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5" name="The proof circle"/>
          <p:cNvSpPr/>
          <p:nvPr/>
        </p:nvSpPr>
        <p:spPr>
          <a:xfrm>
            <a:off x="8220456" y="246888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The proof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130" y="26005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06256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</a:rPr>
              <a:t>The proof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0456" y="3154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Deployed and working today: two portals, live maps, all 7 technologies, 51 automated tests, privacy by design.</a:t>
            </a:r>
            <a:endParaRPr lang="en-US" sz="1250" dirty="0"/>
          </a:p>
        </p:txBody>
      </p:sp>
      <p:sp>
        <p:nvSpPr>
          <p:cNvPr id="19" name="ask band"/>
          <p:cNvSpPr/>
          <p:nvPr/>
        </p:nvSpPr>
        <p:spPr>
          <a:xfrm>
            <a:off x="548640" y="44805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ask icon circle"/>
          <p:cNvSpPr/>
          <p:nvPr/>
        </p:nvSpPr>
        <p:spPr>
          <a:xfrm>
            <a:off x="731520" y="4599432"/>
            <a:ext cx="548640" cy="54864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21" name="as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473110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480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ask: </a:t>
            </a:r>
            <a:pPr indent="0" marL="0">
              <a:buNone/>
            </a:pPr>
            <a:r>
              <a:rPr lang="en-US" sz="1400" dirty="0">
                <a:solidFill>
                  <a:srgbClr val="ECFEFF"/>
                </a:solidFill>
              </a:rPr>
              <a:t>support a 3-month pilot with Bhopal hospitals, then integration with the Health Facility Registry, hospital HMIS, the 108 control room and ABDM for a state-wide rollout.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486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</a:rPr>
              <a:t>Live demo: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9F6E4"/>
                </a:solidFill>
              </a:rPr>
              <a:t>medreach-2.onrender.com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</a:rPr>
              <a:t>Code: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9F6E4"/>
                </a:solidFill>
              </a:rPr>
              <a:t>github.com/prakharporwal518-collab/Medreach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</a:rPr>
              <a:t>     Hospital login: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Bansal Hospital · BANSAL-ED01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8961120" y="5486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reach">
  <a:themeElements>
    <a:clrScheme name="Medreach">
      <a:dk1>
        <a:srgbClr val="0B1427"/>
      </a:dk1>
      <a:lt1>
        <a:srgbClr val="FFFFFF"/>
      </a:lt1>
      <a:dk2>
        <a:srgbClr val="334155"/>
      </a:dk2>
      <a:lt2>
        <a:srgbClr val="EEF4F7"/>
      </a:lt2>
      <a:accent1>
        <a:srgbClr val="0F9488"/>
      </a:accent1>
      <a:accent2>
        <a:srgbClr val="E11D48"/>
      </a:accent2>
      <a:accent3>
        <a:srgbClr val="2563EB"/>
      </a:accent3>
      <a:accent4>
        <a:srgbClr val="D97706"/>
      </a:accent4>
      <a:accent5>
        <a:srgbClr val="7C3AED"/>
      </a:accent5>
      <a:accent6>
        <a:srgbClr val="16A34A"/>
      </a:accent6>
      <a:hlink>
        <a:srgbClr val="0F766E"/>
      </a:hlink>
      <a:folHlink>
        <a:srgbClr val="7C3AED"/>
      </a:folHlink>
    </a:clrScheme>
    <a:fontScheme name="Medrea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Team Medreach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Medreach – Right hospital, right now</dc:title>
  <dc:subject>PptxGenJS Presentation</dc:subject>
  <dc:creator>Team Medreach</dc:creator>
  <cp:lastModifiedBy>Team Medreach</cp:lastModifiedBy>
  <cp:revision>1</cp:revision>
  <dcterms:created xsi:type="dcterms:W3CDTF">2026-10-07T13:11:04Z</dcterms:created>
  <dcterms:modified xsi:type="dcterms:W3CDTF">2026-10-07T13:11:04Z</dcterms:modified>
</cp:coreProperties>
</file>