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0bf303c-a45d-6ace-98de-2587b66b87b2}">
          <p14:sldIdLst>
            <p14:sldId id="256"/>
          </p14:sldIdLst>
        </p14:section>
        <p14:section name="Scenario" id="{9ee18ab0-8e54-b402-7c79-56c1d4b6576d}">
          <p14:sldIdLst>
            <p14:sldId id="257"/>
          </p14:sldIdLst>
        </p14:section>
        <p14:section name="Overview" id="{c7d7168b-d0d3-d2c3-d50a-74c8c0d9ee18}">
          <p14:sldIdLst>
            <p14:sldId id="258"/>
          </p14:sldIdLst>
        </p14:section>
        <p14:section name="Solution" id="{1609ead4-729e-9bff-fbbb-517bb8a6a27e}">
          <p14:sldIdLst>
            <p14:sldId id="259"/>
          </p14:sldIdLst>
        </p14:section>
        <p14:section name="Technical approach" id="{b7f898b7-cca7-5c2d-ac68-4c21a0c4f4e0}">
          <p14:sldIdLst>
            <p14:sldId id="260"/>
          </p14:sldIdLst>
        </p14:section>
        <p14:section name="Implementation" id="{61fbfab7-d11e-fe96-9646-52cab051b66c}">
          <p14:sldIdLst>
            <p14:sldId id="261"/>
          </p14:sldIdLst>
        </p14:section>
        <p14:section name="Innovation" id="{ad1fb23c-7319-d289-39dd-6395c4d09b47}">
          <p14:sldIdLst>
            <p14:sldId id="262"/>
          </p14:sldIdLst>
        </p14:section>
        <p14:section name="Impact" id="{13c876b9-8116-d019-b577-0c4b7f20bc62}">
          <p14:sldIdLst>
            <p14:sldId id="263"/>
          </p14:sldIdLst>
        </p14:section>
        <p14:section name="Why us" id="{00a2d16c-1947-b9fe-ab90-00b073f3ea8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Medreach finds the right hospital for an emergency, gets the hospital to accept before the family travels, and hands the case to the 108 ambulance service. Everything in this deck is from the working prototype that is live at medreach-2.onrender.com.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illustrative story. On the left, the usual chain of delays. On the right, the same emergency through Medreach; minute marks are illustrative, the screen on the right is a real prototype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Medreach is the coordination layer between the three parties every emergency needs. It does not replace 108 or the hospital – it connects them with live, verified information. Verify the MoRTH statistic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the phones below are the real screens for steps 1, 2, 3, 5 and 6. The red step is the national 108/102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arrow on the left is a channel we have built; every box on the right is an integration with a defined contract. The 108 contract is HMAC-signed both ways and is already exercised by our practice control room. AI is optional: if the AI key is missing, rule-based triage keeps working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a real screen. The control-room screenshot is from our deployed site; the others were captured from the same code. Demo data is clearly labelled as simulated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families either call around or use map apps; neither tells you whether the hospital can actually treat you now, and neither talks to 108. These six ideas are what we built that nobody else combines.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numbers are design guarantees built into the product, not estimates. Benefits reach all three sides of an emergency, and the 108 contract lets any state adopt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live demo: open the QR link, report an emergency in Hindi, accept it on the hospital dashboard and watch the 108 control room dispatch the ambulance.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R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8229600" cy="256032"/>
          </a:xfrm>
          <a:prstGeom prst="rect">
            <a:avLst/>
          </a:prstGeom>
          <a:noFill/>
          <a:ln/>
        </p:spPr>
        <p:txBody>
          <a:bodyPr wrap="square" lIns="0" tIns="0" rIns="0" bIns="0" rtlCol="0" anchor="ctr"/>
          <a:lstStyle/>
          <a:p>
            <a:pPr indent="0" marL="0">
              <a:buNone/>
            </a:pPr>
            <a:r>
              <a:rPr lang="en-US" sz="900" dirty="0">
                <a:solidFill>
                  <a:srgbClr val="64748B"/>
                </a:solidFill>
              </a:rPr>
              <a:t>Medreach  ·  MPOnline Idea &amp; Innovation Hackathon 2026  ·  Challenge 5, Healthcare  ·  medreach-2.onrender.com</a:t>
            </a:r>
            <a:endParaRPr lang="en-US" sz="9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R_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slideLayout" Target="../slideLayouts/slideLayout2.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2.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mbulance photo" descr="/tmp/claude-0/-home-user-Sehat-Setu/b06e8423-ed6e-57c3-bbb1-ac94b2a1720d/scratchpad/ppt/crops/cover-white.jpg">    </p:cNvPr>
          <p:cNvPicPr>
            <a:picLocks noChangeAspect="1"/>
          </p:cNvPicPr>
          <p:nvPr/>
        </p:nvPicPr>
        <p:blipFill>
          <a:blip r:embed="rId1"/>
          <a:stretch>
            <a:fillRect/>
          </a:stretch>
        </p:blipFill>
        <p:spPr>
          <a:xfrm>
            <a:off x="6949440" y="0"/>
            <a:ext cx="5242255" cy="6858000"/>
          </a:xfrm>
          <a:prstGeom prst="rect">
            <a:avLst/>
          </a:prstGeom>
        </p:spPr>
      </p:pic>
      <p:sp>
        <p:nvSpPr>
          <p:cNvPr id="3" name="live tracking screen bezel"/>
          <p:cNvSpPr/>
          <p:nvPr/>
        </p:nvSpPr>
        <p:spPr>
          <a:xfrm>
            <a:off x="8668512" y="1124712"/>
            <a:ext cx="3022435" cy="4608576"/>
          </a:xfrm>
          <a:prstGeom prst="roundRect">
            <a:avLst>
              <a:gd name="adj" fmla="val 3630"/>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4" name="live tracking screen" descr="/tmp/claude-0/-home-user-Sehat-Setu/b06e8423-ed6e-57c3-bbb1-ac94b2a1720d/scratchpad/ppt9/shots/rep-5-tracking.png">    </p:cNvPr>
          <p:cNvPicPr>
            <a:picLocks noChangeAspect="1"/>
          </p:cNvPicPr>
          <p:nvPr/>
        </p:nvPicPr>
        <p:blipFill>
          <a:blip r:embed="rId2"/>
          <a:srcRect l="0" r="0" t="0" b="0"/>
          <a:stretch/>
        </p:blipFill>
        <p:spPr>
          <a:xfrm>
            <a:off x="8732520" y="1188720"/>
            <a:ext cx="2894419" cy="4480560"/>
          </a:xfrm>
          <a:prstGeom prst="rect">
            <a:avLst/>
          </a:prstGeom>
        </p:spPr>
      </p:pic>
      <p:sp>
        <p:nvSpPr>
          <p:cNvPr id="5" name="Text 1"/>
          <p:cNvSpPr txBox="1"/>
          <p:nvPr/>
        </p:nvSpPr>
        <p:spPr>
          <a:xfrm>
            <a:off x="548640" y="274320"/>
            <a:ext cx="45720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01  INTRODUCTION</a:t>
            </a:r>
            <a:endParaRPr lang="en-US" sz="1100" dirty="0"/>
          </a:p>
        </p:txBody>
      </p:sp>
      <p:pic>
        <p:nvPicPr>
          <p:cNvPr id="6" name="logo" descr="preencoded.png">    </p:cNvPr>
          <p:cNvPicPr>
            <a:picLocks noChangeAspect="1"/>
          </p:cNvPicPr>
          <p:nvPr/>
        </p:nvPicPr>
        <p:blipFill>
          <a:blip r:embed="rId3"/>
          <a:stretch>
            <a:fillRect/>
          </a:stretch>
        </p:blipFill>
        <p:spPr>
          <a:xfrm>
            <a:off x="548640" y="685800"/>
            <a:ext cx="566928" cy="566928"/>
          </a:xfrm>
          <a:prstGeom prst="rect">
            <a:avLst/>
          </a:prstGeom>
        </p:spPr>
      </p:pic>
      <p:sp>
        <p:nvSpPr>
          <p:cNvPr id="7" name="Text 2"/>
          <p:cNvSpPr txBox="1"/>
          <p:nvPr/>
        </p:nvSpPr>
        <p:spPr>
          <a:xfrm>
            <a:off x="1261872" y="822960"/>
            <a:ext cx="3657600" cy="365760"/>
          </a:xfrm>
          <a:prstGeom prst="rect">
            <a:avLst/>
          </a:prstGeom>
          <a:noFill/>
          <a:ln/>
        </p:spPr>
        <p:txBody>
          <a:bodyPr wrap="square" lIns="0" tIns="0" rIns="0" bIns="0" rtlCol="0" anchor="t"/>
          <a:lstStyle/>
          <a:p>
            <a:pPr indent="0" marL="0">
              <a:buNone/>
            </a:pPr>
            <a:r>
              <a:rPr lang="en-US" sz="1700" b="1" spc="300" kern="0" dirty="0">
                <a:solidFill>
                  <a:srgbClr val="0F172A"/>
                </a:solidFill>
                <a:latin typeface="Calibri" pitchFamily="34" charset="0"/>
                <a:ea typeface="Calibri" pitchFamily="34" charset="-122"/>
                <a:cs typeface="Calibri" pitchFamily="34" charset="-120"/>
              </a:rPr>
              <a:t>MEDREACH</a:t>
            </a:r>
            <a:endParaRPr lang="en-US" sz="1700" dirty="0"/>
          </a:p>
        </p:txBody>
      </p:sp>
      <p:sp>
        <p:nvSpPr>
          <p:cNvPr id="8" name="Text 3"/>
          <p:cNvSpPr txBox="1"/>
          <p:nvPr/>
        </p:nvSpPr>
        <p:spPr>
          <a:xfrm>
            <a:off x="548640" y="1463040"/>
            <a:ext cx="6217920" cy="914400"/>
          </a:xfrm>
          <a:prstGeom prst="rect">
            <a:avLst/>
          </a:prstGeom>
          <a:noFill/>
          <a:ln/>
        </p:spPr>
        <p:txBody>
          <a:bodyPr wrap="square" lIns="0" tIns="0" rIns="0" bIns="0" rtlCol="0" anchor="t"/>
          <a:lstStyle/>
          <a:p>
            <a:pPr indent="0" marL="0">
              <a:buNone/>
            </a:pPr>
            <a:r>
              <a:rPr lang="en-US" sz="5800" b="1" dirty="0">
                <a:solidFill>
                  <a:srgbClr val="0F172A"/>
                </a:solidFill>
                <a:latin typeface="Arial" pitchFamily="34" charset="0"/>
                <a:ea typeface="Arial" pitchFamily="34" charset="-122"/>
                <a:cs typeface="Arial" pitchFamily="34" charset="-120"/>
              </a:rPr>
              <a:t>Medreach</a:t>
            </a:r>
            <a:endParaRPr lang="en-US" sz="5800" dirty="0"/>
          </a:p>
        </p:txBody>
      </p:sp>
      <p:sp>
        <p:nvSpPr>
          <p:cNvPr id="9" name="Text 4"/>
          <p:cNvSpPr txBox="1"/>
          <p:nvPr/>
        </p:nvSpPr>
        <p:spPr>
          <a:xfrm>
            <a:off x="548640" y="2395728"/>
            <a:ext cx="6309360" cy="868680"/>
          </a:xfrm>
          <a:prstGeom prst="rect">
            <a:avLst/>
          </a:prstGeom>
          <a:noFill/>
          <a:ln/>
        </p:spPr>
        <p:txBody>
          <a:bodyPr wrap="square" lIns="0" tIns="0" rIns="0" bIns="0" rtlCol="0" anchor="t"/>
          <a:lstStyle/>
          <a:p>
            <a:pPr indent="0" marL="0">
              <a:buNone/>
            </a:pPr>
            <a:r>
              <a:rPr lang="en-US" sz="2500" b="1" dirty="0">
                <a:solidFill>
                  <a:srgbClr val="0F172A"/>
                </a:solidFill>
                <a:latin typeface="Arial" pitchFamily="34" charset="0"/>
                <a:ea typeface="Arial" pitchFamily="34" charset="-122"/>
                <a:cs typeface="Arial" pitchFamily="34" charset="-120"/>
              </a:rPr>
              <a:t>The right hospital, right now –</a:t>
            </a:r>
            <a:endParaRPr lang="en-US" sz="2500" dirty="0"/>
          </a:p>
          <a:p>
            <a:pPr indent="0" marL="0">
              <a:buNone/>
            </a:pPr>
            <a:r>
              <a:rPr lang="en-US" sz="2500" b="1" dirty="0">
                <a:solidFill>
                  <a:srgbClr val="0E7490"/>
                </a:solidFill>
                <a:latin typeface="Arial" pitchFamily="34" charset="0"/>
                <a:ea typeface="Arial" pitchFamily="34" charset="-122"/>
                <a:cs typeface="Arial" pitchFamily="34" charset="-120"/>
              </a:rPr>
              <a:t>confirmed before you leave home</a:t>
            </a:r>
            <a:endParaRPr lang="en-US" sz="2500" dirty="0"/>
          </a:p>
        </p:txBody>
      </p:sp>
      <p:sp>
        <p:nvSpPr>
          <p:cNvPr id="10" name="Text 5"/>
          <p:cNvSpPr txBox="1"/>
          <p:nvPr/>
        </p:nvSpPr>
        <p:spPr>
          <a:xfrm>
            <a:off x="548640" y="3401568"/>
            <a:ext cx="6126480" cy="5943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AI-powered emergency coordination for </a:t>
            </a:r>
            <a:pPr indent="0" marL="0">
              <a:buNone/>
            </a:pPr>
            <a:r>
              <a:rPr lang="en-US" sz="1500" b="1" dirty="0">
                <a:solidFill>
                  <a:srgbClr val="0E7490"/>
                </a:solidFill>
                <a:latin typeface="Calibri" pitchFamily="34" charset="0"/>
                <a:ea typeface="Calibri" pitchFamily="34" charset="-122"/>
                <a:cs typeface="Calibri" pitchFamily="34" charset="-120"/>
              </a:rPr>
              <a:t>Madhya Pradesh</a:t>
            </a:r>
            <a:pPr indent="0" marL="0">
              <a:buNone/>
            </a:pPr>
            <a:r>
              <a:rPr lang="en-US" sz="1500" dirty="0">
                <a:solidFill>
                  <a:srgbClr val="334155"/>
                </a:solidFill>
                <a:latin typeface="Calibri" pitchFamily="34" charset="0"/>
                <a:ea typeface="Calibri" pitchFamily="34" charset="-122"/>
                <a:cs typeface="Calibri" pitchFamily="34" charset="-120"/>
              </a:rPr>
              <a:t>, connected to the </a:t>
            </a:r>
            <a:pPr indent="0" marL="0">
              <a:buNone/>
            </a:pPr>
            <a:r>
              <a:rPr lang="en-US" sz="1500" b="1" dirty="0">
                <a:solidFill>
                  <a:srgbClr val="DC2626"/>
                </a:solidFill>
                <a:latin typeface="Calibri" pitchFamily="34" charset="0"/>
                <a:ea typeface="Calibri" pitchFamily="34" charset="-122"/>
                <a:cs typeface="Calibri" pitchFamily="34" charset="-120"/>
              </a:rPr>
              <a:t>108 / 102 national ambulance services</a:t>
            </a:r>
            <a:pPr indent="0" marL="0">
              <a:buNone/>
            </a:pPr>
            <a:r>
              <a:rPr lang="en-US" sz="1500" dirty="0">
                <a:solidFill>
                  <a:srgbClr val="334155"/>
                </a:solidFill>
                <a:latin typeface="Calibri" pitchFamily="34" charset="0"/>
                <a:ea typeface="Calibri" pitchFamily="34" charset="-122"/>
                <a:cs typeface="Calibri" pitchFamily="34" charset="-120"/>
              </a:rPr>
              <a:t>.</a:t>
            </a:r>
            <a:endParaRPr lang="en-US" sz="1500" dirty="0"/>
          </a:p>
        </p:txBody>
      </p:sp>
      <p:sp>
        <p:nvSpPr>
          <p:cNvPr id="11" name="icon tile"/>
          <p:cNvSpPr/>
          <p:nvPr/>
        </p:nvSpPr>
        <p:spPr>
          <a:xfrm>
            <a:off x="548640" y="4160520"/>
            <a:ext cx="548640" cy="548640"/>
          </a:xfrm>
          <a:prstGeom prst="roundRect">
            <a:avLst>
              <a:gd name="adj" fmla="val 16667"/>
            </a:avLst>
          </a:prstGeom>
          <a:solidFill>
            <a:srgbClr val="E0F2FE"/>
          </a:solidFill>
          <a:ln w="6350">
            <a:solidFill>
              <a:srgbClr val="E0F2FE"/>
            </a:solidFill>
            <a:prstDash val="solid"/>
          </a:ln>
        </p:spPr>
      </p:sp>
      <p:pic>
        <p:nvPicPr>
          <p:cNvPr id="12" name="icon" descr="preencoded.png">    </p:cNvPr>
          <p:cNvPicPr>
            <a:picLocks noChangeAspect="1"/>
          </p:cNvPicPr>
          <p:nvPr/>
        </p:nvPicPr>
        <p:blipFill>
          <a:blip r:embed="rId4"/>
          <a:stretch>
            <a:fillRect/>
          </a:stretch>
        </p:blipFill>
        <p:spPr>
          <a:xfrm>
            <a:off x="658368" y="4270248"/>
            <a:ext cx="329184" cy="329184"/>
          </a:xfrm>
          <a:prstGeom prst="rect">
            <a:avLst/>
          </a:prstGeom>
        </p:spPr>
      </p:pic>
      <p:sp>
        <p:nvSpPr>
          <p:cNvPr id="13" name="Text 7"/>
          <p:cNvSpPr txBox="1"/>
          <p:nvPr/>
        </p:nvSpPr>
        <p:spPr>
          <a:xfrm>
            <a:off x="1234440" y="4178808"/>
            <a:ext cx="2331720" cy="54864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Speak in Hindi or English</a:t>
            </a:r>
            <a:endParaRPr lang="en-US" sz="1250" dirty="0"/>
          </a:p>
          <a:p>
            <a:pPr indent="0" marL="0">
              <a:buNone/>
            </a:pPr>
            <a:r>
              <a:rPr lang="en-US" sz="1250" dirty="0">
                <a:solidFill>
                  <a:srgbClr val="64748B"/>
                </a:solidFill>
                <a:latin typeface="Calibri" pitchFamily="34" charset="0"/>
                <a:ea typeface="Calibri" pitchFamily="34" charset="-122"/>
                <a:cs typeface="Calibri" pitchFamily="34" charset="-120"/>
              </a:rPr>
              <a:t>AI understands the emergency</a:t>
            </a:r>
            <a:endParaRPr lang="en-US" sz="1250" dirty="0"/>
          </a:p>
        </p:txBody>
      </p:sp>
      <p:sp>
        <p:nvSpPr>
          <p:cNvPr id="14" name="icon tile"/>
          <p:cNvSpPr/>
          <p:nvPr/>
        </p:nvSpPr>
        <p:spPr>
          <a:xfrm>
            <a:off x="3657600" y="4160520"/>
            <a:ext cx="548640" cy="548640"/>
          </a:xfrm>
          <a:prstGeom prst="roundRect">
            <a:avLst>
              <a:gd name="adj" fmla="val 16667"/>
            </a:avLst>
          </a:prstGeom>
          <a:solidFill>
            <a:srgbClr val="E0F2FE"/>
          </a:solidFill>
          <a:ln w="6350">
            <a:solidFill>
              <a:srgbClr val="E0F2FE"/>
            </a:solidFill>
            <a:prstDash val="solid"/>
          </a:ln>
        </p:spPr>
      </p:sp>
      <p:pic>
        <p:nvPicPr>
          <p:cNvPr id="15" name="icon" descr="preencoded.png">    </p:cNvPr>
          <p:cNvPicPr>
            <a:picLocks noChangeAspect="1"/>
          </p:cNvPicPr>
          <p:nvPr/>
        </p:nvPicPr>
        <p:blipFill>
          <a:blip r:embed="rId5"/>
          <a:stretch>
            <a:fillRect/>
          </a:stretch>
        </p:blipFill>
        <p:spPr>
          <a:xfrm>
            <a:off x="3767328" y="4270248"/>
            <a:ext cx="329184" cy="329184"/>
          </a:xfrm>
          <a:prstGeom prst="rect">
            <a:avLst/>
          </a:prstGeom>
        </p:spPr>
      </p:pic>
      <p:sp>
        <p:nvSpPr>
          <p:cNvPr id="16" name="Text 9"/>
          <p:cNvSpPr txBox="1"/>
          <p:nvPr/>
        </p:nvSpPr>
        <p:spPr>
          <a:xfrm>
            <a:off x="4343400" y="4178808"/>
            <a:ext cx="2331720" cy="54864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Hospital accepts first</a:t>
            </a:r>
            <a:endParaRPr lang="en-US" sz="1250" dirty="0"/>
          </a:p>
          <a:p>
            <a:pPr indent="0" marL="0">
              <a:buNone/>
            </a:pPr>
            <a:r>
              <a:rPr lang="en-US" sz="1250" dirty="0">
                <a:solidFill>
                  <a:srgbClr val="64748B"/>
                </a:solidFill>
                <a:latin typeface="Calibri" pitchFamily="34" charset="0"/>
                <a:ea typeface="Calibri" pitchFamily="34" charset="-122"/>
                <a:cs typeface="Calibri" pitchFamily="34" charset="-120"/>
              </a:rPr>
              <a:t>no wasted trips, ER is ready</a:t>
            </a:r>
            <a:endParaRPr lang="en-US" sz="1250" dirty="0"/>
          </a:p>
        </p:txBody>
      </p:sp>
      <p:sp>
        <p:nvSpPr>
          <p:cNvPr id="17" name="icon tile"/>
          <p:cNvSpPr/>
          <p:nvPr/>
        </p:nvSpPr>
        <p:spPr>
          <a:xfrm>
            <a:off x="548640" y="4910328"/>
            <a:ext cx="548640" cy="548640"/>
          </a:xfrm>
          <a:prstGeom prst="roundRect">
            <a:avLst>
              <a:gd name="adj" fmla="val 16667"/>
            </a:avLst>
          </a:prstGeom>
          <a:solidFill>
            <a:srgbClr val="FEF2F2"/>
          </a:solidFill>
          <a:ln w="6350">
            <a:solidFill>
              <a:srgbClr val="FEF2F2"/>
            </a:solidFill>
            <a:prstDash val="solid"/>
          </a:ln>
        </p:spPr>
      </p:sp>
      <p:pic>
        <p:nvPicPr>
          <p:cNvPr id="18" name="icon" descr="preencoded.png">    </p:cNvPr>
          <p:cNvPicPr>
            <a:picLocks noChangeAspect="1"/>
          </p:cNvPicPr>
          <p:nvPr/>
        </p:nvPicPr>
        <p:blipFill>
          <a:blip r:embed="rId6"/>
          <a:stretch>
            <a:fillRect/>
          </a:stretch>
        </p:blipFill>
        <p:spPr>
          <a:xfrm>
            <a:off x="658368" y="5020056"/>
            <a:ext cx="329184" cy="329184"/>
          </a:xfrm>
          <a:prstGeom prst="rect">
            <a:avLst/>
          </a:prstGeom>
        </p:spPr>
      </p:pic>
      <p:sp>
        <p:nvSpPr>
          <p:cNvPr id="19" name="Text 11"/>
          <p:cNvSpPr txBox="1"/>
          <p:nvPr/>
        </p:nvSpPr>
        <p:spPr>
          <a:xfrm>
            <a:off x="1234440" y="4928616"/>
            <a:ext cx="2331720" cy="54864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108 ambulance dispatched</a:t>
            </a:r>
            <a:endParaRPr lang="en-US" sz="1250" dirty="0"/>
          </a:p>
          <a:p>
            <a:pPr indent="0" marL="0">
              <a:buNone/>
            </a:pPr>
            <a:r>
              <a:rPr lang="en-US" sz="1250" dirty="0">
                <a:solidFill>
                  <a:srgbClr val="64748B"/>
                </a:solidFill>
                <a:latin typeface="Calibri" pitchFamily="34" charset="0"/>
                <a:ea typeface="Calibri" pitchFamily="34" charset="-122"/>
                <a:cs typeface="Calibri" pitchFamily="34" charset="-120"/>
              </a:rPr>
              <a:t>nearest unit, tracked live</a:t>
            </a:r>
            <a:endParaRPr lang="en-US" sz="1250" dirty="0"/>
          </a:p>
        </p:txBody>
      </p:sp>
      <p:sp>
        <p:nvSpPr>
          <p:cNvPr id="20" name="icon tile"/>
          <p:cNvSpPr/>
          <p:nvPr/>
        </p:nvSpPr>
        <p:spPr>
          <a:xfrm>
            <a:off x="3657600" y="4910328"/>
            <a:ext cx="548640" cy="548640"/>
          </a:xfrm>
          <a:prstGeom prst="roundRect">
            <a:avLst>
              <a:gd name="adj" fmla="val 16667"/>
            </a:avLst>
          </a:prstGeom>
          <a:solidFill>
            <a:srgbClr val="E0F2FE"/>
          </a:solidFill>
          <a:ln w="6350">
            <a:solidFill>
              <a:srgbClr val="E0F2FE"/>
            </a:solidFill>
            <a:prstDash val="solid"/>
          </a:ln>
        </p:spPr>
      </p:sp>
      <p:pic>
        <p:nvPicPr>
          <p:cNvPr id="21" name="icon" descr="preencoded.png">    </p:cNvPr>
          <p:cNvPicPr>
            <a:picLocks noChangeAspect="1"/>
          </p:cNvPicPr>
          <p:nvPr/>
        </p:nvPicPr>
        <p:blipFill>
          <a:blip r:embed="rId7"/>
          <a:stretch>
            <a:fillRect/>
          </a:stretch>
        </p:blipFill>
        <p:spPr>
          <a:xfrm>
            <a:off x="3767328" y="5020056"/>
            <a:ext cx="329184" cy="329184"/>
          </a:xfrm>
          <a:prstGeom prst="rect">
            <a:avLst/>
          </a:prstGeom>
        </p:spPr>
      </p:pic>
      <p:sp>
        <p:nvSpPr>
          <p:cNvPr id="22" name="Text 13"/>
          <p:cNvSpPr txBox="1"/>
          <p:nvPr/>
        </p:nvSpPr>
        <p:spPr>
          <a:xfrm>
            <a:off x="4343400" y="4928616"/>
            <a:ext cx="2331720" cy="54864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Works on 2G, SMS, offline</a:t>
            </a:r>
            <a:endParaRPr lang="en-US" sz="1250" dirty="0"/>
          </a:p>
          <a:p>
            <a:pPr indent="0" marL="0">
              <a:buNone/>
            </a:pPr>
            <a:r>
              <a:rPr lang="en-US" sz="1250" dirty="0">
                <a:solidFill>
                  <a:srgbClr val="64748B"/>
                </a:solidFill>
                <a:latin typeface="Calibri" pitchFamily="34" charset="0"/>
                <a:ea typeface="Calibri" pitchFamily="34" charset="-122"/>
                <a:cs typeface="Calibri" pitchFamily="34" charset="-120"/>
              </a:rPr>
              <a:t>built for villages</a:t>
            </a:r>
            <a:endParaRPr lang="en-US" sz="1250" dirty="0"/>
          </a:p>
        </p:txBody>
      </p:sp>
      <p:sp>
        <p:nvSpPr>
          <p:cNvPr id="23" name="card"/>
          <p:cNvSpPr/>
          <p:nvPr/>
        </p:nvSpPr>
        <p:spPr>
          <a:xfrm>
            <a:off x="548640" y="5779008"/>
            <a:ext cx="6172200" cy="749808"/>
          </a:xfrm>
          <a:prstGeom prst="roundRect">
            <a:avLst>
              <a:gd name="adj" fmla="val 9756"/>
            </a:avLst>
          </a:prstGeom>
          <a:solidFill>
            <a:srgbClr val="F8FAFC"/>
          </a:solidFill>
          <a:ln w="12700">
            <a:solidFill>
              <a:srgbClr val="D6DEE8"/>
            </a:solidFill>
            <a:prstDash val="solid"/>
          </a:ln>
        </p:spPr>
      </p:sp>
      <p:sp>
        <p:nvSpPr>
          <p:cNvPr id="24" name="Text 15"/>
          <p:cNvSpPr txBox="1"/>
          <p:nvPr/>
        </p:nvSpPr>
        <p:spPr>
          <a:xfrm>
            <a:off x="731520" y="5833872"/>
            <a:ext cx="5897880" cy="640080"/>
          </a:xfrm>
          <a:prstGeom prst="rect">
            <a:avLst/>
          </a:prstGeom>
          <a:noFill/>
          <a:ln/>
        </p:spPr>
        <p:txBody>
          <a:bodyPr wrap="square" lIns="0" tIns="0" rIns="0" bIns="0" rtlCol="0" anchor="ctr"/>
          <a:lstStyle/>
          <a:p>
            <a:pPr indent="0" marL="0">
              <a:lnSpc>
                <a:spcPct val="115000"/>
              </a:lnSpc>
              <a:buNone/>
            </a:pPr>
            <a:r>
              <a:rPr lang="en-US" sz="1200" b="1" dirty="0">
                <a:solidFill>
                  <a:srgbClr val="0E7490"/>
                </a:solidFill>
                <a:latin typeface="Calibri" pitchFamily="34" charset="0"/>
                <a:ea typeface="Calibri" pitchFamily="34" charset="-122"/>
                <a:cs typeface="Calibri" pitchFamily="34" charset="-120"/>
              </a:rPr>
              <a:t>MPOnline Idea &amp; Innovation Hackathon 2026  ·  Challenge 5: Healthcare  ·  Team Medreach</a:t>
            </a:r>
            <a:endParaRPr lang="en-US" sz="1200" dirty="0"/>
          </a:p>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Live: medreach-2.onrender.com    |    github.com/prakharporwal518-collab/Medreach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02  SCENARIO</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9:40 PM, a Village Near Berasia: </a:t>
            </a:r>
            <a:pPr algn="l" indent="0" marL="0">
              <a:buNone/>
            </a:pPr>
            <a:r>
              <a:rPr lang="en-US" sz="3400" b="1" dirty="0">
                <a:solidFill>
                  <a:srgbClr val="DC2626"/>
                </a:solidFill>
              </a:rPr>
              <a:t>Chest Pain</a:t>
            </a:r>
            <a:endParaRPr lang="en-US" sz="3400" dirty="0"/>
          </a:p>
        </p:txBody>
      </p:sp>
      <p:sp>
        <p:nvSpPr>
          <p:cNvPr id="4" name="Text 2"/>
          <p:cNvSpPr txBox="1"/>
          <p:nvPr/>
        </p:nvSpPr>
        <p:spPr>
          <a:xfrm>
            <a:off x="548640" y="1234440"/>
            <a:ext cx="8503920" cy="457200"/>
          </a:xfrm>
          <a:prstGeom prst="rect">
            <a:avLst/>
          </a:prstGeom>
          <a:noFill/>
          <a:ln/>
        </p:spPr>
        <p:txBody>
          <a:bodyPr wrap="square" lIns="0" tIns="0" rIns="0" bIns="0" rtlCol="0" anchor="t"/>
          <a:lstStyle/>
          <a:p>
            <a:pPr indent="0" marL="0">
              <a:buNone/>
            </a:pPr>
            <a:r>
              <a:rPr lang="en-US" sz="1450" dirty="0">
                <a:solidFill>
                  <a:srgbClr val="334155"/>
                </a:solidFill>
                <a:latin typeface="Calibri" pitchFamily="34" charset="0"/>
                <a:ea typeface="Calibri" pitchFamily="34" charset="-122"/>
                <a:cs typeface="Calibri" pitchFamily="34" charset="-120"/>
              </a:rPr>
              <a:t>Ramesh’s father (58) collapses with chest pain and sweating. Only 2G works. The nearest town is 25 km away. What happens next decides his life.</a:t>
            </a:r>
            <a:endParaRPr lang="en-US" sz="1450" dirty="0"/>
          </a:p>
        </p:txBody>
      </p:sp>
      <p:sp>
        <p:nvSpPr>
          <p:cNvPr id="5" name="card"/>
          <p:cNvSpPr/>
          <p:nvPr/>
        </p:nvSpPr>
        <p:spPr>
          <a:xfrm>
            <a:off x="548640" y="1874520"/>
            <a:ext cx="3977640" cy="4343400"/>
          </a:xfrm>
          <a:prstGeom prst="roundRect">
            <a:avLst>
              <a:gd name="adj" fmla="val 1839"/>
            </a:avLst>
          </a:prstGeom>
          <a:solidFill>
            <a:srgbClr val="FEF2F2"/>
          </a:solidFill>
          <a:ln w="12700">
            <a:solidFill>
              <a:srgbClr val="FECACA"/>
            </a:solidFill>
            <a:prstDash val="solid"/>
          </a:ln>
        </p:spPr>
      </p:sp>
      <p:pic>
        <p:nvPicPr>
          <p:cNvPr id="6" name="icon" descr="preencoded.png">    </p:cNvPr>
          <p:cNvPicPr>
            <a:picLocks noChangeAspect="1"/>
          </p:cNvPicPr>
          <p:nvPr/>
        </p:nvPicPr>
        <p:blipFill>
          <a:blip r:embed="rId1"/>
          <a:stretch>
            <a:fillRect/>
          </a:stretch>
        </p:blipFill>
        <p:spPr>
          <a:xfrm>
            <a:off x="777240" y="2057400"/>
            <a:ext cx="384048" cy="384048"/>
          </a:xfrm>
          <a:prstGeom prst="rect">
            <a:avLst/>
          </a:prstGeom>
        </p:spPr>
      </p:pic>
      <p:sp>
        <p:nvSpPr>
          <p:cNvPr id="7" name="Text 4"/>
          <p:cNvSpPr txBox="1"/>
          <p:nvPr/>
        </p:nvSpPr>
        <p:spPr>
          <a:xfrm>
            <a:off x="1261872" y="2075688"/>
            <a:ext cx="2743200" cy="365760"/>
          </a:xfrm>
          <a:prstGeom prst="rect">
            <a:avLst/>
          </a:prstGeom>
          <a:noFill/>
          <a:ln/>
        </p:spPr>
        <p:txBody>
          <a:bodyPr wrap="square" lIns="0" tIns="0" rIns="0" bIns="0" rtlCol="0" anchor="t"/>
          <a:lstStyle/>
          <a:p>
            <a:pPr indent="0" marL="0">
              <a:buNone/>
            </a:pPr>
            <a:r>
              <a:rPr lang="en-US" sz="1900" b="1" dirty="0">
                <a:solidFill>
                  <a:srgbClr val="DC2626"/>
                </a:solidFill>
                <a:latin typeface="Arial" pitchFamily="34" charset="0"/>
                <a:ea typeface="Arial" pitchFamily="34" charset="-122"/>
                <a:cs typeface="Arial" pitchFamily="34" charset="-120"/>
              </a:rPr>
              <a:t>Today</a:t>
            </a:r>
            <a:endParaRPr lang="en-US" sz="1900" dirty="0"/>
          </a:p>
        </p:txBody>
      </p:sp>
      <p:sp>
        <p:nvSpPr>
          <p:cNvPr id="8" name="Text 5"/>
          <p:cNvSpPr txBox="1"/>
          <p:nvPr/>
        </p:nvSpPr>
        <p:spPr>
          <a:xfrm>
            <a:off x="777240" y="2670048"/>
            <a:ext cx="777240" cy="274320"/>
          </a:xfrm>
          <a:prstGeom prst="rect">
            <a:avLst/>
          </a:prstGeom>
          <a:noFill/>
          <a:ln/>
        </p:spPr>
        <p:txBody>
          <a:bodyPr wrap="square" lIns="0" tIns="0" rIns="0" bIns="0" rtlCol="0" anchor="t"/>
          <a:lstStyle/>
          <a:p>
            <a:pPr indent="0" marL="0">
              <a:buNone/>
            </a:pPr>
            <a:r>
              <a:rPr lang="en-US" sz="1200" b="1" dirty="0">
                <a:solidFill>
                  <a:srgbClr val="DC2626"/>
                </a:solidFill>
                <a:latin typeface="Calibri" pitchFamily="34" charset="0"/>
                <a:ea typeface="Calibri" pitchFamily="34" charset="-122"/>
                <a:cs typeface="Calibri" pitchFamily="34" charset="-120"/>
              </a:rPr>
              <a:t>0 min</a:t>
            </a:r>
            <a:endParaRPr lang="en-US" sz="1200" dirty="0"/>
          </a:p>
        </p:txBody>
      </p:sp>
      <p:sp>
        <p:nvSpPr>
          <p:cNvPr id="9" name="Text 6"/>
          <p:cNvSpPr txBox="1"/>
          <p:nvPr/>
        </p:nvSpPr>
        <p:spPr>
          <a:xfrm>
            <a:off x="1572768" y="2670048"/>
            <a:ext cx="2788920" cy="68580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Panic. Calls relatives – nobody knows which hospital has a cardiologist tonight.</a:t>
            </a:r>
            <a:endParaRPr lang="en-US" sz="1250" dirty="0"/>
          </a:p>
        </p:txBody>
      </p:sp>
      <p:sp>
        <p:nvSpPr>
          <p:cNvPr id="10" name="Text 7"/>
          <p:cNvSpPr txBox="1"/>
          <p:nvPr/>
        </p:nvSpPr>
        <p:spPr>
          <a:xfrm>
            <a:off x="777240" y="3401568"/>
            <a:ext cx="777240" cy="274320"/>
          </a:xfrm>
          <a:prstGeom prst="rect">
            <a:avLst/>
          </a:prstGeom>
          <a:noFill/>
          <a:ln/>
        </p:spPr>
        <p:txBody>
          <a:bodyPr wrap="square" lIns="0" tIns="0" rIns="0" bIns="0" rtlCol="0" anchor="t"/>
          <a:lstStyle/>
          <a:p>
            <a:pPr indent="0" marL="0">
              <a:buNone/>
            </a:pPr>
            <a:r>
              <a:rPr lang="en-US" sz="1200" b="1" dirty="0">
                <a:solidFill>
                  <a:srgbClr val="DC2626"/>
                </a:solidFill>
                <a:latin typeface="Calibri" pitchFamily="34" charset="0"/>
                <a:ea typeface="Calibri" pitchFamily="34" charset="-122"/>
                <a:cs typeface="Calibri" pitchFamily="34" charset="-120"/>
              </a:rPr>
              <a:t>+20 min</a:t>
            </a:r>
            <a:endParaRPr lang="en-US" sz="1200" dirty="0"/>
          </a:p>
        </p:txBody>
      </p:sp>
      <p:sp>
        <p:nvSpPr>
          <p:cNvPr id="11" name="Text 8"/>
          <p:cNvSpPr txBox="1"/>
          <p:nvPr/>
        </p:nvSpPr>
        <p:spPr>
          <a:xfrm>
            <a:off x="1572768" y="3401568"/>
            <a:ext cx="2788920" cy="68580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Drives to the nearest hospital: no cardiologist, ICU full.</a:t>
            </a:r>
            <a:endParaRPr lang="en-US" sz="1250" dirty="0"/>
          </a:p>
        </p:txBody>
      </p:sp>
      <p:sp>
        <p:nvSpPr>
          <p:cNvPr id="12" name="Text 9"/>
          <p:cNvSpPr txBox="1"/>
          <p:nvPr/>
        </p:nvSpPr>
        <p:spPr>
          <a:xfrm>
            <a:off x="777240" y="4133088"/>
            <a:ext cx="777240" cy="274320"/>
          </a:xfrm>
          <a:prstGeom prst="rect">
            <a:avLst/>
          </a:prstGeom>
          <a:noFill/>
          <a:ln/>
        </p:spPr>
        <p:txBody>
          <a:bodyPr wrap="square" lIns="0" tIns="0" rIns="0" bIns="0" rtlCol="0" anchor="t"/>
          <a:lstStyle/>
          <a:p>
            <a:pPr indent="0" marL="0">
              <a:buNone/>
            </a:pPr>
            <a:r>
              <a:rPr lang="en-US" sz="1200" b="1" dirty="0">
                <a:solidFill>
                  <a:srgbClr val="DC2626"/>
                </a:solidFill>
                <a:latin typeface="Calibri" pitchFamily="34" charset="0"/>
                <a:ea typeface="Calibri" pitchFamily="34" charset="-122"/>
                <a:cs typeface="Calibri" pitchFamily="34" charset="-120"/>
              </a:rPr>
              <a:t>+45 min</a:t>
            </a:r>
            <a:endParaRPr lang="en-US" sz="1200" dirty="0"/>
          </a:p>
        </p:txBody>
      </p:sp>
      <p:sp>
        <p:nvSpPr>
          <p:cNvPr id="13" name="Text 10"/>
          <p:cNvSpPr txBox="1"/>
          <p:nvPr/>
        </p:nvSpPr>
        <p:spPr>
          <a:xfrm>
            <a:off x="1572768" y="4133088"/>
            <a:ext cx="2788920" cy="68580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Calls 108 and repeats the address and details; the weak 2G call drops.</a:t>
            </a:r>
            <a:endParaRPr lang="en-US" sz="1250" dirty="0"/>
          </a:p>
        </p:txBody>
      </p:sp>
      <p:sp>
        <p:nvSpPr>
          <p:cNvPr id="14" name="Text 11"/>
          <p:cNvSpPr txBox="1"/>
          <p:nvPr/>
        </p:nvSpPr>
        <p:spPr>
          <a:xfrm>
            <a:off x="777240" y="4864608"/>
            <a:ext cx="777240" cy="274320"/>
          </a:xfrm>
          <a:prstGeom prst="rect">
            <a:avLst/>
          </a:prstGeom>
          <a:noFill/>
          <a:ln/>
        </p:spPr>
        <p:txBody>
          <a:bodyPr wrap="square" lIns="0" tIns="0" rIns="0" bIns="0" rtlCol="0" anchor="t"/>
          <a:lstStyle/>
          <a:p>
            <a:pPr indent="0" marL="0">
              <a:buNone/>
            </a:pPr>
            <a:r>
              <a:rPr lang="en-US" sz="1200" b="1" dirty="0">
                <a:solidFill>
                  <a:srgbClr val="DC2626"/>
                </a:solidFill>
                <a:latin typeface="Calibri" pitchFamily="34" charset="0"/>
                <a:ea typeface="Calibri" pitchFamily="34" charset="-122"/>
                <a:cs typeface="Calibri" pitchFamily="34" charset="-120"/>
              </a:rPr>
              <a:t>+90 min</a:t>
            </a:r>
            <a:endParaRPr lang="en-US" sz="1200" dirty="0"/>
          </a:p>
        </p:txBody>
      </p:sp>
      <p:sp>
        <p:nvSpPr>
          <p:cNvPr id="15" name="Text 12"/>
          <p:cNvSpPr txBox="1"/>
          <p:nvPr/>
        </p:nvSpPr>
        <p:spPr>
          <a:xfrm>
            <a:off x="1572768" y="4864608"/>
            <a:ext cx="2788920" cy="68580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Reaches a second hospital that was not expecting him.</a:t>
            </a:r>
            <a:endParaRPr lang="en-US" sz="1250" dirty="0"/>
          </a:p>
        </p:txBody>
      </p:sp>
      <p:sp>
        <p:nvSpPr>
          <p:cNvPr id="16" name="Text 13"/>
          <p:cNvSpPr txBox="1"/>
          <p:nvPr/>
        </p:nvSpPr>
        <p:spPr>
          <a:xfrm>
            <a:off x="777240" y="5650992"/>
            <a:ext cx="3611880" cy="365760"/>
          </a:xfrm>
          <a:prstGeom prst="rect">
            <a:avLst/>
          </a:prstGeom>
          <a:noFill/>
          <a:ln/>
        </p:spPr>
        <p:txBody>
          <a:bodyPr wrap="square" lIns="0" tIns="0" rIns="0" bIns="0" rtlCol="0" anchor="t"/>
          <a:lstStyle/>
          <a:p>
            <a:pPr indent="0" marL="0">
              <a:buNone/>
            </a:pPr>
            <a:r>
              <a:rPr lang="en-US" sz="1350" b="1" i="1" dirty="0">
                <a:solidFill>
                  <a:srgbClr val="DC2626"/>
                </a:solidFill>
                <a:latin typeface="Calibri" pitchFamily="34" charset="0"/>
                <a:ea typeface="Calibri" pitchFamily="34" charset="-122"/>
                <a:cs typeface="Calibri" pitchFamily="34" charset="-120"/>
              </a:rPr>
              <a:t>The golden hour is lost on the road.</a:t>
            </a:r>
            <a:endParaRPr lang="en-US" sz="1350" dirty="0"/>
          </a:p>
        </p:txBody>
      </p:sp>
      <p:sp>
        <p:nvSpPr>
          <p:cNvPr id="17" name="card"/>
          <p:cNvSpPr/>
          <p:nvPr/>
        </p:nvSpPr>
        <p:spPr>
          <a:xfrm>
            <a:off x="4754880" y="1874520"/>
            <a:ext cx="4343400" cy="4343400"/>
          </a:xfrm>
          <a:prstGeom prst="roundRect">
            <a:avLst>
              <a:gd name="adj" fmla="val 1684"/>
            </a:avLst>
          </a:prstGeom>
          <a:solidFill>
            <a:srgbClr val="ECFDF5"/>
          </a:solidFill>
          <a:ln w="12700">
            <a:solidFill>
              <a:srgbClr val="A7F3D0"/>
            </a:solidFill>
            <a:prstDash val="solid"/>
          </a:ln>
        </p:spPr>
      </p:sp>
      <p:pic>
        <p:nvPicPr>
          <p:cNvPr id="18" name="icon" descr="preencoded.png">    </p:cNvPr>
          <p:cNvPicPr>
            <a:picLocks noChangeAspect="1"/>
          </p:cNvPicPr>
          <p:nvPr/>
        </p:nvPicPr>
        <p:blipFill>
          <a:blip r:embed="rId2"/>
          <a:stretch>
            <a:fillRect/>
          </a:stretch>
        </p:blipFill>
        <p:spPr>
          <a:xfrm>
            <a:off x="4983480" y="2057400"/>
            <a:ext cx="384048" cy="384048"/>
          </a:xfrm>
          <a:prstGeom prst="rect">
            <a:avLst/>
          </a:prstGeom>
        </p:spPr>
      </p:pic>
      <p:sp>
        <p:nvSpPr>
          <p:cNvPr id="19" name="Text 15"/>
          <p:cNvSpPr txBox="1"/>
          <p:nvPr/>
        </p:nvSpPr>
        <p:spPr>
          <a:xfrm>
            <a:off x="5468112" y="2075688"/>
            <a:ext cx="3200400" cy="365760"/>
          </a:xfrm>
          <a:prstGeom prst="rect">
            <a:avLst/>
          </a:prstGeom>
          <a:noFill/>
          <a:ln/>
        </p:spPr>
        <p:txBody>
          <a:bodyPr wrap="square" lIns="0" tIns="0" rIns="0" bIns="0" rtlCol="0" anchor="t"/>
          <a:lstStyle/>
          <a:p>
            <a:pPr indent="0" marL="0">
              <a:buNone/>
            </a:pPr>
            <a:r>
              <a:rPr lang="en-US" sz="1900" b="1" dirty="0">
                <a:solidFill>
                  <a:srgbClr val="059669"/>
                </a:solidFill>
                <a:latin typeface="Arial" pitchFamily="34" charset="0"/>
                <a:ea typeface="Arial" pitchFamily="34" charset="-122"/>
                <a:cs typeface="Arial" pitchFamily="34" charset="-120"/>
              </a:rPr>
              <a:t>With Medreach</a:t>
            </a:r>
            <a:endParaRPr lang="en-US" sz="1900" dirty="0"/>
          </a:p>
        </p:txBody>
      </p:sp>
      <p:sp>
        <p:nvSpPr>
          <p:cNvPr id="20" name="Text 16"/>
          <p:cNvSpPr txBox="1"/>
          <p:nvPr/>
        </p:nvSpPr>
        <p:spPr>
          <a:xfrm>
            <a:off x="4983480" y="2670048"/>
            <a:ext cx="548640" cy="2743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0:00</a:t>
            </a:r>
            <a:endParaRPr lang="en-US" sz="1200" dirty="0"/>
          </a:p>
        </p:txBody>
      </p:sp>
      <p:sp>
        <p:nvSpPr>
          <p:cNvPr id="21" name="Text 17"/>
          <p:cNvSpPr txBox="1"/>
          <p:nvPr/>
        </p:nvSpPr>
        <p:spPr>
          <a:xfrm>
            <a:off x="5577840" y="2670048"/>
            <a:ext cx="3383280" cy="566928"/>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Son speaks in Hindi: “papa ko seene mein dard hai…”</a:t>
            </a:r>
            <a:endParaRPr lang="en-US" sz="1250" dirty="0"/>
          </a:p>
        </p:txBody>
      </p:sp>
      <p:sp>
        <p:nvSpPr>
          <p:cNvPr id="22" name="Text 18"/>
          <p:cNvSpPr txBox="1"/>
          <p:nvPr/>
        </p:nvSpPr>
        <p:spPr>
          <a:xfrm>
            <a:off x="4983480" y="3273552"/>
            <a:ext cx="548640" cy="2743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0:30</a:t>
            </a:r>
            <a:endParaRPr lang="en-US" sz="1200" dirty="0"/>
          </a:p>
        </p:txBody>
      </p:sp>
      <p:sp>
        <p:nvSpPr>
          <p:cNvPr id="23" name="Text 19"/>
          <p:cNvSpPr txBox="1"/>
          <p:nvPr/>
        </p:nvSpPr>
        <p:spPr>
          <a:xfrm>
            <a:off x="5577840" y="3273552"/>
            <a:ext cx="3383280" cy="566928"/>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AI: possible heart attack – CRITICAL. Needs cardiologist + ICU.</a:t>
            </a:r>
            <a:endParaRPr lang="en-US" sz="1250" dirty="0"/>
          </a:p>
        </p:txBody>
      </p:sp>
      <p:sp>
        <p:nvSpPr>
          <p:cNvPr id="24" name="Text 20"/>
          <p:cNvSpPr txBox="1"/>
          <p:nvPr/>
        </p:nvSpPr>
        <p:spPr>
          <a:xfrm>
            <a:off x="4983480" y="3877056"/>
            <a:ext cx="548640" cy="2743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1:00</a:t>
            </a:r>
            <a:endParaRPr lang="en-US" sz="1200" dirty="0"/>
          </a:p>
        </p:txBody>
      </p:sp>
      <p:sp>
        <p:nvSpPr>
          <p:cNvPr id="25" name="Text 21"/>
          <p:cNvSpPr txBox="1"/>
          <p:nvPr/>
        </p:nvSpPr>
        <p:spPr>
          <a:xfrm>
            <a:off x="5577840" y="3877056"/>
            <a:ext cx="3383280" cy="566928"/>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Only hospitals that can treat it, ranked by match score.</a:t>
            </a:r>
            <a:endParaRPr lang="en-US" sz="1250" dirty="0"/>
          </a:p>
        </p:txBody>
      </p:sp>
      <p:sp>
        <p:nvSpPr>
          <p:cNvPr id="26" name="Text 22"/>
          <p:cNvSpPr txBox="1"/>
          <p:nvPr/>
        </p:nvSpPr>
        <p:spPr>
          <a:xfrm>
            <a:off x="4983480" y="4480560"/>
            <a:ext cx="548640" cy="2743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2:00</a:t>
            </a:r>
            <a:endParaRPr lang="en-US" sz="1200" dirty="0"/>
          </a:p>
        </p:txBody>
      </p:sp>
      <p:sp>
        <p:nvSpPr>
          <p:cNvPr id="27" name="Text 23"/>
          <p:cNvSpPr txBox="1"/>
          <p:nvPr/>
        </p:nvSpPr>
        <p:spPr>
          <a:xfrm>
            <a:off x="5577840" y="4480560"/>
            <a:ext cx="3383280" cy="566928"/>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Bansal Hospital accepts and reserves a resus bay.</a:t>
            </a:r>
            <a:endParaRPr lang="en-US" sz="1250" dirty="0"/>
          </a:p>
        </p:txBody>
      </p:sp>
      <p:sp>
        <p:nvSpPr>
          <p:cNvPr id="28" name="Text 24"/>
          <p:cNvSpPr txBox="1"/>
          <p:nvPr/>
        </p:nvSpPr>
        <p:spPr>
          <a:xfrm>
            <a:off x="4983480" y="5084064"/>
            <a:ext cx="548640" cy="2743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2:30</a:t>
            </a:r>
            <a:endParaRPr lang="en-US" sz="1200" dirty="0"/>
          </a:p>
        </p:txBody>
      </p:sp>
      <p:sp>
        <p:nvSpPr>
          <p:cNvPr id="29" name="Text 25"/>
          <p:cNvSpPr txBox="1"/>
          <p:nvPr/>
        </p:nvSpPr>
        <p:spPr>
          <a:xfrm>
            <a:off x="5577840" y="5084064"/>
            <a:ext cx="3383280" cy="566928"/>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108 incident created, nearest ALS ambulance sent and tracked.</a:t>
            </a:r>
            <a:endParaRPr lang="en-US" sz="1250" dirty="0"/>
          </a:p>
        </p:txBody>
      </p:sp>
      <p:sp>
        <p:nvSpPr>
          <p:cNvPr id="30" name="Text 26"/>
          <p:cNvSpPr txBox="1"/>
          <p:nvPr/>
        </p:nvSpPr>
        <p:spPr>
          <a:xfrm>
            <a:off x="4983480" y="5650992"/>
            <a:ext cx="3931920" cy="365760"/>
          </a:xfrm>
          <a:prstGeom prst="rect">
            <a:avLst/>
          </a:prstGeom>
          <a:noFill/>
          <a:ln/>
        </p:spPr>
        <p:txBody>
          <a:bodyPr wrap="square" lIns="0" tIns="0" rIns="0" bIns="0" rtlCol="0" anchor="t"/>
          <a:lstStyle/>
          <a:p>
            <a:pPr indent="0" marL="0">
              <a:buNone/>
            </a:pPr>
            <a:r>
              <a:rPr lang="en-US" sz="1350" b="1" i="1" dirty="0">
                <a:solidFill>
                  <a:srgbClr val="059669"/>
                </a:solidFill>
                <a:latin typeface="Calibri" pitchFamily="34" charset="0"/>
                <a:ea typeface="Calibri" pitchFamily="34" charset="-122"/>
                <a:cs typeface="Calibri" pitchFamily="34" charset="-120"/>
              </a:rPr>
              <a:t>He arrives at an ER that is ready for him.</a:t>
            </a:r>
            <a:endParaRPr lang="en-US" sz="1350" dirty="0"/>
          </a:p>
        </p:txBody>
      </p:sp>
      <p:sp>
        <p:nvSpPr>
          <p:cNvPr id="31" name="incident screen bezel"/>
          <p:cNvSpPr/>
          <p:nvPr/>
        </p:nvSpPr>
        <p:spPr>
          <a:xfrm>
            <a:off x="9354312" y="1234440"/>
            <a:ext cx="2366449" cy="4700016"/>
          </a:xfrm>
          <a:prstGeom prst="roundRect">
            <a:avLst>
              <a:gd name="adj" fmla="val 4637"/>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32" name="incident screen" descr="/tmp/claude-0/-home-user-Sehat-Setu/b06e8423-ed6e-57c3-bbb1-ac94b2a1720d/scratchpad/ppt9/shots/rep-6-incident.png">    </p:cNvPr>
          <p:cNvPicPr>
            <a:picLocks noChangeAspect="1"/>
          </p:cNvPicPr>
          <p:nvPr/>
        </p:nvPicPr>
        <p:blipFill>
          <a:blip r:embed="rId3"/>
          <a:srcRect l="0" r="0" t="0" b="0"/>
          <a:stretch/>
        </p:blipFill>
        <p:spPr>
          <a:xfrm>
            <a:off x="9418320" y="1298448"/>
            <a:ext cx="2238433" cy="4572000"/>
          </a:xfrm>
          <a:prstGeom prst="rect">
            <a:avLst/>
          </a:prstGeom>
        </p:spPr>
      </p:pic>
      <p:sp>
        <p:nvSpPr>
          <p:cNvPr id="33" name="Text 28"/>
          <p:cNvSpPr txBox="1"/>
          <p:nvPr/>
        </p:nvSpPr>
        <p:spPr>
          <a:xfrm>
            <a:off x="9418320" y="6035040"/>
            <a:ext cx="2286000" cy="41148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What the family sees: hospital accepted + 108 incident number.</a:t>
            </a:r>
            <a:endParaRPr lang="en-US" sz="10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03  OVERVIEW</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Platform for </a:t>
            </a:r>
            <a:pPr algn="l" indent="0" marL="0">
              <a:buNone/>
            </a:pPr>
            <a:r>
              <a:rPr lang="en-US" sz="3400" b="1" dirty="0">
                <a:solidFill>
                  <a:srgbClr val="0E7490"/>
                </a:solidFill>
              </a:rPr>
              <a:t>Citizen, Hospital and 108</a:t>
            </a:r>
            <a:endParaRPr lang="en-US" sz="3400" dirty="0"/>
          </a:p>
        </p:txBody>
      </p:sp>
      <p:sp>
        <p:nvSpPr>
          <p:cNvPr id="4" name="card"/>
          <p:cNvSpPr/>
          <p:nvPr/>
        </p:nvSpPr>
        <p:spPr>
          <a:xfrm>
            <a:off x="548640" y="1463040"/>
            <a:ext cx="3429000" cy="4754880"/>
          </a:xfrm>
          <a:prstGeom prst="roundRect">
            <a:avLst>
              <a:gd name="adj" fmla="val 2133"/>
            </a:avLst>
          </a:prstGeom>
          <a:solidFill>
            <a:srgbClr val="FFFFFF"/>
          </a:solidFill>
          <a:ln w="15875">
            <a:solidFill>
              <a:srgbClr val="FECACA"/>
            </a:solidFill>
            <a:prstDash val="solid"/>
          </a:ln>
        </p:spPr>
      </p:sp>
      <p:sp>
        <p:nvSpPr>
          <p:cNvPr id="5" name="Text 3"/>
          <p:cNvSpPr txBox="1"/>
          <p:nvPr/>
        </p:nvSpPr>
        <p:spPr>
          <a:xfrm>
            <a:off x="777240" y="1645920"/>
            <a:ext cx="2743200" cy="274320"/>
          </a:xfrm>
          <a:prstGeom prst="rect">
            <a:avLst/>
          </a:prstGeom>
          <a:noFill/>
          <a:ln/>
        </p:spPr>
        <p:txBody>
          <a:bodyPr wrap="square" lIns="0" tIns="0" rIns="0" bIns="0" rtlCol="0" anchor="t"/>
          <a:lstStyle/>
          <a:p>
            <a:pPr indent="0" marL="0">
              <a:buNone/>
            </a:pPr>
            <a:r>
              <a:rPr lang="en-US" sz="1100" b="1" spc="200" kern="0" dirty="0">
                <a:solidFill>
                  <a:srgbClr val="DC2626"/>
                </a:solidFill>
                <a:latin typeface="Calibri" pitchFamily="34" charset="0"/>
                <a:ea typeface="Calibri" pitchFamily="34" charset="-122"/>
                <a:cs typeface="Calibri" pitchFamily="34" charset="-120"/>
              </a:rPr>
              <a:t>THE PROBLEM</a:t>
            </a:r>
            <a:endParaRPr lang="en-US" sz="1100" dirty="0"/>
          </a:p>
        </p:txBody>
      </p:sp>
      <p:sp>
        <p:nvSpPr>
          <p:cNvPr id="6" name="Text 4"/>
          <p:cNvSpPr txBox="1"/>
          <p:nvPr/>
        </p:nvSpPr>
        <p:spPr>
          <a:xfrm>
            <a:off x="777240" y="1920240"/>
            <a:ext cx="3108960" cy="731520"/>
          </a:xfrm>
          <a:prstGeom prst="rect">
            <a:avLst/>
          </a:prstGeom>
          <a:noFill/>
          <a:ln/>
        </p:spPr>
        <p:txBody>
          <a:bodyPr wrap="square" lIns="0" tIns="0" rIns="0" bIns="0" rtlCol="0" anchor="t"/>
          <a:lstStyle/>
          <a:p>
            <a:pPr indent="0" marL="0">
              <a:buNone/>
            </a:pPr>
            <a:r>
              <a:rPr lang="en-US" sz="4400" b="1" dirty="0">
                <a:solidFill>
                  <a:srgbClr val="DC2626"/>
                </a:solidFill>
                <a:latin typeface="Arial" pitchFamily="34" charset="0"/>
                <a:ea typeface="Arial" pitchFamily="34" charset="-122"/>
                <a:cs typeface="Arial" pitchFamily="34" charset="-120"/>
              </a:rPr>
              <a:t>1,68,491</a:t>
            </a:r>
            <a:endParaRPr lang="en-US" sz="4400" dirty="0"/>
          </a:p>
        </p:txBody>
      </p:sp>
      <p:sp>
        <p:nvSpPr>
          <p:cNvPr id="7" name="Text 5"/>
          <p:cNvSpPr txBox="1"/>
          <p:nvPr/>
        </p:nvSpPr>
        <p:spPr>
          <a:xfrm>
            <a:off x="777240" y="2651760"/>
            <a:ext cx="3017520" cy="292608"/>
          </a:xfrm>
          <a:prstGeom prst="rect">
            <a:avLst/>
          </a:prstGeom>
          <a:noFill/>
          <a:ln/>
        </p:spPr>
        <p:txBody>
          <a:bodyPr wrap="square" lIns="0" tIns="0" rIns="0" bIns="0" rtlCol="0" anchor="t"/>
          <a:lstStyle/>
          <a:p>
            <a:pPr indent="0" marL="0">
              <a:buNone/>
            </a:pPr>
            <a:r>
              <a:rPr lang="en-US" sz="1350" b="1" dirty="0">
                <a:solidFill>
                  <a:srgbClr val="0F172A"/>
                </a:solidFill>
                <a:latin typeface="Calibri" pitchFamily="34" charset="0"/>
                <a:ea typeface="Calibri" pitchFamily="34" charset="-122"/>
                <a:cs typeface="Calibri" pitchFamily="34" charset="-120"/>
              </a:rPr>
              <a:t>road-accident deaths in India in 2022</a:t>
            </a:r>
            <a:endParaRPr lang="en-US" sz="1350" dirty="0"/>
          </a:p>
        </p:txBody>
      </p:sp>
      <p:sp>
        <p:nvSpPr>
          <p:cNvPr id="8" name="Text 6"/>
          <p:cNvSpPr txBox="1"/>
          <p:nvPr/>
        </p:nvSpPr>
        <p:spPr>
          <a:xfrm>
            <a:off x="777240" y="2944368"/>
            <a:ext cx="30175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Source: MoRTH, Road Accidents in India 2022</a:t>
            </a:r>
            <a:endParaRPr lang="en-US" sz="1000" dirty="0"/>
          </a:p>
        </p:txBody>
      </p:sp>
      <p:pic>
        <p:nvPicPr>
          <p:cNvPr id="9" name="icon" descr="preencoded.png">    </p:cNvPr>
          <p:cNvPicPr>
            <a:picLocks noChangeAspect="1"/>
          </p:cNvPicPr>
          <p:nvPr/>
        </p:nvPicPr>
        <p:blipFill>
          <a:blip r:embed="rId1"/>
          <a:stretch>
            <a:fillRect/>
          </a:stretch>
        </p:blipFill>
        <p:spPr>
          <a:xfrm>
            <a:off x="777240" y="3419856"/>
            <a:ext cx="329184" cy="329184"/>
          </a:xfrm>
          <a:prstGeom prst="rect">
            <a:avLst/>
          </a:prstGeom>
        </p:spPr>
      </p:pic>
      <p:sp>
        <p:nvSpPr>
          <p:cNvPr id="10" name="Text 7"/>
          <p:cNvSpPr txBox="1"/>
          <p:nvPr/>
        </p:nvSpPr>
        <p:spPr>
          <a:xfrm>
            <a:off x="1234440" y="3383280"/>
            <a:ext cx="2651760" cy="64008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Nearest ≠ capable</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maps show distance, not the specialist on duty</a:t>
            </a:r>
            <a:endParaRPr lang="en-US" sz="1200" dirty="0"/>
          </a:p>
        </p:txBody>
      </p:sp>
      <p:pic>
        <p:nvPicPr>
          <p:cNvPr id="11" name="icon" descr="preencoded.png">    </p:cNvPr>
          <p:cNvPicPr>
            <a:picLocks noChangeAspect="1"/>
          </p:cNvPicPr>
          <p:nvPr/>
        </p:nvPicPr>
        <p:blipFill>
          <a:blip r:embed="rId2"/>
          <a:stretch>
            <a:fillRect/>
          </a:stretch>
        </p:blipFill>
        <p:spPr>
          <a:xfrm>
            <a:off x="777240" y="4105656"/>
            <a:ext cx="329184" cy="329184"/>
          </a:xfrm>
          <a:prstGeom prst="rect">
            <a:avLst/>
          </a:prstGeom>
        </p:spPr>
      </p:pic>
      <p:sp>
        <p:nvSpPr>
          <p:cNvPr id="12" name="Text 8"/>
          <p:cNvSpPr txBox="1"/>
          <p:nvPr/>
        </p:nvSpPr>
        <p:spPr>
          <a:xfrm>
            <a:off x="1234440" y="4069080"/>
            <a:ext cx="2651760" cy="64008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No trusted live status</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bed figures are old, nobody owns them</a:t>
            </a:r>
            <a:endParaRPr lang="en-US" sz="1200" dirty="0"/>
          </a:p>
        </p:txBody>
      </p:sp>
      <p:pic>
        <p:nvPicPr>
          <p:cNvPr id="13" name="icon" descr="preencoded.png">    </p:cNvPr>
          <p:cNvPicPr>
            <a:picLocks noChangeAspect="1"/>
          </p:cNvPicPr>
          <p:nvPr/>
        </p:nvPicPr>
        <p:blipFill>
          <a:blip r:embed="rId3"/>
          <a:stretch>
            <a:fillRect/>
          </a:stretch>
        </p:blipFill>
        <p:spPr>
          <a:xfrm>
            <a:off x="777240" y="4791456"/>
            <a:ext cx="329184" cy="329184"/>
          </a:xfrm>
          <a:prstGeom prst="rect">
            <a:avLst/>
          </a:prstGeom>
        </p:spPr>
      </p:pic>
      <p:sp>
        <p:nvSpPr>
          <p:cNvPr id="14" name="Text 9"/>
          <p:cNvSpPr txBox="1"/>
          <p:nvPr/>
        </p:nvSpPr>
        <p:spPr>
          <a:xfrm>
            <a:off x="1234440" y="4754880"/>
            <a:ext cx="2651760" cy="64008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No acceptance first</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refusal happens at the hospital gate</a:t>
            </a:r>
            <a:endParaRPr lang="en-US" sz="1200" dirty="0"/>
          </a:p>
        </p:txBody>
      </p:sp>
      <p:pic>
        <p:nvPicPr>
          <p:cNvPr id="15" name="icon" descr="preencoded.png">    </p:cNvPr>
          <p:cNvPicPr>
            <a:picLocks noChangeAspect="1"/>
          </p:cNvPicPr>
          <p:nvPr/>
        </p:nvPicPr>
        <p:blipFill>
          <a:blip r:embed="rId4"/>
          <a:stretch>
            <a:fillRect/>
          </a:stretch>
        </p:blipFill>
        <p:spPr>
          <a:xfrm>
            <a:off x="777240" y="5477256"/>
            <a:ext cx="329184" cy="329184"/>
          </a:xfrm>
          <a:prstGeom prst="rect">
            <a:avLst/>
          </a:prstGeom>
        </p:spPr>
      </p:pic>
      <p:sp>
        <p:nvSpPr>
          <p:cNvPr id="16" name="Text 10"/>
          <p:cNvSpPr txBox="1"/>
          <p:nvPr/>
        </p:nvSpPr>
        <p:spPr>
          <a:xfrm>
            <a:off x="1234440" y="5440680"/>
            <a:ext cx="2651760" cy="64008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Weak networks</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villages have 2G or no data</a:t>
            </a:r>
            <a:endParaRPr lang="en-US" sz="1200" dirty="0"/>
          </a:p>
        </p:txBody>
      </p:sp>
      <p:sp>
        <p:nvSpPr>
          <p:cNvPr id="17" name="card"/>
          <p:cNvSpPr/>
          <p:nvPr/>
        </p:nvSpPr>
        <p:spPr>
          <a:xfrm>
            <a:off x="4297680" y="1463040"/>
            <a:ext cx="2304288" cy="3017520"/>
          </a:xfrm>
          <a:prstGeom prst="roundRect">
            <a:avLst>
              <a:gd name="adj" fmla="val 3175"/>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8" name="icon tile"/>
          <p:cNvSpPr/>
          <p:nvPr/>
        </p:nvSpPr>
        <p:spPr>
          <a:xfrm>
            <a:off x="4480560" y="1645920"/>
            <a:ext cx="566928" cy="566928"/>
          </a:xfrm>
          <a:prstGeom prst="roundRect">
            <a:avLst>
              <a:gd name="adj" fmla="val 16129"/>
            </a:avLst>
          </a:prstGeom>
          <a:solidFill>
            <a:srgbClr val="E0F2FE"/>
          </a:solidFill>
          <a:ln w="6350">
            <a:solidFill>
              <a:srgbClr val="E0F2FE"/>
            </a:solidFill>
            <a:prstDash val="solid"/>
          </a:ln>
        </p:spPr>
      </p:sp>
      <p:pic>
        <p:nvPicPr>
          <p:cNvPr id="19" name="icon" descr="preencoded.png">    </p:cNvPr>
          <p:cNvPicPr>
            <a:picLocks noChangeAspect="1"/>
          </p:cNvPicPr>
          <p:nvPr/>
        </p:nvPicPr>
        <p:blipFill>
          <a:blip r:embed="rId5"/>
          <a:stretch>
            <a:fillRect/>
          </a:stretch>
        </p:blipFill>
        <p:spPr>
          <a:xfrm>
            <a:off x="4593946" y="1759306"/>
            <a:ext cx="340157" cy="340157"/>
          </a:xfrm>
          <a:prstGeom prst="rect">
            <a:avLst/>
          </a:prstGeom>
        </p:spPr>
      </p:pic>
      <p:sp>
        <p:nvSpPr>
          <p:cNvPr id="20" name="Text 13"/>
          <p:cNvSpPr txBox="1"/>
          <p:nvPr/>
        </p:nvSpPr>
        <p:spPr>
          <a:xfrm>
            <a:off x="4480560" y="2304288"/>
            <a:ext cx="1984248"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Citizen / family</a:t>
            </a:r>
            <a:endParaRPr lang="en-US" sz="1500" dirty="0"/>
          </a:p>
        </p:txBody>
      </p:sp>
      <p:sp>
        <p:nvSpPr>
          <p:cNvPr id="21" name="Text 14"/>
          <p:cNvSpPr txBox="1"/>
          <p:nvPr/>
        </p:nvSpPr>
        <p:spPr>
          <a:xfrm>
            <a:off x="4480560" y="2670048"/>
            <a:ext cx="2011680" cy="17373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Speak or type in Hindi / English</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Aadhaar + OTP verified account</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See beds, doctors, blood live</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SMS when there is no internet</a:t>
            </a:r>
            <a:endParaRPr lang="en-US" sz="1200" dirty="0"/>
          </a:p>
        </p:txBody>
      </p:sp>
      <p:sp>
        <p:nvSpPr>
          <p:cNvPr id="22" name="arrow"/>
          <p:cNvSpPr/>
          <p:nvPr/>
        </p:nvSpPr>
        <p:spPr>
          <a:xfrm>
            <a:off x="5449824" y="4526280"/>
            <a:ext cx="0" cy="320040"/>
          </a:xfrm>
          <a:prstGeom prst="line">
            <a:avLst/>
          </a:prstGeom>
          <a:noFill/>
          <a:ln w="19050">
            <a:solidFill>
              <a:srgbClr val="0E7490"/>
            </a:solidFill>
            <a:prstDash val="solid"/>
            <a:tailEnd type="triangle"/>
          </a:ln>
        </p:spPr>
      </p:sp>
      <p:sp>
        <p:nvSpPr>
          <p:cNvPr id="23" name="card"/>
          <p:cNvSpPr/>
          <p:nvPr/>
        </p:nvSpPr>
        <p:spPr>
          <a:xfrm>
            <a:off x="6784848" y="1463040"/>
            <a:ext cx="2304288" cy="3017520"/>
          </a:xfrm>
          <a:prstGeom prst="roundRect">
            <a:avLst>
              <a:gd name="adj" fmla="val 3175"/>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24" name="icon tile"/>
          <p:cNvSpPr/>
          <p:nvPr/>
        </p:nvSpPr>
        <p:spPr>
          <a:xfrm>
            <a:off x="6967728" y="1645920"/>
            <a:ext cx="566928" cy="566928"/>
          </a:xfrm>
          <a:prstGeom prst="roundRect">
            <a:avLst>
              <a:gd name="adj" fmla="val 16129"/>
            </a:avLst>
          </a:prstGeom>
          <a:solidFill>
            <a:srgbClr val="ECFDF5"/>
          </a:solidFill>
          <a:ln w="6350">
            <a:solidFill>
              <a:srgbClr val="ECFDF5"/>
            </a:solidFill>
            <a:prstDash val="solid"/>
          </a:ln>
        </p:spPr>
      </p:sp>
      <p:pic>
        <p:nvPicPr>
          <p:cNvPr id="25" name="icon" descr="preencoded.png">    </p:cNvPr>
          <p:cNvPicPr>
            <a:picLocks noChangeAspect="1"/>
          </p:cNvPicPr>
          <p:nvPr/>
        </p:nvPicPr>
        <p:blipFill>
          <a:blip r:embed="rId6"/>
          <a:stretch>
            <a:fillRect/>
          </a:stretch>
        </p:blipFill>
        <p:spPr>
          <a:xfrm>
            <a:off x="7081114" y="1759306"/>
            <a:ext cx="340157" cy="340157"/>
          </a:xfrm>
          <a:prstGeom prst="rect">
            <a:avLst/>
          </a:prstGeom>
        </p:spPr>
      </p:pic>
      <p:sp>
        <p:nvSpPr>
          <p:cNvPr id="26" name="Text 18"/>
          <p:cNvSpPr txBox="1"/>
          <p:nvPr/>
        </p:nvSpPr>
        <p:spPr>
          <a:xfrm>
            <a:off x="6967728" y="2304288"/>
            <a:ext cx="1984248"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Hospital</a:t>
            </a:r>
            <a:endParaRPr lang="en-US" sz="1500" dirty="0"/>
          </a:p>
        </p:txBody>
      </p:sp>
      <p:sp>
        <p:nvSpPr>
          <p:cNvPr id="27" name="Text 19"/>
          <p:cNvSpPr txBox="1"/>
          <p:nvPr/>
        </p:nvSpPr>
        <p:spPr>
          <a:xfrm>
            <a:off x="6967728" y="2670048"/>
            <a:ext cx="2011680" cy="17373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Accept referral, reserve a bay</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AI pre-arrival (SBAR) note</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Update every 108 minutes</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Named Data Update Officer</a:t>
            </a:r>
            <a:endParaRPr lang="en-US" sz="1200" dirty="0"/>
          </a:p>
        </p:txBody>
      </p:sp>
      <p:sp>
        <p:nvSpPr>
          <p:cNvPr id="28" name="arrow"/>
          <p:cNvSpPr/>
          <p:nvPr/>
        </p:nvSpPr>
        <p:spPr>
          <a:xfrm>
            <a:off x="7936992" y="4526280"/>
            <a:ext cx="0" cy="320040"/>
          </a:xfrm>
          <a:prstGeom prst="line">
            <a:avLst/>
          </a:prstGeom>
          <a:noFill/>
          <a:ln w="19050">
            <a:solidFill>
              <a:srgbClr val="0E7490"/>
            </a:solidFill>
            <a:prstDash val="solid"/>
            <a:tailEnd type="triangle"/>
          </a:ln>
        </p:spPr>
      </p:sp>
      <p:sp>
        <p:nvSpPr>
          <p:cNvPr id="29" name="card"/>
          <p:cNvSpPr/>
          <p:nvPr/>
        </p:nvSpPr>
        <p:spPr>
          <a:xfrm>
            <a:off x="9272016" y="1463040"/>
            <a:ext cx="2304288" cy="3017520"/>
          </a:xfrm>
          <a:prstGeom prst="roundRect">
            <a:avLst>
              <a:gd name="adj" fmla="val 3175"/>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30" name="icon tile"/>
          <p:cNvSpPr/>
          <p:nvPr/>
        </p:nvSpPr>
        <p:spPr>
          <a:xfrm>
            <a:off x="9454896" y="1645920"/>
            <a:ext cx="566928" cy="566928"/>
          </a:xfrm>
          <a:prstGeom prst="roundRect">
            <a:avLst>
              <a:gd name="adj" fmla="val 16129"/>
            </a:avLst>
          </a:prstGeom>
          <a:solidFill>
            <a:srgbClr val="FEF2F2"/>
          </a:solidFill>
          <a:ln w="6350">
            <a:solidFill>
              <a:srgbClr val="FEF2F2"/>
            </a:solidFill>
            <a:prstDash val="solid"/>
          </a:ln>
        </p:spPr>
      </p:sp>
      <p:pic>
        <p:nvPicPr>
          <p:cNvPr id="31" name="icon" descr="preencoded.png">    </p:cNvPr>
          <p:cNvPicPr>
            <a:picLocks noChangeAspect="1"/>
          </p:cNvPicPr>
          <p:nvPr/>
        </p:nvPicPr>
        <p:blipFill>
          <a:blip r:embed="rId7"/>
          <a:stretch>
            <a:fillRect/>
          </a:stretch>
        </p:blipFill>
        <p:spPr>
          <a:xfrm>
            <a:off x="9568282" y="1759306"/>
            <a:ext cx="340157" cy="340157"/>
          </a:xfrm>
          <a:prstGeom prst="rect">
            <a:avLst/>
          </a:prstGeom>
        </p:spPr>
      </p:pic>
      <p:sp>
        <p:nvSpPr>
          <p:cNvPr id="32" name="Text 23"/>
          <p:cNvSpPr txBox="1"/>
          <p:nvPr/>
        </p:nvSpPr>
        <p:spPr>
          <a:xfrm>
            <a:off x="9454896" y="2304288"/>
            <a:ext cx="1984248"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108 / 102 control room</a:t>
            </a:r>
            <a:endParaRPr lang="en-US" sz="1500" dirty="0"/>
          </a:p>
        </p:txBody>
      </p:sp>
      <p:sp>
        <p:nvSpPr>
          <p:cNvPr id="33" name="Text 24"/>
          <p:cNvSpPr txBox="1"/>
          <p:nvPr/>
        </p:nvSpPr>
        <p:spPr>
          <a:xfrm>
            <a:off x="9454896" y="2670048"/>
            <a:ext cx="2011680" cy="17373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Signed incident, no re-asking</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Nearest suitable unit</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Live status back to family</a:t>
            </a:r>
            <a:endParaRPr lang="en-US" sz="1200" dirty="0"/>
          </a:p>
          <a:p>
            <a:pPr marL="152400" indent="-152400">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102 Janani for pregnancy</a:t>
            </a:r>
            <a:endParaRPr lang="en-US" sz="1200" dirty="0"/>
          </a:p>
        </p:txBody>
      </p:sp>
      <p:sp>
        <p:nvSpPr>
          <p:cNvPr id="34" name="arrow"/>
          <p:cNvSpPr/>
          <p:nvPr/>
        </p:nvSpPr>
        <p:spPr>
          <a:xfrm>
            <a:off x="10424160" y="4526280"/>
            <a:ext cx="0" cy="320040"/>
          </a:xfrm>
          <a:prstGeom prst="line">
            <a:avLst/>
          </a:prstGeom>
          <a:noFill/>
          <a:ln w="19050">
            <a:solidFill>
              <a:srgbClr val="0E7490"/>
            </a:solidFill>
            <a:prstDash val="solid"/>
            <a:tailEnd type="triangle"/>
          </a:ln>
        </p:spPr>
      </p:sp>
      <p:sp>
        <p:nvSpPr>
          <p:cNvPr id="35" name="card"/>
          <p:cNvSpPr/>
          <p:nvPr/>
        </p:nvSpPr>
        <p:spPr>
          <a:xfrm>
            <a:off x="4297680" y="4892040"/>
            <a:ext cx="7278624" cy="777240"/>
          </a:xfrm>
          <a:prstGeom prst="roundRect">
            <a:avLst>
              <a:gd name="adj" fmla="val 9412"/>
            </a:avLst>
          </a:prstGeom>
          <a:solidFill>
            <a:srgbClr val="0E7490"/>
          </a:solidFill>
          <a:ln w="12700">
            <a:solidFill>
              <a:srgbClr val="0E7490"/>
            </a:solidFill>
            <a:prstDash val="solid"/>
          </a:ln>
        </p:spPr>
      </p:sp>
      <p:pic>
        <p:nvPicPr>
          <p:cNvPr id="36" name="logo" descr="preencoded.png">    </p:cNvPr>
          <p:cNvPicPr>
            <a:picLocks noChangeAspect="1"/>
          </p:cNvPicPr>
          <p:nvPr/>
        </p:nvPicPr>
        <p:blipFill>
          <a:blip r:embed="rId8"/>
          <a:stretch>
            <a:fillRect/>
          </a:stretch>
        </p:blipFill>
        <p:spPr>
          <a:xfrm>
            <a:off x="4480560" y="5001768"/>
            <a:ext cx="548640" cy="548640"/>
          </a:xfrm>
          <a:prstGeom prst="rect">
            <a:avLst/>
          </a:prstGeom>
        </p:spPr>
      </p:pic>
      <p:sp>
        <p:nvSpPr>
          <p:cNvPr id="37" name="Text 27"/>
          <p:cNvSpPr txBox="1"/>
          <p:nvPr/>
        </p:nvSpPr>
        <p:spPr>
          <a:xfrm>
            <a:off x="5166360" y="4983480"/>
            <a:ext cx="6309360" cy="621792"/>
          </a:xfrm>
          <a:prstGeom prst="rect">
            <a:avLst/>
          </a:prstGeom>
          <a:noFill/>
          <a:ln/>
        </p:spPr>
        <p:txBody>
          <a:bodyPr wrap="square" lIns="0" tIns="0" rIns="0" bIns="0"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MEDREACH ENGINE</a:t>
            </a:r>
            <a:endParaRPr lang="en-US" sz="1250" dirty="0"/>
          </a:p>
          <a:p>
            <a:pPr indent="0" marL="0">
              <a:buNone/>
            </a:pPr>
            <a:r>
              <a:rPr lang="en-US" sz="1250" dirty="0">
                <a:solidFill>
                  <a:srgbClr val="E0F2FE"/>
                </a:solidFill>
                <a:latin typeface="Calibri" pitchFamily="34" charset="0"/>
                <a:ea typeface="Calibri" pitchFamily="34" charset="-122"/>
                <a:cs typeface="Calibri" pitchFamily="34" charset="-120"/>
              </a:rPr>
              <a:t>AI triage · Match score · Live capacity · 108 hand-off · SMS gateway · Tamper-evident audit</a:t>
            </a:r>
            <a:endParaRPr lang="en-US" sz="1250" dirty="0"/>
          </a:p>
        </p:txBody>
      </p:sp>
      <p:sp>
        <p:nvSpPr>
          <p:cNvPr id="38" name="Text 28"/>
          <p:cNvSpPr txBox="1"/>
          <p:nvPr/>
        </p:nvSpPr>
        <p:spPr>
          <a:xfrm>
            <a:off x="4297680" y="5833872"/>
            <a:ext cx="7278624" cy="320040"/>
          </a:xfrm>
          <a:prstGeom prst="rect">
            <a:avLst/>
          </a:prstGeom>
          <a:noFill/>
          <a:ln/>
        </p:spPr>
        <p:txBody>
          <a:bodyPr wrap="square" lIns="0" tIns="0" rIns="0" bIns="0" rtlCol="0" anchor="t"/>
          <a:lstStyle/>
          <a:p>
            <a:pPr indent="0" marL="0">
              <a:buNone/>
            </a:pPr>
            <a:r>
              <a:rPr lang="en-US" sz="1150" i="1" dirty="0">
                <a:solidFill>
                  <a:srgbClr val="64748B"/>
                </a:solidFill>
                <a:latin typeface="Calibri" pitchFamily="34" charset="0"/>
                <a:ea typeface="Calibri" pitchFamily="34" charset="-122"/>
                <a:cs typeface="Calibri" pitchFamily="34" charset="-120"/>
              </a:rPr>
              <a:t>Running today: 16 hospitals across Bhopal, Raisen, Sehore and Vidisha · 9-ambulance practice 108 fleet · English and Hindi</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04  SOLUTION PROPOSED</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From First Words to a </a:t>
            </a:r>
            <a:pPr algn="l" indent="0" marL="0">
              <a:buNone/>
            </a:pPr>
            <a:r>
              <a:rPr lang="en-US" sz="3400" b="1" dirty="0">
                <a:solidFill>
                  <a:srgbClr val="0E7490"/>
                </a:solidFill>
              </a:rPr>
              <a:t>Confirmed Bed</a:t>
            </a:r>
            <a:pPr algn="l" indent="0" marL="0">
              <a:buNone/>
            </a:pPr>
            <a:r>
              <a:rPr lang="en-US" sz="3400" b="1" dirty="0">
                <a:solidFill>
                  <a:schemeClr val="tx1"/>
                </a:solidFill>
              </a:rPr>
              <a:t> in 7 Steps</a:t>
            </a:r>
            <a:endParaRPr lang="en-US" sz="3400" dirty="0"/>
          </a:p>
        </p:txBody>
      </p:sp>
      <p:sp>
        <p:nvSpPr>
          <p:cNvPr id="4" name="card"/>
          <p:cNvSpPr/>
          <p:nvPr/>
        </p:nvSpPr>
        <p:spPr>
          <a:xfrm>
            <a:off x="548640" y="1417320"/>
            <a:ext cx="1426464" cy="1508760"/>
          </a:xfrm>
          <a:prstGeom prst="roundRect">
            <a:avLst>
              <a:gd name="adj" fmla="val 5128"/>
            </a:avLst>
          </a:prstGeom>
          <a:solidFill>
            <a:srgbClr val="F1F5F9"/>
          </a:solidFill>
          <a:ln w="12700">
            <a:solidFill>
              <a:srgbClr val="D6DEE8"/>
            </a:solidFill>
            <a:prstDash val="solid"/>
          </a:ln>
        </p:spPr>
      </p:sp>
      <p:sp>
        <p:nvSpPr>
          <p:cNvPr id="5" name="Text 3"/>
          <p:cNvSpPr txBox="1"/>
          <p:nvPr/>
        </p:nvSpPr>
        <p:spPr>
          <a:xfrm>
            <a:off x="640080"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 name="icon" descr="preencoded.png">    </p:cNvPr>
          <p:cNvPicPr>
            <a:picLocks noChangeAspect="1"/>
          </p:cNvPicPr>
          <p:nvPr/>
        </p:nvPicPr>
        <p:blipFill>
          <a:blip r:embed="rId1"/>
          <a:stretch>
            <a:fillRect/>
          </a:stretch>
        </p:blipFill>
        <p:spPr>
          <a:xfrm>
            <a:off x="1051560" y="1572768"/>
            <a:ext cx="420624" cy="420624"/>
          </a:xfrm>
          <a:prstGeom prst="rect">
            <a:avLst/>
          </a:prstGeom>
        </p:spPr>
      </p:pic>
      <p:sp>
        <p:nvSpPr>
          <p:cNvPr id="7" name="Text 4"/>
          <p:cNvSpPr txBox="1"/>
          <p:nvPr/>
        </p:nvSpPr>
        <p:spPr>
          <a:xfrm>
            <a:off x="603504"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Speak</a:t>
            </a:r>
            <a:endParaRPr lang="en-US" sz="1300" dirty="0"/>
          </a:p>
        </p:txBody>
      </p:sp>
      <p:sp>
        <p:nvSpPr>
          <p:cNvPr id="8" name="Text 5"/>
          <p:cNvSpPr txBox="1"/>
          <p:nvPr/>
        </p:nvSpPr>
        <p:spPr>
          <a:xfrm>
            <a:off x="621792"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voice, text, photo or health card</a:t>
            </a:r>
            <a:endParaRPr lang="en-US" sz="1050" dirty="0"/>
          </a:p>
        </p:txBody>
      </p:sp>
      <p:sp>
        <p:nvSpPr>
          <p:cNvPr id="9" name="Text 6"/>
          <p:cNvSpPr txBox="1"/>
          <p:nvPr/>
        </p:nvSpPr>
        <p:spPr>
          <a:xfrm>
            <a:off x="1975104"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10" name="card"/>
          <p:cNvSpPr/>
          <p:nvPr/>
        </p:nvSpPr>
        <p:spPr>
          <a:xfrm>
            <a:off x="2139696" y="1417320"/>
            <a:ext cx="1426464" cy="1508760"/>
          </a:xfrm>
          <a:prstGeom prst="roundRect">
            <a:avLst>
              <a:gd name="adj" fmla="val 5128"/>
            </a:avLst>
          </a:prstGeom>
          <a:solidFill>
            <a:srgbClr val="F1F5F9"/>
          </a:solidFill>
          <a:ln w="12700">
            <a:solidFill>
              <a:srgbClr val="D6DEE8"/>
            </a:solidFill>
            <a:prstDash val="solid"/>
          </a:ln>
        </p:spPr>
      </p:sp>
      <p:sp>
        <p:nvSpPr>
          <p:cNvPr id="11" name="Text 8"/>
          <p:cNvSpPr txBox="1"/>
          <p:nvPr/>
        </p:nvSpPr>
        <p:spPr>
          <a:xfrm>
            <a:off x="2231136"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2" name="icon" descr="preencoded.png">    </p:cNvPr>
          <p:cNvPicPr>
            <a:picLocks noChangeAspect="1"/>
          </p:cNvPicPr>
          <p:nvPr/>
        </p:nvPicPr>
        <p:blipFill>
          <a:blip r:embed="rId2"/>
          <a:stretch>
            <a:fillRect/>
          </a:stretch>
        </p:blipFill>
        <p:spPr>
          <a:xfrm>
            <a:off x="2642616" y="1572768"/>
            <a:ext cx="420624" cy="420624"/>
          </a:xfrm>
          <a:prstGeom prst="rect">
            <a:avLst/>
          </a:prstGeom>
        </p:spPr>
      </p:pic>
      <p:sp>
        <p:nvSpPr>
          <p:cNvPr id="13" name="Text 9"/>
          <p:cNvSpPr txBox="1"/>
          <p:nvPr/>
        </p:nvSpPr>
        <p:spPr>
          <a:xfrm>
            <a:off x="2194560"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AI triage</a:t>
            </a:r>
            <a:endParaRPr lang="en-US" sz="1300" dirty="0"/>
          </a:p>
        </p:txBody>
      </p:sp>
      <p:sp>
        <p:nvSpPr>
          <p:cNvPr id="14" name="Text 10"/>
          <p:cNvSpPr txBox="1"/>
          <p:nvPr/>
        </p:nvSpPr>
        <p:spPr>
          <a:xfrm>
            <a:off x="2212848"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severity, red flags, needs</a:t>
            </a:r>
            <a:endParaRPr lang="en-US" sz="1050" dirty="0"/>
          </a:p>
        </p:txBody>
      </p:sp>
      <p:sp>
        <p:nvSpPr>
          <p:cNvPr id="15" name="Text 11"/>
          <p:cNvSpPr txBox="1"/>
          <p:nvPr/>
        </p:nvSpPr>
        <p:spPr>
          <a:xfrm>
            <a:off x="3566160"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16" name="card"/>
          <p:cNvSpPr/>
          <p:nvPr/>
        </p:nvSpPr>
        <p:spPr>
          <a:xfrm>
            <a:off x="3730752" y="1417320"/>
            <a:ext cx="1426464" cy="1508760"/>
          </a:xfrm>
          <a:prstGeom prst="roundRect">
            <a:avLst>
              <a:gd name="adj" fmla="val 5128"/>
            </a:avLst>
          </a:prstGeom>
          <a:solidFill>
            <a:srgbClr val="F1F5F9"/>
          </a:solidFill>
          <a:ln w="12700">
            <a:solidFill>
              <a:srgbClr val="D6DEE8"/>
            </a:solidFill>
            <a:prstDash val="solid"/>
          </a:ln>
        </p:spPr>
      </p:sp>
      <p:sp>
        <p:nvSpPr>
          <p:cNvPr id="17" name="Text 13"/>
          <p:cNvSpPr txBox="1"/>
          <p:nvPr/>
        </p:nvSpPr>
        <p:spPr>
          <a:xfrm>
            <a:off x="3822192"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8" name="icon" descr="preencoded.png">    </p:cNvPr>
          <p:cNvPicPr>
            <a:picLocks noChangeAspect="1"/>
          </p:cNvPicPr>
          <p:nvPr/>
        </p:nvPicPr>
        <p:blipFill>
          <a:blip r:embed="rId3"/>
          <a:stretch>
            <a:fillRect/>
          </a:stretch>
        </p:blipFill>
        <p:spPr>
          <a:xfrm>
            <a:off x="4233672" y="1572768"/>
            <a:ext cx="420624" cy="420624"/>
          </a:xfrm>
          <a:prstGeom prst="rect">
            <a:avLst/>
          </a:prstGeom>
        </p:spPr>
      </p:pic>
      <p:sp>
        <p:nvSpPr>
          <p:cNvPr id="19" name="Text 14"/>
          <p:cNvSpPr txBox="1"/>
          <p:nvPr/>
        </p:nvSpPr>
        <p:spPr>
          <a:xfrm>
            <a:off x="3785616"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Match score</a:t>
            </a:r>
            <a:endParaRPr lang="en-US" sz="1300" dirty="0"/>
          </a:p>
        </p:txBody>
      </p:sp>
      <p:sp>
        <p:nvSpPr>
          <p:cNvPr id="20" name="Text 15"/>
          <p:cNvSpPr txBox="1"/>
          <p:nvPr/>
        </p:nvSpPr>
        <p:spPr>
          <a:xfrm>
            <a:off x="3803904"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specialist, bed, distance, freshness</a:t>
            </a:r>
            <a:endParaRPr lang="en-US" sz="1050" dirty="0"/>
          </a:p>
        </p:txBody>
      </p:sp>
      <p:sp>
        <p:nvSpPr>
          <p:cNvPr id="21" name="Text 16"/>
          <p:cNvSpPr txBox="1"/>
          <p:nvPr/>
        </p:nvSpPr>
        <p:spPr>
          <a:xfrm>
            <a:off x="5157216"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22" name="card"/>
          <p:cNvSpPr/>
          <p:nvPr/>
        </p:nvSpPr>
        <p:spPr>
          <a:xfrm>
            <a:off x="5321808" y="1417320"/>
            <a:ext cx="1426464" cy="1508760"/>
          </a:xfrm>
          <a:prstGeom prst="roundRect">
            <a:avLst>
              <a:gd name="adj" fmla="val 5128"/>
            </a:avLst>
          </a:prstGeom>
          <a:solidFill>
            <a:srgbClr val="F1F5F9"/>
          </a:solidFill>
          <a:ln w="12700">
            <a:solidFill>
              <a:srgbClr val="D6DEE8"/>
            </a:solidFill>
            <a:prstDash val="solid"/>
          </a:ln>
        </p:spPr>
      </p:sp>
      <p:sp>
        <p:nvSpPr>
          <p:cNvPr id="23" name="Text 18"/>
          <p:cNvSpPr txBox="1"/>
          <p:nvPr/>
        </p:nvSpPr>
        <p:spPr>
          <a:xfrm>
            <a:off x="5413248"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4" name="icon" descr="preencoded.png">    </p:cNvPr>
          <p:cNvPicPr>
            <a:picLocks noChangeAspect="1"/>
          </p:cNvPicPr>
          <p:nvPr/>
        </p:nvPicPr>
        <p:blipFill>
          <a:blip r:embed="rId4"/>
          <a:stretch>
            <a:fillRect/>
          </a:stretch>
        </p:blipFill>
        <p:spPr>
          <a:xfrm>
            <a:off x="5824728" y="1572768"/>
            <a:ext cx="420624" cy="420624"/>
          </a:xfrm>
          <a:prstGeom prst="rect">
            <a:avLst/>
          </a:prstGeom>
        </p:spPr>
      </p:pic>
      <p:sp>
        <p:nvSpPr>
          <p:cNvPr id="25" name="Text 19"/>
          <p:cNvSpPr txBox="1"/>
          <p:nvPr/>
        </p:nvSpPr>
        <p:spPr>
          <a:xfrm>
            <a:off x="5376672"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Hospital accepts</a:t>
            </a:r>
            <a:endParaRPr lang="en-US" sz="1300" dirty="0"/>
          </a:p>
        </p:txBody>
      </p:sp>
      <p:sp>
        <p:nvSpPr>
          <p:cNvPr id="26" name="Text 20"/>
          <p:cNvSpPr txBox="1"/>
          <p:nvPr/>
        </p:nvSpPr>
        <p:spPr>
          <a:xfrm>
            <a:off x="5394960"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named officer reserves a bay</a:t>
            </a:r>
            <a:endParaRPr lang="en-US" sz="1050" dirty="0"/>
          </a:p>
        </p:txBody>
      </p:sp>
      <p:sp>
        <p:nvSpPr>
          <p:cNvPr id="27" name="Text 21"/>
          <p:cNvSpPr txBox="1"/>
          <p:nvPr/>
        </p:nvSpPr>
        <p:spPr>
          <a:xfrm>
            <a:off x="6748272"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28" name="card"/>
          <p:cNvSpPr/>
          <p:nvPr/>
        </p:nvSpPr>
        <p:spPr>
          <a:xfrm>
            <a:off x="6912864" y="1417320"/>
            <a:ext cx="1426464" cy="1508760"/>
          </a:xfrm>
          <a:prstGeom prst="roundRect">
            <a:avLst>
              <a:gd name="adj" fmla="val 5128"/>
            </a:avLst>
          </a:prstGeom>
          <a:solidFill>
            <a:srgbClr val="FEF2F2"/>
          </a:solidFill>
          <a:ln w="12700">
            <a:solidFill>
              <a:srgbClr val="FECACA"/>
            </a:solidFill>
            <a:prstDash val="solid"/>
          </a:ln>
        </p:spPr>
      </p:sp>
      <p:sp>
        <p:nvSpPr>
          <p:cNvPr id="29" name="Text 23"/>
          <p:cNvSpPr txBox="1"/>
          <p:nvPr/>
        </p:nvSpPr>
        <p:spPr>
          <a:xfrm>
            <a:off x="7004304" y="1499616"/>
            <a:ext cx="292608" cy="292608"/>
          </a:xfrm>
          <a:prstGeom prst="ellipse">
            <a:avLst/>
          </a:prstGeom>
          <a:solidFill>
            <a:srgbClr val="DC26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30" name="icon" descr="preencoded.png">    </p:cNvPr>
          <p:cNvPicPr>
            <a:picLocks noChangeAspect="1"/>
          </p:cNvPicPr>
          <p:nvPr/>
        </p:nvPicPr>
        <p:blipFill>
          <a:blip r:embed="rId5"/>
          <a:stretch>
            <a:fillRect/>
          </a:stretch>
        </p:blipFill>
        <p:spPr>
          <a:xfrm>
            <a:off x="7415784" y="1572768"/>
            <a:ext cx="420624" cy="420624"/>
          </a:xfrm>
          <a:prstGeom prst="rect">
            <a:avLst/>
          </a:prstGeom>
        </p:spPr>
      </p:pic>
      <p:sp>
        <p:nvSpPr>
          <p:cNvPr id="31" name="Text 24"/>
          <p:cNvSpPr txBox="1"/>
          <p:nvPr/>
        </p:nvSpPr>
        <p:spPr>
          <a:xfrm>
            <a:off x="6967728"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108 / 102</a:t>
            </a:r>
            <a:endParaRPr lang="en-US" sz="1300" dirty="0"/>
          </a:p>
        </p:txBody>
      </p:sp>
      <p:sp>
        <p:nvSpPr>
          <p:cNvPr id="32" name="Text 25"/>
          <p:cNvSpPr txBox="1"/>
          <p:nvPr/>
        </p:nvSpPr>
        <p:spPr>
          <a:xfrm>
            <a:off x="6986016"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signed incident, nearest unit</a:t>
            </a:r>
            <a:endParaRPr lang="en-US" sz="1050" dirty="0"/>
          </a:p>
        </p:txBody>
      </p:sp>
      <p:sp>
        <p:nvSpPr>
          <p:cNvPr id="33" name="Text 26"/>
          <p:cNvSpPr txBox="1"/>
          <p:nvPr/>
        </p:nvSpPr>
        <p:spPr>
          <a:xfrm>
            <a:off x="8339328"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34" name="card"/>
          <p:cNvSpPr/>
          <p:nvPr/>
        </p:nvSpPr>
        <p:spPr>
          <a:xfrm>
            <a:off x="8503920" y="1417320"/>
            <a:ext cx="1426464" cy="1508760"/>
          </a:xfrm>
          <a:prstGeom prst="roundRect">
            <a:avLst>
              <a:gd name="adj" fmla="val 5128"/>
            </a:avLst>
          </a:prstGeom>
          <a:solidFill>
            <a:srgbClr val="F1F5F9"/>
          </a:solidFill>
          <a:ln w="12700">
            <a:solidFill>
              <a:srgbClr val="D6DEE8"/>
            </a:solidFill>
            <a:prstDash val="solid"/>
          </a:ln>
        </p:spPr>
      </p:sp>
      <p:sp>
        <p:nvSpPr>
          <p:cNvPr id="35" name="Text 28"/>
          <p:cNvSpPr txBox="1"/>
          <p:nvPr/>
        </p:nvSpPr>
        <p:spPr>
          <a:xfrm>
            <a:off x="8595360"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36" name="icon" descr="preencoded.png">    </p:cNvPr>
          <p:cNvPicPr>
            <a:picLocks noChangeAspect="1"/>
          </p:cNvPicPr>
          <p:nvPr/>
        </p:nvPicPr>
        <p:blipFill>
          <a:blip r:embed="rId6"/>
          <a:stretch>
            <a:fillRect/>
          </a:stretch>
        </p:blipFill>
        <p:spPr>
          <a:xfrm>
            <a:off x="9006840" y="1572768"/>
            <a:ext cx="420624" cy="420624"/>
          </a:xfrm>
          <a:prstGeom prst="rect">
            <a:avLst/>
          </a:prstGeom>
        </p:spPr>
      </p:pic>
      <p:sp>
        <p:nvSpPr>
          <p:cNvPr id="37" name="Text 29"/>
          <p:cNvSpPr txBox="1"/>
          <p:nvPr/>
        </p:nvSpPr>
        <p:spPr>
          <a:xfrm>
            <a:off x="8558784"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Live tracking</a:t>
            </a:r>
            <a:endParaRPr lang="en-US" sz="1300" dirty="0"/>
          </a:p>
        </p:txBody>
      </p:sp>
      <p:sp>
        <p:nvSpPr>
          <p:cNvPr id="38" name="Text 30"/>
          <p:cNvSpPr txBox="1"/>
          <p:nvPr/>
        </p:nvSpPr>
        <p:spPr>
          <a:xfrm>
            <a:off x="8577072"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family sees ambulance and ETA</a:t>
            </a:r>
            <a:endParaRPr lang="en-US" sz="1050" dirty="0"/>
          </a:p>
        </p:txBody>
      </p:sp>
      <p:sp>
        <p:nvSpPr>
          <p:cNvPr id="39" name="Text 31"/>
          <p:cNvSpPr txBox="1"/>
          <p:nvPr/>
        </p:nvSpPr>
        <p:spPr>
          <a:xfrm>
            <a:off x="9930384" y="1965960"/>
            <a:ext cx="164592" cy="274320"/>
          </a:xfrm>
          <a:prstGeom prst="rect">
            <a:avLst/>
          </a:prstGeom>
          <a:noFill/>
          <a:ln/>
        </p:spPr>
        <p:txBody>
          <a:bodyPr wrap="square" lIns="0" tIns="0" rIns="0" bIns="0" rtlCol="0" anchor="t"/>
          <a:lstStyle/>
          <a:p>
            <a:pPr algn="ctr" indent="0" marL="0">
              <a:buNone/>
            </a:pPr>
            <a:r>
              <a:rPr lang="en-US" sz="1600" b="1" dirty="0">
                <a:solidFill>
                  <a:srgbClr val="0E7490"/>
                </a:solidFill>
                <a:latin typeface="Calibri" pitchFamily="34" charset="0"/>
                <a:ea typeface="Calibri" pitchFamily="34" charset="-122"/>
                <a:cs typeface="Calibri" pitchFamily="34" charset="-120"/>
              </a:rPr>
              <a:t>›</a:t>
            </a:r>
            <a:endParaRPr lang="en-US" sz="1600" dirty="0"/>
          </a:p>
        </p:txBody>
      </p:sp>
      <p:sp>
        <p:nvSpPr>
          <p:cNvPr id="40" name="card"/>
          <p:cNvSpPr/>
          <p:nvPr/>
        </p:nvSpPr>
        <p:spPr>
          <a:xfrm>
            <a:off x="10094976" y="1417320"/>
            <a:ext cx="1426464" cy="1508760"/>
          </a:xfrm>
          <a:prstGeom prst="roundRect">
            <a:avLst>
              <a:gd name="adj" fmla="val 5128"/>
            </a:avLst>
          </a:prstGeom>
          <a:solidFill>
            <a:srgbClr val="F1F5F9"/>
          </a:solidFill>
          <a:ln w="12700">
            <a:solidFill>
              <a:srgbClr val="D6DEE8"/>
            </a:solidFill>
            <a:prstDash val="solid"/>
          </a:ln>
        </p:spPr>
      </p:sp>
      <p:sp>
        <p:nvSpPr>
          <p:cNvPr id="41" name="Text 33"/>
          <p:cNvSpPr txBox="1"/>
          <p:nvPr/>
        </p:nvSpPr>
        <p:spPr>
          <a:xfrm>
            <a:off x="10186416" y="1499616"/>
            <a:ext cx="292608" cy="292608"/>
          </a:xfrm>
          <a:prstGeom prst="ellipse">
            <a:avLst/>
          </a:prstGeom>
          <a:solidFill>
            <a:srgbClr val="0E74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2" name="icon" descr="preencoded.png">    </p:cNvPr>
          <p:cNvPicPr>
            <a:picLocks noChangeAspect="1"/>
          </p:cNvPicPr>
          <p:nvPr/>
        </p:nvPicPr>
        <p:blipFill>
          <a:blip r:embed="rId7"/>
          <a:stretch>
            <a:fillRect/>
          </a:stretch>
        </p:blipFill>
        <p:spPr>
          <a:xfrm>
            <a:off x="10597896" y="1572768"/>
            <a:ext cx="420624" cy="420624"/>
          </a:xfrm>
          <a:prstGeom prst="rect">
            <a:avLst/>
          </a:prstGeom>
        </p:spPr>
      </p:pic>
      <p:sp>
        <p:nvSpPr>
          <p:cNvPr id="43" name="Text 34"/>
          <p:cNvSpPr txBox="1"/>
          <p:nvPr/>
        </p:nvSpPr>
        <p:spPr>
          <a:xfrm>
            <a:off x="10149840" y="2057400"/>
            <a:ext cx="1316736"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Arrival</a:t>
            </a:r>
            <a:endParaRPr lang="en-US" sz="1300" dirty="0"/>
          </a:p>
        </p:txBody>
      </p:sp>
      <p:sp>
        <p:nvSpPr>
          <p:cNvPr id="44" name="Text 35"/>
          <p:cNvSpPr txBox="1"/>
          <p:nvPr/>
        </p:nvSpPr>
        <p:spPr>
          <a:xfrm>
            <a:off x="10168128" y="2340864"/>
            <a:ext cx="1280160" cy="548640"/>
          </a:xfrm>
          <a:prstGeom prst="rect">
            <a:avLst/>
          </a:prstGeom>
          <a:noFill/>
          <a:ln/>
        </p:spPr>
        <p:txBody>
          <a:bodyPr wrap="square" lIns="0" tIns="0" rIns="0" bIns="0" rtlCol="0" anchor="t"/>
          <a:lstStyle/>
          <a:p>
            <a:pPr algn="ctr" indent="0" marL="0">
              <a:buNone/>
            </a:pPr>
            <a:r>
              <a:rPr lang="en-US" sz="1050" dirty="0">
                <a:solidFill>
                  <a:srgbClr val="334155"/>
                </a:solidFill>
                <a:latin typeface="Calibri" pitchFamily="34" charset="0"/>
                <a:ea typeface="Calibri" pitchFamily="34" charset="-122"/>
                <a:cs typeface="Calibri" pitchFamily="34" charset="-120"/>
              </a:rPr>
              <a:t>ER ready with SBAR note</a:t>
            </a:r>
            <a:endParaRPr lang="en-US" sz="1050" dirty="0"/>
          </a:p>
        </p:txBody>
      </p:sp>
      <p:sp>
        <p:nvSpPr>
          <p:cNvPr id="45" name="Speak or pick an emergency bezel"/>
          <p:cNvSpPr/>
          <p:nvPr/>
        </p:nvSpPr>
        <p:spPr>
          <a:xfrm>
            <a:off x="621792" y="3182112"/>
            <a:ext cx="1491757" cy="2825496"/>
          </a:xfrm>
          <a:prstGeom prst="roundRect">
            <a:avLst>
              <a:gd name="adj" fmla="val 7356"/>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46" name="Speak or pick an emergency" descr="/tmp/claude-0/-home-user-Sehat-Setu/b06e8423-ed6e-57c3-bbb1-ac94b2a1720d/scratchpad/ppt9/shots/rep-1-describe.png">    </p:cNvPr>
          <p:cNvPicPr>
            <a:picLocks noChangeAspect="1"/>
          </p:cNvPicPr>
          <p:nvPr/>
        </p:nvPicPr>
        <p:blipFill>
          <a:blip r:embed="rId8"/>
          <a:srcRect l="0" r="0" t="0" b="0"/>
          <a:stretch/>
        </p:blipFill>
        <p:spPr>
          <a:xfrm>
            <a:off x="685800" y="3246120"/>
            <a:ext cx="1363741" cy="2697480"/>
          </a:xfrm>
          <a:prstGeom prst="rect">
            <a:avLst/>
          </a:prstGeom>
        </p:spPr>
      </p:pic>
      <p:sp>
        <p:nvSpPr>
          <p:cNvPr id="47" name="Text 37"/>
          <p:cNvSpPr txBox="1"/>
          <p:nvPr/>
        </p:nvSpPr>
        <p:spPr>
          <a:xfrm>
            <a:off x="594360" y="6035040"/>
            <a:ext cx="1463040" cy="32004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Speak or pick an emergency</a:t>
            </a:r>
            <a:endParaRPr lang="en-US" sz="1050" dirty="0"/>
          </a:p>
        </p:txBody>
      </p:sp>
      <p:sp>
        <p:nvSpPr>
          <p:cNvPr id="48" name="AI understands – in seconds bezel"/>
          <p:cNvSpPr/>
          <p:nvPr/>
        </p:nvSpPr>
        <p:spPr>
          <a:xfrm>
            <a:off x="2286000" y="3182112"/>
            <a:ext cx="1491757" cy="2825496"/>
          </a:xfrm>
          <a:prstGeom prst="roundRect">
            <a:avLst>
              <a:gd name="adj" fmla="val 7356"/>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49" name="AI understands – in seconds" descr="/tmp/claude-0/-home-user-Sehat-Setu/b06e8423-ed6e-57c3-bbb1-ac94b2a1720d/scratchpad/ppt9/shots/rep-2-ai.png">    </p:cNvPr>
          <p:cNvPicPr>
            <a:picLocks noChangeAspect="1"/>
          </p:cNvPicPr>
          <p:nvPr/>
        </p:nvPicPr>
        <p:blipFill>
          <a:blip r:embed="rId9"/>
          <a:srcRect l="0" r="0" t="0" b="0"/>
          <a:stretch/>
        </p:blipFill>
        <p:spPr>
          <a:xfrm>
            <a:off x="2350008" y="3246120"/>
            <a:ext cx="1363741" cy="2697480"/>
          </a:xfrm>
          <a:prstGeom prst="rect">
            <a:avLst/>
          </a:prstGeom>
        </p:spPr>
      </p:pic>
      <p:sp>
        <p:nvSpPr>
          <p:cNvPr id="50" name="Text 39"/>
          <p:cNvSpPr txBox="1"/>
          <p:nvPr/>
        </p:nvSpPr>
        <p:spPr>
          <a:xfrm>
            <a:off x="2258568" y="6035040"/>
            <a:ext cx="1463040" cy="32004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AI understands – in seconds</a:t>
            </a:r>
            <a:endParaRPr lang="en-US" sz="1050" dirty="0"/>
          </a:p>
        </p:txBody>
      </p:sp>
      <p:sp>
        <p:nvSpPr>
          <p:cNvPr id="51" name="Match score: 92/100 bezel"/>
          <p:cNvSpPr/>
          <p:nvPr/>
        </p:nvSpPr>
        <p:spPr>
          <a:xfrm>
            <a:off x="3950208" y="3182112"/>
            <a:ext cx="1491757" cy="2825496"/>
          </a:xfrm>
          <a:prstGeom prst="roundRect">
            <a:avLst>
              <a:gd name="adj" fmla="val 7356"/>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52" name="Match score: 92/100" descr="/tmp/claude-0/-home-user-Sehat-Setu/b06e8423-ed6e-57c3-bbb1-ac94b2a1720d/scratchpad/ppt9/shots/rep-3b-match.png">    </p:cNvPr>
          <p:cNvPicPr>
            <a:picLocks noChangeAspect="1"/>
          </p:cNvPicPr>
          <p:nvPr/>
        </p:nvPicPr>
        <p:blipFill>
          <a:blip r:embed="rId10"/>
          <a:srcRect l="0" r="0" t="0" b="0"/>
          <a:stretch/>
        </p:blipFill>
        <p:spPr>
          <a:xfrm>
            <a:off x="4014216" y="3246120"/>
            <a:ext cx="1363741" cy="2697480"/>
          </a:xfrm>
          <a:prstGeom prst="rect">
            <a:avLst/>
          </a:prstGeom>
        </p:spPr>
      </p:pic>
      <p:sp>
        <p:nvSpPr>
          <p:cNvPr id="53" name="Text 41"/>
          <p:cNvSpPr txBox="1"/>
          <p:nvPr/>
        </p:nvSpPr>
        <p:spPr>
          <a:xfrm>
            <a:off x="3922776" y="6035040"/>
            <a:ext cx="1463040" cy="32004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Match score: 92/100</a:t>
            </a:r>
            <a:endParaRPr lang="en-US" sz="1050" dirty="0"/>
          </a:p>
        </p:txBody>
      </p:sp>
      <p:sp>
        <p:nvSpPr>
          <p:cNvPr id="54" name="Accepted → choose 108 bezel"/>
          <p:cNvSpPr/>
          <p:nvPr/>
        </p:nvSpPr>
        <p:spPr>
          <a:xfrm>
            <a:off x="5614416" y="3182112"/>
            <a:ext cx="1491757" cy="2825496"/>
          </a:xfrm>
          <a:prstGeom prst="roundRect">
            <a:avLst>
              <a:gd name="adj" fmla="val 7356"/>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55" name="Accepted → choose 108" descr="/tmp/claude-0/-home-user-Sehat-Setu/b06e8423-ed6e-57c3-bbb1-ac94b2a1720d/scratchpad/ppt9/shots/rep-4-accepted.png">    </p:cNvPr>
          <p:cNvPicPr>
            <a:picLocks noChangeAspect="1"/>
          </p:cNvPicPr>
          <p:nvPr/>
        </p:nvPicPr>
        <p:blipFill>
          <a:blip r:embed="rId11"/>
          <a:srcRect l="0" r="0" t="0" b="0"/>
          <a:stretch/>
        </p:blipFill>
        <p:spPr>
          <a:xfrm>
            <a:off x="5678424" y="3246120"/>
            <a:ext cx="1363741" cy="2697480"/>
          </a:xfrm>
          <a:prstGeom prst="rect">
            <a:avLst/>
          </a:prstGeom>
        </p:spPr>
      </p:pic>
      <p:sp>
        <p:nvSpPr>
          <p:cNvPr id="56" name="Text 43"/>
          <p:cNvSpPr txBox="1"/>
          <p:nvPr/>
        </p:nvSpPr>
        <p:spPr>
          <a:xfrm>
            <a:off x="5586984" y="6035040"/>
            <a:ext cx="1463040" cy="32004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Accepted → choose 108</a:t>
            </a:r>
            <a:endParaRPr lang="en-US" sz="1050" dirty="0"/>
          </a:p>
        </p:txBody>
      </p:sp>
      <p:sp>
        <p:nvSpPr>
          <p:cNvPr id="57" name="108 unit tracked live bezel"/>
          <p:cNvSpPr/>
          <p:nvPr/>
        </p:nvSpPr>
        <p:spPr>
          <a:xfrm>
            <a:off x="7278624" y="3182112"/>
            <a:ext cx="1491757" cy="2825496"/>
          </a:xfrm>
          <a:prstGeom prst="roundRect">
            <a:avLst>
              <a:gd name="adj" fmla="val 7356"/>
            </a:avLst>
          </a:prstGeom>
          <a:solidFill>
            <a:srgbClr val="0F172A"/>
          </a:solidFill>
          <a:ln w="12700">
            <a:solidFill>
              <a:srgbClr val="0F172A"/>
            </a:solidFill>
            <a:prstDash val="solid"/>
          </a:ln>
          <a:effectLst>
            <a:outerShdw sx="100000" sy="100000" kx="0" ky="0" algn="bl" rotWithShape="0" blurRad="114300" dist="25400" dir="5400000">
              <a:srgbClr val="0F172A">
                <a:alpha val="14000"/>
              </a:srgbClr>
            </a:outerShdw>
          </a:effectLst>
        </p:spPr>
      </p:sp>
      <p:pic>
        <p:nvPicPr>
          <p:cNvPr id="58" name="108 unit tracked live" descr="/tmp/claude-0/-home-user-Sehat-Setu/b06e8423-ed6e-57c3-bbb1-ac94b2a1720d/scratchpad/ppt9/shots/rep-5-tracking.png">    </p:cNvPr>
          <p:cNvPicPr>
            <a:picLocks noChangeAspect="1"/>
          </p:cNvPicPr>
          <p:nvPr/>
        </p:nvPicPr>
        <p:blipFill>
          <a:blip r:embed="rId12"/>
          <a:srcRect l="0" r="0" t="0" b="0"/>
          <a:stretch/>
        </p:blipFill>
        <p:spPr>
          <a:xfrm>
            <a:off x="7342632" y="3246120"/>
            <a:ext cx="1363741" cy="2697480"/>
          </a:xfrm>
          <a:prstGeom prst="rect">
            <a:avLst/>
          </a:prstGeom>
        </p:spPr>
      </p:pic>
      <p:sp>
        <p:nvSpPr>
          <p:cNvPr id="59" name="Text 45"/>
          <p:cNvSpPr txBox="1"/>
          <p:nvPr/>
        </p:nvSpPr>
        <p:spPr>
          <a:xfrm>
            <a:off x="7251192" y="6035040"/>
            <a:ext cx="1463040" cy="32004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108 unit tracked live</a:t>
            </a:r>
            <a:endParaRPr lang="en-US" sz="1050" dirty="0"/>
          </a:p>
        </p:txBody>
      </p:sp>
      <p:sp>
        <p:nvSpPr>
          <p:cNvPr id="60" name="card"/>
          <p:cNvSpPr/>
          <p:nvPr/>
        </p:nvSpPr>
        <p:spPr>
          <a:xfrm>
            <a:off x="9098280" y="3182112"/>
            <a:ext cx="2542032" cy="3154680"/>
          </a:xfrm>
          <a:prstGeom prst="roundRect">
            <a:avLst>
              <a:gd name="adj" fmla="val 2878"/>
            </a:avLst>
          </a:prstGeom>
          <a:solidFill>
            <a:srgbClr val="FFFFFF"/>
          </a:solidFill>
          <a:ln w="15875">
            <a:solidFill>
              <a:srgbClr val="0E7490"/>
            </a:solidFill>
            <a:prstDash val="solid"/>
          </a:ln>
        </p:spPr>
      </p:sp>
      <p:sp>
        <p:nvSpPr>
          <p:cNvPr id="61" name="Text 47"/>
          <p:cNvSpPr txBox="1"/>
          <p:nvPr/>
        </p:nvSpPr>
        <p:spPr>
          <a:xfrm>
            <a:off x="9281160" y="3319272"/>
            <a:ext cx="2286000" cy="274320"/>
          </a:xfrm>
          <a:prstGeom prst="rect">
            <a:avLst/>
          </a:prstGeom>
          <a:noFill/>
          <a:ln/>
        </p:spPr>
        <p:txBody>
          <a:bodyPr wrap="square" lIns="0" tIns="0" rIns="0" bIns="0" rtlCol="0" anchor="t"/>
          <a:lstStyle/>
          <a:p>
            <a:pPr indent="0" marL="0">
              <a:buNone/>
            </a:pPr>
            <a:r>
              <a:rPr lang="en-US" sz="1100" b="1" spc="150" kern="0" dirty="0">
                <a:solidFill>
                  <a:srgbClr val="0E7490"/>
                </a:solidFill>
                <a:latin typeface="Calibri" pitchFamily="34" charset="0"/>
                <a:ea typeface="Calibri" pitchFamily="34" charset="-122"/>
                <a:cs typeface="Calibri" pitchFamily="34" charset="-120"/>
              </a:rPr>
              <a:t>RULES WE NEVER BREAK</a:t>
            </a:r>
            <a:endParaRPr lang="en-US" sz="1100" dirty="0"/>
          </a:p>
        </p:txBody>
      </p:sp>
      <p:pic>
        <p:nvPicPr>
          <p:cNvPr id="62" name="icon" descr="preencoded.png">    </p:cNvPr>
          <p:cNvPicPr>
            <a:picLocks noChangeAspect="1"/>
          </p:cNvPicPr>
          <p:nvPr/>
        </p:nvPicPr>
        <p:blipFill>
          <a:blip r:embed="rId13"/>
          <a:stretch>
            <a:fillRect/>
          </a:stretch>
        </p:blipFill>
        <p:spPr>
          <a:xfrm>
            <a:off x="9281160" y="3721608"/>
            <a:ext cx="292608" cy="292608"/>
          </a:xfrm>
          <a:prstGeom prst="rect">
            <a:avLst/>
          </a:prstGeom>
        </p:spPr>
      </p:pic>
      <p:sp>
        <p:nvSpPr>
          <p:cNvPr id="63" name="Text 48"/>
          <p:cNvSpPr txBox="1"/>
          <p:nvPr/>
        </p:nvSpPr>
        <p:spPr>
          <a:xfrm>
            <a:off x="9674352" y="3703320"/>
            <a:ext cx="1874520" cy="47548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Hospital accepts before anyone travels</a:t>
            </a:r>
            <a:endParaRPr lang="en-US" sz="1150" dirty="0"/>
          </a:p>
        </p:txBody>
      </p:sp>
      <p:pic>
        <p:nvPicPr>
          <p:cNvPr id="64" name="icon" descr="preencoded.png">    </p:cNvPr>
          <p:cNvPicPr>
            <a:picLocks noChangeAspect="1"/>
          </p:cNvPicPr>
          <p:nvPr/>
        </p:nvPicPr>
        <p:blipFill>
          <a:blip r:embed="rId14"/>
          <a:stretch>
            <a:fillRect/>
          </a:stretch>
        </p:blipFill>
        <p:spPr>
          <a:xfrm>
            <a:off x="9281160" y="4233672"/>
            <a:ext cx="292608" cy="292608"/>
          </a:xfrm>
          <a:prstGeom prst="rect">
            <a:avLst/>
          </a:prstGeom>
        </p:spPr>
      </p:pic>
      <p:sp>
        <p:nvSpPr>
          <p:cNvPr id="65" name="Text 49"/>
          <p:cNvSpPr txBox="1"/>
          <p:nvPr/>
        </p:nvSpPr>
        <p:spPr>
          <a:xfrm>
            <a:off x="9674352" y="4215384"/>
            <a:ext cx="1874520" cy="47548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Only hospitals that can treat the case</a:t>
            </a:r>
            <a:endParaRPr lang="en-US" sz="1150" dirty="0"/>
          </a:p>
        </p:txBody>
      </p:sp>
      <p:pic>
        <p:nvPicPr>
          <p:cNvPr id="66" name="icon" descr="preencoded.png">    </p:cNvPr>
          <p:cNvPicPr>
            <a:picLocks noChangeAspect="1"/>
          </p:cNvPicPr>
          <p:nvPr/>
        </p:nvPicPr>
        <p:blipFill>
          <a:blip r:embed="rId15"/>
          <a:stretch>
            <a:fillRect/>
          </a:stretch>
        </p:blipFill>
        <p:spPr>
          <a:xfrm>
            <a:off x="9281160" y="4745736"/>
            <a:ext cx="292608" cy="292608"/>
          </a:xfrm>
          <a:prstGeom prst="rect">
            <a:avLst/>
          </a:prstGeom>
        </p:spPr>
      </p:pic>
      <p:sp>
        <p:nvSpPr>
          <p:cNvPr id="67" name="Text 50"/>
          <p:cNvSpPr txBox="1"/>
          <p:nvPr/>
        </p:nvSpPr>
        <p:spPr>
          <a:xfrm>
            <a:off x="9674352" y="4727448"/>
            <a:ext cx="1874520" cy="47548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60 s without answer → next hospital</a:t>
            </a:r>
            <a:endParaRPr lang="en-US" sz="1150" dirty="0"/>
          </a:p>
        </p:txBody>
      </p:sp>
      <p:pic>
        <p:nvPicPr>
          <p:cNvPr id="68" name="icon" descr="preencoded.png">    </p:cNvPr>
          <p:cNvPicPr>
            <a:picLocks noChangeAspect="1"/>
          </p:cNvPicPr>
          <p:nvPr/>
        </p:nvPicPr>
        <p:blipFill>
          <a:blip r:embed="rId16"/>
          <a:stretch>
            <a:fillRect/>
          </a:stretch>
        </p:blipFill>
        <p:spPr>
          <a:xfrm>
            <a:off x="9281160" y="5257800"/>
            <a:ext cx="292608" cy="292608"/>
          </a:xfrm>
          <a:prstGeom prst="rect">
            <a:avLst/>
          </a:prstGeom>
        </p:spPr>
      </p:pic>
      <p:sp>
        <p:nvSpPr>
          <p:cNvPr id="69" name="Text 51"/>
          <p:cNvSpPr txBox="1"/>
          <p:nvPr/>
        </p:nvSpPr>
        <p:spPr>
          <a:xfrm>
            <a:off x="9674352" y="5239512"/>
            <a:ext cx="1874520" cy="47548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Never diagnoses: “may indicate”</a:t>
            </a:r>
            <a:endParaRPr lang="en-US" sz="1150" dirty="0"/>
          </a:p>
        </p:txBody>
      </p:sp>
      <p:pic>
        <p:nvPicPr>
          <p:cNvPr id="70" name="icon" descr="preencoded.png">    </p:cNvPr>
          <p:cNvPicPr>
            <a:picLocks noChangeAspect="1"/>
          </p:cNvPicPr>
          <p:nvPr/>
        </p:nvPicPr>
        <p:blipFill>
          <a:blip r:embed="rId17"/>
          <a:stretch>
            <a:fillRect/>
          </a:stretch>
        </p:blipFill>
        <p:spPr>
          <a:xfrm>
            <a:off x="9281160" y="5769864"/>
            <a:ext cx="292608" cy="292608"/>
          </a:xfrm>
          <a:prstGeom prst="rect">
            <a:avLst/>
          </a:prstGeom>
        </p:spPr>
      </p:pic>
      <p:sp>
        <p:nvSpPr>
          <p:cNvPr id="71" name="Text 52"/>
          <p:cNvSpPr txBox="1"/>
          <p:nvPr/>
        </p:nvSpPr>
        <p:spPr>
          <a:xfrm>
            <a:off x="9674352" y="5751576"/>
            <a:ext cx="1874520" cy="47548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Call 108 visible on every screen</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05  TECHNICAL APPROACH</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Architecture: </a:t>
            </a:r>
            <a:pPr algn="l" indent="0" marL="0">
              <a:buNone/>
            </a:pPr>
            <a:r>
              <a:rPr lang="en-US" sz="3400" b="1" dirty="0">
                <a:solidFill>
                  <a:srgbClr val="0E7490"/>
                </a:solidFill>
              </a:rPr>
              <a:t>Simple, Secure, Integrable</a:t>
            </a:r>
            <a:endParaRPr lang="en-US" sz="3400" dirty="0"/>
          </a:p>
        </p:txBody>
      </p:sp>
      <p:sp>
        <p:nvSpPr>
          <p:cNvPr id="4" name="Text 2"/>
          <p:cNvSpPr txBox="1"/>
          <p:nvPr/>
        </p:nvSpPr>
        <p:spPr>
          <a:xfrm>
            <a:off x="548640" y="1371600"/>
            <a:ext cx="2560320" cy="274320"/>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CHANNELS</a:t>
            </a:r>
            <a:endParaRPr lang="en-US" sz="1100" dirty="0"/>
          </a:p>
        </p:txBody>
      </p:sp>
      <p:sp>
        <p:nvSpPr>
          <p:cNvPr id="5" name="Text 3"/>
          <p:cNvSpPr txBox="1"/>
          <p:nvPr/>
        </p:nvSpPr>
        <p:spPr>
          <a:xfrm>
            <a:off x="3566160" y="1371600"/>
            <a:ext cx="5029200" cy="274320"/>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MEDREACH SERVER</a:t>
            </a:r>
            <a:endParaRPr lang="en-US" sz="1100" dirty="0"/>
          </a:p>
        </p:txBody>
      </p:sp>
      <p:sp>
        <p:nvSpPr>
          <p:cNvPr id="6" name="Text 4"/>
          <p:cNvSpPr txBox="1"/>
          <p:nvPr/>
        </p:nvSpPr>
        <p:spPr>
          <a:xfrm>
            <a:off x="9098280" y="1371600"/>
            <a:ext cx="2560320" cy="274320"/>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INTEGRATIONS</a:t>
            </a:r>
            <a:endParaRPr lang="en-US" sz="1100" dirty="0"/>
          </a:p>
        </p:txBody>
      </p:sp>
      <p:sp>
        <p:nvSpPr>
          <p:cNvPr id="7" name="card"/>
          <p:cNvSpPr/>
          <p:nvPr/>
        </p:nvSpPr>
        <p:spPr>
          <a:xfrm>
            <a:off x="548640" y="1737360"/>
            <a:ext cx="2542032" cy="731520"/>
          </a:xfrm>
          <a:prstGeom prst="roundRect">
            <a:avLst>
              <a:gd name="adj" fmla="val 10000"/>
            </a:avLst>
          </a:prstGeom>
          <a:solidFill>
            <a:srgbClr val="FFFFFF"/>
          </a:solidFill>
          <a:ln w="12700">
            <a:solidFill>
              <a:srgbClr val="D6DEE8"/>
            </a:solidFill>
            <a:prstDash val="solid"/>
          </a:ln>
        </p:spPr>
      </p:sp>
      <p:pic>
        <p:nvPicPr>
          <p:cNvPr id="8" name="icon" descr="preencoded.png">    </p:cNvPr>
          <p:cNvPicPr>
            <a:picLocks noChangeAspect="1"/>
          </p:cNvPicPr>
          <p:nvPr/>
        </p:nvPicPr>
        <p:blipFill>
          <a:blip r:embed="rId1"/>
          <a:stretch>
            <a:fillRect/>
          </a:stretch>
        </p:blipFill>
        <p:spPr>
          <a:xfrm>
            <a:off x="685800" y="1920240"/>
            <a:ext cx="365760" cy="365760"/>
          </a:xfrm>
          <a:prstGeom prst="rect">
            <a:avLst/>
          </a:prstGeom>
        </p:spPr>
      </p:pic>
      <p:sp>
        <p:nvSpPr>
          <p:cNvPr id="9" name="Text 6"/>
          <p:cNvSpPr txBox="1"/>
          <p:nvPr/>
        </p:nvSpPr>
        <p:spPr>
          <a:xfrm>
            <a:off x="1170432" y="1828800"/>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Citizen web app (PWA)</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voice · offline · installable</a:t>
            </a:r>
            <a:endParaRPr lang="en-US" sz="1150" dirty="0"/>
          </a:p>
        </p:txBody>
      </p:sp>
      <p:sp>
        <p:nvSpPr>
          <p:cNvPr id="10" name="card"/>
          <p:cNvSpPr/>
          <p:nvPr/>
        </p:nvSpPr>
        <p:spPr>
          <a:xfrm>
            <a:off x="9098280" y="1737360"/>
            <a:ext cx="2542032" cy="731520"/>
          </a:xfrm>
          <a:prstGeom prst="roundRect">
            <a:avLst>
              <a:gd name="adj" fmla="val 10000"/>
            </a:avLst>
          </a:prstGeom>
          <a:solidFill>
            <a:srgbClr val="FFFFFF"/>
          </a:solidFill>
          <a:ln w="12700">
            <a:solidFill>
              <a:srgbClr val="D6DEE8"/>
            </a:solidFill>
            <a:prstDash val="solid"/>
          </a:ln>
        </p:spPr>
      </p:sp>
      <p:pic>
        <p:nvPicPr>
          <p:cNvPr id="11" name="icon" descr="preencoded.png">    </p:cNvPr>
          <p:cNvPicPr>
            <a:picLocks noChangeAspect="1"/>
          </p:cNvPicPr>
          <p:nvPr/>
        </p:nvPicPr>
        <p:blipFill>
          <a:blip r:embed="rId2"/>
          <a:stretch>
            <a:fillRect/>
          </a:stretch>
        </p:blipFill>
        <p:spPr>
          <a:xfrm>
            <a:off x="9235440" y="1920240"/>
            <a:ext cx="365760" cy="365760"/>
          </a:xfrm>
          <a:prstGeom prst="rect">
            <a:avLst/>
          </a:prstGeom>
        </p:spPr>
      </p:pic>
      <p:sp>
        <p:nvSpPr>
          <p:cNvPr id="12" name="Text 8"/>
          <p:cNvSpPr txBox="1"/>
          <p:nvPr/>
        </p:nvSpPr>
        <p:spPr>
          <a:xfrm>
            <a:off x="9720072" y="1828800"/>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108 / 102 dispatch (CAD)</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HMAC-signed JSON webhooks</a:t>
            </a:r>
            <a:endParaRPr lang="en-US" sz="1150" dirty="0"/>
          </a:p>
        </p:txBody>
      </p:sp>
      <p:sp>
        <p:nvSpPr>
          <p:cNvPr id="13" name="arrow"/>
          <p:cNvSpPr/>
          <p:nvPr/>
        </p:nvSpPr>
        <p:spPr>
          <a:xfrm>
            <a:off x="3127248" y="2103120"/>
            <a:ext cx="384048" cy="0"/>
          </a:xfrm>
          <a:prstGeom prst="line">
            <a:avLst/>
          </a:prstGeom>
          <a:noFill/>
          <a:ln w="19050">
            <a:solidFill>
              <a:srgbClr val="0E7490"/>
            </a:solidFill>
            <a:prstDash val="solid"/>
            <a:tailEnd type="triangle"/>
          </a:ln>
        </p:spPr>
      </p:sp>
      <p:sp>
        <p:nvSpPr>
          <p:cNvPr id="14" name="arrow"/>
          <p:cNvSpPr/>
          <p:nvPr/>
        </p:nvSpPr>
        <p:spPr>
          <a:xfrm>
            <a:off x="8641080" y="2103120"/>
            <a:ext cx="411480" cy="0"/>
          </a:xfrm>
          <a:prstGeom prst="line">
            <a:avLst/>
          </a:prstGeom>
          <a:noFill/>
          <a:ln w="19050">
            <a:solidFill>
              <a:srgbClr val="DC2626"/>
            </a:solidFill>
            <a:prstDash val="solid"/>
            <a:tailEnd type="triangle"/>
          </a:ln>
        </p:spPr>
      </p:sp>
      <p:sp>
        <p:nvSpPr>
          <p:cNvPr id="15" name="card"/>
          <p:cNvSpPr/>
          <p:nvPr/>
        </p:nvSpPr>
        <p:spPr>
          <a:xfrm>
            <a:off x="548640" y="2587752"/>
            <a:ext cx="2542032" cy="731520"/>
          </a:xfrm>
          <a:prstGeom prst="roundRect">
            <a:avLst>
              <a:gd name="adj" fmla="val 10000"/>
            </a:avLst>
          </a:prstGeom>
          <a:solidFill>
            <a:srgbClr val="FFFFFF"/>
          </a:solidFill>
          <a:ln w="12700">
            <a:solidFill>
              <a:srgbClr val="D6DEE8"/>
            </a:solidFill>
            <a:prstDash val="solid"/>
          </a:ln>
        </p:spPr>
      </p:sp>
      <p:pic>
        <p:nvPicPr>
          <p:cNvPr id="16" name="icon" descr="preencoded.png">    </p:cNvPr>
          <p:cNvPicPr>
            <a:picLocks noChangeAspect="1"/>
          </p:cNvPicPr>
          <p:nvPr/>
        </p:nvPicPr>
        <p:blipFill>
          <a:blip r:embed="rId3"/>
          <a:stretch>
            <a:fillRect/>
          </a:stretch>
        </p:blipFill>
        <p:spPr>
          <a:xfrm>
            <a:off x="685800" y="2770632"/>
            <a:ext cx="365760" cy="365760"/>
          </a:xfrm>
          <a:prstGeom prst="rect">
            <a:avLst/>
          </a:prstGeom>
        </p:spPr>
      </p:pic>
      <p:sp>
        <p:nvSpPr>
          <p:cNvPr id="17" name="Text 12"/>
          <p:cNvSpPr txBox="1"/>
          <p:nvPr/>
        </p:nvSpPr>
        <p:spPr>
          <a:xfrm>
            <a:off x="1170432" y="2679192"/>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Hospital dashboard</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accept · update · audit</a:t>
            </a:r>
            <a:endParaRPr lang="en-US" sz="1150" dirty="0"/>
          </a:p>
        </p:txBody>
      </p:sp>
      <p:sp>
        <p:nvSpPr>
          <p:cNvPr id="18" name="card"/>
          <p:cNvSpPr/>
          <p:nvPr/>
        </p:nvSpPr>
        <p:spPr>
          <a:xfrm>
            <a:off x="9098280" y="2587752"/>
            <a:ext cx="2542032" cy="731520"/>
          </a:xfrm>
          <a:prstGeom prst="roundRect">
            <a:avLst>
              <a:gd name="adj" fmla="val 10000"/>
            </a:avLst>
          </a:prstGeom>
          <a:solidFill>
            <a:srgbClr val="FFFFFF"/>
          </a:solidFill>
          <a:ln w="12700">
            <a:solidFill>
              <a:srgbClr val="D6DEE8"/>
            </a:solidFill>
            <a:prstDash val="solid"/>
          </a:ln>
        </p:spPr>
      </p:sp>
      <p:pic>
        <p:nvPicPr>
          <p:cNvPr id="19" name="icon" descr="preencoded.png">    </p:cNvPr>
          <p:cNvPicPr>
            <a:picLocks noChangeAspect="1"/>
          </p:cNvPicPr>
          <p:nvPr/>
        </p:nvPicPr>
        <p:blipFill>
          <a:blip r:embed="rId4"/>
          <a:stretch>
            <a:fillRect/>
          </a:stretch>
        </p:blipFill>
        <p:spPr>
          <a:xfrm>
            <a:off x="9235440" y="2770632"/>
            <a:ext cx="365760" cy="365760"/>
          </a:xfrm>
          <a:prstGeom prst="rect">
            <a:avLst/>
          </a:prstGeom>
        </p:spPr>
      </p:pic>
      <p:sp>
        <p:nvSpPr>
          <p:cNvPr id="20" name="Text 14"/>
          <p:cNvSpPr txBox="1"/>
          <p:nvPr/>
        </p:nvSpPr>
        <p:spPr>
          <a:xfrm>
            <a:off x="9720072" y="2679192"/>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Aadhaar OTP (UIDAI)</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via licensed AUA / KUA</a:t>
            </a:r>
            <a:endParaRPr lang="en-US" sz="1150" dirty="0"/>
          </a:p>
        </p:txBody>
      </p:sp>
      <p:sp>
        <p:nvSpPr>
          <p:cNvPr id="21" name="arrow"/>
          <p:cNvSpPr/>
          <p:nvPr/>
        </p:nvSpPr>
        <p:spPr>
          <a:xfrm>
            <a:off x="3127248" y="2953512"/>
            <a:ext cx="384048" cy="0"/>
          </a:xfrm>
          <a:prstGeom prst="line">
            <a:avLst/>
          </a:prstGeom>
          <a:noFill/>
          <a:ln w="19050">
            <a:solidFill>
              <a:srgbClr val="0E7490"/>
            </a:solidFill>
            <a:prstDash val="solid"/>
            <a:tailEnd type="triangle"/>
          </a:ln>
        </p:spPr>
      </p:sp>
      <p:sp>
        <p:nvSpPr>
          <p:cNvPr id="22" name="arrow"/>
          <p:cNvSpPr/>
          <p:nvPr/>
        </p:nvSpPr>
        <p:spPr>
          <a:xfrm>
            <a:off x="8641080" y="2953512"/>
            <a:ext cx="411480" cy="0"/>
          </a:xfrm>
          <a:prstGeom prst="line">
            <a:avLst/>
          </a:prstGeom>
          <a:noFill/>
          <a:ln w="19050">
            <a:solidFill>
              <a:srgbClr val="DC2626"/>
            </a:solidFill>
            <a:prstDash val="solid"/>
            <a:tailEnd type="triangle"/>
          </a:ln>
        </p:spPr>
      </p:sp>
      <p:sp>
        <p:nvSpPr>
          <p:cNvPr id="23" name="card"/>
          <p:cNvSpPr/>
          <p:nvPr/>
        </p:nvSpPr>
        <p:spPr>
          <a:xfrm>
            <a:off x="548640" y="3438144"/>
            <a:ext cx="2542032" cy="731520"/>
          </a:xfrm>
          <a:prstGeom prst="roundRect">
            <a:avLst>
              <a:gd name="adj" fmla="val 10000"/>
            </a:avLst>
          </a:prstGeom>
          <a:solidFill>
            <a:srgbClr val="FFFFFF"/>
          </a:solidFill>
          <a:ln w="12700">
            <a:solidFill>
              <a:srgbClr val="D6DEE8"/>
            </a:solidFill>
            <a:prstDash val="solid"/>
          </a:ln>
        </p:spPr>
      </p:sp>
      <p:pic>
        <p:nvPicPr>
          <p:cNvPr id="24" name="icon" descr="preencoded.png">    </p:cNvPr>
          <p:cNvPicPr>
            <a:picLocks noChangeAspect="1"/>
          </p:cNvPicPr>
          <p:nvPr/>
        </p:nvPicPr>
        <p:blipFill>
          <a:blip r:embed="rId5"/>
          <a:stretch>
            <a:fillRect/>
          </a:stretch>
        </p:blipFill>
        <p:spPr>
          <a:xfrm>
            <a:off x="685800" y="3621024"/>
            <a:ext cx="365760" cy="365760"/>
          </a:xfrm>
          <a:prstGeom prst="rect">
            <a:avLst/>
          </a:prstGeom>
        </p:spPr>
      </p:pic>
      <p:sp>
        <p:nvSpPr>
          <p:cNvPr id="25" name="Text 18"/>
          <p:cNvSpPr txBox="1"/>
          <p:nvPr/>
        </p:nvSpPr>
        <p:spPr>
          <a:xfrm>
            <a:off x="1170432" y="3529584"/>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108 control-room console</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fleet · incidents · dispatch</a:t>
            </a:r>
            <a:endParaRPr lang="en-US" sz="1150" dirty="0"/>
          </a:p>
        </p:txBody>
      </p:sp>
      <p:sp>
        <p:nvSpPr>
          <p:cNvPr id="26" name="card"/>
          <p:cNvSpPr/>
          <p:nvPr/>
        </p:nvSpPr>
        <p:spPr>
          <a:xfrm>
            <a:off x="9098280" y="3438144"/>
            <a:ext cx="2542032" cy="731520"/>
          </a:xfrm>
          <a:prstGeom prst="roundRect">
            <a:avLst>
              <a:gd name="adj" fmla="val 10000"/>
            </a:avLst>
          </a:prstGeom>
          <a:solidFill>
            <a:srgbClr val="FFFFFF"/>
          </a:solidFill>
          <a:ln w="12700">
            <a:solidFill>
              <a:srgbClr val="D6DEE8"/>
            </a:solidFill>
            <a:prstDash val="solid"/>
          </a:ln>
        </p:spPr>
      </p:sp>
      <p:pic>
        <p:nvPicPr>
          <p:cNvPr id="27" name="icon" descr="preencoded.png">    </p:cNvPr>
          <p:cNvPicPr>
            <a:picLocks noChangeAspect="1"/>
          </p:cNvPicPr>
          <p:nvPr/>
        </p:nvPicPr>
        <p:blipFill>
          <a:blip r:embed="rId6"/>
          <a:stretch>
            <a:fillRect/>
          </a:stretch>
        </p:blipFill>
        <p:spPr>
          <a:xfrm>
            <a:off x="9235440" y="3621024"/>
            <a:ext cx="365760" cy="365760"/>
          </a:xfrm>
          <a:prstGeom prst="rect">
            <a:avLst/>
          </a:prstGeom>
        </p:spPr>
      </p:pic>
      <p:sp>
        <p:nvSpPr>
          <p:cNvPr id="28" name="Text 20"/>
          <p:cNvSpPr txBox="1"/>
          <p:nvPr/>
        </p:nvSpPr>
        <p:spPr>
          <a:xfrm>
            <a:off x="9720072" y="3529584"/>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SMS gateway (DLT)</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inbound + replies</a:t>
            </a:r>
            <a:endParaRPr lang="en-US" sz="1150" dirty="0"/>
          </a:p>
        </p:txBody>
      </p:sp>
      <p:sp>
        <p:nvSpPr>
          <p:cNvPr id="29" name="arrow"/>
          <p:cNvSpPr/>
          <p:nvPr/>
        </p:nvSpPr>
        <p:spPr>
          <a:xfrm>
            <a:off x="3127248" y="3803904"/>
            <a:ext cx="384048" cy="0"/>
          </a:xfrm>
          <a:prstGeom prst="line">
            <a:avLst/>
          </a:prstGeom>
          <a:noFill/>
          <a:ln w="19050">
            <a:solidFill>
              <a:srgbClr val="0E7490"/>
            </a:solidFill>
            <a:prstDash val="solid"/>
            <a:tailEnd type="triangle"/>
          </a:ln>
        </p:spPr>
      </p:sp>
      <p:sp>
        <p:nvSpPr>
          <p:cNvPr id="30" name="arrow"/>
          <p:cNvSpPr/>
          <p:nvPr/>
        </p:nvSpPr>
        <p:spPr>
          <a:xfrm>
            <a:off x="8641080" y="3803904"/>
            <a:ext cx="411480" cy="0"/>
          </a:xfrm>
          <a:prstGeom prst="line">
            <a:avLst/>
          </a:prstGeom>
          <a:noFill/>
          <a:ln w="19050">
            <a:solidFill>
              <a:srgbClr val="DC2626"/>
            </a:solidFill>
            <a:prstDash val="solid"/>
            <a:tailEnd type="triangle"/>
          </a:ln>
        </p:spPr>
      </p:sp>
      <p:sp>
        <p:nvSpPr>
          <p:cNvPr id="31" name="card"/>
          <p:cNvSpPr/>
          <p:nvPr/>
        </p:nvSpPr>
        <p:spPr>
          <a:xfrm>
            <a:off x="548640" y="4288536"/>
            <a:ext cx="2542032" cy="731520"/>
          </a:xfrm>
          <a:prstGeom prst="roundRect">
            <a:avLst>
              <a:gd name="adj" fmla="val 10000"/>
            </a:avLst>
          </a:prstGeom>
          <a:solidFill>
            <a:srgbClr val="FFFFFF"/>
          </a:solidFill>
          <a:ln w="12700">
            <a:solidFill>
              <a:srgbClr val="D6DEE8"/>
            </a:solidFill>
            <a:prstDash val="solid"/>
          </a:ln>
        </p:spPr>
      </p:sp>
      <p:pic>
        <p:nvPicPr>
          <p:cNvPr id="32" name="icon" descr="preencoded.png">    </p:cNvPr>
          <p:cNvPicPr>
            <a:picLocks noChangeAspect="1"/>
          </p:cNvPicPr>
          <p:nvPr/>
        </p:nvPicPr>
        <p:blipFill>
          <a:blip r:embed="rId7"/>
          <a:stretch>
            <a:fillRect/>
          </a:stretch>
        </p:blipFill>
        <p:spPr>
          <a:xfrm>
            <a:off x="685800" y="4471416"/>
            <a:ext cx="365760" cy="365760"/>
          </a:xfrm>
          <a:prstGeom prst="rect">
            <a:avLst/>
          </a:prstGeom>
        </p:spPr>
      </p:pic>
      <p:sp>
        <p:nvSpPr>
          <p:cNvPr id="33" name="Text 24"/>
          <p:cNvSpPr txBox="1"/>
          <p:nvPr/>
        </p:nvSpPr>
        <p:spPr>
          <a:xfrm>
            <a:off x="1170432" y="4379976"/>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SMS “#MR1” code</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for no-internet villages</a:t>
            </a:r>
            <a:endParaRPr lang="en-US" sz="1150" dirty="0"/>
          </a:p>
        </p:txBody>
      </p:sp>
      <p:sp>
        <p:nvSpPr>
          <p:cNvPr id="34" name="card"/>
          <p:cNvSpPr/>
          <p:nvPr/>
        </p:nvSpPr>
        <p:spPr>
          <a:xfrm>
            <a:off x="9098280" y="4288536"/>
            <a:ext cx="2542032" cy="731520"/>
          </a:xfrm>
          <a:prstGeom prst="roundRect">
            <a:avLst>
              <a:gd name="adj" fmla="val 10000"/>
            </a:avLst>
          </a:prstGeom>
          <a:solidFill>
            <a:srgbClr val="FFFFFF"/>
          </a:solidFill>
          <a:ln w="12700">
            <a:solidFill>
              <a:srgbClr val="D6DEE8"/>
            </a:solidFill>
            <a:prstDash val="solid"/>
          </a:ln>
        </p:spPr>
      </p:sp>
      <p:pic>
        <p:nvPicPr>
          <p:cNvPr id="35" name="icon" descr="preencoded.png">    </p:cNvPr>
          <p:cNvPicPr>
            <a:picLocks noChangeAspect="1"/>
          </p:cNvPicPr>
          <p:nvPr/>
        </p:nvPicPr>
        <p:blipFill>
          <a:blip r:embed="rId8"/>
          <a:stretch>
            <a:fillRect/>
          </a:stretch>
        </p:blipFill>
        <p:spPr>
          <a:xfrm>
            <a:off x="9235440" y="4471416"/>
            <a:ext cx="365760" cy="365760"/>
          </a:xfrm>
          <a:prstGeom prst="rect">
            <a:avLst/>
          </a:prstGeom>
        </p:spPr>
      </p:pic>
      <p:sp>
        <p:nvSpPr>
          <p:cNvPr id="36" name="Text 26"/>
          <p:cNvSpPr txBox="1"/>
          <p:nvPr/>
        </p:nvSpPr>
        <p:spPr>
          <a:xfrm>
            <a:off x="9720072" y="4379976"/>
            <a:ext cx="1874520" cy="56692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Maps and roads</a:t>
            </a:r>
            <a:endParaRPr lang="en-US" sz="1150" dirty="0"/>
          </a:p>
          <a:p>
            <a:pPr indent="0" marL="0">
              <a:buNone/>
            </a:pPr>
            <a:r>
              <a:rPr lang="en-US" sz="1150" dirty="0">
                <a:solidFill>
                  <a:srgbClr val="64748B"/>
                </a:solidFill>
                <a:latin typeface="Calibri" pitchFamily="34" charset="0"/>
                <a:ea typeface="Calibri" pitchFamily="34" charset="-122"/>
                <a:cs typeface="Calibri" pitchFamily="34" charset="-120"/>
              </a:rPr>
              <a:t>OpenStreetMap · OSRM</a:t>
            </a:r>
            <a:endParaRPr lang="en-US" sz="1150" dirty="0"/>
          </a:p>
        </p:txBody>
      </p:sp>
      <p:sp>
        <p:nvSpPr>
          <p:cNvPr id="37" name="arrow"/>
          <p:cNvSpPr/>
          <p:nvPr/>
        </p:nvSpPr>
        <p:spPr>
          <a:xfrm>
            <a:off x="3127248" y="4654296"/>
            <a:ext cx="384048" cy="0"/>
          </a:xfrm>
          <a:prstGeom prst="line">
            <a:avLst/>
          </a:prstGeom>
          <a:noFill/>
          <a:ln w="19050">
            <a:solidFill>
              <a:srgbClr val="0E7490"/>
            </a:solidFill>
            <a:prstDash val="solid"/>
            <a:tailEnd type="triangle"/>
          </a:ln>
        </p:spPr>
      </p:sp>
      <p:sp>
        <p:nvSpPr>
          <p:cNvPr id="38" name="arrow"/>
          <p:cNvSpPr/>
          <p:nvPr/>
        </p:nvSpPr>
        <p:spPr>
          <a:xfrm>
            <a:off x="8641080" y="4654296"/>
            <a:ext cx="411480" cy="0"/>
          </a:xfrm>
          <a:prstGeom prst="line">
            <a:avLst/>
          </a:prstGeom>
          <a:noFill/>
          <a:ln w="19050">
            <a:solidFill>
              <a:srgbClr val="DC2626"/>
            </a:solidFill>
            <a:prstDash val="solid"/>
            <a:tailEnd type="triangle"/>
          </a:ln>
        </p:spPr>
      </p:sp>
      <p:sp>
        <p:nvSpPr>
          <p:cNvPr id="39" name="card"/>
          <p:cNvSpPr/>
          <p:nvPr/>
        </p:nvSpPr>
        <p:spPr>
          <a:xfrm>
            <a:off x="3566160" y="1737360"/>
            <a:ext cx="5029200" cy="3291840"/>
          </a:xfrm>
          <a:prstGeom prst="roundRect">
            <a:avLst>
              <a:gd name="adj" fmla="val 2222"/>
            </a:avLst>
          </a:prstGeom>
          <a:solidFill>
            <a:srgbClr val="F1F5F9"/>
          </a:solidFill>
          <a:ln w="15875">
            <a:solidFill>
              <a:srgbClr val="0E7490"/>
            </a:solidFill>
            <a:prstDash val="solid"/>
          </a:ln>
        </p:spPr>
      </p:sp>
      <p:sp>
        <p:nvSpPr>
          <p:cNvPr id="40" name="Text 30"/>
          <p:cNvSpPr txBox="1"/>
          <p:nvPr/>
        </p:nvSpPr>
        <p:spPr>
          <a:xfrm>
            <a:off x="3749040" y="1828800"/>
            <a:ext cx="4663440"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Node.js 22 · Express 5 · Server-Sent Events (live push)</a:t>
            </a:r>
            <a:endParaRPr lang="en-US" sz="1200" dirty="0"/>
          </a:p>
        </p:txBody>
      </p:sp>
      <p:sp>
        <p:nvSpPr>
          <p:cNvPr id="41" name="card"/>
          <p:cNvSpPr/>
          <p:nvPr/>
        </p:nvSpPr>
        <p:spPr>
          <a:xfrm>
            <a:off x="3749040" y="2240280"/>
            <a:ext cx="2240280" cy="777240"/>
          </a:xfrm>
          <a:prstGeom prst="roundRect">
            <a:avLst>
              <a:gd name="adj" fmla="val 9412"/>
            </a:avLst>
          </a:prstGeom>
          <a:solidFill>
            <a:srgbClr val="FFFFFF"/>
          </a:solidFill>
          <a:ln w="12700">
            <a:solidFill>
              <a:srgbClr val="D6DEE8"/>
            </a:solidFill>
            <a:prstDash val="solid"/>
          </a:ln>
        </p:spPr>
      </p:sp>
      <p:sp>
        <p:nvSpPr>
          <p:cNvPr id="42" name="icon tile"/>
          <p:cNvSpPr/>
          <p:nvPr/>
        </p:nvSpPr>
        <p:spPr>
          <a:xfrm>
            <a:off x="3858768" y="2377440"/>
            <a:ext cx="502920" cy="502920"/>
          </a:xfrm>
          <a:prstGeom prst="roundRect">
            <a:avLst>
              <a:gd name="adj" fmla="val 18182"/>
            </a:avLst>
          </a:prstGeom>
          <a:solidFill>
            <a:srgbClr val="E0F2FE"/>
          </a:solidFill>
          <a:ln w="6350">
            <a:solidFill>
              <a:srgbClr val="E0F2FE"/>
            </a:solidFill>
            <a:prstDash val="solid"/>
          </a:ln>
        </p:spPr>
      </p:sp>
      <p:pic>
        <p:nvPicPr>
          <p:cNvPr id="43" name="icon" descr="preencoded.png">    </p:cNvPr>
          <p:cNvPicPr>
            <a:picLocks noChangeAspect="1"/>
          </p:cNvPicPr>
          <p:nvPr/>
        </p:nvPicPr>
        <p:blipFill>
          <a:blip r:embed="rId9"/>
          <a:stretch>
            <a:fillRect/>
          </a:stretch>
        </p:blipFill>
        <p:spPr>
          <a:xfrm>
            <a:off x="3959352" y="2478024"/>
            <a:ext cx="301752" cy="301752"/>
          </a:xfrm>
          <a:prstGeom prst="rect">
            <a:avLst/>
          </a:prstGeom>
        </p:spPr>
      </p:pic>
      <p:sp>
        <p:nvSpPr>
          <p:cNvPr id="44" name="Text 33"/>
          <p:cNvSpPr txBox="1"/>
          <p:nvPr/>
        </p:nvSpPr>
        <p:spPr>
          <a:xfrm>
            <a:off x="4462272" y="2331720"/>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AI triage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Gemini 2.5 Flash + offline rules</a:t>
            </a:r>
            <a:endParaRPr lang="en-US" sz="1100" dirty="0"/>
          </a:p>
        </p:txBody>
      </p:sp>
      <p:sp>
        <p:nvSpPr>
          <p:cNvPr id="45" name="card"/>
          <p:cNvSpPr/>
          <p:nvPr/>
        </p:nvSpPr>
        <p:spPr>
          <a:xfrm>
            <a:off x="6126480" y="2240280"/>
            <a:ext cx="2240280" cy="777240"/>
          </a:xfrm>
          <a:prstGeom prst="roundRect">
            <a:avLst>
              <a:gd name="adj" fmla="val 9412"/>
            </a:avLst>
          </a:prstGeom>
          <a:solidFill>
            <a:srgbClr val="FFFFFF"/>
          </a:solidFill>
          <a:ln w="12700">
            <a:solidFill>
              <a:srgbClr val="D6DEE8"/>
            </a:solidFill>
            <a:prstDash val="solid"/>
          </a:ln>
        </p:spPr>
      </p:sp>
      <p:sp>
        <p:nvSpPr>
          <p:cNvPr id="46" name="icon tile"/>
          <p:cNvSpPr/>
          <p:nvPr/>
        </p:nvSpPr>
        <p:spPr>
          <a:xfrm>
            <a:off x="6236208" y="2377440"/>
            <a:ext cx="502920" cy="502920"/>
          </a:xfrm>
          <a:prstGeom prst="roundRect">
            <a:avLst>
              <a:gd name="adj" fmla="val 18182"/>
            </a:avLst>
          </a:prstGeom>
          <a:solidFill>
            <a:srgbClr val="E0F2FE"/>
          </a:solidFill>
          <a:ln w="6350">
            <a:solidFill>
              <a:srgbClr val="E0F2FE"/>
            </a:solidFill>
            <a:prstDash val="solid"/>
          </a:ln>
        </p:spPr>
      </p:sp>
      <p:pic>
        <p:nvPicPr>
          <p:cNvPr id="47" name="icon" descr="preencoded.png">    </p:cNvPr>
          <p:cNvPicPr>
            <a:picLocks noChangeAspect="1"/>
          </p:cNvPicPr>
          <p:nvPr/>
        </p:nvPicPr>
        <p:blipFill>
          <a:blip r:embed="rId10"/>
          <a:stretch>
            <a:fillRect/>
          </a:stretch>
        </p:blipFill>
        <p:spPr>
          <a:xfrm>
            <a:off x="6336792" y="2478024"/>
            <a:ext cx="301752" cy="301752"/>
          </a:xfrm>
          <a:prstGeom prst="rect">
            <a:avLst/>
          </a:prstGeom>
        </p:spPr>
      </p:pic>
      <p:sp>
        <p:nvSpPr>
          <p:cNvPr id="48" name="Text 36"/>
          <p:cNvSpPr txBox="1"/>
          <p:nvPr/>
        </p:nvSpPr>
        <p:spPr>
          <a:xfrm>
            <a:off x="6839712" y="2331720"/>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Match-score engine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explainable 100-point score</a:t>
            </a:r>
            <a:endParaRPr lang="en-US" sz="1100" dirty="0"/>
          </a:p>
        </p:txBody>
      </p:sp>
      <p:sp>
        <p:nvSpPr>
          <p:cNvPr id="49" name="card"/>
          <p:cNvSpPr/>
          <p:nvPr/>
        </p:nvSpPr>
        <p:spPr>
          <a:xfrm>
            <a:off x="3749040" y="3136392"/>
            <a:ext cx="2240280" cy="777240"/>
          </a:xfrm>
          <a:prstGeom prst="roundRect">
            <a:avLst>
              <a:gd name="adj" fmla="val 9412"/>
            </a:avLst>
          </a:prstGeom>
          <a:solidFill>
            <a:srgbClr val="FFFFFF"/>
          </a:solidFill>
          <a:ln w="12700">
            <a:solidFill>
              <a:srgbClr val="D6DEE8"/>
            </a:solidFill>
            <a:prstDash val="solid"/>
          </a:ln>
        </p:spPr>
      </p:sp>
      <p:sp>
        <p:nvSpPr>
          <p:cNvPr id="50" name="icon tile"/>
          <p:cNvSpPr/>
          <p:nvPr/>
        </p:nvSpPr>
        <p:spPr>
          <a:xfrm>
            <a:off x="3858768" y="3273552"/>
            <a:ext cx="502920" cy="502920"/>
          </a:xfrm>
          <a:prstGeom prst="roundRect">
            <a:avLst>
              <a:gd name="adj" fmla="val 18182"/>
            </a:avLst>
          </a:prstGeom>
          <a:solidFill>
            <a:srgbClr val="E0F2FE"/>
          </a:solidFill>
          <a:ln w="6350">
            <a:solidFill>
              <a:srgbClr val="E0F2FE"/>
            </a:solidFill>
            <a:prstDash val="solid"/>
          </a:ln>
        </p:spPr>
      </p:sp>
      <p:pic>
        <p:nvPicPr>
          <p:cNvPr id="51" name="icon" descr="preencoded.png">    </p:cNvPr>
          <p:cNvPicPr>
            <a:picLocks noChangeAspect="1"/>
          </p:cNvPicPr>
          <p:nvPr/>
        </p:nvPicPr>
        <p:blipFill>
          <a:blip r:embed="rId11"/>
          <a:stretch>
            <a:fillRect/>
          </a:stretch>
        </p:blipFill>
        <p:spPr>
          <a:xfrm>
            <a:off x="3959352" y="3374136"/>
            <a:ext cx="301752" cy="301752"/>
          </a:xfrm>
          <a:prstGeom prst="rect">
            <a:avLst/>
          </a:prstGeom>
        </p:spPr>
      </p:pic>
      <p:sp>
        <p:nvSpPr>
          <p:cNvPr id="52" name="Text 39"/>
          <p:cNvSpPr txBox="1"/>
          <p:nvPr/>
        </p:nvSpPr>
        <p:spPr>
          <a:xfrm>
            <a:off x="4462272" y="3227832"/>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Live capacity</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108-min update cycle</a:t>
            </a:r>
            <a:endParaRPr lang="en-US" sz="1100" dirty="0"/>
          </a:p>
        </p:txBody>
      </p:sp>
      <p:sp>
        <p:nvSpPr>
          <p:cNvPr id="53" name="card"/>
          <p:cNvSpPr/>
          <p:nvPr/>
        </p:nvSpPr>
        <p:spPr>
          <a:xfrm>
            <a:off x="6126480" y="3136392"/>
            <a:ext cx="2240280" cy="777240"/>
          </a:xfrm>
          <a:prstGeom prst="roundRect">
            <a:avLst>
              <a:gd name="adj" fmla="val 9412"/>
            </a:avLst>
          </a:prstGeom>
          <a:solidFill>
            <a:srgbClr val="FFFFFF"/>
          </a:solidFill>
          <a:ln w="12700">
            <a:solidFill>
              <a:srgbClr val="D6DEE8"/>
            </a:solidFill>
            <a:prstDash val="solid"/>
          </a:ln>
        </p:spPr>
      </p:sp>
      <p:sp>
        <p:nvSpPr>
          <p:cNvPr id="54" name="icon tile"/>
          <p:cNvSpPr/>
          <p:nvPr/>
        </p:nvSpPr>
        <p:spPr>
          <a:xfrm>
            <a:off x="6236208" y="3273552"/>
            <a:ext cx="502920" cy="502920"/>
          </a:xfrm>
          <a:prstGeom prst="roundRect">
            <a:avLst>
              <a:gd name="adj" fmla="val 18182"/>
            </a:avLst>
          </a:prstGeom>
          <a:solidFill>
            <a:srgbClr val="E0F2FE"/>
          </a:solidFill>
          <a:ln w="6350">
            <a:solidFill>
              <a:srgbClr val="E0F2FE"/>
            </a:solidFill>
            <a:prstDash val="solid"/>
          </a:ln>
        </p:spPr>
      </p:sp>
      <p:pic>
        <p:nvPicPr>
          <p:cNvPr id="55" name="icon" descr="preencoded.png">    </p:cNvPr>
          <p:cNvPicPr>
            <a:picLocks noChangeAspect="1"/>
          </p:cNvPicPr>
          <p:nvPr/>
        </p:nvPicPr>
        <p:blipFill>
          <a:blip r:embed="rId12"/>
          <a:stretch>
            <a:fillRect/>
          </a:stretch>
        </p:blipFill>
        <p:spPr>
          <a:xfrm>
            <a:off x="6336792" y="3374136"/>
            <a:ext cx="301752" cy="301752"/>
          </a:xfrm>
          <a:prstGeom prst="rect">
            <a:avLst/>
          </a:prstGeom>
        </p:spPr>
      </p:pic>
      <p:sp>
        <p:nvSpPr>
          <p:cNvPr id="56" name="Text 42"/>
          <p:cNvSpPr txBox="1"/>
          <p:nvPr/>
        </p:nvSpPr>
        <p:spPr>
          <a:xfrm>
            <a:off x="6839712" y="3227832"/>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Routing &amp; ETA</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road distance, traffic hour</a:t>
            </a:r>
            <a:endParaRPr lang="en-US" sz="1100" dirty="0"/>
          </a:p>
        </p:txBody>
      </p:sp>
      <p:sp>
        <p:nvSpPr>
          <p:cNvPr id="57" name="card"/>
          <p:cNvSpPr/>
          <p:nvPr/>
        </p:nvSpPr>
        <p:spPr>
          <a:xfrm>
            <a:off x="3749040" y="4032504"/>
            <a:ext cx="2240280" cy="777240"/>
          </a:xfrm>
          <a:prstGeom prst="roundRect">
            <a:avLst>
              <a:gd name="adj" fmla="val 9412"/>
            </a:avLst>
          </a:prstGeom>
          <a:solidFill>
            <a:srgbClr val="FFFFFF"/>
          </a:solidFill>
          <a:ln w="12700">
            <a:solidFill>
              <a:srgbClr val="D6DEE8"/>
            </a:solidFill>
            <a:prstDash val="solid"/>
          </a:ln>
        </p:spPr>
      </p:sp>
      <p:sp>
        <p:nvSpPr>
          <p:cNvPr id="58" name="icon tile"/>
          <p:cNvSpPr/>
          <p:nvPr/>
        </p:nvSpPr>
        <p:spPr>
          <a:xfrm>
            <a:off x="3858768" y="4169664"/>
            <a:ext cx="502920" cy="502920"/>
          </a:xfrm>
          <a:prstGeom prst="roundRect">
            <a:avLst>
              <a:gd name="adj" fmla="val 18182"/>
            </a:avLst>
          </a:prstGeom>
          <a:solidFill>
            <a:srgbClr val="E0F2FE"/>
          </a:solidFill>
          <a:ln w="6350">
            <a:solidFill>
              <a:srgbClr val="E0F2FE"/>
            </a:solidFill>
            <a:prstDash val="solid"/>
          </a:ln>
        </p:spPr>
      </p:sp>
      <p:pic>
        <p:nvPicPr>
          <p:cNvPr id="59" name="icon" descr="preencoded.png">    </p:cNvPr>
          <p:cNvPicPr>
            <a:picLocks noChangeAspect="1"/>
          </p:cNvPicPr>
          <p:nvPr/>
        </p:nvPicPr>
        <p:blipFill>
          <a:blip r:embed="rId13"/>
          <a:stretch>
            <a:fillRect/>
          </a:stretch>
        </p:blipFill>
        <p:spPr>
          <a:xfrm>
            <a:off x="3959352" y="4270248"/>
            <a:ext cx="301752" cy="301752"/>
          </a:xfrm>
          <a:prstGeom prst="rect">
            <a:avLst/>
          </a:prstGeom>
        </p:spPr>
      </p:pic>
      <p:sp>
        <p:nvSpPr>
          <p:cNvPr id="60" name="Text 45"/>
          <p:cNvSpPr txBox="1"/>
          <p:nvPr/>
        </p:nvSpPr>
        <p:spPr>
          <a:xfrm>
            <a:off x="4462272" y="4123944"/>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Secure case store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AES-256-GCM fields</a:t>
            </a:r>
            <a:endParaRPr lang="en-US" sz="1100" dirty="0"/>
          </a:p>
        </p:txBody>
      </p:sp>
      <p:sp>
        <p:nvSpPr>
          <p:cNvPr id="61" name="card"/>
          <p:cNvSpPr/>
          <p:nvPr/>
        </p:nvSpPr>
        <p:spPr>
          <a:xfrm>
            <a:off x="6126480" y="4032504"/>
            <a:ext cx="2240280" cy="777240"/>
          </a:xfrm>
          <a:prstGeom prst="roundRect">
            <a:avLst>
              <a:gd name="adj" fmla="val 9412"/>
            </a:avLst>
          </a:prstGeom>
          <a:solidFill>
            <a:srgbClr val="FFFFFF"/>
          </a:solidFill>
          <a:ln w="12700">
            <a:solidFill>
              <a:srgbClr val="D6DEE8"/>
            </a:solidFill>
            <a:prstDash val="solid"/>
          </a:ln>
        </p:spPr>
      </p:sp>
      <p:sp>
        <p:nvSpPr>
          <p:cNvPr id="62" name="icon tile"/>
          <p:cNvSpPr/>
          <p:nvPr/>
        </p:nvSpPr>
        <p:spPr>
          <a:xfrm>
            <a:off x="6236208" y="4169664"/>
            <a:ext cx="502920" cy="502920"/>
          </a:xfrm>
          <a:prstGeom prst="roundRect">
            <a:avLst>
              <a:gd name="adj" fmla="val 18182"/>
            </a:avLst>
          </a:prstGeom>
          <a:solidFill>
            <a:srgbClr val="E0F2FE"/>
          </a:solidFill>
          <a:ln w="6350">
            <a:solidFill>
              <a:srgbClr val="E0F2FE"/>
            </a:solidFill>
            <a:prstDash val="solid"/>
          </a:ln>
        </p:spPr>
      </p:sp>
      <p:pic>
        <p:nvPicPr>
          <p:cNvPr id="63" name="icon" descr="preencoded.png">    </p:cNvPr>
          <p:cNvPicPr>
            <a:picLocks noChangeAspect="1"/>
          </p:cNvPicPr>
          <p:nvPr/>
        </p:nvPicPr>
        <p:blipFill>
          <a:blip r:embed="rId14"/>
          <a:stretch>
            <a:fillRect/>
          </a:stretch>
        </p:blipFill>
        <p:spPr>
          <a:xfrm>
            <a:off x="6336792" y="4270248"/>
            <a:ext cx="301752" cy="301752"/>
          </a:xfrm>
          <a:prstGeom prst="rect">
            <a:avLst/>
          </a:prstGeom>
        </p:spPr>
      </p:pic>
      <p:sp>
        <p:nvSpPr>
          <p:cNvPr id="64" name="Text 48"/>
          <p:cNvSpPr txBox="1"/>
          <p:nvPr/>
        </p:nvSpPr>
        <p:spPr>
          <a:xfrm>
            <a:off x="6839712" y="4123944"/>
            <a:ext cx="1481328" cy="621792"/>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Audit chain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SHA-256 hash-chained log</a:t>
            </a:r>
            <a:endParaRPr lang="en-US" sz="1100" dirty="0"/>
          </a:p>
        </p:txBody>
      </p:sp>
      <p:sp>
        <p:nvSpPr>
          <p:cNvPr id="65" name="card"/>
          <p:cNvSpPr/>
          <p:nvPr/>
        </p:nvSpPr>
        <p:spPr>
          <a:xfrm>
            <a:off x="548640" y="5257800"/>
            <a:ext cx="5486400" cy="1005840"/>
          </a:xfrm>
          <a:prstGeom prst="roundRect">
            <a:avLst>
              <a:gd name="adj" fmla="val 7273"/>
            </a:avLst>
          </a:prstGeom>
          <a:solidFill>
            <a:srgbClr val="FEF2F2"/>
          </a:solidFill>
          <a:ln w="12700">
            <a:solidFill>
              <a:srgbClr val="FECACA"/>
            </a:solidFill>
            <a:prstDash val="solid"/>
          </a:ln>
        </p:spPr>
      </p:sp>
      <p:pic>
        <p:nvPicPr>
          <p:cNvPr id="66" name="icon" descr="preencoded.png">    </p:cNvPr>
          <p:cNvPicPr>
            <a:picLocks noChangeAspect="1"/>
          </p:cNvPicPr>
          <p:nvPr/>
        </p:nvPicPr>
        <p:blipFill>
          <a:blip r:embed="rId15"/>
          <a:stretch>
            <a:fillRect/>
          </a:stretch>
        </p:blipFill>
        <p:spPr>
          <a:xfrm>
            <a:off x="713232" y="5394960"/>
            <a:ext cx="365760" cy="365760"/>
          </a:xfrm>
          <a:prstGeom prst="rect">
            <a:avLst/>
          </a:prstGeom>
        </p:spPr>
      </p:pic>
      <p:sp>
        <p:nvSpPr>
          <p:cNvPr id="67" name="Text 50"/>
          <p:cNvSpPr txBox="1"/>
          <p:nvPr/>
        </p:nvSpPr>
        <p:spPr>
          <a:xfrm>
            <a:off x="1188720" y="5413248"/>
            <a:ext cx="3657600" cy="274320"/>
          </a:xfrm>
          <a:prstGeom prst="rect">
            <a:avLst/>
          </a:prstGeom>
          <a:noFill/>
          <a:ln/>
        </p:spPr>
        <p:txBody>
          <a:bodyPr wrap="square" lIns="0" tIns="0" rIns="0" bIns="0" rtlCol="0" anchor="t"/>
          <a:lstStyle/>
          <a:p>
            <a:pPr indent="0" marL="0">
              <a:buNone/>
            </a:pPr>
            <a:r>
              <a:rPr lang="en-US" sz="1100" b="1" spc="150" kern="0" dirty="0">
                <a:solidFill>
                  <a:srgbClr val="DC2626"/>
                </a:solidFill>
                <a:latin typeface="Calibri" pitchFamily="34" charset="0"/>
                <a:ea typeface="Calibri" pitchFamily="34" charset="-122"/>
                <a:cs typeface="Calibri" pitchFamily="34" charset="-120"/>
              </a:rPr>
              <a:t>SECURITY BY DESIGN</a:t>
            </a:r>
            <a:endParaRPr lang="en-US" sz="1100" dirty="0"/>
          </a:p>
        </p:txBody>
      </p:sp>
      <p:sp>
        <p:nvSpPr>
          <p:cNvPr id="68" name="Text 51"/>
          <p:cNvSpPr txBox="1"/>
          <p:nvPr/>
        </p:nvSpPr>
        <p:spPr>
          <a:xfrm>
            <a:off x="1188720" y="5669280"/>
            <a:ext cx="4709160" cy="5486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Aadhaar never stored (keyed hash + last 4) · OTP limits &amp; lockout · signed 108 messages with replay window · rate limits · strict CSP · per-field staff permissions</a:t>
            </a:r>
            <a:endParaRPr lang="en-US" sz="1100" dirty="0"/>
          </a:p>
        </p:txBody>
      </p:sp>
      <p:sp>
        <p:nvSpPr>
          <p:cNvPr id="69" name="card"/>
          <p:cNvSpPr/>
          <p:nvPr/>
        </p:nvSpPr>
        <p:spPr>
          <a:xfrm>
            <a:off x="6263640" y="5257800"/>
            <a:ext cx="5376672" cy="1005840"/>
          </a:xfrm>
          <a:prstGeom prst="roundRect">
            <a:avLst>
              <a:gd name="adj" fmla="val 7273"/>
            </a:avLst>
          </a:prstGeom>
          <a:solidFill>
            <a:srgbClr val="E0F2FE"/>
          </a:solidFill>
          <a:ln w="12700">
            <a:solidFill>
              <a:srgbClr val="BAE6FD"/>
            </a:solidFill>
            <a:prstDash val="solid"/>
          </a:ln>
        </p:spPr>
      </p:sp>
      <p:pic>
        <p:nvPicPr>
          <p:cNvPr id="70" name="icon" descr="preencoded.png">    </p:cNvPr>
          <p:cNvPicPr>
            <a:picLocks noChangeAspect="1"/>
          </p:cNvPicPr>
          <p:nvPr/>
        </p:nvPicPr>
        <p:blipFill>
          <a:blip r:embed="rId16"/>
          <a:stretch>
            <a:fillRect/>
          </a:stretch>
        </p:blipFill>
        <p:spPr>
          <a:xfrm>
            <a:off x="6428232" y="5394960"/>
            <a:ext cx="365760" cy="365760"/>
          </a:xfrm>
          <a:prstGeom prst="rect">
            <a:avLst/>
          </a:prstGeom>
        </p:spPr>
      </p:pic>
      <p:sp>
        <p:nvSpPr>
          <p:cNvPr id="71" name="Text 53"/>
          <p:cNvSpPr txBox="1"/>
          <p:nvPr/>
        </p:nvSpPr>
        <p:spPr>
          <a:xfrm>
            <a:off x="6903720" y="5413248"/>
            <a:ext cx="3657600" cy="274320"/>
          </a:xfrm>
          <a:prstGeom prst="rect">
            <a:avLst/>
          </a:prstGeom>
          <a:noFill/>
          <a:ln/>
        </p:spPr>
        <p:txBody>
          <a:bodyPr wrap="square" lIns="0" tIns="0" rIns="0" bIns="0" rtlCol="0" anchor="t"/>
          <a:lstStyle/>
          <a:p>
            <a:pPr indent="0" marL="0">
              <a:buNone/>
            </a:pPr>
            <a:r>
              <a:rPr lang="en-US" sz="1100" b="1" spc="150" kern="0" dirty="0">
                <a:solidFill>
                  <a:srgbClr val="0E7490"/>
                </a:solidFill>
                <a:latin typeface="Calibri" pitchFamily="34" charset="0"/>
                <a:ea typeface="Calibri" pitchFamily="34" charset="-122"/>
                <a:cs typeface="Calibri" pitchFamily="34" charset="-120"/>
              </a:rPr>
              <a:t>OPEN, LOW-COST STACK</a:t>
            </a:r>
            <a:endParaRPr lang="en-US" sz="1100" dirty="0"/>
          </a:p>
        </p:txBody>
      </p:sp>
      <p:sp>
        <p:nvSpPr>
          <p:cNvPr id="72" name="Text 54"/>
          <p:cNvSpPr txBox="1"/>
          <p:nvPr/>
        </p:nvSpPr>
        <p:spPr>
          <a:xfrm>
            <a:off x="6903720" y="5669280"/>
            <a:ext cx="4617720" cy="5486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Web Speech API (voice) · Tesseract.js (health-card OCR on the phone) · Leaflet maps · Service Worker (offline) · runs on one small cloud server (Render)</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06  IMPLEMENTATION</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Built, Deployed and Tested – </a:t>
            </a:r>
            <a:pPr algn="l" indent="0" marL="0">
              <a:buNone/>
            </a:pPr>
            <a:r>
              <a:rPr lang="en-US" sz="3400" b="1" dirty="0">
                <a:solidFill>
                  <a:srgbClr val="0E7490"/>
                </a:solidFill>
              </a:rPr>
              <a:t>Not a Mockup</a:t>
            </a:r>
            <a:endParaRPr lang="en-US" sz="3400" dirty="0"/>
          </a:p>
        </p:txBody>
      </p:sp>
      <p:sp>
        <p:nvSpPr>
          <p:cNvPr id="4" name="card"/>
          <p:cNvSpPr/>
          <p:nvPr/>
        </p:nvSpPr>
        <p:spPr>
          <a:xfrm>
            <a:off x="548640" y="1417320"/>
            <a:ext cx="2743200" cy="896112"/>
          </a:xfrm>
          <a:prstGeom prst="roundRect">
            <a:avLst>
              <a:gd name="adj" fmla="val 8163"/>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5" name="Text 3"/>
          <p:cNvSpPr txBox="1"/>
          <p:nvPr/>
        </p:nvSpPr>
        <p:spPr>
          <a:xfrm>
            <a:off x="713232" y="1527048"/>
            <a:ext cx="914400" cy="685800"/>
          </a:xfrm>
          <a:prstGeom prst="rect">
            <a:avLst/>
          </a:prstGeom>
          <a:noFill/>
          <a:ln/>
        </p:spPr>
        <p:txBody>
          <a:bodyPr wrap="square" lIns="0" tIns="0" rIns="0" bIns="0" rtlCol="0" anchor="ctr"/>
          <a:lstStyle/>
          <a:p>
            <a:pPr indent="0" marL="0">
              <a:buNone/>
            </a:pPr>
            <a:r>
              <a:rPr lang="en-US" sz="3600" b="1" dirty="0">
                <a:solidFill>
                  <a:srgbClr val="0E7490"/>
                </a:solidFill>
                <a:latin typeface="Arial" pitchFamily="34" charset="0"/>
                <a:ea typeface="Arial" pitchFamily="34" charset="-122"/>
                <a:cs typeface="Arial" pitchFamily="34" charset="-120"/>
              </a:rPr>
              <a:t>94</a:t>
            </a:r>
            <a:endParaRPr lang="en-US" sz="3600" dirty="0"/>
          </a:p>
        </p:txBody>
      </p:sp>
      <p:sp>
        <p:nvSpPr>
          <p:cNvPr id="6" name="Text 4"/>
          <p:cNvSpPr txBox="1"/>
          <p:nvPr/>
        </p:nvSpPr>
        <p:spPr>
          <a:xfrm>
            <a:off x="1645920" y="1527048"/>
            <a:ext cx="1554480" cy="6858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automated tests passing</a:t>
            </a:r>
            <a:endParaRPr lang="en-US" sz="1250" dirty="0"/>
          </a:p>
        </p:txBody>
      </p:sp>
      <p:sp>
        <p:nvSpPr>
          <p:cNvPr id="7" name="card"/>
          <p:cNvSpPr/>
          <p:nvPr/>
        </p:nvSpPr>
        <p:spPr>
          <a:xfrm>
            <a:off x="548640" y="2441448"/>
            <a:ext cx="2743200" cy="896112"/>
          </a:xfrm>
          <a:prstGeom prst="roundRect">
            <a:avLst>
              <a:gd name="adj" fmla="val 8163"/>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8" name="Text 6"/>
          <p:cNvSpPr txBox="1"/>
          <p:nvPr/>
        </p:nvSpPr>
        <p:spPr>
          <a:xfrm>
            <a:off x="713232" y="2551176"/>
            <a:ext cx="914400" cy="685800"/>
          </a:xfrm>
          <a:prstGeom prst="rect">
            <a:avLst/>
          </a:prstGeom>
          <a:noFill/>
          <a:ln/>
        </p:spPr>
        <p:txBody>
          <a:bodyPr wrap="square" lIns="0" tIns="0" rIns="0" bIns="0" rtlCol="0" anchor="ctr"/>
          <a:lstStyle/>
          <a:p>
            <a:pPr indent="0" marL="0">
              <a:buNone/>
            </a:pPr>
            <a:r>
              <a:rPr lang="en-US" sz="3600" b="1" dirty="0">
                <a:solidFill>
                  <a:srgbClr val="0E7490"/>
                </a:solidFill>
                <a:latin typeface="Arial" pitchFamily="34" charset="0"/>
                <a:ea typeface="Arial" pitchFamily="34" charset="-122"/>
                <a:cs typeface="Arial" pitchFamily="34" charset="-120"/>
              </a:rPr>
              <a:t>3</a:t>
            </a:r>
            <a:endParaRPr lang="en-US" sz="3600" dirty="0"/>
          </a:p>
        </p:txBody>
      </p:sp>
      <p:sp>
        <p:nvSpPr>
          <p:cNvPr id="9" name="Text 7"/>
          <p:cNvSpPr txBox="1"/>
          <p:nvPr/>
        </p:nvSpPr>
        <p:spPr>
          <a:xfrm>
            <a:off x="1645920" y="2551176"/>
            <a:ext cx="1554480" cy="6858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connected portals: citizen, hospital, 108</a:t>
            </a:r>
            <a:endParaRPr lang="en-US" sz="1250" dirty="0"/>
          </a:p>
        </p:txBody>
      </p:sp>
      <p:sp>
        <p:nvSpPr>
          <p:cNvPr id="10" name="card"/>
          <p:cNvSpPr/>
          <p:nvPr/>
        </p:nvSpPr>
        <p:spPr>
          <a:xfrm>
            <a:off x="548640" y="3465576"/>
            <a:ext cx="2743200" cy="896112"/>
          </a:xfrm>
          <a:prstGeom prst="roundRect">
            <a:avLst>
              <a:gd name="adj" fmla="val 8163"/>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1" name="Text 9"/>
          <p:cNvSpPr txBox="1"/>
          <p:nvPr/>
        </p:nvSpPr>
        <p:spPr>
          <a:xfrm>
            <a:off x="713232" y="3575304"/>
            <a:ext cx="914400" cy="685800"/>
          </a:xfrm>
          <a:prstGeom prst="rect">
            <a:avLst/>
          </a:prstGeom>
          <a:noFill/>
          <a:ln/>
        </p:spPr>
        <p:txBody>
          <a:bodyPr wrap="square" lIns="0" tIns="0" rIns="0" bIns="0" rtlCol="0" anchor="ctr"/>
          <a:lstStyle/>
          <a:p>
            <a:pPr indent="0" marL="0">
              <a:buNone/>
            </a:pPr>
            <a:r>
              <a:rPr lang="en-US" sz="3600" b="1" dirty="0">
                <a:solidFill>
                  <a:srgbClr val="059669"/>
                </a:solidFill>
                <a:latin typeface="Arial" pitchFamily="34" charset="0"/>
                <a:ea typeface="Arial" pitchFamily="34" charset="-122"/>
                <a:cs typeface="Arial" pitchFamily="34" charset="-120"/>
              </a:rPr>
              <a:t>16</a:t>
            </a:r>
            <a:endParaRPr lang="en-US" sz="3600" dirty="0"/>
          </a:p>
        </p:txBody>
      </p:sp>
      <p:sp>
        <p:nvSpPr>
          <p:cNvPr id="12" name="Text 10"/>
          <p:cNvSpPr txBox="1"/>
          <p:nvPr/>
        </p:nvSpPr>
        <p:spPr>
          <a:xfrm>
            <a:off x="1645920" y="3575304"/>
            <a:ext cx="1554480" cy="6858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hospitals · 4 districts</a:t>
            </a:r>
            <a:endParaRPr lang="en-US" sz="1250" dirty="0"/>
          </a:p>
        </p:txBody>
      </p:sp>
      <p:sp>
        <p:nvSpPr>
          <p:cNvPr id="13" name="card"/>
          <p:cNvSpPr/>
          <p:nvPr/>
        </p:nvSpPr>
        <p:spPr>
          <a:xfrm>
            <a:off x="548640" y="4489704"/>
            <a:ext cx="2743200" cy="896112"/>
          </a:xfrm>
          <a:prstGeom prst="roundRect">
            <a:avLst>
              <a:gd name="adj" fmla="val 8163"/>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4" name="Text 12"/>
          <p:cNvSpPr txBox="1"/>
          <p:nvPr/>
        </p:nvSpPr>
        <p:spPr>
          <a:xfrm>
            <a:off x="713232" y="4599432"/>
            <a:ext cx="914400" cy="685800"/>
          </a:xfrm>
          <a:prstGeom prst="rect">
            <a:avLst/>
          </a:prstGeom>
          <a:noFill/>
          <a:ln/>
        </p:spPr>
        <p:txBody>
          <a:bodyPr wrap="square" lIns="0" tIns="0" rIns="0" bIns="0" rtlCol="0" anchor="ctr"/>
          <a:lstStyle/>
          <a:p>
            <a:pPr indent="0" marL="0">
              <a:buNone/>
            </a:pPr>
            <a:r>
              <a:rPr lang="en-US" sz="3600" b="1" dirty="0">
                <a:solidFill>
                  <a:srgbClr val="DC2626"/>
                </a:solidFill>
                <a:latin typeface="Arial" pitchFamily="34" charset="0"/>
                <a:ea typeface="Arial" pitchFamily="34" charset="-122"/>
                <a:cs typeface="Arial" pitchFamily="34" charset="-120"/>
              </a:rPr>
              <a:t>9</a:t>
            </a:r>
            <a:endParaRPr lang="en-US" sz="3600" dirty="0"/>
          </a:p>
        </p:txBody>
      </p:sp>
      <p:sp>
        <p:nvSpPr>
          <p:cNvPr id="15" name="Text 13"/>
          <p:cNvSpPr txBox="1"/>
          <p:nvPr/>
        </p:nvSpPr>
        <p:spPr>
          <a:xfrm>
            <a:off x="1645920" y="4599432"/>
            <a:ext cx="1554480" cy="6858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ambulances in practice 108 fleet</a:t>
            </a:r>
            <a:endParaRPr lang="en-US" sz="1250" dirty="0"/>
          </a:p>
        </p:txBody>
      </p:sp>
      <p:sp>
        <p:nvSpPr>
          <p:cNvPr id="16" name="card"/>
          <p:cNvSpPr/>
          <p:nvPr/>
        </p:nvSpPr>
        <p:spPr>
          <a:xfrm>
            <a:off x="548640" y="5532120"/>
            <a:ext cx="2743200" cy="731520"/>
          </a:xfrm>
          <a:prstGeom prst="roundRect">
            <a:avLst>
              <a:gd name="adj" fmla="val 10000"/>
            </a:avLst>
          </a:prstGeom>
          <a:solidFill>
            <a:srgbClr val="0E7490"/>
          </a:solidFill>
          <a:ln w="12700">
            <a:solidFill>
              <a:srgbClr val="0E7490"/>
            </a:solidFill>
            <a:prstDash val="solid"/>
          </a:ln>
        </p:spPr>
      </p:sp>
      <p:sp>
        <p:nvSpPr>
          <p:cNvPr id="17" name="Text 15"/>
          <p:cNvSpPr txBox="1"/>
          <p:nvPr/>
        </p:nvSpPr>
        <p:spPr>
          <a:xfrm>
            <a:off x="713232" y="5577840"/>
            <a:ext cx="2514600" cy="640080"/>
          </a:xfrm>
          <a:prstGeom prst="rect">
            <a:avLst/>
          </a:prstGeom>
          <a:noFill/>
          <a:ln/>
        </p:spPr>
        <p:txBody>
          <a:bodyPr wrap="square" lIns="0" tIns="0" rIns="0" bIns="0"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LIVE NOW</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medreach-2.onrender.com</a:t>
            </a:r>
            <a:endParaRPr lang="en-US" sz="1250" dirty="0"/>
          </a:p>
        </p:txBody>
      </p:sp>
      <p:sp>
        <p:nvSpPr>
          <p:cNvPr id="18" name="Hospital dashboard – live capacity frame"/>
          <p:cNvSpPr/>
          <p:nvPr/>
        </p:nvSpPr>
        <p:spPr>
          <a:xfrm>
            <a:off x="3575304" y="1426464"/>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19" name="Hospital dashboard – live capacity" descr="/tmp/claude-0/-home-user-Sehat-Setu/b06e8423-ed6e-57c3-bbb1-ac94b2a1720d/scratchpad/ppt9/shots/hosp-dashboard.png">    </p:cNvPr>
          <p:cNvPicPr>
            <a:picLocks noChangeAspect="1"/>
          </p:cNvPicPr>
          <p:nvPr/>
        </p:nvPicPr>
        <p:blipFill>
          <a:blip r:embed="rId1"/>
          <a:srcRect l="0" r="0" t="0" b="0"/>
          <a:stretch/>
        </p:blipFill>
        <p:spPr>
          <a:xfrm>
            <a:off x="3611880" y="1463040"/>
            <a:ext cx="2514600" cy="1691640"/>
          </a:xfrm>
          <a:prstGeom prst="rect">
            <a:avLst/>
          </a:prstGeom>
        </p:spPr>
      </p:pic>
      <p:sp>
        <p:nvSpPr>
          <p:cNvPr id="20" name="Text 17"/>
          <p:cNvSpPr txBox="1"/>
          <p:nvPr/>
        </p:nvSpPr>
        <p:spPr>
          <a:xfrm>
            <a:off x="3611880" y="3246120"/>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Hospital dashboard – live capacity</a:t>
            </a:r>
            <a:endParaRPr lang="en-US" sz="1150" dirty="0"/>
          </a:p>
        </p:txBody>
      </p:sp>
      <p:sp>
        <p:nvSpPr>
          <p:cNvPr id="21" name="Incoming referral + AI SBAR note frame"/>
          <p:cNvSpPr/>
          <p:nvPr/>
        </p:nvSpPr>
        <p:spPr>
          <a:xfrm>
            <a:off x="6272784" y="1426464"/>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22" name="Incoming referral + AI SBAR note" descr="/tmp/claude-0/-home-user-Sehat-Setu/b06e8423-ed6e-57c3-bbb1-ac94b2a1720d/scratchpad/ppt9/shots/hosp-referral.png">    </p:cNvPr>
          <p:cNvPicPr>
            <a:picLocks noChangeAspect="1"/>
          </p:cNvPicPr>
          <p:nvPr/>
        </p:nvPicPr>
        <p:blipFill>
          <a:blip r:embed="rId2"/>
          <a:srcRect l="0" r="0" t="0" b="0"/>
          <a:stretch/>
        </p:blipFill>
        <p:spPr>
          <a:xfrm>
            <a:off x="6309360" y="1463040"/>
            <a:ext cx="2514600" cy="1691640"/>
          </a:xfrm>
          <a:prstGeom prst="rect">
            <a:avLst/>
          </a:prstGeom>
        </p:spPr>
      </p:pic>
      <p:sp>
        <p:nvSpPr>
          <p:cNvPr id="23" name="Text 19"/>
          <p:cNvSpPr txBox="1"/>
          <p:nvPr/>
        </p:nvSpPr>
        <p:spPr>
          <a:xfrm>
            <a:off x="6309360" y="3246120"/>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Incoming referral + AI SBAR note</a:t>
            </a:r>
            <a:endParaRPr lang="en-US" sz="1150" dirty="0"/>
          </a:p>
        </p:txBody>
      </p:sp>
      <p:sp>
        <p:nvSpPr>
          <p:cNvPr id="24" name="108-minute update &amp; Data Officer frame"/>
          <p:cNvSpPr/>
          <p:nvPr/>
        </p:nvSpPr>
        <p:spPr>
          <a:xfrm>
            <a:off x="8970264" y="1426464"/>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25" name="108-minute update &amp; Data Officer" descr="/tmp/claude-0/-home-user-Sehat-Setu/b06e8423-ed6e-57c3-bbb1-ac94b2a1720d/scratchpad/ppt9/shots/hosp-update.png">    </p:cNvPr>
          <p:cNvPicPr>
            <a:picLocks noChangeAspect="1"/>
          </p:cNvPicPr>
          <p:nvPr/>
        </p:nvPicPr>
        <p:blipFill>
          <a:blip r:embed="rId3"/>
          <a:srcRect l="0" r="0" t="0" b="0"/>
          <a:stretch/>
        </p:blipFill>
        <p:spPr>
          <a:xfrm>
            <a:off x="9006840" y="1463040"/>
            <a:ext cx="2514600" cy="1691640"/>
          </a:xfrm>
          <a:prstGeom prst="rect">
            <a:avLst/>
          </a:prstGeom>
        </p:spPr>
      </p:pic>
      <p:sp>
        <p:nvSpPr>
          <p:cNvPr id="26" name="Text 21"/>
          <p:cNvSpPr txBox="1"/>
          <p:nvPr/>
        </p:nvSpPr>
        <p:spPr>
          <a:xfrm>
            <a:off x="9006840" y="3246120"/>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108-minute update &amp; Data Officer</a:t>
            </a:r>
            <a:endParaRPr lang="en-US" sz="1150" dirty="0"/>
          </a:p>
        </p:txBody>
      </p:sp>
      <p:sp>
        <p:nvSpPr>
          <p:cNvPr id="27" name="108 control room (live site) frame"/>
          <p:cNvSpPr/>
          <p:nvPr/>
        </p:nvSpPr>
        <p:spPr>
          <a:xfrm>
            <a:off x="3575304" y="3822192"/>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28" name="108 control room (live site)" descr="/tmp/claude-0/-home-user-Sehat-Setu/b06e8423-ed6e-57c3-bbb1-ac94b2a1720d/scratchpad/ppt9/shots/live-cad.jpg">    </p:cNvPr>
          <p:cNvPicPr>
            <a:picLocks noChangeAspect="1"/>
          </p:cNvPicPr>
          <p:nvPr/>
        </p:nvPicPr>
        <p:blipFill>
          <a:blip r:embed="rId4"/>
          <a:srcRect l="0" r="0" t="0" b="0"/>
          <a:stretch/>
        </p:blipFill>
        <p:spPr>
          <a:xfrm>
            <a:off x="3611880" y="3858768"/>
            <a:ext cx="2514600" cy="1691640"/>
          </a:xfrm>
          <a:prstGeom prst="rect">
            <a:avLst/>
          </a:prstGeom>
        </p:spPr>
      </p:pic>
      <p:sp>
        <p:nvSpPr>
          <p:cNvPr id="29" name="Text 23"/>
          <p:cNvSpPr txBox="1"/>
          <p:nvPr/>
        </p:nvSpPr>
        <p:spPr>
          <a:xfrm>
            <a:off x="3611880" y="5641848"/>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108 control room (live site)</a:t>
            </a:r>
            <a:endParaRPr lang="en-US" sz="1150" dirty="0"/>
          </a:p>
        </p:txBody>
      </p:sp>
      <p:sp>
        <p:nvSpPr>
          <p:cNvPr id="30" name="Aadhaar + OTP sign-in frame"/>
          <p:cNvSpPr/>
          <p:nvPr/>
        </p:nvSpPr>
        <p:spPr>
          <a:xfrm>
            <a:off x="6272784" y="3822192"/>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31" name="Aadhaar + OTP sign-in" descr="/tmp/claude-0/-home-user-Sehat-Setu/b06e8423-ed6e-57c3-bbb1-ac94b2a1720d/scratchpad/ppt9/shots/login-otp.png">    </p:cNvPr>
          <p:cNvPicPr>
            <a:picLocks noChangeAspect="1"/>
          </p:cNvPicPr>
          <p:nvPr/>
        </p:nvPicPr>
        <p:blipFill>
          <a:blip r:embed="rId5"/>
          <a:srcRect l="0" r="0" t="0" b="0"/>
          <a:stretch/>
        </p:blipFill>
        <p:spPr>
          <a:xfrm>
            <a:off x="6309360" y="3858768"/>
            <a:ext cx="2514600" cy="1691640"/>
          </a:xfrm>
          <a:prstGeom prst="rect">
            <a:avLst/>
          </a:prstGeom>
        </p:spPr>
      </p:pic>
      <p:sp>
        <p:nvSpPr>
          <p:cNvPr id="32" name="Text 25"/>
          <p:cNvSpPr txBox="1"/>
          <p:nvPr/>
        </p:nvSpPr>
        <p:spPr>
          <a:xfrm>
            <a:off x="6309360" y="5641848"/>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Aadhaar + OTP sign-in</a:t>
            </a:r>
            <a:endParaRPr lang="en-US" sz="1150" dirty="0"/>
          </a:p>
        </p:txBody>
      </p:sp>
      <p:sp>
        <p:nvSpPr>
          <p:cNvPr id="33" name="Villages: SMS when no internet frame"/>
          <p:cNvSpPr/>
          <p:nvPr/>
        </p:nvSpPr>
        <p:spPr>
          <a:xfrm>
            <a:off x="8970264" y="3822192"/>
            <a:ext cx="2587752" cy="1764792"/>
          </a:xfrm>
          <a:prstGeom prst="rect">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pic>
        <p:nvPicPr>
          <p:cNvPr id="34" name="Villages: SMS when no internet" descr="/tmp/claude-0/-home-user-Sehat-Setu/b06e8423-ed6e-57c3-bbb1-ac94b2a1720d/scratchpad/ppt9/shots/home-rural.png">    </p:cNvPr>
          <p:cNvPicPr>
            <a:picLocks noChangeAspect="1"/>
          </p:cNvPicPr>
          <p:nvPr/>
        </p:nvPicPr>
        <p:blipFill>
          <a:blip r:embed="rId6"/>
          <a:srcRect l="0" r="0" t="0" b="0"/>
          <a:stretch/>
        </p:blipFill>
        <p:spPr>
          <a:xfrm>
            <a:off x="9006840" y="3858768"/>
            <a:ext cx="2514600" cy="1691640"/>
          </a:xfrm>
          <a:prstGeom prst="rect">
            <a:avLst/>
          </a:prstGeom>
        </p:spPr>
      </p:pic>
      <p:sp>
        <p:nvSpPr>
          <p:cNvPr id="35" name="Text 27"/>
          <p:cNvSpPr txBox="1"/>
          <p:nvPr/>
        </p:nvSpPr>
        <p:spPr>
          <a:xfrm>
            <a:off x="9006840" y="5641848"/>
            <a:ext cx="2514600" cy="274320"/>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Villages: SMS when no internet</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07  INNOVATION / DIFFERENTIATION</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What Makes Medreach </a:t>
            </a:r>
            <a:pPr algn="l" indent="0" marL="0">
              <a:buNone/>
            </a:pPr>
            <a:r>
              <a:rPr lang="en-US" sz="3400" b="1" dirty="0">
                <a:solidFill>
                  <a:srgbClr val="0E7490"/>
                </a:solidFill>
              </a:rPr>
              <a:t>Different</a:t>
            </a:r>
            <a:endParaRPr lang="en-US" sz="34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3108960"/>
                <a:gridCol w="1234440"/>
                <a:gridCol w="1097280"/>
                <a:gridCol w="1234440"/>
              </a:tblGrid>
              <a:tr h="548640">
                <a:tc>
                  <a:txBody>
                    <a:bodyPr/>
                    <a:lstStyle/>
                    <a:p>
                      <a:pPr indent="0" marL="0">
                        <a:buNone/>
                      </a:pPr>
                      <a:r>
                        <a:rPr lang="en-US" sz="1200" b="1" dirty="0">
                          <a:solidFill>
                            <a:srgbClr val="0E7490"/>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Calling around</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Map apps</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Medreach</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0F2FE"/>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Knows if the specialist &amp; ICU are free now</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97706"/>
                          </a:solidFill>
                          <a:latin typeface="Calibri" pitchFamily="34" charset="0"/>
                          <a:ea typeface="Calibri" pitchFamily="34" charset="-122"/>
                          <a:cs typeface="Calibri" pitchFamily="34" charset="-120"/>
                        </a:rPr>
                        <a:t>if someone answers</a:t>
                      </a:r>
                      <a:endParaRPr lang="en-US" sz="105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Hospital confirms before you travel</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D97706"/>
                          </a:solidFill>
                          <a:latin typeface="Calibri" pitchFamily="34" charset="0"/>
                          <a:ea typeface="Calibri" pitchFamily="34" charset="-122"/>
                          <a:cs typeface="Calibri" pitchFamily="34" charset="-120"/>
                        </a:rPr>
                        <a:t>sometimes</a:t>
                      </a:r>
                      <a:endParaRPr lang="en-US" sz="105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Speak in Hindi / Hinglish, AI understands</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108 gets location + accepting hospital</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Works on 2G, SMS and offline</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Data owner + 108-minute freshness</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Aadhaar-verified users, tamper-evident audit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0FDF4"/>
                    </a:solidFill>
                  </a:tcPr>
                </a:tc>
              </a:tr>
            </a:tbl>
          </a:graphicData>
        </a:graphic>
      </p:graphicFrame>
      <p:sp>
        <p:nvSpPr>
          <p:cNvPr id="5" name="Text 2"/>
          <p:cNvSpPr txBox="1"/>
          <p:nvPr/>
        </p:nvSpPr>
        <p:spPr>
          <a:xfrm>
            <a:off x="548640" y="5989320"/>
            <a:ext cx="6675120" cy="274320"/>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Medreach does not replace 108 or hospitals – it connects them.</a:t>
            </a:r>
            <a:endParaRPr lang="en-US" sz="1200" dirty="0"/>
          </a:p>
        </p:txBody>
      </p:sp>
      <p:sp>
        <p:nvSpPr>
          <p:cNvPr id="6" name="card"/>
          <p:cNvSpPr/>
          <p:nvPr/>
        </p:nvSpPr>
        <p:spPr>
          <a:xfrm>
            <a:off x="7543800" y="1463040"/>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7" name="icon tile"/>
          <p:cNvSpPr/>
          <p:nvPr/>
        </p:nvSpPr>
        <p:spPr>
          <a:xfrm>
            <a:off x="7680960" y="1600200"/>
            <a:ext cx="457200" cy="457200"/>
          </a:xfrm>
          <a:prstGeom prst="roundRect">
            <a:avLst>
              <a:gd name="adj" fmla="val 20000"/>
            </a:avLst>
          </a:prstGeom>
          <a:solidFill>
            <a:srgbClr val="E0F2FE"/>
          </a:solidFill>
          <a:ln w="6350">
            <a:solidFill>
              <a:srgbClr val="E0F2FE"/>
            </a:solidFill>
            <a:prstDash val="solid"/>
          </a:ln>
        </p:spPr>
      </p:sp>
      <p:pic>
        <p:nvPicPr>
          <p:cNvPr id="8" name="icon" descr="preencoded.png">    </p:cNvPr>
          <p:cNvPicPr>
            <a:picLocks noChangeAspect="1"/>
          </p:cNvPicPr>
          <p:nvPr/>
        </p:nvPicPr>
        <p:blipFill>
          <a:blip r:embed="rId1"/>
          <a:stretch>
            <a:fillRect/>
          </a:stretch>
        </p:blipFill>
        <p:spPr>
          <a:xfrm>
            <a:off x="7772400" y="1691640"/>
            <a:ext cx="274320" cy="274320"/>
          </a:xfrm>
          <a:prstGeom prst="rect">
            <a:avLst/>
          </a:prstGeom>
        </p:spPr>
      </p:pic>
      <p:sp>
        <p:nvSpPr>
          <p:cNvPr id="9" name="Text 5"/>
          <p:cNvSpPr txBox="1"/>
          <p:nvPr/>
        </p:nvSpPr>
        <p:spPr>
          <a:xfrm>
            <a:off x="8229600" y="1600200"/>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Explainable match score</a:t>
            </a:r>
            <a:endParaRPr lang="en-US" sz="1200" dirty="0"/>
          </a:p>
        </p:txBody>
      </p:sp>
      <p:sp>
        <p:nvSpPr>
          <p:cNvPr id="10" name="Text 6"/>
          <p:cNvSpPr txBox="1"/>
          <p:nvPr/>
        </p:nvSpPr>
        <p:spPr>
          <a:xfrm>
            <a:off x="7680960" y="2148840"/>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Each hospital gets a score out of 100 with its parts shown.</a:t>
            </a:r>
            <a:endParaRPr lang="en-US" sz="1100" dirty="0"/>
          </a:p>
        </p:txBody>
      </p:sp>
      <p:sp>
        <p:nvSpPr>
          <p:cNvPr id="11" name="card"/>
          <p:cNvSpPr/>
          <p:nvPr/>
        </p:nvSpPr>
        <p:spPr>
          <a:xfrm>
            <a:off x="9619488" y="1463040"/>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2" name="icon tile"/>
          <p:cNvSpPr/>
          <p:nvPr/>
        </p:nvSpPr>
        <p:spPr>
          <a:xfrm>
            <a:off x="9756648" y="1600200"/>
            <a:ext cx="457200" cy="457200"/>
          </a:xfrm>
          <a:prstGeom prst="roundRect">
            <a:avLst>
              <a:gd name="adj" fmla="val 20000"/>
            </a:avLst>
          </a:prstGeom>
          <a:solidFill>
            <a:srgbClr val="E0F2FE"/>
          </a:solidFill>
          <a:ln w="6350">
            <a:solidFill>
              <a:srgbClr val="E0F2FE"/>
            </a:solidFill>
            <a:prstDash val="solid"/>
          </a:ln>
        </p:spPr>
      </p:sp>
      <p:pic>
        <p:nvPicPr>
          <p:cNvPr id="13" name="icon" descr="preencoded.png">    </p:cNvPr>
          <p:cNvPicPr>
            <a:picLocks noChangeAspect="1"/>
          </p:cNvPicPr>
          <p:nvPr/>
        </p:nvPicPr>
        <p:blipFill>
          <a:blip r:embed="rId2"/>
          <a:stretch>
            <a:fillRect/>
          </a:stretch>
        </p:blipFill>
        <p:spPr>
          <a:xfrm>
            <a:off x="9848088" y="1691640"/>
            <a:ext cx="274320" cy="274320"/>
          </a:xfrm>
          <a:prstGeom prst="rect">
            <a:avLst/>
          </a:prstGeom>
        </p:spPr>
      </p:pic>
      <p:sp>
        <p:nvSpPr>
          <p:cNvPr id="14" name="Text 9"/>
          <p:cNvSpPr txBox="1"/>
          <p:nvPr/>
        </p:nvSpPr>
        <p:spPr>
          <a:xfrm>
            <a:off x="10305288" y="1600200"/>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Accept before travel</a:t>
            </a:r>
            <a:endParaRPr lang="en-US" sz="1200" dirty="0"/>
          </a:p>
        </p:txBody>
      </p:sp>
      <p:sp>
        <p:nvSpPr>
          <p:cNvPr id="15" name="Text 10"/>
          <p:cNvSpPr txBox="1"/>
          <p:nvPr/>
        </p:nvSpPr>
        <p:spPr>
          <a:xfrm>
            <a:off x="9756648" y="2148840"/>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No family leaves without a “yes” and a bay.</a:t>
            </a:r>
            <a:endParaRPr lang="en-US" sz="1100" dirty="0"/>
          </a:p>
        </p:txBody>
      </p:sp>
      <p:sp>
        <p:nvSpPr>
          <p:cNvPr id="16" name="card"/>
          <p:cNvSpPr/>
          <p:nvPr/>
        </p:nvSpPr>
        <p:spPr>
          <a:xfrm>
            <a:off x="7543800" y="2999232"/>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7" name="icon tile"/>
          <p:cNvSpPr/>
          <p:nvPr/>
        </p:nvSpPr>
        <p:spPr>
          <a:xfrm>
            <a:off x="7680960" y="3136392"/>
            <a:ext cx="457200" cy="457200"/>
          </a:xfrm>
          <a:prstGeom prst="roundRect">
            <a:avLst>
              <a:gd name="adj" fmla="val 20000"/>
            </a:avLst>
          </a:prstGeom>
          <a:solidFill>
            <a:srgbClr val="E0F2FE"/>
          </a:solidFill>
          <a:ln w="6350">
            <a:solidFill>
              <a:srgbClr val="E0F2FE"/>
            </a:solidFill>
            <a:prstDash val="solid"/>
          </a:ln>
        </p:spPr>
      </p:sp>
      <p:pic>
        <p:nvPicPr>
          <p:cNvPr id="18" name="icon" descr="preencoded.png">    </p:cNvPr>
          <p:cNvPicPr>
            <a:picLocks noChangeAspect="1"/>
          </p:cNvPicPr>
          <p:nvPr/>
        </p:nvPicPr>
        <p:blipFill>
          <a:blip r:embed="rId3"/>
          <a:stretch>
            <a:fillRect/>
          </a:stretch>
        </p:blipFill>
        <p:spPr>
          <a:xfrm>
            <a:off x="7772400" y="3227832"/>
            <a:ext cx="274320" cy="274320"/>
          </a:xfrm>
          <a:prstGeom prst="rect">
            <a:avLst/>
          </a:prstGeom>
        </p:spPr>
      </p:pic>
      <p:sp>
        <p:nvSpPr>
          <p:cNvPr id="19" name="Text 13"/>
          <p:cNvSpPr txBox="1"/>
          <p:nvPr/>
        </p:nvSpPr>
        <p:spPr>
          <a:xfrm>
            <a:off x="8229600" y="3136392"/>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108-minute update cycle</a:t>
            </a:r>
            <a:endParaRPr lang="en-US" sz="1200" dirty="0"/>
          </a:p>
        </p:txBody>
      </p:sp>
      <p:sp>
        <p:nvSpPr>
          <p:cNvPr id="20" name="Text 14"/>
          <p:cNvSpPr txBox="1"/>
          <p:nvPr/>
        </p:nvSpPr>
        <p:spPr>
          <a:xfrm>
            <a:off x="7680960" y="3685032"/>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Named officer, reminders, “unverified” if late.</a:t>
            </a:r>
            <a:endParaRPr lang="en-US" sz="1100" dirty="0"/>
          </a:p>
        </p:txBody>
      </p:sp>
      <p:sp>
        <p:nvSpPr>
          <p:cNvPr id="21" name="card"/>
          <p:cNvSpPr/>
          <p:nvPr/>
        </p:nvSpPr>
        <p:spPr>
          <a:xfrm>
            <a:off x="9619488" y="2999232"/>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22" name="icon tile"/>
          <p:cNvSpPr/>
          <p:nvPr/>
        </p:nvSpPr>
        <p:spPr>
          <a:xfrm>
            <a:off x="9756648" y="3136392"/>
            <a:ext cx="457200" cy="457200"/>
          </a:xfrm>
          <a:prstGeom prst="roundRect">
            <a:avLst>
              <a:gd name="adj" fmla="val 20000"/>
            </a:avLst>
          </a:prstGeom>
          <a:solidFill>
            <a:srgbClr val="E0F2FE"/>
          </a:solidFill>
          <a:ln w="6350">
            <a:solidFill>
              <a:srgbClr val="E0F2FE"/>
            </a:solidFill>
            <a:prstDash val="solid"/>
          </a:ln>
        </p:spPr>
      </p:sp>
      <p:pic>
        <p:nvPicPr>
          <p:cNvPr id="23" name="icon" descr="preencoded.png">    </p:cNvPr>
          <p:cNvPicPr>
            <a:picLocks noChangeAspect="1"/>
          </p:cNvPicPr>
          <p:nvPr/>
        </p:nvPicPr>
        <p:blipFill>
          <a:blip r:embed="rId4"/>
          <a:stretch>
            <a:fillRect/>
          </a:stretch>
        </p:blipFill>
        <p:spPr>
          <a:xfrm>
            <a:off x="9848088" y="3227832"/>
            <a:ext cx="274320" cy="274320"/>
          </a:xfrm>
          <a:prstGeom prst="rect">
            <a:avLst/>
          </a:prstGeom>
        </p:spPr>
      </p:pic>
      <p:sp>
        <p:nvSpPr>
          <p:cNvPr id="24" name="Text 17"/>
          <p:cNvSpPr txBox="1"/>
          <p:nvPr/>
        </p:nvSpPr>
        <p:spPr>
          <a:xfrm>
            <a:off x="10305288" y="3136392"/>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Signed 108 hand-off</a:t>
            </a:r>
            <a:endParaRPr lang="en-US" sz="1200" dirty="0"/>
          </a:p>
        </p:txBody>
      </p:sp>
      <p:sp>
        <p:nvSpPr>
          <p:cNvPr id="25" name="Text 18"/>
          <p:cNvSpPr txBox="1"/>
          <p:nvPr/>
        </p:nvSpPr>
        <p:spPr>
          <a:xfrm>
            <a:off x="9756648" y="3685032"/>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HMAC contract any state CAD can adopt.</a:t>
            </a:r>
            <a:endParaRPr lang="en-US" sz="1100" dirty="0"/>
          </a:p>
        </p:txBody>
      </p:sp>
      <p:sp>
        <p:nvSpPr>
          <p:cNvPr id="26" name="card"/>
          <p:cNvSpPr/>
          <p:nvPr/>
        </p:nvSpPr>
        <p:spPr>
          <a:xfrm>
            <a:off x="7543800" y="4535424"/>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27" name="icon tile"/>
          <p:cNvSpPr/>
          <p:nvPr/>
        </p:nvSpPr>
        <p:spPr>
          <a:xfrm>
            <a:off x="7680960" y="4672584"/>
            <a:ext cx="457200" cy="457200"/>
          </a:xfrm>
          <a:prstGeom prst="roundRect">
            <a:avLst>
              <a:gd name="adj" fmla="val 20000"/>
            </a:avLst>
          </a:prstGeom>
          <a:solidFill>
            <a:srgbClr val="E0F2FE"/>
          </a:solidFill>
          <a:ln w="6350">
            <a:solidFill>
              <a:srgbClr val="E0F2FE"/>
            </a:solidFill>
            <a:prstDash val="solid"/>
          </a:ln>
        </p:spPr>
      </p:sp>
      <p:pic>
        <p:nvPicPr>
          <p:cNvPr id="28" name="icon" descr="preencoded.png">    </p:cNvPr>
          <p:cNvPicPr>
            <a:picLocks noChangeAspect="1"/>
          </p:cNvPicPr>
          <p:nvPr/>
        </p:nvPicPr>
        <p:blipFill>
          <a:blip r:embed="rId5"/>
          <a:stretch>
            <a:fillRect/>
          </a:stretch>
        </p:blipFill>
        <p:spPr>
          <a:xfrm>
            <a:off x="7772400" y="4764024"/>
            <a:ext cx="274320" cy="274320"/>
          </a:xfrm>
          <a:prstGeom prst="rect">
            <a:avLst/>
          </a:prstGeom>
        </p:spPr>
      </p:pic>
      <p:sp>
        <p:nvSpPr>
          <p:cNvPr id="29" name="Text 21"/>
          <p:cNvSpPr txBox="1"/>
          <p:nvPr/>
        </p:nvSpPr>
        <p:spPr>
          <a:xfrm>
            <a:off x="8229600" y="4672584"/>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#MR1 SMS code</a:t>
            </a:r>
            <a:endParaRPr lang="en-US" sz="1200" dirty="0"/>
          </a:p>
        </p:txBody>
      </p:sp>
      <p:sp>
        <p:nvSpPr>
          <p:cNvPr id="30" name="Text 22"/>
          <p:cNvSpPr txBox="1"/>
          <p:nvPr/>
        </p:nvSpPr>
        <p:spPr>
          <a:xfrm>
            <a:off x="7680960" y="5221224"/>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Whole request fits in one SMS on 2G.</a:t>
            </a:r>
            <a:endParaRPr lang="en-US" sz="1100" dirty="0"/>
          </a:p>
        </p:txBody>
      </p:sp>
      <p:sp>
        <p:nvSpPr>
          <p:cNvPr id="31" name="card"/>
          <p:cNvSpPr/>
          <p:nvPr/>
        </p:nvSpPr>
        <p:spPr>
          <a:xfrm>
            <a:off x="9619488" y="4535424"/>
            <a:ext cx="1938528" cy="1399032"/>
          </a:xfrm>
          <a:prstGeom prst="roundRect">
            <a:avLst>
              <a:gd name="adj" fmla="val 5229"/>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32" name="icon tile"/>
          <p:cNvSpPr/>
          <p:nvPr/>
        </p:nvSpPr>
        <p:spPr>
          <a:xfrm>
            <a:off x="9756648" y="4672584"/>
            <a:ext cx="457200" cy="457200"/>
          </a:xfrm>
          <a:prstGeom prst="roundRect">
            <a:avLst>
              <a:gd name="adj" fmla="val 20000"/>
            </a:avLst>
          </a:prstGeom>
          <a:solidFill>
            <a:srgbClr val="E0F2FE"/>
          </a:solidFill>
          <a:ln w="6350">
            <a:solidFill>
              <a:srgbClr val="E0F2FE"/>
            </a:solidFill>
            <a:prstDash val="solid"/>
          </a:ln>
        </p:spPr>
      </p:sp>
      <p:pic>
        <p:nvPicPr>
          <p:cNvPr id="33" name="icon" descr="preencoded.png">    </p:cNvPr>
          <p:cNvPicPr>
            <a:picLocks noChangeAspect="1"/>
          </p:cNvPicPr>
          <p:nvPr/>
        </p:nvPicPr>
        <p:blipFill>
          <a:blip r:embed="rId6"/>
          <a:stretch>
            <a:fillRect/>
          </a:stretch>
        </p:blipFill>
        <p:spPr>
          <a:xfrm>
            <a:off x="9848088" y="4764024"/>
            <a:ext cx="274320" cy="274320"/>
          </a:xfrm>
          <a:prstGeom prst="rect">
            <a:avLst/>
          </a:prstGeom>
        </p:spPr>
      </p:pic>
      <p:sp>
        <p:nvSpPr>
          <p:cNvPr id="34" name="Text 25"/>
          <p:cNvSpPr txBox="1"/>
          <p:nvPr/>
        </p:nvSpPr>
        <p:spPr>
          <a:xfrm>
            <a:off x="10305288" y="4672584"/>
            <a:ext cx="1188720" cy="47548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AI pre-arrival note</a:t>
            </a:r>
            <a:endParaRPr lang="en-US" sz="1200" dirty="0"/>
          </a:p>
        </p:txBody>
      </p:sp>
      <p:sp>
        <p:nvSpPr>
          <p:cNvPr id="35" name="Text 26"/>
          <p:cNvSpPr txBox="1"/>
          <p:nvPr/>
        </p:nvSpPr>
        <p:spPr>
          <a:xfrm>
            <a:off x="9756648" y="5221224"/>
            <a:ext cx="16916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SBAR summary reaches the ER first.</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08  IMPACT &amp; BENEFIT</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Impact: </a:t>
            </a:r>
            <a:pPr algn="l" indent="0" marL="0">
              <a:buNone/>
            </a:pPr>
            <a:r>
              <a:rPr lang="en-US" sz="3400" b="1" dirty="0">
                <a:solidFill>
                  <a:srgbClr val="0E7490"/>
                </a:solidFill>
              </a:rPr>
              <a:t>Minutes Saved Are Lives Saved</a:t>
            </a:r>
            <a:endParaRPr lang="en-US" sz="3400" dirty="0"/>
          </a:p>
        </p:txBody>
      </p:sp>
      <p:sp>
        <p:nvSpPr>
          <p:cNvPr id="4" name="card"/>
          <p:cNvSpPr/>
          <p:nvPr/>
        </p:nvSpPr>
        <p:spPr>
          <a:xfrm>
            <a:off x="548640" y="1417320"/>
            <a:ext cx="2606040" cy="1188720"/>
          </a:xfrm>
          <a:prstGeom prst="roundRect">
            <a:avLst>
              <a:gd name="adj" fmla="val 6154"/>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5" name="Text 3"/>
          <p:cNvSpPr txBox="1"/>
          <p:nvPr/>
        </p:nvSpPr>
        <p:spPr>
          <a:xfrm>
            <a:off x="731520" y="1481328"/>
            <a:ext cx="2286000" cy="566928"/>
          </a:xfrm>
          <a:prstGeom prst="rect">
            <a:avLst/>
          </a:prstGeom>
          <a:noFill/>
          <a:ln/>
        </p:spPr>
        <p:txBody>
          <a:bodyPr wrap="square" lIns="0" tIns="0" rIns="0" bIns="0" rtlCol="0" anchor="t"/>
          <a:lstStyle/>
          <a:p>
            <a:pPr indent="0" marL="0">
              <a:buNone/>
            </a:pPr>
            <a:r>
              <a:rPr lang="en-US" sz="3200" b="1" dirty="0">
                <a:solidFill>
                  <a:srgbClr val="DC2626"/>
                </a:solidFill>
                <a:latin typeface="Arial" pitchFamily="34" charset="0"/>
                <a:ea typeface="Arial" pitchFamily="34" charset="-122"/>
                <a:cs typeface="Arial" pitchFamily="34" charset="-120"/>
              </a:rPr>
              <a:t>60 s</a:t>
            </a:r>
            <a:endParaRPr lang="en-US" sz="3200" dirty="0"/>
          </a:p>
        </p:txBody>
      </p:sp>
      <p:sp>
        <p:nvSpPr>
          <p:cNvPr id="6" name="Text 4"/>
          <p:cNvSpPr txBox="1"/>
          <p:nvPr/>
        </p:nvSpPr>
        <p:spPr>
          <a:xfrm>
            <a:off x="731520" y="2057400"/>
            <a:ext cx="228600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a hospital must answer, or the next one is asked</a:t>
            </a:r>
            <a:endParaRPr lang="en-US" sz="1150" dirty="0"/>
          </a:p>
        </p:txBody>
      </p:sp>
      <p:sp>
        <p:nvSpPr>
          <p:cNvPr id="7" name="card"/>
          <p:cNvSpPr/>
          <p:nvPr/>
        </p:nvSpPr>
        <p:spPr>
          <a:xfrm>
            <a:off x="3337560" y="1417320"/>
            <a:ext cx="2606040" cy="1188720"/>
          </a:xfrm>
          <a:prstGeom prst="roundRect">
            <a:avLst>
              <a:gd name="adj" fmla="val 6154"/>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8" name="Text 6"/>
          <p:cNvSpPr txBox="1"/>
          <p:nvPr/>
        </p:nvSpPr>
        <p:spPr>
          <a:xfrm>
            <a:off x="3520440" y="1481328"/>
            <a:ext cx="2286000" cy="566928"/>
          </a:xfrm>
          <a:prstGeom prst="rect">
            <a:avLst/>
          </a:prstGeom>
          <a:noFill/>
          <a:ln/>
        </p:spPr>
        <p:txBody>
          <a:bodyPr wrap="square" lIns="0" tIns="0" rIns="0" bIns="0" rtlCol="0" anchor="t"/>
          <a:lstStyle/>
          <a:p>
            <a:pPr indent="0" marL="0">
              <a:buNone/>
            </a:pPr>
            <a:r>
              <a:rPr lang="en-US" sz="3200" b="1" dirty="0">
                <a:solidFill>
                  <a:srgbClr val="0E7490"/>
                </a:solidFill>
                <a:latin typeface="Arial" pitchFamily="34" charset="0"/>
                <a:ea typeface="Arial" pitchFamily="34" charset="-122"/>
                <a:cs typeface="Arial" pitchFamily="34" charset="-120"/>
              </a:rPr>
              <a:t>108 min</a:t>
            </a:r>
            <a:endParaRPr lang="en-US" sz="3200" dirty="0"/>
          </a:p>
        </p:txBody>
      </p:sp>
      <p:sp>
        <p:nvSpPr>
          <p:cNvPr id="9" name="Text 7"/>
          <p:cNvSpPr txBox="1"/>
          <p:nvPr/>
        </p:nvSpPr>
        <p:spPr>
          <a:xfrm>
            <a:off x="3520440" y="2057400"/>
            <a:ext cx="228600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maximum age of hospital data before it is flagged</a:t>
            </a:r>
            <a:endParaRPr lang="en-US" sz="1150" dirty="0"/>
          </a:p>
        </p:txBody>
      </p:sp>
      <p:sp>
        <p:nvSpPr>
          <p:cNvPr id="10" name="card"/>
          <p:cNvSpPr/>
          <p:nvPr/>
        </p:nvSpPr>
        <p:spPr>
          <a:xfrm>
            <a:off x="6126480" y="1417320"/>
            <a:ext cx="2606040" cy="1188720"/>
          </a:xfrm>
          <a:prstGeom prst="roundRect">
            <a:avLst>
              <a:gd name="adj" fmla="val 6154"/>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1" name="Text 9"/>
          <p:cNvSpPr txBox="1"/>
          <p:nvPr/>
        </p:nvSpPr>
        <p:spPr>
          <a:xfrm>
            <a:off x="6309360" y="1481328"/>
            <a:ext cx="2286000" cy="566928"/>
          </a:xfrm>
          <a:prstGeom prst="rect">
            <a:avLst/>
          </a:prstGeom>
          <a:noFill/>
          <a:ln/>
        </p:spPr>
        <p:txBody>
          <a:bodyPr wrap="square" lIns="0" tIns="0" rIns="0" bIns="0" rtlCol="0" anchor="t"/>
          <a:lstStyle/>
          <a:p>
            <a:pPr indent="0" marL="0">
              <a:buNone/>
            </a:pPr>
            <a:r>
              <a:rPr lang="en-US" sz="3200" b="1" dirty="0">
                <a:solidFill>
                  <a:srgbClr val="059669"/>
                </a:solidFill>
                <a:latin typeface="Arial" pitchFamily="34" charset="0"/>
                <a:ea typeface="Arial" pitchFamily="34" charset="-122"/>
                <a:cs typeface="Arial" pitchFamily="34" charset="-120"/>
              </a:rPr>
              <a:t>4</a:t>
            </a:r>
            <a:endParaRPr lang="en-US" sz="3200" dirty="0"/>
          </a:p>
        </p:txBody>
      </p:sp>
      <p:sp>
        <p:nvSpPr>
          <p:cNvPr id="12" name="Text 10"/>
          <p:cNvSpPr txBox="1"/>
          <p:nvPr/>
        </p:nvSpPr>
        <p:spPr>
          <a:xfrm>
            <a:off x="6309360" y="2057400"/>
            <a:ext cx="228600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network levels covered: 4G, 2G + SMS, offline, call</a:t>
            </a:r>
            <a:endParaRPr lang="en-US" sz="1150" dirty="0"/>
          </a:p>
        </p:txBody>
      </p:sp>
      <p:sp>
        <p:nvSpPr>
          <p:cNvPr id="13" name="card"/>
          <p:cNvSpPr/>
          <p:nvPr/>
        </p:nvSpPr>
        <p:spPr>
          <a:xfrm>
            <a:off x="8915400" y="1417320"/>
            <a:ext cx="2606040" cy="1188720"/>
          </a:xfrm>
          <a:prstGeom prst="roundRect">
            <a:avLst>
              <a:gd name="adj" fmla="val 6154"/>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4" name="Text 12"/>
          <p:cNvSpPr txBox="1"/>
          <p:nvPr/>
        </p:nvSpPr>
        <p:spPr>
          <a:xfrm>
            <a:off x="9098280" y="1481328"/>
            <a:ext cx="2286000" cy="566928"/>
          </a:xfrm>
          <a:prstGeom prst="rect">
            <a:avLst/>
          </a:prstGeom>
          <a:noFill/>
          <a:ln/>
        </p:spPr>
        <p:txBody>
          <a:bodyPr wrap="square" lIns="0" tIns="0" rIns="0" bIns="0" rtlCol="0" anchor="t"/>
          <a:lstStyle/>
          <a:p>
            <a:pPr indent="0" marL="0">
              <a:buNone/>
            </a:pPr>
            <a:r>
              <a:rPr lang="en-US" sz="3200" b="1" dirty="0">
                <a:solidFill>
                  <a:srgbClr val="7C3AED"/>
                </a:solidFill>
                <a:latin typeface="Arial" pitchFamily="34" charset="0"/>
                <a:ea typeface="Arial" pitchFamily="34" charset="-122"/>
                <a:cs typeface="Arial" pitchFamily="34" charset="-120"/>
              </a:rPr>
              <a:t>0</a:t>
            </a:r>
            <a:endParaRPr lang="en-US" sz="3200" dirty="0"/>
          </a:p>
        </p:txBody>
      </p:sp>
      <p:sp>
        <p:nvSpPr>
          <p:cNvPr id="15" name="Text 13"/>
          <p:cNvSpPr txBox="1"/>
          <p:nvPr/>
        </p:nvSpPr>
        <p:spPr>
          <a:xfrm>
            <a:off x="9098280" y="2057400"/>
            <a:ext cx="2286000" cy="502920"/>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Aadhaar numbers stored – only a keyed reference</a:t>
            </a:r>
            <a:endParaRPr lang="en-US" sz="1150" dirty="0"/>
          </a:p>
        </p:txBody>
      </p:sp>
      <p:sp>
        <p:nvSpPr>
          <p:cNvPr id="16" name="card"/>
          <p:cNvSpPr/>
          <p:nvPr/>
        </p:nvSpPr>
        <p:spPr>
          <a:xfrm>
            <a:off x="548640" y="2834640"/>
            <a:ext cx="3547872" cy="2423160"/>
          </a:xfrm>
          <a:prstGeom prst="roundRect">
            <a:avLst>
              <a:gd name="adj" fmla="val 3019"/>
            </a:avLst>
          </a:prstGeom>
          <a:solidFill>
            <a:srgbClr val="F1F5F9"/>
          </a:solidFill>
          <a:ln w="12700">
            <a:solidFill>
              <a:srgbClr val="D6DEE8"/>
            </a:solidFill>
            <a:prstDash val="solid"/>
          </a:ln>
        </p:spPr>
      </p:sp>
      <p:pic>
        <p:nvPicPr>
          <p:cNvPr id="17" name="Citizens &amp; families photo" descr="/home/user/Sehat-Setu/public/img/home/ambulance.jpg">    </p:cNvPr>
          <p:cNvPicPr>
            <a:picLocks noChangeAspect="1"/>
          </p:cNvPicPr>
          <p:nvPr/>
        </p:nvPicPr>
        <p:blipFill>
          <a:blip r:embed="rId1"/>
          <a:srcRect l="0" r="0" t="0" b="0"/>
          <a:stretch/>
        </p:blipFill>
        <p:spPr>
          <a:xfrm>
            <a:off x="685800" y="2971800"/>
            <a:ext cx="1234440" cy="914400"/>
          </a:xfrm>
          <a:prstGeom prst="rect">
            <a:avLst/>
          </a:prstGeom>
        </p:spPr>
      </p:pic>
      <p:sp>
        <p:nvSpPr>
          <p:cNvPr id="18" name="Text 15"/>
          <p:cNvSpPr txBox="1"/>
          <p:nvPr/>
        </p:nvSpPr>
        <p:spPr>
          <a:xfrm>
            <a:off x="2057400" y="3017520"/>
            <a:ext cx="1901952" cy="8229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Citizens &amp; families</a:t>
            </a:r>
            <a:endParaRPr lang="en-US" sz="1600" dirty="0"/>
          </a:p>
        </p:txBody>
      </p:sp>
      <p:sp>
        <p:nvSpPr>
          <p:cNvPr id="19" name="Text 16"/>
          <p:cNvSpPr txBox="1"/>
          <p:nvPr/>
        </p:nvSpPr>
        <p:spPr>
          <a:xfrm>
            <a:off x="713232" y="4005072"/>
            <a:ext cx="3227832" cy="1207008"/>
          </a:xfrm>
          <a:prstGeom prst="rect">
            <a:avLst/>
          </a:prstGeom>
          <a:noFill/>
          <a:ln/>
        </p:spPr>
        <p:txBody>
          <a:bodyPr wrap="square" lIns="0" tIns="0" rIns="0" bIns="0" rtlCol="0" anchor="t"/>
          <a:lstStyle/>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Right hospital the first time</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No form-filling in panic: just speak</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Family tracks the ambulance live</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Villages served on 2G / SMS</a:t>
            </a:r>
            <a:endParaRPr lang="en-US" sz="1350" dirty="0"/>
          </a:p>
        </p:txBody>
      </p:sp>
      <p:sp>
        <p:nvSpPr>
          <p:cNvPr id="20" name="card"/>
          <p:cNvSpPr/>
          <p:nvPr/>
        </p:nvSpPr>
        <p:spPr>
          <a:xfrm>
            <a:off x="4270248" y="2834640"/>
            <a:ext cx="3547872" cy="2423160"/>
          </a:xfrm>
          <a:prstGeom prst="roundRect">
            <a:avLst>
              <a:gd name="adj" fmla="val 3019"/>
            </a:avLst>
          </a:prstGeom>
          <a:solidFill>
            <a:srgbClr val="F1F5F9"/>
          </a:solidFill>
          <a:ln w="12700">
            <a:solidFill>
              <a:srgbClr val="D6DEE8"/>
            </a:solidFill>
            <a:prstDash val="solid"/>
          </a:ln>
        </p:spPr>
      </p:sp>
      <p:pic>
        <p:nvPicPr>
          <p:cNvPr id="21" name="Hospitals photo" descr="/home/user/Sehat-Setu/public/img/home/hospital.jpg">    </p:cNvPr>
          <p:cNvPicPr>
            <a:picLocks noChangeAspect="1"/>
          </p:cNvPicPr>
          <p:nvPr/>
        </p:nvPicPr>
        <p:blipFill>
          <a:blip r:embed="rId2"/>
          <a:srcRect l="0" r="0" t="0" b="0"/>
          <a:stretch/>
        </p:blipFill>
        <p:spPr>
          <a:xfrm>
            <a:off x="4407408" y="2971800"/>
            <a:ext cx="1234440" cy="914400"/>
          </a:xfrm>
          <a:prstGeom prst="rect">
            <a:avLst/>
          </a:prstGeom>
        </p:spPr>
      </p:pic>
      <p:sp>
        <p:nvSpPr>
          <p:cNvPr id="22" name="Text 18"/>
          <p:cNvSpPr txBox="1"/>
          <p:nvPr/>
        </p:nvSpPr>
        <p:spPr>
          <a:xfrm>
            <a:off x="5779008" y="3017520"/>
            <a:ext cx="1901952" cy="8229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Hospitals</a:t>
            </a:r>
            <a:endParaRPr lang="en-US" sz="1600" dirty="0"/>
          </a:p>
        </p:txBody>
      </p:sp>
      <p:sp>
        <p:nvSpPr>
          <p:cNvPr id="23" name="Text 19"/>
          <p:cNvSpPr txBox="1"/>
          <p:nvPr/>
        </p:nvSpPr>
        <p:spPr>
          <a:xfrm>
            <a:off x="4434840" y="4005072"/>
            <a:ext cx="3227832" cy="1207008"/>
          </a:xfrm>
          <a:prstGeom prst="rect">
            <a:avLst/>
          </a:prstGeom>
          <a:noFill/>
          <a:ln/>
        </p:spPr>
        <p:txBody>
          <a:bodyPr wrap="square" lIns="0" tIns="0" rIns="0" bIns="0" rtlCol="0" anchor="t"/>
          <a:lstStyle/>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Patients arrive announced, bay ready</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SBAR note before arrival</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Fewer unsuitable walk-ins</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Audit log protects the staff</a:t>
            </a:r>
            <a:endParaRPr lang="en-US" sz="1350" dirty="0"/>
          </a:p>
        </p:txBody>
      </p:sp>
      <p:sp>
        <p:nvSpPr>
          <p:cNvPr id="24" name="card"/>
          <p:cNvSpPr/>
          <p:nvPr/>
        </p:nvSpPr>
        <p:spPr>
          <a:xfrm>
            <a:off x="7991856" y="2834640"/>
            <a:ext cx="3547872" cy="2423160"/>
          </a:xfrm>
          <a:prstGeom prst="roundRect">
            <a:avLst>
              <a:gd name="adj" fmla="val 3019"/>
            </a:avLst>
          </a:prstGeom>
          <a:solidFill>
            <a:srgbClr val="F1F5F9"/>
          </a:solidFill>
          <a:ln w="12700">
            <a:solidFill>
              <a:srgbClr val="D6DEE8"/>
            </a:solidFill>
            <a:prstDash val="solid"/>
          </a:ln>
        </p:spPr>
      </p:sp>
      <p:pic>
        <p:nvPicPr>
          <p:cNvPr id="25" name="108 / Health department photo" descr="/home/user/Sehat-Setu/public/img/home/doctor.jpg">    </p:cNvPr>
          <p:cNvPicPr>
            <a:picLocks noChangeAspect="1"/>
          </p:cNvPicPr>
          <p:nvPr/>
        </p:nvPicPr>
        <p:blipFill>
          <a:blip r:embed="rId3"/>
          <a:srcRect l="0" r="0" t="0" b="0"/>
          <a:stretch/>
        </p:blipFill>
        <p:spPr>
          <a:xfrm>
            <a:off x="8129016" y="2971800"/>
            <a:ext cx="1234440" cy="914400"/>
          </a:xfrm>
          <a:prstGeom prst="rect">
            <a:avLst/>
          </a:prstGeom>
        </p:spPr>
      </p:pic>
      <p:sp>
        <p:nvSpPr>
          <p:cNvPr id="26" name="Text 21"/>
          <p:cNvSpPr txBox="1"/>
          <p:nvPr/>
        </p:nvSpPr>
        <p:spPr>
          <a:xfrm>
            <a:off x="9500616" y="3017520"/>
            <a:ext cx="1901952" cy="8229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108 / Health department</a:t>
            </a:r>
            <a:endParaRPr lang="en-US" sz="1600" dirty="0"/>
          </a:p>
        </p:txBody>
      </p:sp>
      <p:sp>
        <p:nvSpPr>
          <p:cNvPr id="27" name="Text 22"/>
          <p:cNvSpPr txBox="1"/>
          <p:nvPr/>
        </p:nvSpPr>
        <p:spPr>
          <a:xfrm>
            <a:off x="8156448" y="4005072"/>
            <a:ext cx="3227832" cy="1207008"/>
          </a:xfrm>
          <a:prstGeom prst="rect">
            <a:avLst/>
          </a:prstGeom>
          <a:noFill/>
          <a:ln/>
        </p:spPr>
        <p:txBody>
          <a:bodyPr wrap="square" lIns="0" tIns="0" rIns="0" bIns="0" rtlCol="0" anchor="t"/>
          <a:lstStyle/>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No re-asking: complete incident</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Live map of capacity statewide</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Data owner for every hospital</a:t>
            </a:r>
            <a:endParaRPr lang="en-US" sz="1350" dirty="0"/>
          </a:p>
          <a:p>
            <a:pPr marL="152400" indent="-152400">
              <a:spcAft>
                <a:spcPts val="300"/>
              </a:spcAft>
              <a:buSzPct val="100000"/>
              <a:buChar char="•"/>
            </a:pPr>
            <a:r>
              <a:rPr lang="en-US" sz="1350" dirty="0">
                <a:solidFill>
                  <a:srgbClr val="0F172A"/>
                </a:solidFill>
                <a:latin typeface="Calibri" pitchFamily="34" charset="0"/>
                <a:ea typeface="Calibri" pitchFamily="34" charset="-122"/>
                <a:cs typeface="Calibri" pitchFamily="34" charset="-120"/>
              </a:rPr>
              <a:t>Planning from real demand</a:t>
            </a:r>
            <a:endParaRPr lang="en-US" sz="1350" dirty="0"/>
          </a:p>
        </p:txBody>
      </p:sp>
      <p:sp>
        <p:nvSpPr>
          <p:cNvPr id="28" name="Text 23"/>
          <p:cNvSpPr txBox="1"/>
          <p:nvPr/>
        </p:nvSpPr>
        <p:spPr>
          <a:xfrm>
            <a:off x="548640" y="5605272"/>
            <a:ext cx="1188720" cy="457200"/>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SCALE-UP</a:t>
            </a:r>
            <a:endParaRPr lang="en-US" sz="1100" dirty="0"/>
          </a:p>
        </p:txBody>
      </p:sp>
      <p:sp>
        <p:nvSpPr>
          <p:cNvPr id="29" name="Text 24"/>
          <p:cNvSpPr txBox="1"/>
          <p:nvPr/>
        </p:nvSpPr>
        <p:spPr>
          <a:xfrm>
            <a:off x="1691640" y="5532120"/>
            <a:ext cx="3063240" cy="603504"/>
          </a:xfrm>
          <a:prstGeom prst="roundRect">
            <a:avLst>
              <a:gd name="adj" fmla="val 12121"/>
            </a:avLst>
          </a:prstGeom>
          <a:solidFill>
            <a:srgbClr val="0E7490"/>
          </a:solidFill>
          <a:ln/>
        </p:spPr>
        <p:txBody>
          <a:bodyPr wrap="square" lIns="114300" tIns="114300" rIns="114300" bIns="1143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Pilot  </a:t>
            </a:r>
            <a:pPr indent="0" marL="0">
              <a:buNone/>
            </a:pPr>
            <a:r>
              <a:rPr lang="en-US" sz="1150" dirty="0">
                <a:solidFill>
                  <a:srgbClr val="E0F2FE"/>
                </a:solidFill>
                <a:latin typeface="Calibri" pitchFamily="34" charset="0"/>
                <a:ea typeface="Calibri" pitchFamily="34" charset="-122"/>
                <a:cs typeface="Calibri" pitchFamily="34" charset="-120"/>
              </a:rPr>
              <a:t>Bhopal division – 16 hospitals, 4 districts</a:t>
            </a:r>
            <a:endParaRPr lang="en-US" sz="1150" dirty="0"/>
          </a:p>
        </p:txBody>
      </p:sp>
      <p:sp>
        <p:nvSpPr>
          <p:cNvPr id="30" name="Text 25"/>
          <p:cNvSpPr txBox="1"/>
          <p:nvPr/>
        </p:nvSpPr>
        <p:spPr>
          <a:xfrm>
            <a:off x="4782312" y="5605272"/>
            <a:ext cx="228600" cy="457200"/>
          </a:xfrm>
          <a:prstGeom prst="rect">
            <a:avLst/>
          </a:prstGeom>
          <a:noFill/>
          <a:ln/>
        </p:spPr>
        <p:txBody>
          <a:bodyPr wrap="square" lIns="0" tIns="0" rIns="0" bIns="0" rtlCol="0" anchor="ctr"/>
          <a:lstStyle/>
          <a:p>
            <a:pPr algn="ctr" indent="0" marL="0">
              <a:buNone/>
            </a:pPr>
            <a:r>
              <a:rPr lang="en-US" sz="1800" b="1" dirty="0">
                <a:solidFill>
                  <a:srgbClr val="0E7490"/>
                </a:solidFill>
                <a:latin typeface="Calibri" pitchFamily="34" charset="0"/>
                <a:ea typeface="Calibri" pitchFamily="34" charset="-122"/>
                <a:cs typeface="Calibri" pitchFamily="34" charset="-120"/>
              </a:rPr>
              <a:t>›</a:t>
            </a:r>
            <a:endParaRPr lang="en-US" sz="1800" dirty="0"/>
          </a:p>
        </p:txBody>
      </p:sp>
      <p:sp>
        <p:nvSpPr>
          <p:cNvPr id="31" name="Text 26"/>
          <p:cNvSpPr txBox="1"/>
          <p:nvPr/>
        </p:nvSpPr>
        <p:spPr>
          <a:xfrm>
            <a:off x="5029200" y="5532120"/>
            <a:ext cx="3063240" cy="603504"/>
          </a:xfrm>
          <a:prstGeom prst="roundRect">
            <a:avLst>
              <a:gd name="adj" fmla="val 12121"/>
            </a:avLst>
          </a:prstGeom>
          <a:solidFill>
            <a:srgbClr val="0B5E75"/>
          </a:solidFill>
          <a:ln/>
        </p:spPr>
        <p:txBody>
          <a:bodyPr wrap="square" lIns="114300" tIns="114300" rIns="114300" bIns="1143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Madhya Pradesh  </a:t>
            </a:r>
            <a:pPr indent="0" marL="0">
              <a:buNone/>
            </a:pPr>
            <a:r>
              <a:rPr lang="en-US" sz="1150" dirty="0">
                <a:solidFill>
                  <a:srgbClr val="E0F2FE"/>
                </a:solidFill>
                <a:latin typeface="Calibri" pitchFamily="34" charset="0"/>
                <a:ea typeface="Calibri" pitchFamily="34" charset="-122"/>
                <a:cs typeface="Calibri" pitchFamily="34" charset="-120"/>
              </a:rPr>
              <a:t>all districts, with the state 108 operator</a:t>
            </a:r>
            <a:endParaRPr lang="en-US" sz="1150" dirty="0"/>
          </a:p>
        </p:txBody>
      </p:sp>
      <p:sp>
        <p:nvSpPr>
          <p:cNvPr id="32" name="Text 27"/>
          <p:cNvSpPr txBox="1"/>
          <p:nvPr/>
        </p:nvSpPr>
        <p:spPr>
          <a:xfrm>
            <a:off x="8119872" y="5605272"/>
            <a:ext cx="228600" cy="457200"/>
          </a:xfrm>
          <a:prstGeom prst="rect">
            <a:avLst/>
          </a:prstGeom>
          <a:noFill/>
          <a:ln/>
        </p:spPr>
        <p:txBody>
          <a:bodyPr wrap="square" lIns="0" tIns="0" rIns="0" bIns="0" rtlCol="0" anchor="ctr"/>
          <a:lstStyle/>
          <a:p>
            <a:pPr algn="ctr" indent="0" marL="0">
              <a:buNone/>
            </a:pPr>
            <a:r>
              <a:rPr lang="en-US" sz="1800" b="1" dirty="0">
                <a:solidFill>
                  <a:srgbClr val="0E7490"/>
                </a:solidFill>
                <a:latin typeface="Calibri" pitchFamily="34" charset="0"/>
                <a:ea typeface="Calibri" pitchFamily="34" charset="-122"/>
                <a:cs typeface="Calibri" pitchFamily="34" charset="-120"/>
              </a:rPr>
              <a:t>›</a:t>
            </a:r>
            <a:endParaRPr lang="en-US" sz="1800" dirty="0"/>
          </a:p>
        </p:txBody>
      </p:sp>
      <p:sp>
        <p:nvSpPr>
          <p:cNvPr id="33" name="Text 28"/>
          <p:cNvSpPr txBox="1"/>
          <p:nvPr/>
        </p:nvSpPr>
        <p:spPr>
          <a:xfrm>
            <a:off x="8366760" y="5532120"/>
            <a:ext cx="3063240" cy="603504"/>
          </a:xfrm>
          <a:prstGeom prst="roundRect">
            <a:avLst>
              <a:gd name="adj" fmla="val 12121"/>
            </a:avLst>
          </a:prstGeom>
          <a:solidFill>
            <a:srgbClr val="083E4F"/>
          </a:solidFill>
          <a:ln/>
        </p:spPr>
        <p:txBody>
          <a:bodyPr wrap="square" lIns="114300" tIns="114300" rIns="114300" bIns="1143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India  </a:t>
            </a:r>
            <a:pPr indent="0" marL="0">
              <a:buNone/>
            </a:pPr>
            <a:r>
              <a:rPr lang="en-US" sz="1150" dirty="0">
                <a:solidFill>
                  <a:srgbClr val="E0F2FE"/>
                </a:solidFill>
                <a:latin typeface="Calibri" pitchFamily="34" charset="0"/>
                <a:ea typeface="Calibri" pitchFamily="34" charset="-122"/>
                <a:cs typeface="Calibri" pitchFamily="34" charset="-120"/>
              </a:rPr>
              <a:t>any state’s 108 / 102, same open contract</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indent="0" marL="0">
              <a:buNone/>
            </a:pPr>
            <a:r>
              <a:rPr lang="en-US" sz="1100" b="1" spc="200" kern="0" dirty="0">
                <a:solidFill>
                  <a:srgbClr val="0E7490"/>
                </a:solidFill>
                <a:latin typeface="Calibri" pitchFamily="34" charset="0"/>
                <a:ea typeface="Calibri" pitchFamily="34" charset="-122"/>
                <a:cs typeface="Calibri" pitchFamily="34" charset="-120"/>
              </a:rPr>
              <a:t>09  WHY SHOULD WE SELECT YOU?</a:t>
            </a:r>
            <a:endParaRPr lang="en-US" sz="1100" dirty="0"/>
          </a:p>
        </p:txBody>
      </p:sp>
      <p:sp>
        <p:nvSpPr>
          <p:cNvPr id="3" name="Text 0"/>
          <p:cNvSpPr/>
          <p:nvPr>
            <p:ph idx="100" type="title" hasCustomPrompt="1"/>
          </p:nvPr>
        </p:nvSpPr>
        <p:spPr>
          <a:xfrm>
            <a:off x="548640" y="54864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Why Medreach </a:t>
            </a:r>
            <a:pPr algn="l" indent="0" marL="0">
              <a:buNone/>
            </a:pPr>
            <a:r>
              <a:rPr lang="en-US" sz="3400" b="1" dirty="0">
                <a:solidFill>
                  <a:srgbClr val="0E7490"/>
                </a:solidFill>
              </a:rPr>
              <a:t>Deserves to Win</a:t>
            </a:r>
            <a:endParaRPr lang="en-US" sz="3400" dirty="0"/>
          </a:p>
        </p:txBody>
      </p:sp>
      <p:sp>
        <p:nvSpPr>
          <p:cNvPr id="4" name="card"/>
          <p:cNvSpPr/>
          <p:nvPr/>
        </p:nvSpPr>
        <p:spPr>
          <a:xfrm>
            <a:off x="548640" y="14630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5" name="icon tile"/>
          <p:cNvSpPr/>
          <p:nvPr/>
        </p:nvSpPr>
        <p:spPr>
          <a:xfrm>
            <a:off x="731520" y="1645920"/>
            <a:ext cx="566928" cy="566928"/>
          </a:xfrm>
          <a:prstGeom prst="roundRect">
            <a:avLst>
              <a:gd name="adj" fmla="val 16129"/>
            </a:avLst>
          </a:prstGeom>
          <a:solidFill>
            <a:srgbClr val="E0F2FE"/>
          </a:solidFill>
          <a:ln w="6350">
            <a:solidFill>
              <a:srgbClr val="E0F2FE"/>
            </a:solidFill>
            <a:prstDash val="solid"/>
          </a:ln>
        </p:spPr>
      </p:sp>
      <p:pic>
        <p:nvPicPr>
          <p:cNvPr id="6" name="icon" descr="preencoded.png">    </p:cNvPr>
          <p:cNvPicPr>
            <a:picLocks noChangeAspect="1"/>
          </p:cNvPicPr>
          <p:nvPr/>
        </p:nvPicPr>
        <p:blipFill>
          <a:blip r:embed="rId1"/>
          <a:stretch>
            <a:fillRect/>
          </a:stretch>
        </p:blipFill>
        <p:spPr>
          <a:xfrm>
            <a:off x="844906" y="1759306"/>
            <a:ext cx="340157" cy="340157"/>
          </a:xfrm>
          <a:prstGeom prst="rect">
            <a:avLst/>
          </a:prstGeom>
        </p:spPr>
      </p:pic>
      <p:sp>
        <p:nvSpPr>
          <p:cNvPr id="7" name="Text 4"/>
          <p:cNvSpPr txBox="1"/>
          <p:nvPr/>
        </p:nvSpPr>
        <p:spPr>
          <a:xfrm>
            <a:off x="1444752" y="16642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It works today</a:t>
            </a:r>
            <a:endParaRPr lang="en-US" sz="1500" dirty="0"/>
          </a:p>
        </p:txBody>
      </p:sp>
      <p:sp>
        <p:nvSpPr>
          <p:cNvPr id="8" name="Text 5"/>
          <p:cNvSpPr txBox="1"/>
          <p:nvPr/>
        </p:nvSpPr>
        <p:spPr>
          <a:xfrm>
            <a:off x="1444752" y="20299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Live website: speak → hospital accepts → 108 ambulance → tracking, end to end.</a:t>
            </a:r>
            <a:endParaRPr lang="en-US" sz="1300" dirty="0"/>
          </a:p>
        </p:txBody>
      </p:sp>
      <p:sp>
        <p:nvSpPr>
          <p:cNvPr id="9" name="card"/>
          <p:cNvSpPr/>
          <p:nvPr/>
        </p:nvSpPr>
        <p:spPr>
          <a:xfrm>
            <a:off x="4343400" y="14630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0" name="icon tile"/>
          <p:cNvSpPr/>
          <p:nvPr/>
        </p:nvSpPr>
        <p:spPr>
          <a:xfrm>
            <a:off x="4526280" y="1645920"/>
            <a:ext cx="566928" cy="566928"/>
          </a:xfrm>
          <a:prstGeom prst="roundRect">
            <a:avLst>
              <a:gd name="adj" fmla="val 16129"/>
            </a:avLst>
          </a:prstGeom>
          <a:solidFill>
            <a:srgbClr val="FEF2F2"/>
          </a:solidFill>
          <a:ln w="6350">
            <a:solidFill>
              <a:srgbClr val="FEF2F2"/>
            </a:solidFill>
            <a:prstDash val="solid"/>
          </a:ln>
        </p:spPr>
      </p:sp>
      <p:pic>
        <p:nvPicPr>
          <p:cNvPr id="11" name="icon" descr="preencoded.png">    </p:cNvPr>
          <p:cNvPicPr>
            <a:picLocks noChangeAspect="1"/>
          </p:cNvPicPr>
          <p:nvPr/>
        </p:nvPicPr>
        <p:blipFill>
          <a:blip r:embed="rId2"/>
          <a:stretch>
            <a:fillRect/>
          </a:stretch>
        </p:blipFill>
        <p:spPr>
          <a:xfrm>
            <a:off x="4639666" y="1759306"/>
            <a:ext cx="340157" cy="340157"/>
          </a:xfrm>
          <a:prstGeom prst="rect">
            <a:avLst/>
          </a:prstGeom>
        </p:spPr>
      </p:pic>
      <p:sp>
        <p:nvSpPr>
          <p:cNvPr id="12" name="Text 8"/>
          <p:cNvSpPr txBox="1"/>
          <p:nvPr/>
        </p:nvSpPr>
        <p:spPr>
          <a:xfrm>
            <a:off x="5239512" y="16642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Ready for real 108</a:t>
            </a:r>
            <a:endParaRPr lang="en-US" sz="1500" dirty="0"/>
          </a:p>
        </p:txBody>
      </p:sp>
      <p:sp>
        <p:nvSpPr>
          <p:cNvPr id="13" name="Text 9"/>
          <p:cNvSpPr txBox="1"/>
          <p:nvPr/>
        </p:nvSpPr>
        <p:spPr>
          <a:xfrm>
            <a:off x="5239512" y="20299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Signed incident contract, proven with our practice control room.</a:t>
            </a:r>
            <a:endParaRPr lang="en-US" sz="1300" dirty="0"/>
          </a:p>
        </p:txBody>
      </p:sp>
      <p:sp>
        <p:nvSpPr>
          <p:cNvPr id="14" name="card"/>
          <p:cNvSpPr/>
          <p:nvPr/>
        </p:nvSpPr>
        <p:spPr>
          <a:xfrm>
            <a:off x="548640" y="30632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15" name="icon tile"/>
          <p:cNvSpPr/>
          <p:nvPr/>
        </p:nvSpPr>
        <p:spPr>
          <a:xfrm>
            <a:off x="731520" y="3246120"/>
            <a:ext cx="566928" cy="566928"/>
          </a:xfrm>
          <a:prstGeom prst="roundRect">
            <a:avLst>
              <a:gd name="adj" fmla="val 16129"/>
            </a:avLst>
          </a:prstGeom>
          <a:solidFill>
            <a:srgbClr val="E0F2FE"/>
          </a:solidFill>
          <a:ln w="6350">
            <a:solidFill>
              <a:srgbClr val="E0F2FE"/>
            </a:solidFill>
            <a:prstDash val="solid"/>
          </a:ln>
        </p:spPr>
      </p:sp>
      <p:pic>
        <p:nvPicPr>
          <p:cNvPr id="16" name="icon" descr="preencoded.png">    </p:cNvPr>
          <p:cNvPicPr>
            <a:picLocks noChangeAspect="1"/>
          </p:cNvPicPr>
          <p:nvPr/>
        </p:nvPicPr>
        <p:blipFill>
          <a:blip r:embed="rId3"/>
          <a:stretch>
            <a:fillRect/>
          </a:stretch>
        </p:blipFill>
        <p:spPr>
          <a:xfrm>
            <a:off x="844906" y="3359506"/>
            <a:ext cx="340157" cy="340157"/>
          </a:xfrm>
          <a:prstGeom prst="rect">
            <a:avLst/>
          </a:prstGeom>
        </p:spPr>
      </p:pic>
      <p:sp>
        <p:nvSpPr>
          <p:cNvPr id="17" name="Text 12"/>
          <p:cNvSpPr txBox="1"/>
          <p:nvPr/>
        </p:nvSpPr>
        <p:spPr>
          <a:xfrm>
            <a:off x="1444752" y="32644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Built for rural MP</a:t>
            </a:r>
            <a:endParaRPr lang="en-US" sz="1500" dirty="0"/>
          </a:p>
        </p:txBody>
      </p:sp>
      <p:sp>
        <p:nvSpPr>
          <p:cNvPr id="18" name="Text 13"/>
          <p:cNvSpPr txBox="1"/>
          <p:nvPr/>
        </p:nvSpPr>
        <p:spPr>
          <a:xfrm>
            <a:off x="1444752" y="36301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Hindi voice, 2G / SMS / offline, 102 Janani Express for mothers.</a:t>
            </a:r>
            <a:endParaRPr lang="en-US" sz="1300" dirty="0"/>
          </a:p>
        </p:txBody>
      </p:sp>
      <p:sp>
        <p:nvSpPr>
          <p:cNvPr id="19" name="card"/>
          <p:cNvSpPr/>
          <p:nvPr/>
        </p:nvSpPr>
        <p:spPr>
          <a:xfrm>
            <a:off x="4343400" y="30632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20" name="icon tile"/>
          <p:cNvSpPr/>
          <p:nvPr/>
        </p:nvSpPr>
        <p:spPr>
          <a:xfrm>
            <a:off x="4526280" y="3246120"/>
            <a:ext cx="566928" cy="566928"/>
          </a:xfrm>
          <a:prstGeom prst="roundRect">
            <a:avLst>
              <a:gd name="adj" fmla="val 16129"/>
            </a:avLst>
          </a:prstGeom>
          <a:solidFill>
            <a:srgbClr val="E0F2FE"/>
          </a:solidFill>
          <a:ln w="6350">
            <a:solidFill>
              <a:srgbClr val="E0F2FE"/>
            </a:solidFill>
            <a:prstDash val="solid"/>
          </a:ln>
        </p:spPr>
      </p:sp>
      <p:pic>
        <p:nvPicPr>
          <p:cNvPr id="21" name="icon" descr="preencoded.png">    </p:cNvPr>
          <p:cNvPicPr>
            <a:picLocks noChangeAspect="1"/>
          </p:cNvPicPr>
          <p:nvPr/>
        </p:nvPicPr>
        <p:blipFill>
          <a:blip r:embed="rId4"/>
          <a:stretch>
            <a:fillRect/>
          </a:stretch>
        </p:blipFill>
        <p:spPr>
          <a:xfrm>
            <a:off x="4639666" y="3359506"/>
            <a:ext cx="340157" cy="340157"/>
          </a:xfrm>
          <a:prstGeom prst="rect">
            <a:avLst/>
          </a:prstGeom>
        </p:spPr>
      </p:pic>
      <p:sp>
        <p:nvSpPr>
          <p:cNvPr id="22" name="Text 16"/>
          <p:cNvSpPr txBox="1"/>
          <p:nvPr/>
        </p:nvSpPr>
        <p:spPr>
          <a:xfrm>
            <a:off x="5239512" y="32644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Secure &amp; private</a:t>
            </a:r>
            <a:endParaRPr lang="en-US" sz="1500" dirty="0"/>
          </a:p>
        </p:txBody>
      </p:sp>
      <p:sp>
        <p:nvSpPr>
          <p:cNvPr id="23" name="Text 17"/>
          <p:cNvSpPr txBox="1"/>
          <p:nvPr/>
        </p:nvSpPr>
        <p:spPr>
          <a:xfrm>
            <a:off x="5239512" y="36301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Aadhaar OTP, AES-256-GCM, tamper-evident audit, no Aadhaar stored.</a:t>
            </a:r>
            <a:endParaRPr lang="en-US" sz="1300" dirty="0"/>
          </a:p>
        </p:txBody>
      </p:sp>
      <p:sp>
        <p:nvSpPr>
          <p:cNvPr id="24" name="card"/>
          <p:cNvSpPr/>
          <p:nvPr/>
        </p:nvSpPr>
        <p:spPr>
          <a:xfrm>
            <a:off x="548640" y="46634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25" name="icon tile"/>
          <p:cNvSpPr/>
          <p:nvPr/>
        </p:nvSpPr>
        <p:spPr>
          <a:xfrm>
            <a:off x="731520" y="4846320"/>
            <a:ext cx="566928" cy="566928"/>
          </a:xfrm>
          <a:prstGeom prst="roundRect">
            <a:avLst>
              <a:gd name="adj" fmla="val 16129"/>
            </a:avLst>
          </a:prstGeom>
          <a:solidFill>
            <a:srgbClr val="E0F2FE"/>
          </a:solidFill>
          <a:ln w="6350">
            <a:solidFill>
              <a:srgbClr val="E0F2FE"/>
            </a:solidFill>
            <a:prstDash val="solid"/>
          </a:ln>
        </p:spPr>
      </p:sp>
      <p:pic>
        <p:nvPicPr>
          <p:cNvPr id="26" name="icon" descr="preencoded.png">    </p:cNvPr>
          <p:cNvPicPr>
            <a:picLocks noChangeAspect="1"/>
          </p:cNvPicPr>
          <p:nvPr/>
        </p:nvPicPr>
        <p:blipFill>
          <a:blip r:embed="rId5"/>
          <a:stretch>
            <a:fillRect/>
          </a:stretch>
        </p:blipFill>
        <p:spPr>
          <a:xfrm>
            <a:off x="844906" y="4959706"/>
            <a:ext cx="340157" cy="340157"/>
          </a:xfrm>
          <a:prstGeom prst="rect">
            <a:avLst/>
          </a:prstGeom>
        </p:spPr>
      </p:pic>
      <p:sp>
        <p:nvSpPr>
          <p:cNvPr id="27" name="Text 20"/>
          <p:cNvSpPr txBox="1"/>
          <p:nvPr/>
        </p:nvSpPr>
        <p:spPr>
          <a:xfrm>
            <a:off x="1444752" y="48646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Low cost, scalable</a:t>
            </a:r>
            <a:endParaRPr lang="en-US" sz="1500" dirty="0"/>
          </a:p>
        </p:txBody>
      </p:sp>
      <p:sp>
        <p:nvSpPr>
          <p:cNvPr id="28" name="Text 21"/>
          <p:cNvSpPr txBox="1"/>
          <p:nvPr/>
        </p:nvSpPr>
        <p:spPr>
          <a:xfrm>
            <a:off x="1444752" y="52303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Open-source stack, one web app for every phone, AI optional.</a:t>
            </a:r>
            <a:endParaRPr lang="en-US" sz="1300" dirty="0"/>
          </a:p>
        </p:txBody>
      </p:sp>
      <p:sp>
        <p:nvSpPr>
          <p:cNvPr id="29" name="card"/>
          <p:cNvSpPr/>
          <p:nvPr/>
        </p:nvSpPr>
        <p:spPr>
          <a:xfrm>
            <a:off x="4343400" y="4663440"/>
            <a:ext cx="3611880" cy="1417320"/>
          </a:xfrm>
          <a:prstGeom prst="roundRect">
            <a:avLst>
              <a:gd name="adj" fmla="val 5161"/>
            </a:avLst>
          </a:prstGeom>
          <a:solidFill>
            <a:srgbClr val="FFFFFF"/>
          </a:solidFill>
          <a:ln w="12700">
            <a:solidFill>
              <a:srgbClr val="D6DEE8"/>
            </a:solidFill>
            <a:prstDash val="solid"/>
          </a:ln>
          <a:effectLst>
            <a:outerShdw sx="100000" sy="100000" kx="0" ky="0" algn="bl" rotWithShape="0" blurRad="114300" dist="25400" dir="5400000">
              <a:srgbClr val="0F172A">
                <a:alpha val="14000"/>
              </a:srgbClr>
            </a:outerShdw>
          </a:effectLst>
        </p:spPr>
      </p:sp>
      <p:sp>
        <p:nvSpPr>
          <p:cNvPr id="30" name="icon tile"/>
          <p:cNvSpPr/>
          <p:nvPr/>
        </p:nvSpPr>
        <p:spPr>
          <a:xfrm>
            <a:off x="4526280" y="4846320"/>
            <a:ext cx="566928" cy="566928"/>
          </a:xfrm>
          <a:prstGeom prst="roundRect">
            <a:avLst>
              <a:gd name="adj" fmla="val 16129"/>
            </a:avLst>
          </a:prstGeom>
          <a:solidFill>
            <a:srgbClr val="E0F2FE"/>
          </a:solidFill>
          <a:ln w="6350">
            <a:solidFill>
              <a:srgbClr val="E0F2FE"/>
            </a:solidFill>
            <a:prstDash val="solid"/>
          </a:ln>
        </p:spPr>
      </p:sp>
      <p:pic>
        <p:nvPicPr>
          <p:cNvPr id="31" name="icon" descr="preencoded.png">    </p:cNvPr>
          <p:cNvPicPr>
            <a:picLocks noChangeAspect="1"/>
          </p:cNvPicPr>
          <p:nvPr/>
        </p:nvPicPr>
        <p:blipFill>
          <a:blip r:embed="rId6"/>
          <a:stretch>
            <a:fillRect/>
          </a:stretch>
        </p:blipFill>
        <p:spPr>
          <a:xfrm>
            <a:off x="4639666" y="4959706"/>
            <a:ext cx="340157" cy="340157"/>
          </a:xfrm>
          <a:prstGeom prst="rect">
            <a:avLst/>
          </a:prstGeom>
        </p:spPr>
      </p:pic>
      <p:sp>
        <p:nvSpPr>
          <p:cNvPr id="32" name="Text 24"/>
          <p:cNvSpPr txBox="1"/>
          <p:nvPr/>
        </p:nvSpPr>
        <p:spPr>
          <a:xfrm>
            <a:off x="5239512" y="4864608"/>
            <a:ext cx="260604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Responsible AI</a:t>
            </a:r>
            <a:endParaRPr lang="en-US" sz="1500" dirty="0"/>
          </a:p>
        </p:txBody>
      </p:sp>
      <p:sp>
        <p:nvSpPr>
          <p:cNvPr id="33" name="Text 25"/>
          <p:cNvSpPr txBox="1"/>
          <p:nvPr/>
        </p:nvSpPr>
        <p:spPr>
          <a:xfrm>
            <a:off x="5239512" y="5230368"/>
            <a:ext cx="2606040" cy="7772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Never diagnoses; hospitals decide; Call 108 always one tap away.</a:t>
            </a:r>
            <a:endParaRPr lang="en-US" sz="1300" dirty="0"/>
          </a:p>
        </p:txBody>
      </p:sp>
      <p:sp>
        <p:nvSpPr>
          <p:cNvPr id="34" name="card"/>
          <p:cNvSpPr/>
          <p:nvPr/>
        </p:nvSpPr>
        <p:spPr>
          <a:xfrm>
            <a:off x="8321040" y="1463040"/>
            <a:ext cx="3319272" cy="4617720"/>
          </a:xfrm>
          <a:prstGeom prst="roundRect">
            <a:avLst>
              <a:gd name="adj" fmla="val 2204"/>
            </a:avLst>
          </a:prstGeom>
          <a:solidFill>
            <a:srgbClr val="F1F5F9"/>
          </a:solidFill>
          <a:ln w="15875">
            <a:solidFill>
              <a:srgbClr val="0E7490"/>
            </a:solidFill>
            <a:prstDash val="solid"/>
          </a:ln>
        </p:spPr>
      </p:sp>
      <p:sp>
        <p:nvSpPr>
          <p:cNvPr id="35" name="Text 27"/>
          <p:cNvSpPr txBox="1"/>
          <p:nvPr/>
        </p:nvSpPr>
        <p:spPr>
          <a:xfrm>
            <a:off x="8321040" y="1645920"/>
            <a:ext cx="3319272" cy="274320"/>
          </a:xfrm>
          <a:prstGeom prst="rect">
            <a:avLst/>
          </a:prstGeom>
          <a:noFill/>
          <a:ln/>
        </p:spPr>
        <p:txBody>
          <a:bodyPr wrap="square" lIns="0" tIns="0" rIns="0" bIns="0" rtlCol="0" anchor="t"/>
          <a:lstStyle/>
          <a:p>
            <a:pPr algn="ctr" indent="0" marL="0">
              <a:buNone/>
            </a:pPr>
            <a:r>
              <a:rPr lang="en-US" sz="1100" b="1" spc="200" kern="0" dirty="0">
                <a:solidFill>
                  <a:srgbClr val="0E7490"/>
                </a:solidFill>
                <a:latin typeface="Calibri" pitchFamily="34" charset="0"/>
                <a:ea typeface="Calibri" pitchFamily="34" charset="-122"/>
                <a:cs typeface="Calibri" pitchFamily="34" charset="-120"/>
              </a:rPr>
              <a:t>SCAN TO TRY IT LIVE</a:t>
            </a:r>
            <a:endParaRPr lang="en-US" sz="1100" dirty="0"/>
          </a:p>
        </p:txBody>
      </p:sp>
      <p:sp>
        <p:nvSpPr>
          <p:cNvPr id="36" name="qr frame"/>
          <p:cNvSpPr/>
          <p:nvPr/>
        </p:nvSpPr>
        <p:spPr>
          <a:xfrm>
            <a:off x="9015984" y="2029968"/>
            <a:ext cx="1920240" cy="1920240"/>
          </a:xfrm>
          <a:prstGeom prst="rect">
            <a:avLst/>
          </a:prstGeom>
          <a:solidFill>
            <a:srgbClr val="FFFFFF"/>
          </a:solidFill>
          <a:ln w="12700">
            <a:solidFill>
              <a:srgbClr val="D6DEE8"/>
            </a:solidFill>
            <a:prstDash val="solid"/>
          </a:ln>
        </p:spPr>
      </p:sp>
      <p:pic>
        <p:nvPicPr>
          <p:cNvPr id="37" name="QR code to live site" descr="/tmp/claude-0/-home-user-Sehat-Setu/b06e8423-ed6e-57c3-bbb1-ac94b2a1720d/scratchpad/ppt9/shots/qr.png">    </p:cNvPr>
          <p:cNvPicPr>
            <a:picLocks noChangeAspect="1"/>
          </p:cNvPicPr>
          <p:nvPr/>
        </p:nvPicPr>
        <p:blipFill>
          <a:blip r:embed="rId7"/>
          <a:stretch>
            <a:fillRect/>
          </a:stretch>
        </p:blipFill>
        <p:spPr>
          <a:xfrm>
            <a:off x="9107424" y="2121408"/>
            <a:ext cx="1737360" cy="1737360"/>
          </a:xfrm>
          <a:prstGeom prst="rect">
            <a:avLst/>
          </a:prstGeom>
        </p:spPr>
      </p:pic>
      <p:sp>
        <p:nvSpPr>
          <p:cNvPr id="38" name="Text 29"/>
          <p:cNvSpPr txBox="1"/>
          <p:nvPr/>
        </p:nvSpPr>
        <p:spPr>
          <a:xfrm>
            <a:off x="8412480" y="4069080"/>
            <a:ext cx="3136392" cy="274320"/>
          </a:xfrm>
          <a:prstGeom prst="rect">
            <a:avLst/>
          </a:prstGeom>
          <a:noFill/>
          <a:ln/>
        </p:spPr>
        <p:txBody>
          <a:bodyPr wrap="square" lIns="0" tIns="0" rIns="0" bIns="0" rtlCol="0" anchor="t"/>
          <a:lstStyle/>
          <a:p>
            <a:pPr algn="ctr" indent="0" marL="0">
              <a:buNone/>
            </a:pPr>
            <a:r>
              <a:rPr lang="en-US" sz="1300" b="1" dirty="0">
                <a:solidFill>
                  <a:srgbClr val="0F172A"/>
                </a:solidFill>
                <a:latin typeface="Calibri" pitchFamily="34" charset="0"/>
                <a:ea typeface="Calibri" pitchFamily="34" charset="-122"/>
                <a:cs typeface="Calibri" pitchFamily="34" charset="-120"/>
              </a:rPr>
              <a:t>medreach-2.onrender.com</a:t>
            </a:r>
            <a:endParaRPr lang="en-US" sz="1300" dirty="0"/>
          </a:p>
        </p:txBody>
      </p:sp>
      <p:sp>
        <p:nvSpPr>
          <p:cNvPr id="39" name="Text 30"/>
          <p:cNvSpPr txBox="1"/>
          <p:nvPr/>
        </p:nvSpPr>
        <p:spPr>
          <a:xfrm>
            <a:off x="8412480" y="4370832"/>
            <a:ext cx="3136392" cy="45720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Code: github.com/</a:t>
            </a:r>
            <a:endParaRPr lang="en-US" sz="1050" dirty="0"/>
          </a:p>
          <a:p>
            <a:pPr algn="ctr" indent="0" marL="0">
              <a:buNone/>
            </a:pPr>
            <a:r>
              <a:rPr lang="en-US" sz="1050" dirty="0">
                <a:solidFill>
                  <a:srgbClr val="64748B"/>
                </a:solidFill>
                <a:latin typeface="Calibri" pitchFamily="34" charset="0"/>
                <a:ea typeface="Calibri" pitchFamily="34" charset="-122"/>
                <a:cs typeface="Calibri" pitchFamily="34" charset="-120"/>
              </a:rPr>
              <a:t>prakharporwal518-collab/Medreach</a:t>
            </a:r>
            <a:endParaRPr lang="en-US" sz="1050" dirty="0"/>
          </a:p>
        </p:txBody>
      </p:sp>
      <p:sp>
        <p:nvSpPr>
          <p:cNvPr id="40" name="Text 31"/>
          <p:cNvSpPr txBox="1"/>
          <p:nvPr/>
        </p:nvSpPr>
        <p:spPr>
          <a:xfrm>
            <a:off x="8412480" y="4937760"/>
            <a:ext cx="3136392" cy="914400"/>
          </a:xfrm>
          <a:prstGeom prst="rect">
            <a:avLst/>
          </a:prstGeom>
          <a:noFill/>
          <a:ln/>
        </p:spPr>
        <p:txBody>
          <a:bodyPr wrap="square" lIns="0" tIns="0" rIns="0" bIns="0" rtlCol="0" anchor="t"/>
          <a:lstStyle/>
          <a:p>
            <a:pPr algn="ctr" indent="0" marL="0">
              <a:buNone/>
            </a:pPr>
            <a:r>
              <a:rPr lang="en-US" sz="2400" b="1" dirty="0">
                <a:solidFill>
                  <a:srgbClr val="0F172A"/>
                </a:solidFill>
                <a:latin typeface="Arial" pitchFamily="34" charset="0"/>
                <a:ea typeface="Arial" pitchFamily="34" charset="-122"/>
                <a:cs typeface="Arial" pitchFamily="34" charset="-120"/>
              </a:rPr>
              <a:t>Thank you</a:t>
            </a:r>
            <a:endParaRPr lang="en-US" sz="2400" dirty="0"/>
          </a:p>
          <a:p>
            <a:pPr algn="ctr" indent="0" marL="0">
              <a:buNone/>
            </a:pPr>
            <a:r>
              <a:rPr lang="en-US" sz="2400" b="1" dirty="0">
                <a:solidFill>
                  <a:srgbClr val="0E7490"/>
                </a:solidFill>
                <a:latin typeface="Arial" pitchFamily="34" charset="0"/>
                <a:ea typeface="Arial" pitchFamily="34" charset="-122"/>
                <a:cs typeface="Arial" pitchFamily="34" charset="-120"/>
              </a:rPr>
              <a:t>धन्यवाद</a:t>
            </a:r>
            <a:endParaRPr lang="en-US" sz="24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edreach Day">
  <a:themeElements>
    <a:clrScheme name="Medreach Day">
      <a:dk1>
        <a:srgbClr val="0F172A"/>
      </a:dk1>
      <a:lt1>
        <a:srgbClr val="FFFFFF"/>
      </a:lt1>
      <a:dk2>
        <a:srgbClr val="1E293B"/>
      </a:dk2>
      <a:lt2>
        <a:srgbClr val="F1F5F9"/>
      </a:lt2>
      <a:accent1>
        <a:srgbClr val="0E7490"/>
      </a:accent1>
      <a:accent2>
        <a:srgbClr val="DC2626"/>
      </a:accent2>
      <a:accent3>
        <a:srgbClr val="2563EB"/>
      </a:accent3>
      <a:accent4>
        <a:srgbClr val="D97706"/>
      </a:accent4>
      <a:accent5>
        <a:srgbClr val="7C3AED"/>
      </a:accent5>
      <a:accent6>
        <a:srgbClr val="059669"/>
      </a:accent6>
      <a:hlink>
        <a:srgbClr val="0E7490"/>
      </a:hlink>
      <a:folHlink>
        <a:srgbClr val="7C3AED"/>
      </a:folHlink>
    </a:clrScheme>
    <a:fontScheme name="Medreach D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Team Medreach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Medreach – MPOnline Hackathon 2026</dc:title>
  <dc:subject>PptxGenJS Presentation</dc:subject>
  <dc:creator>Team Medreach</dc:creator>
  <cp:lastModifiedBy>Team Medreach</cp:lastModifiedBy>
  <cp:revision>1</cp:revision>
  <dcterms:created xsi:type="dcterms:W3CDTF">2026-10-08T10:25:13Z</dcterms:created>
  <dcterms:modified xsi:type="dcterms:W3CDTF">2026-10-08T10:25:13Z</dcterms:modified>
</cp:coreProperties>
</file>