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33ede8-d8b1-94af-36f3-744feca0fe64}">
          <p14:sldIdLst>
            <p14:sldId id="256"/>
          </p14:sldIdLst>
        </p14:section>
        <p14:section name="Problem &amp; Solution" id="{fd8af355-5b5d-6677-204a-16d32bba2039}">
          <p14:sldIdLst>
            <p14:sldId id="257"/>
            <p14:sldId id="258"/>
          </p14:sldIdLst>
        </p14:section>
        <p14:section name="Product" id="{66621bdc-efa2-8cce-c8b5-94d38ac8ae34}">
          <p14:sldIdLst>
            <p14:sldId id="259"/>
            <p14:sldId id="260"/>
            <p14:sldId id="261"/>
            <p14:sldId id="262"/>
          </p14:sldIdLst>
        </p14:section>
        <p14:section name="Technology &amp; Impact" id="{c232ad44-4487-8661-6ca7-b5299c0561c2}">
          <p14:sldIdLst>
            <p14:sldId id="263"/>
            <p14:sldId id="264"/>
          </p14:sldIdLst>
        </p14:section>
        <p14:section name="Roadmap" id="{288ef536-3703-9dd2-71fb-3b780c8e51e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427"/>
                </a:solidFill>
                <a:latin typeface="+mn-lt"/>
              </a:defRPr>
            </a:pPr>
            <a:r>
              <a:rPr sz="1400" b="0" i="0" u="none" strike="noStrike">
                <a:solidFill>
                  <a:srgbClr val="0B1427"/>
                </a:solidFill>
                <a:latin typeface="+mn-lt"/>
              </a:rPr>
              <a:t>Why Bansal Hospital scored 93 / 100</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0F9488"/>
            </a:solidFill>
            <a:effectLst/>
          </c:spPr>
          <c:invertIfNegative val="0"/>
          <c:dLbls>
            <c:numFmt formatCode="#,##0" sourceLinked="0"/>
            <c:txPr>
              <a:bodyPr/>
              <a:lstStyle/>
              <a:p>
                <a:pPr>
                  <a:defRPr b="0" i="0" strike="noStrike" sz="1200" u="none">
                    <a:solidFill>
                      <a:srgbClr val="0B1427"/>
                    </a:solidFill>
                    <a:latin typeface="+mn-lt"/>
                  </a:defRPr>
                </a:pPr>
              </a:p>
            </c:txPr>
            <c:showLegendKey val="0"/>
            <c:showVal val="1"/>
            <c:showCatName val="0"/>
            <c:showSerName val="0"/>
            <c:showPercent val="0"/>
            <c:showBubbleSize val="0"/>
            <c:showLeaderLines val="0"/>
          </c:dLbls>
          <c:cat>
            <c:multiLvlStrRef>
              <c:f>Sheet1!$A$2:$A$5</c:f>
              <c:multiLvlStrCache>
                <c:ptCount val="4"/>
                <c:lvl>
                  <c:pt idx="0">
                    <c:v>Time to care (of 55)</c:v>
                  </c:pt>
                  <c:pt idx="1">
                    <c:v>Bed free on arrival × freshness (of 25)</c:v>
                  </c:pt>
                  <c:pt idx="2">
                    <c:v>Extra helpful services (of 15)</c:v>
                  </c:pt>
                  <c:pt idx="3">
                    <c:v>Facility level (of 5)</c:v>
                  </c:pt>
                </c:lvl>
              </c:multiLvlStrCache>
            </c:multiLvlStrRef>
          </c:cat>
          <c:val>
            <c:numRef>
              <c:f>Sheet1!$B$2:$B$5</c:f>
              <c:numCache>
                <c:formatCode>General</c:formatCode>
                <c:ptCount val="4"/>
                <c:pt idx="0">
                  <c:v>48</c:v>
                </c:pt>
                <c:pt idx="1">
                  <c:v>25</c:v>
                </c:pt>
                <c:pt idx="2">
                  <c:v>15</c:v>
                </c:pt>
                <c:pt idx="3">
                  <c:v>5</c:v>
                </c:pt>
              </c:numCache>
            </c:numRef>
          </c:val>
        </c:ser>
        <c:dLbls>
          <c:numFmt formatCode="#,##0" sourceLinked="0"/>
          <c:txPr>
            <a:bodyPr/>
            <a:lstStyle/>
            <a:p>
              <a:pPr>
                <a:defRPr b="0" i="0" strike="noStrike" sz="1200" u="none">
                  <a:solidFill>
                    <a:srgbClr val="0B14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Medreach gets an emergency patient to a hospital that can treat them right now and has already accepted them, before the family leaves home. It is a working, deployed product built for Challenge 5 (Healthcare).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an information gap. Nobody tells the family in advance which hospital can treat this emergency at this moment, and no hospital knows they are coming. The 2022 MoRTH figure shows the scale for road accidents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Medreach implements the flowchart end to end: emergency, AI understanding, location, capability matching with current status, distance and ETA, hospital confirmation, transport, navigation and confirmed arrival.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line: “Papa ko seene mein dard hai, pasina aa raha hai, 62 saal”. The app says “this may indicate” a heart attack, marks it critical and lists the capabilities a hospital must have. It never diagnoses.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never picks the hospital. It extracts requirements; then a deterministic, tested engine ranks hospitals on time to care, bed likely free on arrival weighted by data freshness, extra services and facility level. Live demo: set ER to Diverting and the hospital disappears from citizens’ lists within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authorised staff can change what citizens see. Roles: Nodal Officer, Emergency Desk Officer, Resource Manager and State Health Admin. One click on “Confirm figures are current” re-verifies data, which keeps freshness high with little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dashboards show live maps: citizens see their ambulance moving to the accepted hospital; hospitals see incoming patients with ETA. Pick-up points are rounded to about 100 m for privacy. The family link shows status, hospital and ETA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suggested technology is used in working code, not just mentioned. The shared engines run on both the server and the phone, which is why the app still understands an emergency without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measured in the pilot with these KPIs. Trust comes from the privacy model: consent, masking, hospital-scoped access, audit logs and automatic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support to pilot Medreach with a group of Bhopal hospitals for three months, then integrate the Health Facility Registry, hospital systems, the 108 control room and ABDM for state-wide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R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6126480" cy="1828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611880"/>
            <a:ext cx="6035040" cy="1097280"/>
          </a:xfrm>
          <a:prstGeom prst="rect">
            <a:avLst/>
          </a:prstGeom>
          <a:noFill/>
          <a:ln/>
        </p:spPr>
        <p:txBody>
          <a:bodyPr wrap="square" rtlCol="0"/>
          <a:lstStyle>
            <a:lvl1pPr algn="l" indent="0" marL="0">
              <a:buNone/>
              <a:defRPr lang="en-US" sz="1600" dirty="0">
                <a:solidFill>
                  <a:srgbClr val="CBD5E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R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64748B"/>
                </a:solidFill>
              </a:rPr>
              <a:t>Medreach  ·  MPOnline Idea &amp; Innovation Hackathon 2026  ·  Challenge 5: Healthcare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R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edreach logo" descr="preencoded.png">    </p:cNvPr>
          <p:cNvPicPr>
            <a:picLocks noChangeAspect="1"/>
          </p:cNvPicPr>
          <p:nvPr/>
        </p:nvPicPr>
        <p:blipFill>
          <a:blip r:embed="rId1"/>
          <a:stretch>
            <a:fillRect/>
          </a:stretch>
        </p:blipFill>
        <p:spPr>
          <a:xfrm>
            <a:off x="640080" y="685800"/>
            <a:ext cx="685800" cy="685800"/>
          </a:xfrm>
          <a:prstGeom prst="rect">
            <a:avLst/>
          </a:prstGeom>
        </p:spPr>
      </p:pic>
      <p:sp>
        <p:nvSpPr>
          <p:cNvPr id="3" name="Text 0"/>
          <p:cNvSpPr txBox="1"/>
          <p:nvPr/>
        </p:nvSpPr>
        <p:spPr>
          <a:xfrm>
            <a:off x="1481328" y="713232"/>
            <a:ext cx="3657600" cy="41148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Medreach</a:t>
            </a:r>
            <a:endParaRPr lang="en-US" sz="2600" dirty="0"/>
          </a:p>
        </p:txBody>
      </p:sp>
      <p:sp>
        <p:nvSpPr>
          <p:cNvPr id="4" name="Text 1"/>
          <p:cNvSpPr txBox="1"/>
          <p:nvPr/>
        </p:nvSpPr>
        <p:spPr>
          <a:xfrm>
            <a:off x="1481328" y="1115568"/>
            <a:ext cx="3657600" cy="274320"/>
          </a:xfrm>
          <a:prstGeom prst="rect">
            <a:avLst/>
          </a:prstGeom>
          <a:noFill/>
          <a:ln/>
        </p:spPr>
        <p:txBody>
          <a:bodyPr wrap="square" lIns="0" tIns="0" rIns="0" bIns="0" rtlCol="0" anchor="t"/>
          <a:lstStyle/>
          <a:p>
            <a:pPr indent="0" marL="0">
              <a:buNone/>
            </a:pPr>
            <a:r>
              <a:rPr lang="en-US" sz="1100" spc="200" kern="0" dirty="0">
                <a:solidFill>
                  <a:srgbClr val="5EEAD4"/>
                </a:solidFill>
              </a:rPr>
              <a:t>RIGHT HOSPITAL · RIGHT NOW</a:t>
            </a:r>
            <a:endParaRPr lang="en-US" sz="1100" dirty="0"/>
          </a:p>
        </p:txBody>
      </p:sp>
      <p:sp>
        <p:nvSpPr>
          <p:cNvPr id="5" name="Text 0"/>
          <p:cNvSpPr/>
          <p:nvPr>
            <p:ph idx="100" type="title" hasCustomPrompt="1"/>
          </p:nvPr>
        </p:nvSpPr>
        <p:spPr>
          <a:xfrm>
            <a:off x="640080" y="1691640"/>
            <a:ext cx="6126480" cy="1828800"/>
          </a:xfrm>
          <a:prstGeom prst="rect">
            <a:avLst/>
          </a:prstGeom>
          <a:noFill/>
          <a:ln/>
        </p:spPr>
        <p:txBody>
          <a:bodyPr wrap="square" lIns="0" tIns="0" rIns="0" bIns="0" rtlCol="0" anchor="t"/>
          <a:lstStyle/>
          <a:p>
            <a:pPr algn="l" indent="0" marL="0">
              <a:buNone/>
            </a:pPr>
            <a:r>
              <a:rPr lang="en-US" sz="3600" b="1" dirty="0">
                <a:solidFill>
                  <a:schemeClr val="bg1"/>
                </a:solidFill>
              </a:rPr>
              <a:t>The right hospital, right now, </a:t>
            </a:r>
            <a:pPr algn="l" indent="0" marL="0">
              <a:buNone/>
            </a:pPr>
            <a:r>
              <a:rPr lang="en-US" sz="3600" b="1" dirty="0">
                <a:solidFill>
                  <a:srgbClr val="5EEAD4"/>
                </a:solidFill>
              </a:rPr>
              <a:t>confirmed before you leave home</a:t>
            </a:r>
            <a:endParaRPr lang="en-US" sz="3600" dirty="0"/>
          </a:p>
        </p:txBody>
      </p:sp>
      <p:sp>
        <p:nvSpPr>
          <p:cNvPr id="6" name="Text 0"/>
          <p:cNvSpPr/>
          <p:nvPr>
            <p:ph idx="101" type="body" hasCustomPrompt="1"/>
          </p:nvPr>
        </p:nvSpPr>
        <p:spPr>
          <a:xfrm>
            <a:off x="640080" y="3611880"/>
            <a:ext cx="6035040" cy="1097280"/>
          </a:xfrm>
          <a:prstGeom prst="rect">
            <a:avLst/>
          </a:prstGeom>
          <a:noFill/>
          <a:ln/>
        </p:spPr>
        <p:txBody>
          <a:bodyPr wrap="square" lIns="0" tIns="0" rIns="0" bIns="0" rtlCol="0" anchor="t"/>
          <a:lstStyle/>
          <a:p>
            <a:pPr algn="l" indent="0" marL="0">
              <a:buNone/>
            </a:pPr>
            <a:r>
              <a:rPr lang="en-US" sz="1600" dirty="0">
                <a:solidFill>
                  <a:srgbClr val="CBD5E1"/>
                </a:solidFill>
              </a:rPr>
              <a:t>AI-powered emergency coordination for Madhya Pradesh: understand the emergency, find a hospital that can treat it now, get it to accept, and guide the patient there.</a:t>
            </a:r>
            <a:endParaRPr lang="en-US" sz="1600" dirty="0"/>
          </a:p>
        </p:txBody>
      </p:sp>
      <p:sp>
        <p:nvSpPr>
          <p:cNvPr id="7" name="chip"/>
          <p:cNvSpPr/>
          <p:nvPr/>
        </p:nvSpPr>
        <p:spPr>
          <a:xfrm>
            <a:off x="640080" y="4937760"/>
            <a:ext cx="1788566" cy="384048"/>
          </a:xfrm>
          <a:prstGeom prst="roundRect">
            <a:avLst>
              <a:gd name="adj" fmla="val 50000"/>
            </a:avLst>
          </a:prstGeom>
          <a:solidFill>
            <a:srgbClr val="1E3A4C"/>
          </a:solidFill>
          <a:ln w="9525">
            <a:solidFill>
              <a:srgbClr val="2DD4BF"/>
            </a:solidFill>
            <a:prstDash val="solid"/>
          </a:ln>
        </p:spPr>
      </p:sp>
      <p:sp>
        <p:nvSpPr>
          <p:cNvPr id="8" name="Text 5"/>
          <p:cNvSpPr txBox="1"/>
          <p:nvPr/>
        </p:nvSpPr>
        <p:spPr>
          <a:xfrm>
            <a:off x="640080" y="4937760"/>
            <a:ext cx="1788566" cy="384048"/>
          </a:xfrm>
          <a:prstGeom prst="rect">
            <a:avLst/>
          </a:prstGeom>
          <a:noFill/>
          <a:ln/>
        </p:spPr>
        <p:txBody>
          <a:bodyPr wrap="square" lIns="0" tIns="0" rIns="0" bIns="0" rtlCol="0" anchor="ctr"/>
          <a:lstStyle/>
          <a:p>
            <a:pPr algn="ctr" indent="0" marL="0">
              <a:buNone/>
            </a:pPr>
            <a:r>
              <a:rPr lang="en-US" sz="1150" dirty="0">
                <a:solidFill>
                  <a:schemeClr val="bg1"/>
                </a:solidFill>
              </a:rPr>
              <a:t>MPOnline Hackathon 2026</a:t>
            </a:r>
            <a:endParaRPr lang="en-US" sz="1150" dirty="0"/>
          </a:p>
        </p:txBody>
      </p:sp>
      <p:sp>
        <p:nvSpPr>
          <p:cNvPr id="9" name="chip"/>
          <p:cNvSpPr/>
          <p:nvPr/>
        </p:nvSpPr>
        <p:spPr>
          <a:xfrm>
            <a:off x="2565806" y="4937760"/>
            <a:ext cx="1854403" cy="384048"/>
          </a:xfrm>
          <a:prstGeom prst="roundRect">
            <a:avLst>
              <a:gd name="adj" fmla="val 50000"/>
            </a:avLst>
          </a:prstGeom>
          <a:solidFill>
            <a:srgbClr val="1E3A4C"/>
          </a:solidFill>
          <a:ln w="9525">
            <a:solidFill>
              <a:srgbClr val="2DD4BF"/>
            </a:solidFill>
            <a:prstDash val="solid"/>
          </a:ln>
        </p:spPr>
      </p:sp>
      <p:sp>
        <p:nvSpPr>
          <p:cNvPr id="10" name="Text 7"/>
          <p:cNvSpPr txBox="1"/>
          <p:nvPr/>
        </p:nvSpPr>
        <p:spPr>
          <a:xfrm>
            <a:off x="2565806" y="4937760"/>
            <a:ext cx="1854403" cy="384048"/>
          </a:xfrm>
          <a:prstGeom prst="rect">
            <a:avLst/>
          </a:prstGeom>
          <a:noFill/>
          <a:ln/>
        </p:spPr>
        <p:txBody>
          <a:bodyPr wrap="square" lIns="0" tIns="0" rIns="0" bIns="0" rtlCol="0" anchor="ctr"/>
          <a:lstStyle/>
          <a:p>
            <a:pPr algn="ctr" indent="0" marL="0">
              <a:buNone/>
            </a:pPr>
            <a:r>
              <a:rPr lang="en-US" sz="1150" dirty="0">
                <a:solidFill>
                  <a:schemeClr val="bg1"/>
                </a:solidFill>
              </a:rPr>
              <a:t>Challenge 5 · Healthcare</a:t>
            </a:r>
            <a:endParaRPr lang="en-US" sz="1150" dirty="0"/>
          </a:p>
        </p:txBody>
      </p:sp>
      <p:sp>
        <p:nvSpPr>
          <p:cNvPr id="11" name="chip"/>
          <p:cNvSpPr/>
          <p:nvPr/>
        </p:nvSpPr>
        <p:spPr>
          <a:xfrm>
            <a:off x="4557370" y="4937760"/>
            <a:ext cx="2051914" cy="384048"/>
          </a:xfrm>
          <a:prstGeom prst="roundRect">
            <a:avLst>
              <a:gd name="adj" fmla="val 50000"/>
            </a:avLst>
          </a:prstGeom>
          <a:solidFill>
            <a:srgbClr val="1E3A4C"/>
          </a:solidFill>
          <a:ln w="9525">
            <a:solidFill>
              <a:srgbClr val="2DD4BF"/>
            </a:solidFill>
            <a:prstDash val="solid"/>
          </a:ln>
        </p:spPr>
      </p:sp>
      <p:sp>
        <p:nvSpPr>
          <p:cNvPr id="12" name="Text 9"/>
          <p:cNvSpPr txBox="1"/>
          <p:nvPr/>
        </p:nvSpPr>
        <p:spPr>
          <a:xfrm>
            <a:off x="4557370" y="4937760"/>
            <a:ext cx="2051914" cy="384048"/>
          </a:xfrm>
          <a:prstGeom prst="rect">
            <a:avLst/>
          </a:prstGeom>
          <a:noFill/>
          <a:ln/>
        </p:spPr>
        <p:txBody>
          <a:bodyPr wrap="square" lIns="0" tIns="0" rIns="0" bIns="0" rtlCol="0" anchor="ctr"/>
          <a:lstStyle/>
          <a:p>
            <a:pPr algn="ctr" indent="0" marL="0">
              <a:buNone/>
            </a:pPr>
            <a:r>
              <a:rPr lang="en-US" sz="1150" dirty="0">
                <a:solidFill>
                  <a:schemeClr val="bg1"/>
                </a:solidFill>
              </a:rPr>
              <a:t>Team Leader: Prakhar Porwal</a:t>
            </a:r>
            <a:endParaRPr lang="en-US" sz="1150" dirty="0"/>
          </a:p>
        </p:txBody>
      </p:sp>
      <p:sp>
        <p:nvSpPr>
          <p:cNvPr id="13" name="Text 10"/>
          <p:cNvSpPr txBox="1"/>
          <p:nvPr/>
        </p:nvSpPr>
        <p:spPr>
          <a:xfrm>
            <a:off x="640080" y="5760720"/>
            <a:ext cx="8229600" cy="320040"/>
          </a:xfrm>
          <a:prstGeom prst="rect">
            <a:avLst/>
          </a:prstGeom>
          <a:noFill/>
          <a:ln/>
        </p:spPr>
        <p:txBody>
          <a:bodyPr wrap="square" lIns="0" tIns="0" rIns="0" bIns="0" rtlCol="0" anchor="t"/>
          <a:lstStyle/>
          <a:p>
            <a:pPr indent="0" marL="0">
              <a:buNone/>
            </a:pPr>
            <a:r>
              <a:rPr lang="en-US" sz="1300" dirty="0">
                <a:solidFill>
                  <a:srgbClr val="99F6E4"/>
                </a:solidFill>
              </a:rPr>
              <a:t>Live demo: medreach-2.onrender.com   ·   Code: github.com/prakharporwal518-collab/Medreach</a:t>
            </a:r>
            <a:endParaRPr lang="en-US" sz="1300" dirty="0"/>
          </a:p>
        </p:txBody>
      </p:sp>
      <p:sp>
        <p:nvSpPr>
          <p:cNvPr id="14" name="hero card"/>
          <p:cNvSpPr/>
          <p:nvPr/>
        </p:nvSpPr>
        <p:spPr>
          <a:xfrm>
            <a:off x="7086600" y="1005840"/>
            <a:ext cx="4572000" cy="4206240"/>
          </a:xfrm>
          <a:prstGeom prst="roundRect">
            <a:avLst>
              <a:gd name="adj" fmla="val 6522"/>
            </a:avLst>
          </a:prstGeom>
          <a:solidFill>
            <a:srgbClr val="F1F7F9"/>
          </a:solidFill>
          <a:ln w="12700">
            <a:solidFill>
              <a:srgbClr val="F1F7F9"/>
            </a:solidFill>
            <a:prstDash val="solid"/>
          </a:ln>
        </p:spPr>
      </p:sp>
      <p:pic>
        <p:nvPicPr>
          <p:cNvPr id="15" name="hero illustration" descr="preencoded.png">    </p:cNvPr>
          <p:cNvPicPr>
            <a:picLocks noChangeAspect="1"/>
          </p:cNvPicPr>
          <p:nvPr/>
        </p:nvPicPr>
        <p:blipFill>
          <a:blip r:embed="rId2"/>
          <a:stretch>
            <a:fillRect/>
          </a:stretch>
        </p:blipFill>
        <p:spPr>
          <a:xfrm>
            <a:off x="7223760" y="1234440"/>
            <a:ext cx="4297680" cy="34903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nearest hospital is not always the right one</a:t>
            </a:r>
            <a:endParaRPr lang="en-US" sz="3400" dirty="0"/>
          </a:p>
        </p:txBody>
      </p:sp>
      <p:sp>
        <p:nvSpPr>
          <p:cNvPr id="3" name="Text 1"/>
          <p:cNvSpPr txBox="1"/>
          <p:nvPr/>
        </p:nvSpPr>
        <p:spPr>
          <a:xfrm>
            <a:off x="548640" y="1325880"/>
            <a:ext cx="4206240" cy="1737360"/>
          </a:xfrm>
          <a:prstGeom prst="rect">
            <a:avLst/>
          </a:prstGeom>
          <a:noFill/>
          <a:ln/>
        </p:spPr>
        <p:txBody>
          <a:bodyPr wrap="square" lIns="0" tIns="0" rIns="0" bIns="0" rtlCol="0" anchor="t"/>
          <a:lstStyle/>
          <a:p>
            <a:pPr indent="0" marL="0">
              <a:lnSpc>
                <a:spcPct val="110000"/>
              </a:lnSpc>
              <a:buNone/>
            </a:pPr>
            <a:r>
              <a:rPr lang="en-US" sz="1600" dirty="0">
                <a:solidFill>
                  <a:schemeClr val="tx2"/>
                </a:solidFill>
              </a:rPr>
              <a:t>11 pm, Bhopal. A 62-year-old man has chest pain. His family rushes to the nearest hospital, where there is no cardiologist on duty and no free ICU bed. They are sent across the city, and the golden hour is lost.</a:t>
            </a:r>
            <a:endParaRPr lang="en-US" sz="1600" dirty="0"/>
          </a:p>
        </p:txBody>
      </p:sp>
      <p:sp>
        <p:nvSpPr>
          <p:cNvPr id="4" name="stat card"/>
          <p:cNvSpPr/>
          <p:nvPr/>
        </p:nvSpPr>
        <p:spPr>
          <a:xfrm>
            <a:off x="548640" y="3246120"/>
            <a:ext cx="4206240" cy="2697480"/>
          </a:xfrm>
          <a:prstGeom prst="roundRect">
            <a:avLst>
              <a:gd name="adj" fmla="val 4068"/>
            </a:avLst>
          </a:prstGeom>
          <a:solidFill>
            <a:srgbClr val="FFF1F3"/>
          </a:solidFill>
          <a:ln w="12700">
            <a:solidFill>
              <a:srgbClr val="FFF1F3"/>
            </a:solidFill>
            <a:prstDash val="solid"/>
          </a:ln>
        </p:spPr>
      </p:sp>
      <p:sp>
        <p:nvSpPr>
          <p:cNvPr id="5" name="Text 3"/>
          <p:cNvSpPr txBox="1"/>
          <p:nvPr/>
        </p:nvSpPr>
        <p:spPr>
          <a:xfrm>
            <a:off x="822960" y="3474720"/>
            <a:ext cx="3657600" cy="91440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1,68,491</a:t>
            </a:r>
            <a:endParaRPr lang="en-US" sz="6000" dirty="0"/>
          </a:p>
        </p:txBody>
      </p:sp>
      <p:sp>
        <p:nvSpPr>
          <p:cNvPr id="6" name="Text 4"/>
          <p:cNvSpPr txBox="1"/>
          <p:nvPr/>
        </p:nvSpPr>
        <p:spPr>
          <a:xfrm>
            <a:off x="822960" y="4434840"/>
            <a:ext cx="3657600" cy="365760"/>
          </a:xfrm>
          <a:prstGeom prst="rect">
            <a:avLst/>
          </a:prstGeom>
          <a:noFill/>
          <a:ln/>
        </p:spPr>
        <p:txBody>
          <a:bodyPr wrap="square" lIns="0" tIns="0" rIns="0" bIns="0" rtlCol="0" anchor="t"/>
          <a:lstStyle/>
          <a:p>
            <a:pPr indent="0" marL="0">
              <a:buNone/>
            </a:pPr>
            <a:r>
              <a:rPr lang="en-US" sz="1600" b="1" dirty="0">
                <a:solidFill>
                  <a:schemeClr val="tx1"/>
                </a:solidFill>
              </a:rPr>
              <a:t>road-accident deaths in India, 2022</a:t>
            </a:r>
            <a:endParaRPr lang="en-US" sz="1600" dirty="0"/>
          </a:p>
        </p:txBody>
      </p:sp>
      <p:sp>
        <p:nvSpPr>
          <p:cNvPr id="7" name="Text 5"/>
          <p:cNvSpPr txBox="1"/>
          <p:nvPr/>
        </p:nvSpPr>
        <p:spPr>
          <a:xfrm>
            <a:off x="822960" y="4846320"/>
            <a:ext cx="3657600" cy="914400"/>
          </a:xfrm>
          <a:prstGeom prst="rect">
            <a:avLst/>
          </a:prstGeom>
          <a:noFill/>
          <a:ln/>
        </p:spPr>
        <p:txBody>
          <a:bodyPr wrap="square" lIns="0" tIns="0" rIns="0" bIns="0" rtlCol="0" anchor="t"/>
          <a:lstStyle/>
          <a:p>
            <a:pPr indent="0" marL="0">
              <a:buNone/>
            </a:pPr>
            <a:r>
              <a:rPr lang="en-US" sz="1200" dirty="0">
                <a:solidFill>
                  <a:schemeClr val="tx2"/>
                </a:solidFill>
              </a:rPr>
              <a:t>Source: MoRTH, “Road Accidents in India 2022”. Heart attacks, strokes, burns and obstetric emergencies add many more time-critical cases.</a:t>
            </a:r>
            <a:endParaRPr lang="en-US" sz="1200" dirty="0"/>
          </a:p>
        </p:txBody>
      </p:sp>
      <p:sp>
        <p:nvSpPr>
          <p:cNvPr id="8" name="cause card"/>
          <p:cNvSpPr/>
          <p:nvPr/>
        </p:nvSpPr>
        <p:spPr>
          <a:xfrm>
            <a:off x="5120640" y="1325880"/>
            <a:ext cx="3108960" cy="2194560"/>
          </a:xfrm>
          <a:prstGeom prst="roundRect">
            <a:avLst>
              <a:gd name="adj" fmla="val 5000"/>
            </a:avLst>
          </a:prstGeom>
          <a:solidFill>
            <a:schemeClr val="bg2"/>
          </a:solidFill>
          <a:ln w="12700">
            <a:solidFill>
              <a:schemeClr val="bg2"/>
            </a:solidFill>
            <a:prstDash val="solid"/>
          </a:ln>
        </p:spPr>
      </p:sp>
      <p:sp>
        <p:nvSpPr>
          <p:cNvPr id="9" name="Nearest ≠ capable icon circle"/>
          <p:cNvSpPr/>
          <p:nvPr/>
        </p:nvSpPr>
        <p:spPr>
          <a:xfrm>
            <a:off x="5349240" y="1554480"/>
            <a:ext cx="566928" cy="566928"/>
          </a:xfrm>
          <a:prstGeom prst="ellipse">
            <a:avLst/>
          </a:prstGeom>
          <a:solidFill>
            <a:srgbClr val="E11D48"/>
          </a:solidFill>
          <a:ln w="12700">
            <a:solidFill>
              <a:srgbClr val="E11D48"/>
            </a:solidFill>
            <a:prstDash val="solid"/>
          </a:ln>
        </p:spPr>
      </p:sp>
      <p:pic>
        <p:nvPicPr>
          <p:cNvPr id="10" name="Nearest ≠ capable icon" descr="preencoded.png">    </p:cNvPr>
          <p:cNvPicPr>
            <a:picLocks noChangeAspect="1"/>
          </p:cNvPicPr>
          <p:nvPr/>
        </p:nvPicPr>
        <p:blipFill>
          <a:blip r:embed="rId1"/>
          <a:stretch>
            <a:fillRect/>
          </a:stretch>
        </p:blipFill>
        <p:spPr>
          <a:xfrm>
            <a:off x="5485303" y="1690543"/>
            <a:ext cx="294803" cy="294803"/>
          </a:xfrm>
          <a:prstGeom prst="rect">
            <a:avLst/>
          </a:prstGeom>
        </p:spPr>
      </p:pic>
      <p:sp>
        <p:nvSpPr>
          <p:cNvPr id="11" name="Text 8"/>
          <p:cNvSpPr txBox="1"/>
          <p:nvPr/>
        </p:nvSpPr>
        <p:spPr>
          <a:xfrm>
            <a:off x="5349240" y="2240280"/>
            <a:ext cx="2697480" cy="365760"/>
          </a:xfrm>
          <a:prstGeom prst="rect">
            <a:avLst/>
          </a:prstGeom>
          <a:noFill/>
          <a:ln/>
        </p:spPr>
        <p:txBody>
          <a:bodyPr wrap="square" lIns="0" tIns="0" rIns="0" bIns="0" rtlCol="0" anchor="t"/>
          <a:lstStyle/>
          <a:p>
            <a:pPr indent="0" marL="0">
              <a:buNone/>
            </a:pPr>
            <a:r>
              <a:rPr lang="en-US" sz="1600" b="1" dirty="0">
                <a:solidFill>
                  <a:schemeClr val="tx1"/>
                </a:solidFill>
              </a:rPr>
              <a:t>Nearest ≠ capable</a:t>
            </a:r>
            <a:endParaRPr lang="en-US" sz="1600" dirty="0"/>
          </a:p>
        </p:txBody>
      </p:sp>
      <p:sp>
        <p:nvSpPr>
          <p:cNvPr id="12" name="Text 9"/>
          <p:cNvSpPr txBox="1"/>
          <p:nvPr/>
        </p:nvSpPr>
        <p:spPr>
          <a:xfrm>
            <a:off x="5349240" y="2624328"/>
            <a:ext cx="2697480" cy="822960"/>
          </a:xfrm>
          <a:prstGeom prst="rect">
            <a:avLst/>
          </a:prstGeom>
          <a:noFill/>
          <a:ln/>
        </p:spPr>
        <p:txBody>
          <a:bodyPr wrap="square" lIns="0" tIns="0" rIns="0" bIns="0" rtlCol="0" anchor="t"/>
          <a:lstStyle/>
          <a:p>
            <a:pPr indent="0" marL="0">
              <a:buNone/>
            </a:pPr>
            <a:r>
              <a:rPr lang="en-US" sz="1250" dirty="0">
                <a:solidFill>
                  <a:schemeClr val="tx2"/>
                </a:solidFill>
              </a:rPr>
              <a:t>Maps show the closest hospital, not whether the specialist is on duty, the ICU is free or the CT scanner works now.</a:t>
            </a:r>
            <a:endParaRPr lang="en-US" sz="1250" dirty="0"/>
          </a:p>
        </p:txBody>
      </p:sp>
      <p:sp>
        <p:nvSpPr>
          <p:cNvPr id="13" name="cause card"/>
          <p:cNvSpPr/>
          <p:nvPr/>
        </p:nvSpPr>
        <p:spPr>
          <a:xfrm>
            <a:off x="8412480" y="1325880"/>
            <a:ext cx="3108960" cy="2194560"/>
          </a:xfrm>
          <a:prstGeom prst="roundRect">
            <a:avLst>
              <a:gd name="adj" fmla="val 5000"/>
            </a:avLst>
          </a:prstGeom>
          <a:solidFill>
            <a:schemeClr val="bg2"/>
          </a:solidFill>
          <a:ln w="12700">
            <a:solidFill>
              <a:schemeClr val="bg2"/>
            </a:solidFill>
            <a:prstDash val="solid"/>
          </a:ln>
        </p:spPr>
      </p:sp>
      <p:sp>
        <p:nvSpPr>
          <p:cNvPr id="14" name="No trusted live status icon circle"/>
          <p:cNvSpPr/>
          <p:nvPr/>
        </p:nvSpPr>
        <p:spPr>
          <a:xfrm>
            <a:off x="8641080" y="1554480"/>
            <a:ext cx="566928" cy="566928"/>
          </a:xfrm>
          <a:prstGeom prst="ellipse">
            <a:avLst/>
          </a:prstGeom>
          <a:solidFill>
            <a:srgbClr val="D97706"/>
          </a:solidFill>
          <a:ln w="12700">
            <a:solidFill>
              <a:srgbClr val="D97706"/>
            </a:solidFill>
            <a:prstDash val="solid"/>
          </a:ln>
        </p:spPr>
      </p:sp>
      <p:pic>
        <p:nvPicPr>
          <p:cNvPr id="15" name="No trusted live status icon" descr="preencoded.png">    </p:cNvPr>
          <p:cNvPicPr>
            <a:picLocks noChangeAspect="1"/>
          </p:cNvPicPr>
          <p:nvPr/>
        </p:nvPicPr>
        <p:blipFill>
          <a:blip r:embed="rId2"/>
          <a:stretch>
            <a:fillRect/>
          </a:stretch>
        </p:blipFill>
        <p:spPr>
          <a:xfrm>
            <a:off x="8777143" y="1690543"/>
            <a:ext cx="294803" cy="294803"/>
          </a:xfrm>
          <a:prstGeom prst="rect">
            <a:avLst/>
          </a:prstGeom>
        </p:spPr>
      </p:pic>
      <p:sp>
        <p:nvSpPr>
          <p:cNvPr id="16" name="Text 12"/>
          <p:cNvSpPr txBox="1"/>
          <p:nvPr/>
        </p:nvSpPr>
        <p:spPr>
          <a:xfrm>
            <a:off x="8641080" y="2240280"/>
            <a:ext cx="2697480" cy="365760"/>
          </a:xfrm>
          <a:prstGeom prst="rect">
            <a:avLst/>
          </a:prstGeom>
          <a:noFill/>
          <a:ln/>
        </p:spPr>
        <p:txBody>
          <a:bodyPr wrap="square" lIns="0" tIns="0" rIns="0" bIns="0" rtlCol="0" anchor="t"/>
          <a:lstStyle/>
          <a:p>
            <a:pPr indent="0" marL="0">
              <a:buNone/>
            </a:pPr>
            <a:r>
              <a:rPr lang="en-US" sz="1600" b="1" dirty="0">
                <a:solidFill>
                  <a:schemeClr val="tx1"/>
                </a:solidFill>
              </a:rPr>
              <a:t>No trusted live status</a:t>
            </a:r>
            <a:endParaRPr lang="en-US" sz="1600" dirty="0"/>
          </a:p>
        </p:txBody>
      </p:sp>
      <p:sp>
        <p:nvSpPr>
          <p:cNvPr id="17" name="Text 13"/>
          <p:cNvSpPr txBox="1"/>
          <p:nvPr/>
        </p:nvSpPr>
        <p:spPr>
          <a:xfrm>
            <a:off x="8641080" y="2624328"/>
            <a:ext cx="2697480" cy="822960"/>
          </a:xfrm>
          <a:prstGeom prst="rect">
            <a:avLst/>
          </a:prstGeom>
          <a:noFill/>
          <a:ln/>
        </p:spPr>
        <p:txBody>
          <a:bodyPr wrap="square" lIns="0" tIns="0" rIns="0" bIns="0" rtlCol="0" anchor="t"/>
          <a:lstStyle/>
          <a:p>
            <a:pPr indent="0" marL="0">
              <a:buNone/>
            </a:pPr>
            <a:r>
              <a:rPr lang="en-US" sz="1250" dirty="0">
                <a:solidFill>
                  <a:schemeClr val="tx2"/>
                </a:solidFill>
              </a:rPr>
              <a:t>Bed and doctor availability is unpublished or outdated, with no owner and no time stamp.</a:t>
            </a:r>
            <a:endParaRPr lang="en-US" sz="1250" dirty="0"/>
          </a:p>
        </p:txBody>
      </p:sp>
      <p:sp>
        <p:nvSpPr>
          <p:cNvPr id="18" name="cause card"/>
          <p:cNvSpPr/>
          <p:nvPr/>
        </p:nvSpPr>
        <p:spPr>
          <a:xfrm>
            <a:off x="5120640" y="3703320"/>
            <a:ext cx="3108960" cy="2194560"/>
          </a:xfrm>
          <a:prstGeom prst="roundRect">
            <a:avLst>
              <a:gd name="adj" fmla="val 5000"/>
            </a:avLst>
          </a:prstGeom>
          <a:solidFill>
            <a:schemeClr val="bg2"/>
          </a:solidFill>
          <a:ln w="12700">
            <a:solidFill>
              <a:schemeClr val="bg2"/>
            </a:solidFill>
            <a:prstDash val="solid"/>
          </a:ln>
        </p:spPr>
      </p:sp>
      <p:sp>
        <p:nvSpPr>
          <p:cNvPr id="19" name="No acceptance first icon circle"/>
          <p:cNvSpPr/>
          <p:nvPr/>
        </p:nvSpPr>
        <p:spPr>
          <a:xfrm>
            <a:off x="5349240" y="3931920"/>
            <a:ext cx="566928" cy="566928"/>
          </a:xfrm>
          <a:prstGeom prst="ellipse">
            <a:avLst/>
          </a:prstGeom>
          <a:solidFill>
            <a:srgbClr val="7C3AED"/>
          </a:solidFill>
          <a:ln w="12700">
            <a:solidFill>
              <a:srgbClr val="7C3AED"/>
            </a:solidFill>
            <a:prstDash val="solid"/>
          </a:ln>
        </p:spPr>
      </p:sp>
      <p:pic>
        <p:nvPicPr>
          <p:cNvPr id="20" name="No acceptance first icon" descr="preencoded.png">    </p:cNvPr>
          <p:cNvPicPr>
            <a:picLocks noChangeAspect="1"/>
          </p:cNvPicPr>
          <p:nvPr/>
        </p:nvPicPr>
        <p:blipFill>
          <a:blip r:embed="rId3"/>
          <a:stretch>
            <a:fillRect/>
          </a:stretch>
        </p:blipFill>
        <p:spPr>
          <a:xfrm>
            <a:off x="5485303" y="4067983"/>
            <a:ext cx="294803" cy="294803"/>
          </a:xfrm>
          <a:prstGeom prst="rect">
            <a:avLst/>
          </a:prstGeom>
        </p:spPr>
      </p:pic>
      <p:sp>
        <p:nvSpPr>
          <p:cNvPr id="21" name="Text 16"/>
          <p:cNvSpPr txBox="1"/>
          <p:nvPr/>
        </p:nvSpPr>
        <p:spPr>
          <a:xfrm>
            <a:off x="5349240" y="4617720"/>
            <a:ext cx="2697480" cy="365760"/>
          </a:xfrm>
          <a:prstGeom prst="rect">
            <a:avLst/>
          </a:prstGeom>
          <a:noFill/>
          <a:ln/>
        </p:spPr>
        <p:txBody>
          <a:bodyPr wrap="square" lIns="0" tIns="0" rIns="0" bIns="0" rtlCol="0" anchor="t"/>
          <a:lstStyle/>
          <a:p>
            <a:pPr indent="0" marL="0">
              <a:buNone/>
            </a:pPr>
            <a:r>
              <a:rPr lang="en-US" sz="1600" b="1" dirty="0">
                <a:solidFill>
                  <a:schemeClr val="tx1"/>
                </a:solidFill>
              </a:rPr>
              <a:t>No acceptance first</a:t>
            </a:r>
            <a:endParaRPr lang="en-US" sz="1600" dirty="0"/>
          </a:p>
        </p:txBody>
      </p:sp>
      <p:sp>
        <p:nvSpPr>
          <p:cNvPr id="22" name="Text 17"/>
          <p:cNvSpPr txBox="1"/>
          <p:nvPr/>
        </p:nvSpPr>
        <p:spPr>
          <a:xfrm>
            <a:off x="5349240" y="5001768"/>
            <a:ext cx="2697480" cy="822960"/>
          </a:xfrm>
          <a:prstGeom prst="rect">
            <a:avLst/>
          </a:prstGeom>
          <a:noFill/>
          <a:ln/>
        </p:spPr>
        <p:txBody>
          <a:bodyPr wrap="square" lIns="0" tIns="0" rIns="0" bIns="0" rtlCol="0" anchor="t"/>
          <a:lstStyle/>
          <a:p>
            <a:pPr indent="0" marL="0">
              <a:buNone/>
            </a:pPr>
            <a:r>
              <a:rPr lang="en-US" sz="1250" dirty="0">
                <a:solidFill>
                  <a:schemeClr val="tx2"/>
                </a:solidFill>
              </a:rPr>
              <a:t>Families arrive unannounced; hospitals cannot prepare and refusals happen at the gate.</a:t>
            </a:r>
            <a:endParaRPr lang="en-US" sz="1250" dirty="0"/>
          </a:p>
        </p:txBody>
      </p:sp>
      <p:sp>
        <p:nvSpPr>
          <p:cNvPr id="23" name="cause card"/>
          <p:cNvSpPr/>
          <p:nvPr/>
        </p:nvSpPr>
        <p:spPr>
          <a:xfrm>
            <a:off x="8412480" y="3703320"/>
            <a:ext cx="3108960" cy="2194560"/>
          </a:xfrm>
          <a:prstGeom prst="roundRect">
            <a:avLst>
              <a:gd name="adj" fmla="val 5000"/>
            </a:avLst>
          </a:prstGeom>
          <a:solidFill>
            <a:schemeClr val="bg2"/>
          </a:solidFill>
          <a:ln w="12700">
            <a:solidFill>
              <a:schemeClr val="bg2"/>
            </a:solidFill>
            <a:prstDash val="solid"/>
          </a:ln>
        </p:spPr>
      </p:sp>
      <p:sp>
        <p:nvSpPr>
          <p:cNvPr id="24" name="Panic &amp; living alone icon circle"/>
          <p:cNvSpPr/>
          <p:nvPr/>
        </p:nvSpPr>
        <p:spPr>
          <a:xfrm>
            <a:off x="8641080" y="3931920"/>
            <a:ext cx="566928" cy="566928"/>
          </a:xfrm>
          <a:prstGeom prst="ellipse">
            <a:avLst/>
          </a:prstGeom>
          <a:solidFill>
            <a:srgbClr val="2563EB"/>
          </a:solidFill>
          <a:ln w="12700">
            <a:solidFill>
              <a:srgbClr val="2563EB"/>
            </a:solidFill>
            <a:prstDash val="solid"/>
          </a:ln>
        </p:spPr>
      </p:sp>
      <p:pic>
        <p:nvPicPr>
          <p:cNvPr id="25" name="Panic &amp; living alone icon" descr="preencoded.png">    </p:cNvPr>
          <p:cNvPicPr>
            <a:picLocks noChangeAspect="1"/>
          </p:cNvPicPr>
          <p:nvPr/>
        </p:nvPicPr>
        <p:blipFill>
          <a:blip r:embed="rId4"/>
          <a:stretch>
            <a:fillRect/>
          </a:stretch>
        </p:blipFill>
        <p:spPr>
          <a:xfrm>
            <a:off x="8777143" y="4067983"/>
            <a:ext cx="294803" cy="294803"/>
          </a:xfrm>
          <a:prstGeom prst="rect">
            <a:avLst/>
          </a:prstGeom>
        </p:spPr>
      </p:pic>
      <p:sp>
        <p:nvSpPr>
          <p:cNvPr id="26" name="Text 20"/>
          <p:cNvSpPr txBox="1"/>
          <p:nvPr/>
        </p:nvSpPr>
        <p:spPr>
          <a:xfrm>
            <a:off x="8641080" y="4617720"/>
            <a:ext cx="2697480" cy="365760"/>
          </a:xfrm>
          <a:prstGeom prst="rect">
            <a:avLst/>
          </a:prstGeom>
          <a:noFill/>
          <a:ln/>
        </p:spPr>
        <p:txBody>
          <a:bodyPr wrap="square" lIns="0" tIns="0" rIns="0" bIns="0" rtlCol="0" anchor="t"/>
          <a:lstStyle/>
          <a:p>
            <a:pPr indent="0" marL="0">
              <a:buNone/>
            </a:pPr>
            <a:r>
              <a:rPr lang="en-US" sz="1600" b="1" dirty="0">
                <a:solidFill>
                  <a:schemeClr val="tx1"/>
                </a:solidFill>
              </a:rPr>
              <a:t>Panic &amp; living alone</a:t>
            </a:r>
            <a:endParaRPr lang="en-US" sz="1600" dirty="0"/>
          </a:p>
        </p:txBody>
      </p:sp>
      <p:sp>
        <p:nvSpPr>
          <p:cNvPr id="27" name="Text 21"/>
          <p:cNvSpPr txBox="1"/>
          <p:nvPr/>
        </p:nvSpPr>
        <p:spPr>
          <a:xfrm>
            <a:off x="8641080" y="5001768"/>
            <a:ext cx="2697480" cy="822960"/>
          </a:xfrm>
          <a:prstGeom prst="rect">
            <a:avLst/>
          </a:prstGeom>
          <a:noFill/>
          <a:ln/>
        </p:spPr>
        <p:txBody>
          <a:bodyPr wrap="square" lIns="0" tIns="0" rIns="0" bIns="0" rtlCol="0" anchor="t"/>
          <a:lstStyle/>
          <a:p>
            <a:pPr indent="0" marL="0">
              <a:buNone/>
            </a:pPr>
            <a:r>
              <a:rPr lang="en-US" sz="1250" dirty="0">
                <a:solidFill>
                  <a:schemeClr val="tx2"/>
                </a:solidFill>
              </a:rPr>
              <a:t>Hard to type, call hospitals, arrange transport and inform family, especially for elderly people alone.</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One flow from emergency to confirmed bed</a:t>
            </a:r>
            <a:endParaRPr lang="en-US" sz="3400" dirty="0"/>
          </a:p>
        </p:txBody>
      </p:sp>
      <p:sp>
        <p:nvSpPr>
          <p:cNvPr id="3"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600" dirty="0">
                <a:solidFill>
                  <a:schemeClr val="tx2"/>
                </a:solidFill>
              </a:rPr>
              <a:t>An emergency coordination platform, not a diagnosis app. Every step of our flowchart is implemented and live.</a:t>
            </a:r>
            <a:endParaRPr lang="en-US" sz="1600" dirty="0"/>
          </a:p>
        </p:txBody>
      </p:sp>
      <p:sp>
        <p:nvSpPr>
          <p:cNvPr id="4" name="flow line"/>
          <p:cNvSpPr/>
          <p:nvPr/>
        </p:nvSpPr>
        <p:spPr>
          <a:xfrm>
            <a:off x="1338943" y="2331720"/>
            <a:ext cx="9483634" cy="0"/>
          </a:xfrm>
          <a:prstGeom prst="line">
            <a:avLst/>
          </a:prstGeom>
          <a:noFill/>
          <a:ln w="38100">
            <a:solidFill>
              <a:srgbClr val="DCE4EE"/>
            </a:solidFill>
            <a:prstDash val="dash"/>
          </a:ln>
        </p:spPr>
      </p:sp>
      <p:sp>
        <p:nvSpPr>
          <p:cNvPr id="5" name="Emergency icon circle"/>
          <p:cNvSpPr/>
          <p:nvPr/>
        </p:nvSpPr>
        <p:spPr>
          <a:xfrm>
            <a:off x="881743" y="1874520"/>
            <a:ext cx="914400" cy="914400"/>
          </a:xfrm>
          <a:prstGeom prst="ellipse">
            <a:avLst/>
          </a:prstGeom>
          <a:solidFill>
            <a:srgbClr val="E11D48"/>
          </a:solidFill>
          <a:ln w="12700">
            <a:solidFill>
              <a:srgbClr val="E11D48"/>
            </a:solidFill>
            <a:prstDash val="solid"/>
          </a:ln>
        </p:spPr>
      </p:sp>
      <p:pic>
        <p:nvPicPr>
          <p:cNvPr id="6" name="Emergency icon" descr="preencoded.png">    </p:cNvPr>
          <p:cNvPicPr>
            <a:picLocks noChangeAspect="1"/>
          </p:cNvPicPr>
          <p:nvPr/>
        </p:nvPicPr>
        <p:blipFill>
          <a:blip r:embed="rId1"/>
          <a:stretch>
            <a:fillRect/>
          </a:stretch>
        </p:blipFill>
        <p:spPr>
          <a:xfrm>
            <a:off x="1101199" y="2093976"/>
            <a:ext cx="475488" cy="475488"/>
          </a:xfrm>
          <a:prstGeom prst="rect">
            <a:avLst/>
          </a:prstGeom>
        </p:spPr>
      </p:pic>
      <p:sp>
        <p:nvSpPr>
          <p:cNvPr id="7" name="Text 4"/>
          <p:cNvSpPr txBox="1"/>
          <p:nvPr/>
        </p:nvSpPr>
        <p:spPr>
          <a:xfrm>
            <a:off x="1540111"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594360"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Emergency</a:t>
            </a:r>
            <a:endParaRPr lang="en-US" sz="1500" dirty="0"/>
          </a:p>
        </p:txBody>
      </p:sp>
      <p:sp>
        <p:nvSpPr>
          <p:cNvPr id="9" name="Text 6"/>
          <p:cNvSpPr txBox="1"/>
          <p:nvPr/>
        </p:nvSpPr>
        <p:spPr>
          <a:xfrm>
            <a:off x="621792"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Speak, type, photo or scan a health card</a:t>
            </a:r>
            <a:endParaRPr lang="en-US" sz="1200" dirty="0"/>
          </a:p>
        </p:txBody>
      </p:sp>
      <p:sp>
        <p:nvSpPr>
          <p:cNvPr id="10" name="AI understands icon circle"/>
          <p:cNvSpPr/>
          <p:nvPr/>
        </p:nvSpPr>
        <p:spPr>
          <a:xfrm>
            <a:off x="2462349" y="1874520"/>
            <a:ext cx="914400" cy="914400"/>
          </a:xfrm>
          <a:prstGeom prst="ellipse">
            <a:avLst/>
          </a:prstGeom>
          <a:solidFill>
            <a:srgbClr val="7C3AED"/>
          </a:solidFill>
          <a:ln w="12700">
            <a:solidFill>
              <a:srgbClr val="7C3AED"/>
            </a:solidFill>
            <a:prstDash val="solid"/>
          </a:ln>
        </p:spPr>
      </p:sp>
      <p:pic>
        <p:nvPicPr>
          <p:cNvPr id="11" name="AI understands icon" descr="preencoded.png">    </p:cNvPr>
          <p:cNvPicPr>
            <a:picLocks noChangeAspect="1"/>
          </p:cNvPicPr>
          <p:nvPr/>
        </p:nvPicPr>
        <p:blipFill>
          <a:blip r:embed="rId2"/>
          <a:stretch>
            <a:fillRect/>
          </a:stretch>
        </p:blipFill>
        <p:spPr>
          <a:xfrm>
            <a:off x="2681805" y="2093976"/>
            <a:ext cx="475488" cy="475488"/>
          </a:xfrm>
          <a:prstGeom prst="rect">
            <a:avLst/>
          </a:prstGeom>
        </p:spPr>
      </p:pic>
      <p:sp>
        <p:nvSpPr>
          <p:cNvPr id="12" name="Text 8"/>
          <p:cNvSpPr txBox="1"/>
          <p:nvPr/>
        </p:nvSpPr>
        <p:spPr>
          <a:xfrm>
            <a:off x="3120717"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Text 9"/>
          <p:cNvSpPr txBox="1"/>
          <p:nvPr/>
        </p:nvSpPr>
        <p:spPr>
          <a:xfrm>
            <a:off x="2174966"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AI understands</a:t>
            </a:r>
            <a:endParaRPr lang="en-US" sz="1500" dirty="0"/>
          </a:p>
        </p:txBody>
      </p:sp>
      <p:sp>
        <p:nvSpPr>
          <p:cNvPr id="14" name="Text 10"/>
          <p:cNvSpPr txBox="1"/>
          <p:nvPr/>
        </p:nvSpPr>
        <p:spPr>
          <a:xfrm>
            <a:off x="2202398"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Type, severity, red flags, needed capabilities</a:t>
            </a:r>
            <a:endParaRPr lang="en-US" sz="1200" dirty="0"/>
          </a:p>
        </p:txBody>
      </p:sp>
      <p:sp>
        <p:nvSpPr>
          <p:cNvPr id="15" name="Match icon circle"/>
          <p:cNvSpPr/>
          <p:nvPr/>
        </p:nvSpPr>
        <p:spPr>
          <a:xfrm>
            <a:off x="4042954" y="1874520"/>
            <a:ext cx="914400" cy="914400"/>
          </a:xfrm>
          <a:prstGeom prst="ellipse">
            <a:avLst/>
          </a:prstGeom>
          <a:solidFill>
            <a:srgbClr val="2563EB"/>
          </a:solidFill>
          <a:ln w="12700">
            <a:solidFill>
              <a:srgbClr val="2563EB"/>
            </a:solidFill>
            <a:prstDash val="solid"/>
          </a:ln>
        </p:spPr>
      </p:sp>
      <p:pic>
        <p:nvPicPr>
          <p:cNvPr id="16" name="Match icon" descr="preencoded.png">    </p:cNvPr>
          <p:cNvPicPr>
            <a:picLocks noChangeAspect="1"/>
          </p:cNvPicPr>
          <p:nvPr/>
        </p:nvPicPr>
        <p:blipFill>
          <a:blip r:embed="rId3"/>
          <a:stretch>
            <a:fillRect/>
          </a:stretch>
        </p:blipFill>
        <p:spPr>
          <a:xfrm>
            <a:off x="4262410" y="2093976"/>
            <a:ext cx="475488" cy="475488"/>
          </a:xfrm>
          <a:prstGeom prst="rect">
            <a:avLst/>
          </a:prstGeom>
        </p:spPr>
      </p:pic>
      <p:sp>
        <p:nvSpPr>
          <p:cNvPr id="17" name="Text 12"/>
          <p:cNvSpPr txBox="1"/>
          <p:nvPr/>
        </p:nvSpPr>
        <p:spPr>
          <a:xfrm>
            <a:off x="4701322"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Text 13"/>
          <p:cNvSpPr txBox="1"/>
          <p:nvPr/>
        </p:nvSpPr>
        <p:spPr>
          <a:xfrm>
            <a:off x="3755571"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Match</a:t>
            </a:r>
            <a:endParaRPr lang="en-US" sz="1500" dirty="0"/>
          </a:p>
        </p:txBody>
      </p:sp>
      <p:sp>
        <p:nvSpPr>
          <p:cNvPr id="19" name="Text 14"/>
          <p:cNvSpPr txBox="1"/>
          <p:nvPr/>
        </p:nvSpPr>
        <p:spPr>
          <a:xfrm>
            <a:off x="3783003"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Specialist on duty, equipment working, bed</a:t>
            </a:r>
            <a:endParaRPr lang="en-US" sz="1200" dirty="0"/>
          </a:p>
        </p:txBody>
      </p:sp>
      <p:sp>
        <p:nvSpPr>
          <p:cNvPr id="20" name="Verify icon circle"/>
          <p:cNvSpPr/>
          <p:nvPr/>
        </p:nvSpPr>
        <p:spPr>
          <a:xfrm>
            <a:off x="5623560" y="1874520"/>
            <a:ext cx="914400" cy="914400"/>
          </a:xfrm>
          <a:prstGeom prst="ellipse">
            <a:avLst/>
          </a:prstGeom>
          <a:solidFill>
            <a:srgbClr val="0F9488"/>
          </a:solidFill>
          <a:ln w="12700">
            <a:solidFill>
              <a:srgbClr val="0F9488"/>
            </a:solidFill>
            <a:prstDash val="solid"/>
          </a:ln>
        </p:spPr>
      </p:sp>
      <p:pic>
        <p:nvPicPr>
          <p:cNvPr id="21" name="Verify icon" descr="preencoded.png">    </p:cNvPr>
          <p:cNvPicPr>
            <a:picLocks noChangeAspect="1"/>
          </p:cNvPicPr>
          <p:nvPr/>
        </p:nvPicPr>
        <p:blipFill>
          <a:blip r:embed="rId4"/>
          <a:stretch>
            <a:fillRect/>
          </a:stretch>
        </p:blipFill>
        <p:spPr>
          <a:xfrm>
            <a:off x="5843016" y="2093976"/>
            <a:ext cx="475488" cy="475488"/>
          </a:xfrm>
          <a:prstGeom prst="rect">
            <a:avLst/>
          </a:prstGeom>
        </p:spPr>
      </p:pic>
      <p:sp>
        <p:nvSpPr>
          <p:cNvPr id="22" name="Text 16"/>
          <p:cNvSpPr txBox="1"/>
          <p:nvPr/>
        </p:nvSpPr>
        <p:spPr>
          <a:xfrm>
            <a:off x="6281928"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3" name="Text 17"/>
          <p:cNvSpPr txBox="1"/>
          <p:nvPr/>
        </p:nvSpPr>
        <p:spPr>
          <a:xfrm>
            <a:off x="5336177"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Verify</a:t>
            </a:r>
            <a:endParaRPr lang="en-US" sz="1500" dirty="0"/>
          </a:p>
        </p:txBody>
      </p:sp>
      <p:sp>
        <p:nvSpPr>
          <p:cNvPr id="24" name="Text 18"/>
          <p:cNvSpPr txBox="1"/>
          <p:nvPr/>
        </p:nvSpPr>
        <p:spPr>
          <a:xfrm>
            <a:off x="5363609"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Freshness: who updated, and when</a:t>
            </a:r>
            <a:endParaRPr lang="en-US" sz="1200" dirty="0"/>
          </a:p>
        </p:txBody>
      </p:sp>
      <p:sp>
        <p:nvSpPr>
          <p:cNvPr id="25" name="Accepted icon circle"/>
          <p:cNvSpPr/>
          <p:nvPr/>
        </p:nvSpPr>
        <p:spPr>
          <a:xfrm>
            <a:off x="7204166" y="1874520"/>
            <a:ext cx="914400" cy="914400"/>
          </a:xfrm>
          <a:prstGeom prst="ellipse">
            <a:avLst/>
          </a:prstGeom>
          <a:solidFill>
            <a:srgbClr val="16A34A"/>
          </a:solidFill>
          <a:ln w="12700">
            <a:solidFill>
              <a:srgbClr val="16A34A"/>
            </a:solidFill>
            <a:prstDash val="solid"/>
          </a:ln>
        </p:spPr>
      </p:sp>
      <p:pic>
        <p:nvPicPr>
          <p:cNvPr id="26" name="Accepted icon" descr="preencoded.png">    </p:cNvPr>
          <p:cNvPicPr>
            <a:picLocks noChangeAspect="1"/>
          </p:cNvPicPr>
          <p:nvPr/>
        </p:nvPicPr>
        <p:blipFill>
          <a:blip r:embed="rId5"/>
          <a:stretch>
            <a:fillRect/>
          </a:stretch>
        </p:blipFill>
        <p:spPr>
          <a:xfrm>
            <a:off x="7423622" y="2093976"/>
            <a:ext cx="475488" cy="475488"/>
          </a:xfrm>
          <a:prstGeom prst="rect">
            <a:avLst/>
          </a:prstGeom>
        </p:spPr>
      </p:pic>
      <p:sp>
        <p:nvSpPr>
          <p:cNvPr id="27" name="Text 20"/>
          <p:cNvSpPr txBox="1"/>
          <p:nvPr/>
        </p:nvSpPr>
        <p:spPr>
          <a:xfrm>
            <a:off x="7862534"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8" name="Text 21"/>
          <p:cNvSpPr txBox="1"/>
          <p:nvPr/>
        </p:nvSpPr>
        <p:spPr>
          <a:xfrm>
            <a:off x="6916783"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Accepted</a:t>
            </a:r>
            <a:endParaRPr lang="en-US" sz="1500" dirty="0"/>
          </a:p>
        </p:txBody>
      </p:sp>
      <p:sp>
        <p:nvSpPr>
          <p:cNvPr id="29" name="Text 22"/>
          <p:cNvSpPr txBox="1"/>
          <p:nvPr/>
        </p:nvSpPr>
        <p:spPr>
          <a:xfrm>
            <a:off x="6944215"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Named officer accepts, assigns a bay</a:t>
            </a:r>
            <a:endParaRPr lang="en-US" sz="1200" dirty="0"/>
          </a:p>
        </p:txBody>
      </p:sp>
      <p:sp>
        <p:nvSpPr>
          <p:cNvPr id="30" name="Transport icon circle"/>
          <p:cNvSpPr/>
          <p:nvPr/>
        </p:nvSpPr>
        <p:spPr>
          <a:xfrm>
            <a:off x="8784771" y="1874520"/>
            <a:ext cx="914400" cy="914400"/>
          </a:xfrm>
          <a:prstGeom prst="ellipse">
            <a:avLst/>
          </a:prstGeom>
          <a:solidFill>
            <a:srgbClr val="D97706"/>
          </a:solidFill>
          <a:ln w="12700">
            <a:solidFill>
              <a:srgbClr val="D97706"/>
            </a:solidFill>
            <a:prstDash val="solid"/>
          </a:ln>
        </p:spPr>
      </p:sp>
      <p:pic>
        <p:nvPicPr>
          <p:cNvPr id="31" name="Transport icon" descr="preencoded.png">    </p:cNvPr>
          <p:cNvPicPr>
            <a:picLocks noChangeAspect="1"/>
          </p:cNvPicPr>
          <p:nvPr/>
        </p:nvPicPr>
        <p:blipFill>
          <a:blip r:embed="rId6"/>
          <a:stretch>
            <a:fillRect/>
          </a:stretch>
        </p:blipFill>
        <p:spPr>
          <a:xfrm>
            <a:off x="9004227" y="2093976"/>
            <a:ext cx="475488" cy="475488"/>
          </a:xfrm>
          <a:prstGeom prst="rect">
            <a:avLst/>
          </a:prstGeom>
        </p:spPr>
      </p:pic>
      <p:sp>
        <p:nvSpPr>
          <p:cNvPr id="32" name="Text 24"/>
          <p:cNvSpPr txBox="1"/>
          <p:nvPr/>
        </p:nvSpPr>
        <p:spPr>
          <a:xfrm>
            <a:off x="9443139"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3" name="Text 25"/>
          <p:cNvSpPr txBox="1"/>
          <p:nvPr/>
        </p:nvSpPr>
        <p:spPr>
          <a:xfrm>
            <a:off x="8497389"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Transport</a:t>
            </a:r>
            <a:endParaRPr lang="en-US" sz="1500" dirty="0"/>
          </a:p>
        </p:txBody>
      </p:sp>
      <p:sp>
        <p:nvSpPr>
          <p:cNvPr id="34" name="Text 26"/>
          <p:cNvSpPr txBox="1"/>
          <p:nvPr/>
        </p:nvSpPr>
        <p:spPr>
          <a:xfrm>
            <a:off x="8524821"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Ambulance or own vehicle, live map</a:t>
            </a:r>
            <a:endParaRPr lang="en-US" sz="1200" dirty="0"/>
          </a:p>
        </p:txBody>
      </p:sp>
      <p:sp>
        <p:nvSpPr>
          <p:cNvPr id="35" name="Arrival icon circle"/>
          <p:cNvSpPr/>
          <p:nvPr/>
        </p:nvSpPr>
        <p:spPr>
          <a:xfrm>
            <a:off x="10365377" y="1874520"/>
            <a:ext cx="914400" cy="914400"/>
          </a:xfrm>
          <a:prstGeom prst="ellipse">
            <a:avLst/>
          </a:prstGeom>
          <a:solidFill>
            <a:srgbClr val="0B1427"/>
          </a:solidFill>
          <a:ln w="12700">
            <a:solidFill>
              <a:srgbClr val="0B1427"/>
            </a:solidFill>
            <a:prstDash val="solid"/>
          </a:ln>
        </p:spPr>
      </p:sp>
      <p:pic>
        <p:nvPicPr>
          <p:cNvPr id="36" name="Arrival icon" descr="preencoded.png">    </p:cNvPr>
          <p:cNvPicPr>
            <a:picLocks noChangeAspect="1"/>
          </p:cNvPicPr>
          <p:nvPr/>
        </p:nvPicPr>
        <p:blipFill>
          <a:blip r:embed="rId7"/>
          <a:stretch>
            <a:fillRect/>
          </a:stretch>
        </p:blipFill>
        <p:spPr>
          <a:xfrm>
            <a:off x="10584833" y="2093976"/>
            <a:ext cx="475488" cy="475488"/>
          </a:xfrm>
          <a:prstGeom prst="rect">
            <a:avLst/>
          </a:prstGeom>
        </p:spPr>
      </p:pic>
      <p:sp>
        <p:nvSpPr>
          <p:cNvPr id="37" name="Text 28"/>
          <p:cNvSpPr txBox="1"/>
          <p:nvPr/>
        </p:nvSpPr>
        <p:spPr>
          <a:xfrm>
            <a:off x="11023745" y="1755648"/>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8" name="Text 29"/>
          <p:cNvSpPr txBox="1"/>
          <p:nvPr/>
        </p:nvSpPr>
        <p:spPr>
          <a:xfrm>
            <a:off x="10077994" y="2907792"/>
            <a:ext cx="1489166" cy="320040"/>
          </a:xfrm>
          <a:prstGeom prst="rect">
            <a:avLst/>
          </a:prstGeom>
          <a:noFill/>
          <a:ln/>
        </p:spPr>
        <p:txBody>
          <a:bodyPr wrap="square" lIns="0" tIns="0" rIns="0" bIns="0" rtlCol="0" anchor="t"/>
          <a:lstStyle/>
          <a:p>
            <a:pPr algn="ctr" indent="0" marL="0">
              <a:buNone/>
            </a:pPr>
            <a:r>
              <a:rPr lang="en-US" sz="1500" b="1" dirty="0">
                <a:solidFill>
                  <a:schemeClr val="tx1"/>
                </a:solidFill>
              </a:rPr>
              <a:t>Arrival</a:t>
            </a:r>
            <a:endParaRPr lang="en-US" sz="1500" dirty="0"/>
          </a:p>
        </p:txBody>
      </p:sp>
      <p:sp>
        <p:nvSpPr>
          <p:cNvPr id="39" name="Text 30"/>
          <p:cNvSpPr txBox="1"/>
          <p:nvPr/>
        </p:nvSpPr>
        <p:spPr>
          <a:xfrm>
            <a:off x="10105426" y="3246120"/>
            <a:ext cx="1434302" cy="685800"/>
          </a:xfrm>
          <a:prstGeom prst="rect">
            <a:avLst/>
          </a:prstGeom>
          <a:noFill/>
          <a:ln/>
        </p:spPr>
        <p:txBody>
          <a:bodyPr wrap="square" lIns="0" tIns="0" rIns="0" bIns="0" rtlCol="0" anchor="t"/>
          <a:lstStyle/>
          <a:p>
            <a:pPr algn="ctr" indent="0" marL="0">
              <a:buNone/>
            </a:pPr>
            <a:r>
              <a:rPr lang="en-US" sz="1200" dirty="0">
                <a:solidFill>
                  <a:schemeClr val="tx2"/>
                </a:solidFill>
              </a:rPr>
              <a:t>Confirmed destination, family informed</a:t>
            </a:r>
            <a:endParaRPr lang="en-US" sz="1200" dirty="0"/>
          </a:p>
        </p:txBody>
      </p:sp>
      <p:sp>
        <p:nvSpPr>
          <p:cNvPr id="40" name="promise card"/>
          <p:cNvSpPr/>
          <p:nvPr/>
        </p:nvSpPr>
        <p:spPr>
          <a:xfrm>
            <a:off x="548640" y="4343400"/>
            <a:ext cx="2651760" cy="1600200"/>
          </a:xfrm>
          <a:prstGeom prst="roundRect">
            <a:avLst>
              <a:gd name="adj" fmla="val 6857"/>
            </a:avLst>
          </a:prstGeom>
          <a:solidFill>
            <a:schemeClr val="bg2"/>
          </a:solidFill>
          <a:ln w="12700">
            <a:solidFill>
              <a:schemeClr val="bg2"/>
            </a:solidFill>
            <a:prstDash val="solid"/>
          </a:ln>
        </p:spPr>
      </p:sp>
      <p:sp>
        <p:nvSpPr>
          <p:cNvPr id="41" name="Text 32"/>
          <p:cNvSpPr txBox="1"/>
          <p:nvPr/>
        </p:nvSpPr>
        <p:spPr>
          <a:xfrm>
            <a:off x="777240" y="4572000"/>
            <a:ext cx="2240280" cy="685800"/>
          </a:xfrm>
          <a:prstGeom prst="rect">
            <a:avLst/>
          </a:prstGeom>
          <a:noFill/>
          <a:ln/>
        </p:spPr>
        <p:txBody>
          <a:bodyPr wrap="square" lIns="0" tIns="0" rIns="0" bIns="0" rtlCol="0" anchor="t"/>
          <a:lstStyle/>
          <a:p>
            <a:pPr indent="0" marL="0">
              <a:buNone/>
            </a:pPr>
            <a:r>
              <a:rPr lang="en-US" sz="1800" b="1" dirty="0">
                <a:solidFill>
                  <a:srgbClr val="7C3AED"/>
                </a:solidFill>
                <a:latin typeface="Arial" pitchFamily="34" charset="0"/>
                <a:ea typeface="Arial" pitchFamily="34" charset="-122"/>
                <a:cs typeface="Arial" pitchFamily="34" charset="-120"/>
              </a:rPr>
              <a:t>Hindi · English · Hinglish</a:t>
            </a:r>
            <a:endParaRPr lang="en-US" sz="1800" dirty="0"/>
          </a:p>
        </p:txBody>
      </p:sp>
      <p:sp>
        <p:nvSpPr>
          <p:cNvPr id="42" name="Text 33"/>
          <p:cNvSpPr txBox="1"/>
          <p:nvPr/>
        </p:nvSpPr>
        <p:spPr>
          <a:xfrm>
            <a:off x="777240" y="5303520"/>
            <a:ext cx="2240280" cy="457200"/>
          </a:xfrm>
          <a:prstGeom prst="rect">
            <a:avLst/>
          </a:prstGeom>
          <a:noFill/>
          <a:ln/>
        </p:spPr>
        <p:txBody>
          <a:bodyPr wrap="square" lIns="0" tIns="0" rIns="0" bIns="0" rtlCol="0" anchor="t"/>
          <a:lstStyle/>
          <a:p>
            <a:pPr indent="0" marL="0">
              <a:buNone/>
            </a:pPr>
            <a:r>
              <a:rPr lang="en-US" sz="1300" dirty="0">
                <a:solidFill>
                  <a:schemeClr val="tx2"/>
                </a:solidFill>
              </a:rPr>
              <a:t>Voice-first, built for panic</a:t>
            </a:r>
            <a:endParaRPr lang="en-US" sz="1300" dirty="0"/>
          </a:p>
        </p:txBody>
      </p:sp>
      <p:sp>
        <p:nvSpPr>
          <p:cNvPr id="43" name="promise card"/>
          <p:cNvSpPr/>
          <p:nvPr/>
        </p:nvSpPr>
        <p:spPr>
          <a:xfrm>
            <a:off x="3383280" y="4343400"/>
            <a:ext cx="2651760" cy="1600200"/>
          </a:xfrm>
          <a:prstGeom prst="roundRect">
            <a:avLst>
              <a:gd name="adj" fmla="val 6857"/>
            </a:avLst>
          </a:prstGeom>
          <a:solidFill>
            <a:schemeClr val="bg2"/>
          </a:solidFill>
          <a:ln w="12700">
            <a:solidFill>
              <a:schemeClr val="bg2"/>
            </a:solidFill>
            <a:prstDash val="solid"/>
          </a:ln>
        </p:spPr>
      </p:sp>
      <p:sp>
        <p:nvSpPr>
          <p:cNvPr id="44" name="Text 35"/>
          <p:cNvSpPr txBox="1"/>
          <p:nvPr/>
        </p:nvSpPr>
        <p:spPr>
          <a:xfrm>
            <a:off x="3611880" y="4572000"/>
            <a:ext cx="2240280" cy="685800"/>
          </a:xfrm>
          <a:prstGeom prst="rect">
            <a:avLst/>
          </a:prstGeom>
          <a:noFill/>
          <a:ln/>
        </p:spPr>
        <p:txBody>
          <a:bodyPr wrap="square" lIns="0" tIns="0" rIns="0" bIns="0" rtlCol="0" anchor="t"/>
          <a:lstStyle/>
          <a:p>
            <a:pPr indent="0" marL="0">
              <a:buNone/>
            </a:pPr>
            <a:r>
              <a:rPr lang="en-US" sz="1800" b="1" dirty="0">
                <a:solidFill>
                  <a:srgbClr val="2563EB"/>
                </a:solidFill>
                <a:latin typeface="Arial" pitchFamily="34" charset="0"/>
                <a:ea typeface="Arial" pitchFamily="34" charset="-122"/>
                <a:cs typeface="Arial" pitchFamily="34" charset="-120"/>
              </a:rPr>
              <a:t>Only capable hospitals</a:t>
            </a:r>
            <a:endParaRPr lang="en-US" sz="1800" dirty="0"/>
          </a:p>
        </p:txBody>
      </p:sp>
      <p:sp>
        <p:nvSpPr>
          <p:cNvPr id="45" name="Text 36"/>
          <p:cNvSpPr txBox="1"/>
          <p:nvPr/>
        </p:nvSpPr>
        <p:spPr>
          <a:xfrm>
            <a:off x="3611880" y="5303520"/>
            <a:ext cx="2240280" cy="457200"/>
          </a:xfrm>
          <a:prstGeom prst="rect">
            <a:avLst/>
          </a:prstGeom>
          <a:noFill/>
          <a:ln/>
        </p:spPr>
        <p:txBody>
          <a:bodyPr wrap="square" lIns="0" tIns="0" rIns="0" bIns="0" rtlCol="0" anchor="t"/>
          <a:lstStyle/>
          <a:p>
            <a:pPr indent="0" marL="0">
              <a:buNone/>
            </a:pPr>
            <a:r>
              <a:rPr lang="en-US" sz="1300" dirty="0">
                <a:solidFill>
                  <a:schemeClr val="tx2"/>
                </a:solidFill>
              </a:rPr>
              <a:t>Deterministic, explainable matching</a:t>
            </a:r>
            <a:endParaRPr lang="en-US" sz="1300" dirty="0"/>
          </a:p>
        </p:txBody>
      </p:sp>
      <p:sp>
        <p:nvSpPr>
          <p:cNvPr id="46" name="promise card"/>
          <p:cNvSpPr/>
          <p:nvPr/>
        </p:nvSpPr>
        <p:spPr>
          <a:xfrm>
            <a:off x="6217920" y="4343400"/>
            <a:ext cx="2651760" cy="1600200"/>
          </a:xfrm>
          <a:prstGeom prst="roundRect">
            <a:avLst>
              <a:gd name="adj" fmla="val 6857"/>
            </a:avLst>
          </a:prstGeom>
          <a:solidFill>
            <a:schemeClr val="bg2"/>
          </a:solidFill>
          <a:ln w="12700">
            <a:solidFill>
              <a:schemeClr val="bg2"/>
            </a:solidFill>
            <a:prstDash val="solid"/>
          </a:ln>
        </p:spPr>
      </p:sp>
      <p:sp>
        <p:nvSpPr>
          <p:cNvPr id="47" name="Text 38"/>
          <p:cNvSpPr txBox="1"/>
          <p:nvPr/>
        </p:nvSpPr>
        <p:spPr>
          <a:xfrm>
            <a:off x="6446520" y="4572000"/>
            <a:ext cx="2240280" cy="685800"/>
          </a:xfrm>
          <a:prstGeom prst="rect">
            <a:avLst/>
          </a:prstGeom>
          <a:noFill/>
          <a:ln/>
        </p:spPr>
        <p:txBody>
          <a:bodyPr wrap="square" lIns="0" tIns="0" rIns="0" bIns="0" rtlCol="0" anchor="t"/>
          <a:lstStyle/>
          <a:p>
            <a:pPr indent="0" marL="0">
              <a:buNone/>
            </a:pPr>
            <a:r>
              <a:rPr lang="en-US" sz="1800" b="1" dirty="0">
                <a:solidFill>
                  <a:srgbClr val="16A34A"/>
                </a:solidFill>
                <a:latin typeface="Arial" pitchFamily="34" charset="0"/>
                <a:ea typeface="Arial" pitchFamily="34" charset="-122"/>
                <a:cs typeface="Arial" pitchFamily="34" charset="-120"/>
              </a:rPr>
              <a:t>Accepted before travel</a:t>
            </a:r>
            <a:endParaRPr lang="en-US" sz="1800" dirty="0"/>
          </a:p>
        </p:txBody>
      </p:sp>
      <p:sp>
        <p:nvSpPr>
          <p:cNvPr id="48" name="Text 39"/>
          <p:cNvSpPr txBox="1"/>
          <p:nvPr/>
        </p:nvSpPr>
        <p:spPr>
          <a:xfrm>
            <a:off x="6446520" y="5303520"/>
            <a:ext cx="2240280" cy="457200"/>
          </a:xfrm>
          <a:prstGeom prst="rect">
            <a:avLst/>
          </a:prstGeom>
          <a:noFill/>
          <a:ln/>
        </p:spPr>
        <p:txBody>
          <a:bodyPr wrap="square" lIns="0" tIns="0" rIns="0" bIns="0" rtlCol="0" anchor="t"/>
          <a:lstStyle/>
          <a:p>
            <a:pPr indent="0" marL="0">
              <a:buNone/>
            </a:pPr>
            <a:r>
              <a:rPr lang="en-US" sz="1300" dirty="0">
                <a:solidFill>
                  <a:schemeClr val="tx2"/>
                </a:solidFill>
              </a:rPr>
              <a:t>No refusals at the gate</a:t>
            </a:r>
            <a:endParaRPr lang="en-US" sz="1300" dirty="0"/>
          </a:p>
        </p:txBody>
      </p:sp>
      <p:sp>
        <p:nvSpPr>
          <p:cNvPr id="49" name="promise card"/>
          <p:cNvSpPr/>
          <p:nvPr/>
        </p:nvSpPr>
        <p:spPr>
          <a:xfrm>
            <a:off x="9052560" y="4343400"/>
            <a:ext cx="2651760" cy="1600200"/>
          </a:xfrm>
          <a:prstGeom prst="roundRect">
            <a:avLst>
              <a:gd name="adj" fmla="val 6857"/>
            </a:avLst>
          </a:prstGeom>
          <a:solidFill>
            <a:schemeClr val="bg2"/>
          </a:solidFill>
          <a:ln w="12700">
            <a:solidFill>
              <a:schemeClr val="bg2"/>
            </a:solidFill>
            <a:prstDash val="solid"/>
          </a:ln>
        </p:spPr>
      </p:sp>
      <p:sp>
        <p:nvSpPr>
          <p:cNvPr id="50" name="Text 41"/>
          <p:cNvSpPr txBox="1"/>
          <p:nvPr/>
        </p:nvSpPr>
        <p:spPr>
          <a:xfrm>
            <a:off x="9281160" y="4572000"/>
            <a:ext cx="2240280" cy="685800"/>
          </a:xfrm>
          <a:prstGeom prst="rect">
            <a:avLst/>
          </a:prstGeom>
          <a:noFill/>
          <a:ln/>
        </p:spPr>
        <p:txBody>
          <a:bodyPr wrap="square" lIns="0" tIns="0" rIns="0" bIns="0" rtlCol="0" anchor="t"/>
          <a:lstStyle/>
          <a:p>
            <a:pPr indent="0" marL="0">
              <a:buNone/>
            </a:pPr>
            <a:r>
              <a:rPr lang="en-US" sz="1800" b="1" dirty="0">
                <a:solidFill>
                  <a:srgbClr val="E11D48"/>
                </a:solidFill>
                <a:latin typeface="Arial" pitchFamily="34" charset="0"/>
                <a:ea typeface="Arial" pitchFamily="34" charset="-122"/>
                <a:cs typeface="Arial" pitchFamily="34" charset="-120"/>
              </a:rPr>
              <a:t>60 s auto-fallback</a:t>
            </a:r>
            <a:endParaRPr lang="en-US" sz="1800" dirty="0"/>
          </a:p>
        </p:txBody>
      </p:sp>
      <p:sp>
        <p:nvSpPr>
          <p:cNvPr id="51" name="Text 42"/>
          <p:cNvSpPr txBox="1"/>
          <p:nvPr/>
        </p:nvSpPr>
        <p:spPr>
          <a:xfrm>
            <a:off x="9281160" y="5303520"/>
            <a:ext cx="2240280" cy="457200"/>
          </a:xfrm>
          <a:prstGeom prst="rect">
            <a:avLst/>
          </a:prstGeom>
          <a:noFill/>
          <a:ln/>
        </p:spPr>
        <p:txBody>
          <a:bodyPr wrap="square" lIns="0" tIns="0" rIns="0" bIns="0" rtlCol="0" anchor="t"/>
          <a:lstStyle/>
          <a:p>
            <a:pPr indent="0" marL="0">
              <a:buNone/>
            </a:pPr>
            <a:r>
              <a:rPr lang="en-US" sz="1300" dirty="0">
                <a:solidFill>
                  <a:schemeClr val="tx2"/>
                </a:solidFill>
              </a:rPr>
              <a:t>No answer → next hospital asked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For citizens: speak, choose, get accepted</a:t>
            </a:r>
            <a:endParaRPr lang="en-US" sz="3400" dirty="0"/>
          </a:p>
        </p:txBody>
      </p:sp>
      <p:sp>
        <p:nvSpPr>
          <p:cNvPr id="3" name="citizen screen 1 frame"/>
          <p:cNvSpPr/>
          <p:nvPr/>
        </p:nvSpPr>
        <p:spPr>
          <a:xfrm>
            <a:off x="621792" y="1261872"/>
            <a:ext cx="1786695" cy="3694176"/>
          </a:xfrm>
          <a:prstGeom prst="roundRect">
            <a:avLst>
              <a:gd name="adj" fmla="val 9212"/>
            </a:avLst>
          </a:prstGeom>
          <a:solidFill>
            <a:schemeClr val="tx1"/>
          </a:solidFill>
          <a:ln w="12700">
            <a:solidFill>
              <a:schemeClr val="tx1"/>
            </a:solidFill>
            <a:prstDash val="solid"/>
          </a:ln>
          <a:effectLst>
            <a:outerShdw sx="100000" sy="100000" kx="0" ky="0" algn="bl" rotWithShape="0" blurRad="101600" dist="25400" dir="5400000">
              <a:srgbClr val="0B1427">
                <a:alpha val="12000"/>
              </a:srgbClr>
            </a:outerShdw>
          </a:effectLst>
        </p:spPr>
      </p:sp>
      <p:pic>
        <p:nvPicPr>
          <p:cNvPr id="4" name="citizen screen 1" descr="/tmp/claude-0/-home-user-Sehat-Setu/b06e8423-ed6e-57c3-bbb1-ac94b2a1720d/scratchpad/pdf/img/s/phone-1-start.jpg">    </p:cNvPr>
          <p:cNvPicPr>
            <a:picLocks noChangeAspect="1"/>
          </p:cNvPicPr>
          <p:nvPr/>
        </p:nvPicPr>
        <p:blipFill>
          <a:blip r:embed="rId1"/>
          <a:stretch>
            <a:fillRect/>
          </a:stretch>
        </p:blipFill>
        <p:spPr>
          <a:xfrm>
            <a:off x="685800" y="1325880"/>
            <a:ext cx="1658679" cy="3566160"/>
          </a:xfrm>
          <a:prstGeom prst="rect">
            <a:avLst/>
          </a:prstGeom>
        </p:spPr>
      </p:pic>
      <p:sp>
        <p:nvSpPr>
          <p:cNvPr id="5" name="Text 2"/>
          <p:cNvSpPr txBox="1"/>
          <p:nvPr/>
        </p:nvSpPr>
        <p:spPr>
          <a:xfrm>
            <a:off x="594360" y="5074920"/>
            <a:ext cx="1920240" cy="292608"/>
          </a:xfrm>
          <a:prstGeom prst="rect">
            <a:avLst/>
          </a:prstGeom>
          <a:noFill/>
          <a:ln/>
        </p:spPr>
        <p:txBody>
          <a:bodyPr wrap="square" lIns="0" tIns="0" rIns="0" bIns="0" rtlCol="0" anchor="t"/>
          <a:lstStyle/>
          <a:p>
            <a:pPr indent="0" marL="0">
              <a:buNone/>
            </a:pPr>
            <a:r>
              <a:rPr lang="en-US" sz="1400" b="1" dirty="0">
                <a:solidFill>
                  <a:schemeClr val="tx1"/>
                </a:solidFill>
              </a:rPr>
              <a:t>1 · Speak or type</a:t>
            </a:r>
            <a:endParaRPr lang="en-US" sz="1400" dirty="0"/>
          </a:p>
        </p:txBody>
      </p:sp>
      <p:sp>
        <p:nvSpPr>
          <p:cNvPr id="6" name="Text 3"/>
          <p:cNvSpPr txBox="1"/>
          <p:nvPr/>
        </p:nvSpPr>
        <p:spPr>
          <a:xfrm>
            <a:off x="594360" y="5376672"/>
            <a:ext cx="1920240" cy="822960"/>
          </a:xfrm>
          <a:prstGeom prst="rect">
            <a:avLst/>
          </a:prstGeom>
          <a:noFill/>
          <a:ln/>
        </p:spPr>
        <p:txBody>
          <a:bodyPr wrap="square" lIns="0" tIns="0" rIns="0" bIns="0" rtlCol="0" anchor="t"/>
          <a:lstStyle/>
          <a:p>
            <a:pPr indent="0" marL="0">
              <a:buNone/>
            </a:pPr>
            <a:r>
              <a:rPr lang="en-US" sz="1100" dirty="0">
                <a:solidFill>
                  <a:schemeClr val="tx2"/>
                </a:solidFill>
              </a:rPr>
              <a:t>Hindi or English voice, quick picks, photo and health-card scan</a:t>
            </a:r>
            <a:endParaRPr lang="en-US" sz="1100" dirty="0"/>
          </a:p>
        </p:txBody>
      </p:sp>
      <p:sp>
        <p:nvSpPr>
          <p:cNvPr id="7" name="citizen screen 2 frame"/>
          <p:cNvSpPr/>
          <p:nvPr/>
        </p:nvSpPr>
        <p:spPr>
          <a:xfrm>
            <a:off x="2798064" y="1261872"/>
            <a:ext cx="1786695" cy="3694176"/>
          </a:xfrm>
          <a:prstGeom prst="roundRect">
            <a:avLst>
              <a:gd name="adj" fmla="val 9212"/>
            </a:avLst>
          </a:prstGeom>
          <a:solidFill>
            <a:schemeClr val="tx1"/>
          </a:solidFill>
          <a:ln w="12700">
            <a:solidFill>
              <a:schemeClr val="tx1"/>
            </a:solidFill>
            <a:prstDash val="solid"/>
          </a:ln>
          <a:effectLst>
            <a:outerShdw sx="100000" sy="100000" kx="0" ky="0" algn="bl" rotWithShape="0" blurRad="101600" dist="25400" dir="5400000">
              <a:srgbClr val="0B1427">
                <a:alpha val="12000"/>
              </a:srgbClr>
            </a:outerShdw>
          </a:effectLst>
        </p:spPr>
      </p:sp>
      <p:pic>
        <p:nvPicPr>
          <p:cNvPr id="8" name="citizen screen 2" descr="/tmp/claude-0/-home-user-Sehat-Setu/b06e8423-ed6e-57c3-bbb1-ac94b2a1720d/scratchpad/pdf/img/s/phone-2-ai.jpg">    </p:cNvPr>
          <p:cNvPicPr>
            <a:picLocks noChangeAspect="1"/>
          </p:cNvPicPr>
          <p:nvPr/>
        </p:nvPicPr>
        <p:blipFill>
          <a:blip r:embed="rId2"/>
          <a:stretch>
            <a:fillRect/>
          </a:stretch>
        </p:blipFill>
        <p:spPr>
          <a:xfrm>
            <a:off x="2862072" y="1325880"/>
            <a:ext cx="1658679" cy="3566160"/>
          </a:xfrm>
          <a:prstGeom prst="rect">
            <a:avLst/>
          </a:prstGeom>
        </p:spPr>
      </p:pic>
      <p:sp>
        <p:nvSpPr>
          <p:cNvPr id="9" name="Text 5"/>
          <p:cNvSpPr txBox="1"/>
          <p:nvPr/>
        </p:nvSpPr>
        <p:spPr>
          <a:xfrm>
            <a:off x="2770632" y="5074920"/>
            <a:ext cx="1920240" cy="292608"/>
          </a:xfrm>
          <a:prstGeom prst="rect">
            <a:avLst/>
          </a:prstGeom>
          <a:noFill/>
          <a:ln/>
        </p:spPr>
        <p:txBody>
          <a:bodyPr wrap="square" lIns="0" tIns="0" rIns="0" bIns="0" rtlCol="0" anchor="t"/>
          <a:lstStyle/>
          <a:p>
            <a:pPr indent="0" marL="0">
              <a:buNone/>
            </a:pPr>
            <a:r>
              <a:rPr lang="en-US" sz="1400" b="1" dirty="0">
                <a:solidFill>
                  <a:schemeClr val="tx1"/>
                </a:solidFill>
              </a:rPr>
              <a:t>2 · AI understands</a:t>
            </a:r>
            <a:endParaRPr lang="en-US" sz="1400" dirty="0"/>
          </a:p>
        </p:txBody>
      </p:sp>
      <p:sp>
        <p:nvSpPr>
          <p:cNvPr id="10" name="Text 6"/>
          <p:cNvSpPr txBox="1"/>
          <p:nvPr/>
        </p:nvSpPr>
        <p:spPr>
          <a:xfrm>
            <a:off x="2770632" y="5376672"/>
            <a:ext cx="1920240" cy="822960"/>
          </a:xfrm>
          <a:prstGeom prst="rect">
            <a:avLst/>
          </a:prstGeom>
          <a:noFill/>
          <a:ln/>
        </p:spPr>
        <p:txBody>
          <a:bodyPr wrap="square" lIns="0" tIns="0" rIns="0" bIns="0" rtlCol="0" anchor="t"/>
          <a:lstStyle/>
          <a:p>
            <a:pPr indent="0" marL="0">
              <a:buNone/>
            </a:pPr>
            <a:r>
              <a:rPr lang="en-US" sz="1100" dirty="0">
                <a:solidFill>
                  <a:schemeClr val="tx2"/>
                </a:solidFill>
              </a:rPr>
              <a:t>“May indicate heart attack · CRITICAL · needs cardiologist + ICU”</a:t>
            </a:r>
            <a:endParaRPr lang="en-US" sz="1100" dirty="0"/>
          </a:p>
        </p:txBody>
      </p:sp>
      <p:sp>
        <p:nvSpPr>
          <p:cNvPr id="11" name="citizen screen 3 frame"/>
          <p:cNvSpPr/>
          <p:nvPr/>
        </p:nvSpPr>
        <p:spPr>
          <a:xfrm>
            <a:off x="4974336" y="1261872"/>
            <a:ext cx="1786695" cy="3694176"/>
          </a:xfrm>
          <a:prstGeom prst="roundRect">
            <a:avLst>
              <a:gd name="adj" fmla="val 9212"/>
            </a:avLst>
          </a:prstGeom>
          <a:solidFill>
            <a:schemeClr val="tx1"/>
          </a:solidFill>
          <a:ln w="12700">
            <a:solidFill>
              <a:schemeClr val="tx1"/>
            </a:solidFill>
            <a:prstDash val="solid"/>
          </a:ln>
          <a:effectLst>
            <a:outerShdw sx="100000" sy="100000" kx="0" ky="0" algn="bl" rotWithShape="0" blurRad="101600" dist="25400" dir="5400000">
              <a:srgbClr val="0B1427">
                <a:alpha val="12000"/>
              </a:srgbClr>
            </a:outerShdw>
          </a:effectLst>
        </p:spPr>
      </p:sp>
      <p:pic>
        <p:nvPicPr>
          <p:cNvPr id="12" name="citizen screen 3" descr="/tmp/claude-0/-home-user-Sehat-Setu/b06e8423-ed6e-57c3-bbb1-ac94b2a1720d/scratchpad/pdf/img/s/phone-3-hospitals.jpg">    </p:cNvPr>
          <p:cNvPicPr>
            <a:picLocks noChangeAspect="1"/>
          </p:cNvPicPr>
          <p:nvPr/>
        </p:nvPicPr>
        <p:blipFill>
          <a:blip r:embed="rId3"/>
          <a:stretch>
            <a:fillRect/>
          </a:stretch>
        </p:blipFill>
        <p:spPr>
          <a:xfrm>
            <a:off x="5038344" y="1325880"/>
            <a:ext cx="1658679" cy="3566160"/>
          </a:xfrm>
          <a:prstGeom prst="rect">
            <a:avLst/>
          </a:prstGeom>
        </p:spPr>
      </p:pic>
      <p:sp>
        <p:nvSpPr>
          <p:cNvPr id="13" name="Text 8"/>
          <p:cNvSpPr txBox="1"/>
          <p:nvPr/>
        </p:nvSpPr>
        <p:spPr>
          <a:xfrm>
            <a:off x="4946904" y="5074920"/>
            <a:ext cx="1920240" cy="292608"/>
          </a:xfrm>
          <a:prstGeom prst="rect">
            <a:avLst/>
          </a:prstGeom>
          <a:noFill/>
          <a:ln/>
        </p:spPr>
        <p:txBody>
          <a:bodyPr wrap="square" lIns="0" tIns="0" rIns="0" bIns="0" rtlCol="0" anchor="t"/>
          <a:lstStyle/>
          <a:p>
            <a:pPr indent="0" marL="0">
              <a:buNone/>
            </a:pPr>
            <a:r>
              <a:rPr lang="en-US" sz="1400" b="1" dirty="0">
                <a:solidFill>
                  <a:schemeClr val="tx1"/>
                </a:solidFill>
              </a:rPr>
              <a:t>3 · Capable hospitals</a:t>
            </a:r>
            <a:endParaRPr lang="en-US" sz="1400" dirty="0"/>
          </a:p>
        </p:txBody>
      </p:sp>
      <p:sp>
        <p:nvSpPr>
          <p:cNvPr id="14" name="Text 9"/>
          <p:cNvSpPr txBox="1"/>
          <p:nvPr/>
        </p:nvSpPr>
        <p:spPr>
          <a:xfrm>
            <a:off x="4946904" y="5376672"/>
            <a:ext cx="1920240" cy="822960"/>
          </a:xfrm>
          <a:prstGeom prst="rect">
            <a:avLst/>
          </a:prstGeom>
          <a:noFill/>
          <a:ln/>
        </p:spPr>
        <p:txBody>
          <a:bodyPr wrap="square" lIns="0" tIns="0" rIns="0" bIns="0" rtlCol="0" anchor="t"/>
          <a:lstStyle/>
          <a:p>
            <a:pPr indent="0" marL="0">
              <a:buNone/>
            </a:pPr>
            <a:r>
              <a:rPr lang="en-US" sz="1100" dirty="0">
                <a:solidFill>
                  <a:schemeClr val="tx2"/>
                </a:solidFill>
              </a:rPr>
              <a:t>Ranked from staff-verified data, with “Why this hospital?”</a:t>
            </a:r>
            <a:endParaRPr lang="en-US" sz="1100" dirty="0"/>
          </a:p>
        </p:txBody>
      </p:sp>
      <p:sp>
        <p:nvSpPr>
          <p:cNvPr id="15" name="citizen screen 4 frame"/>
          <p:cNvSpPr/>
          <p:nvPr/>
        </p:nvSpPr>
        <p:spPr>
          <a:xfrm>
            <a:off x="7150608" y="1261872"/>
            <a:ext cx="1786695" cy="3694176"/>
          </a:xfrm>
          <a:prstGeom prst="roundRect">
            <a:avLst>
              <a:gd name="adj" fmla="val 9212"/>
            </a:avLst>
          </a:prstGeom>
          <a:solidFill>
            <a:schemeClr val="tx1"/>
          </a:solidFill>
          <a:ln w="12700">
            <a:solidFill>
              <a:schemeClr val="tx1"/>
            </a:solidFill>
            <a:prstDash val="solid"/>
          </a:ln>
          <a:effectLst>
            <a:outerShdw sx="100000" sy="100000" kx="0" ky="0" algn="bl" rotWithShape="0" blurRad="101600" dist="25400" dir="5400000">
              <a:srgbClr val="0B1427">
                <a:alpha val="12000"/>
              </a:srgbClr>
            </a:outerShdw>
          </a:effectLst>
        </p:spPr>
      </p:sp>
      <p:pic>
        <p:nvPicPr>
          <p:cNvPr id="16" name="citizen screen 4" descr="/tmp/claude-0/-home-user-Sehat-Setu/b06e8423-ed6e-57c3-bbb1-ac94b2a1720d/scratchpad/pdf/img/s/phone-5-accepted.jpg">    </p:cNvPr>
          <p:cNvPicPr>
            <a:picLocks noChangeAspect="1"/>
          </p:cNvPicPr>
          <p:nvPr/>
        </p:nvPicPr>
        <p:blipFill>
          <a:blip r:embed="rId4"/>
          <a:stretch>
            <a:fillRect/>
          </a:stretch>
        </p:blipFill>
        <p:spPr>
          <a:xfrm>
            <a:off x="7214616" y="1325880"/>
            <a:ext cx="1658679" cy="3566160"/>
          </a:xfrm>
          <a:prstGeom prst="rect">
            <a:avLst/>
          </a:prstGeom>
        </p:spPr>
      </p:pic>
      <p:sp>
        <p:nvSpPr>
          <p:cNvPr id="17" name="Text 11"/>
          <p:cNvSpPr txBox="1"/>
          <p:nvPr/>
        </p:nvSpPr>
        <p:spPr>
          <a:xfrm>
            <a:off x="7123176" y="5074920"/>
            <a:ext cx="1920240" cy="292608"/>
          </a:xfrm>
          <a:prstGeom prst="rect">
            <a:avLst/>
          </a:prstGeom>
          <a:noFill/>
          <a:ln/>
        </p:spPr>
        <p:txBody>
          <a:bodyPr wrap="square" lIns="0" tIns="0" rIns="0" bIns="0" rtlCol="0" anchor="t"/>
          <a:lstStyle/>
          <a:p>
            <a:pPr indent="0" marL="0">
              <a:buNone/>
            </a:pPr>
            <a:r>
              <a:rPr lang="en-US" sz="1400" b="1" dirty="0">
                <a:solidFill>
                  <a:schemeClr val="tx1"/>
                </a:solidFill>
              </a:rPr>
              <a:t>4 · Accepted</a:t>
            </a:r>
            <a:endParaRPr lang="en-US" sz="1400" dirty="0"/>
          </a:p>
        </p:txBody>
      </p:sp>
      <p:sp>
        <p:nvSpPr>
          <p:cNvPr id="18" name="Text 12"/>
          <p:cNvSpPr txBox="1"/>
          <p:nvPr/>
        </p:nvSpPr>
        <p:spPr>
          <a:xfrm>
            <a:off x="7123176" y="5376672"/>
            <a:ext cx="1920240" cy="822960"/>
          </a:xfrm>
          <a:prstGeom prst="rect">
            <a:avLst/>
          </a:prstGeom>
          <a:noFill/>
          <a:ln/>
        </p:spPr>
        <p:txBody>
          <a:bodyPr wrap="square" lIns="0" tIns="0" rIns="0" bIns="0" rtlCol="0" anchor="t"/>
          <a:lstStyle/>
          <a:p>
            <a:pPr indent="0" marL="0">
              <a:buNone/>
            </a:pPr>
            <a:r>
              <a:rPr lang="en-US" sz="1100" dirty="0">
                <a:solidFill>
                  <a:schemeClr val="tx2"/>
                </a:solidFill>
              </a:rPr>
              <a:t>Named officer accepts, receiving bay Resus-02 ready</a:t>
            </a:r>
            <a:endParaRPr lang="en-US" sz="1100" dirty="0"/>
          </a:p>
        </p:txBody>
      </p:sp>
      <p:sp>
        <p:nvSpPr>
          <p:cNvPr id="19" name="benefits panel"/>
          <p:cNvSpPr/>
          <p:nvPr/>
        </p:nvSpPr>
        <p:spPr>
          <a:xfrm>
            <a:off x="9372600" y="1280160"/>
            <a:ext cx="2240280" cy="4892040"/>
          </a:xfrm>
          <a:prstGeom prst="roundRect">
            <a:avLst>
              <a:gd name="adj" fmla="val 4898"/>
            </a:avLst>
          </a:prstGeom>
          <a:solidFill>
            <a:schemeClr val="bg2"/>
          </a:solidFill>
          <a:ln w="12700">
            <a:solidFill>
              <a:schemeClr val="bg2"/>
            </a:solidFill>
            <a:prstDash val="solid"/>
          </a:ln>
        </p:spPr>
      </p:sp>
      <p:sp>
        <p:nvSpPr>
          <p:cNvPr id="20" name="Text 14"/>
          <p:cNvSpPr txBox="1"/>
          <p:nvPr/>
        </p:nvSpPr>
        <p:spPr>
          <a:xfrm>
            <a:off x="9555480" y="1463040"/>
            <a:ext cx="1920240" cy="548640"/>
          </a:xfrm>
          <a:prstGeom prst="rect">
            <a:avLst/>
          </a:prstGeom>
          <a:noFill/>
          <a:ln/>
        </p:spPr>
        <p:txBody>
          <a:bodyPr wrap="square" lIns="0" tIns="0" rIns="0" bIns="0" rtlCol="0" anchor="t"/>
          <a:lstStyle/>
          <a:p>
            <a:pPr indent="0" marL="0">
              <a:buNone/>
            </a:pPr>
            <a:r>
              <a:rPr lang="en-US" sz="1600" b="1" dirty="0">
                <a:solidFill>
                  <a:schemeClr val="tx1"/>
                </a:solidFill>
              </a:rPr>
              <a:t>What the citizen gets</a:t>
            </a:r>
            <a:endParaRPr lang="en-US" sz="1600" dirty="0"/>
          </a:p>
        </p:txBody>
      </p:sp>
      <p:sp>
        <p:nvSpPr>
          <p:cNvPr id="21" name="Voice in Hindi &amp; English circle"/>
          <p:cNvSpPr/>
          <p:nvPr/>
        </p:nvSpPr>
        <p:spPr>
          <a:xfrm>
            <a:off x="9555480" y="2194560"/>
            <a:ext cx="457200" cy="457200"/>
          </a:xfrm>
          <a:prstGeom prst="ellipse">
            <a:avLst/>
          </a:prstGeom>
          <a:solidFill>
            <a:srgbClr val="7C3AED"/>
          </a:solidFill>
          <a:ln w="12700">
            <a:solidFill>
              <a:srgbClr val="7C3AED"/>
            </a:solidFill>
            <a:prstDash val="solid"/>
          </a:ln>
        </p:spPr>
      </p:sp>
      <p:pic>
        <p:nvPicPr>
          <p:cNvPr id="22" name="Voice in Hindi &amp; English" descr="preencoded.png">    </p:cNvPr>
          <p:cNvPicPr>
            <a:picLocks noChangeAspect="1"/>
          </p:cNvPicPr>
          <p:nvPr/>
        </p:nvPicPr>
        <p:blipFill>
          <a:blip r:embed="rId5"/>
          <a:stretch>
            <a:fillRect/>
          </a:stretch>
        </p:blipFill>
        <p:spPr>
          <a:xfrm>
            <a:off x="9665208" y="2304288"/>
            <a:ext cx="237744" cy="237744"/>
          </a:xfrm>
          <a:prstGeom prst="rect">
            <a:avLst/>
          </a:prstGeom>
        </p:spPr>
      </p:pic>
      <p:sp>
        <p:nvSpPr>
          <p:cNvPr id="23" name="Text 16"/>
          <p:cNvSpPr txBox="1"/>
          <p:nvPr/>
        </p:nvSpPr>
        <p:spPr>
          <a:xfrm>
            <a:off x="10104120" y="2176272"/>
            <a:ext cx="1417320" cy="822960"/>
          </a:xfrm>
          <a:prstGeom prst="rect">
            <a:avLst/>
          </a:prstGeom>
          <a:noFill/>
          <a:ln/>
        </p:spPr>
        <p:txBody>
          <a:bodyPr wrap="square" lIns="0" tIns="0" rIns="0" bIns="0" rtlCol="0" anchor="t"/>
          <a:lstStyle/>
          <a:p>
            <a:pPr indent="0" marL="0">
              <a:buNone/>
            </a:pPr>
            <a:r>
              <a:rPr lang="en-US" sz="1200" dirty="0">
                <a:solidFill>
                  <a:schemeClr val="tx1"/>
                </a:solidFill>
              </a:rPr>
              <a:t>Voice in Hindi &amp; English</a:t>
            </a:r>
            <a:endParaRPr lang="en-US" sz="1200" dirty="0"/>
          </a:p>
        </p:txBody>
      </p:sp>
      <p:sp>
        <p:nvSpPr>
          <p:cNvPr id="24" name="“How was this decided?” explained circle"/>
          <p:cNvSpPr/>
          <p:nvPr/>
        </p:nvSpPr>
        <p:spPr>
          <a:xfrm>
            <a:off x="9555480" y="3154680"/>
            <a:ext cx="457200" cy="457200"/>
          </a:xfrm>
          <a:prstGeom prst="ellipse">
            <a:avLst/>
          </a:prstGeom>
          <a:solidFill>
            <a:srgbClr val="2563EB"/>
          </a:solidFill>
          <a:ln w="12700">
            <a:solidFill>
              <a:srgbClr val="2563EB"/>
            </a:solidFill>
            <a:prstDash val="solid"/>
          </a:ln>
        </p:spPr>
      </p:sp>
      <p:pic>
        <p:nvPicPr>
          <p:cNvPr id="25" name="“How was this decided?” explained" descr="preencoded.png">    </p:cNvPr>
          <p:cNvPicPr>
            <a:picLocks noChangeAspect="1"/>
          </p:cNvPicPr>
          <p:nvPr/>
        </p:nvPicPr>
        <p:blipFill>
          <a:blip r:embed="rId6"/>
          <a:stretch>
            <a:fillRect/>
          </a:stretch>
        </p:blipFill>
        <p:spPr>
          <a:xfrm>
            <a:off x="9665208" y="3264408"/>
            <a:ext cx="237744" cy="237744"/>
          </a:xfrm>
          <a:prstGeom prst="rect">
            <a:avLst/>
          </a:prstGeom>
        </p:spPr>
      </p:pic>
      <p:sp>
        <p:nvSpPr>
          <p:cNvPr id="26" name="Text 18"/>
          <p:cNvSpPr txBox="1"/>
          <p:nvPr/>
        </p:nvSpPr>
        <p:spPr>
          <a:xfrm>
            <a:off x="10104120" y="3136392"/>
            <a:ext cx="1417320" cy="822960"/>
          </a:xfrm>
          <a:prstGeom prst="rect">
            <a:avLst/>
          </a:prstGeom>
          <a:noFill/>
          <a:ln/>
        </p:spPr>
        <p:txBody>
          <a:bodyPr wrap="square" lIns="0" tIns="0" rIns="0" bIns="0" rtlCol="0" anchor="t"/>
          <a:lstStyle/>
          <a:p>
            <a:pPr indent="0" marL="0">
              <a:buNone/>
            </a:pPr>
            <a:r>
              <a:rPr lang="en-US" sz="1200" dirty="0">
                <a:solidFill>
                  <a:schemeClr val="tx1"/>
                </a:solidFill>
              </a:rPr>
              <a:t>“How was this decided?” explained</a:t>
            </a:r>
            <a:endParaRPr lang="en-US" sz="1200" dirty="0"/>
          </a:p>
        </p:txBody>
      </p:sp>
      <p:sp>
        <p:nvSpPr>
          <p:cNvPr id="27" name="Call 108 always one tap away circle"/>
          <p:cNvSpPr/>
          <p:nvPr/>
        </p:nvSpPr>
        <p:spPr>
          <a:xfrm>
            <a:off x="9555480" y="4114800"/>
            <a:ext cx="457200" cy="457200"/>
          </a:xfrm>
          <a:prstGeom prst="ellipse">
            <a:avLst/>
          </a:prstGeom>
          <a:solidFill>
            <a:srgbClr val="E11D48"/>
          </a:solidFill>
          <a:ln w="12700">
            <a:solidFill>
              <a:srgbClr val="E11D48"/>
            </a:solidFill>
            <a:prstDash val="solid"/>
          </a:ln>
        </p:spPr>
      </p:sp>
      <p:pic>
        <p:nvPicPr>
          <p:cNvPr id="28" name="Call 108 always one tap away" descr="preencoded.png">    </p:cNvPr>
          <p:cNvPicPr>
            <a:picLocks noChangeAspect="1"/>
          </p:cNvPicPr>
          <p:nvPr/>
        </p:nvPicPr>
        <p:blipFill>
          <a:blip r:embed="rId7"/>
          <a:stretch>
            <a:fillRect/>
          </a:stretch>
        </p:blipFill>
        <p:spPr>
          <a:xfrm>
            <a:off x="9665208" y="4224528"/>
            <a:ext cx="237744" cy="237744"/>
          </a:xfrm>
          <a:prstGeom prst="rect">
            <a:avLst/>
          </a:prstGeom>
        </p:spPr>
      </p:pic>
      <p:sp>
        <p:nvSpPr>
          <p:cNvPr id="29" name="Text 20"/>
          <p:cNvSpPr txBox="1"/>
          <p:nvPr/>
        </p:nvSpPr>
        <p:spPr>
          <a:xfrm>
            <a:off x="10104120" y="4096512"/>
            <a:ext cx="1417320" cy="822960"/>
          </a:xfrm>
          <a:prstGeom prst="rect">
            <a:avLst/>
          </a:prstGeom>
          <a:noFill/>
          <a:ln/>
        </p:spPr>
        <p:txBody>
          <a:bodyPr wrap="square" lIns="0" tIns="0" rIns="0" bIns="0" rtlCol="0" anchor="t"/>
          <a:lstStyle/>
          <a:p>
            <a:pPr indent="0" marL="0">
              <a:buNone/>
            </a:pPr>
            <a:r>
              <a:rPr lang="en-US" sz="1200" dirty="0">
                <a:solidFill>
                  <a:schemeClr val="tx1"/>
                </a:solidFill>
              </a:rPr>
              <a:t>Call 108 always one tap away</a:t>
            </a:r>
            <a:endParaRPr lang="en-US" sz="1200" dirty="0"/>
          </a:p>
        </p:txBody>
      </p:sp>
      <p:sp>
        <p:nvSpPr>
          <p:cNvPr id="30" name="Works offline &amp; on weak networks circle"/>
          <p:cNvSpPr/>
          <p:nvPr/>
        </p:nvSpPr>
        <p:spPr>
          <a:xfrm>
            <a:off x="9555480" y="5074920"/>
            <a:ext cx="457200" cy="457200"/>
          </a:xfrm>
          <a:prstGeom prst="ellipse">
            <a:avLst/>
          </a:prstGeom>
          <a:solidFill>
            <a:srgbClr val="0F9488"/>
          </a:solidFill>
          <a:ln w="12700">
            <a:solidFill>
              <a:srgbClr val="0F9488"/>
            </a:solidFill>
            <a:prstDash val="solid"/>
          </a:ln>
        </p:spPr>
      </p:sp>
      <p:pic>
        <p:nvPicPr>
          <p:cNvPr id="31" name="Works offline &amp; on weak networks" descr="preencoded.png">    </p:cNvPr>
          <p:cNvPicPr>
            <a:picLocks noChangeAspect="1"/>
          </p:cNvPicPr>
          <p:nvPr/>
        </p:nvPicPr>
        <p:blipFill>
          <a:blip r:embed="rId8"/>
          <a:stretch>
            <a:fillRect/>
          </a:stretch>
        </p:blipFill>
        <p:spPr>
          <a:xfrm>
            <a:off x="9665208" y="5184648"/>
            <a:ext cx="237744" cy="237744"/>
          </a:xfrm>
          <a:prstGeom prst="rect">
            <a:avLst/>
          </a:prstGeom>
        </p:spPr>
      </p:pic>
      <p:sp>
        <p:nvSpPr>
          <p:cNvPr id="32" name="Text 22"/>
          <p:cNvSpPr txBox="1"/>
          <p:nvPr/>
        </p:nvSpPr>
        <p:spPr>
          <a:xfrm>
            <a:off x="10104120" y="5056632"/>
            <a:ext cx="1417320" cy="822960"/>
          </a:xfrm>
          <a:prstGeom prst="rect">
            <a:avLst/>
          </a:prstGeom>
          <a:noFill/>
          <a:ln/>
        </p:spPr>
        <p:txBody>
          <a:bodyPr wrap="square" lIns="0" tIns="0" rIns="0" bIns="0" rtlCol="0" anchor="t"/>
          <a:lstStyle/>
          <a:p>
            <a:pPr indent="0" marL="0">
              <a:buNone/>
            </a:pPr>
            <a:r>
              <a:rPr lang="en-US" sz="1200" dirty="0">
                <a:solidFill>
                  <a:schemeClr val="tx1"/>
                </a:solidFill>
              </a:rPr>
              <a:t>Works offline &amp; on weak networks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Capability-first matching you can trust</a:t>
            </a:r>
            <a:endParaRPr lang="en-US" sz="3400" dirty="0"/>
          </a:p>
        </p:txBody>
      </p:sp>
      <p:sp>
        <p:nvSpPr>
          <p:cNvPr id="3" name="Must-have capabilities circle"/>
          <p:cNvSpPr/>
          <p:nvPr/>
        </p:nvSpPr>
        <p:spPr>
          <a:xfrm>
            <a:off x="548640" y="1371600"/>
            <a:ext cx="566928" cy="566928"/>
          </a:xfrm>
          <a:prstGeom prst="ellipse">
            <a:avLst/>
          </a:prstGeom>
          <a:solidFill>
            <a:srgbClr val="2563EB"/>
          </a:solidFill>
          <a:ln w="12700">
            <a:solidFill>
              <a:srgbClr val="2563EB"/>
            </a:solidFill>
            <a:prstDash val="solid"/>
          </a:ln>
        </p:spPr>
      </p:sp>
      <p:pic>
        <p:nvPicPr>
          <p:cNvPr id="4" name="Must-have capabilities" descr="preencoded.png">    </p:cNvPr>
          <p:cNvPicPr>
            <a:picLocks noChangeAspect="1"/>
          </p:cNvPicPr>
          <p:nvPr/>
        </p:nvPicPr>
        <p:blipFill>
          <a:blip r:embed="rId1"/>
          <a:stretch>
            <a:fillRect/>
          </a:stretch>
        </p:blipFill>
        <p:spPr>
          <a:xfrm>
            <a:off x="684703" y="1507663"/>
            <a:ext cx="294803" cy="294803"/>
          </a:xfrm>
          <a:prstGeom prst="rect">
            <a:avLst/>
          </a:prstGeom>
        </p:spPr>
      </p:pic>
      <p:sp>
        <p:nvSpPr>
          <p:cNvPr id="5" name="Text 2"/>
          <p:cNvSpPr txBox="1"/>
          <p:nvPr/>
        </p:nvSpPr>
        <p:spPr>
          <a:xfrm>
            <a:off x="1280160" y="1353312"/>
            <a:ext cx="3291840" cy="320040"/>
          </a:xfrm>
          <a:prstGeom prst="rect">
            <a:avLst/>
          </a:prstGeom>
          <a:noFill/>
          <a:ln/>
        </p:spPr>
        <p:txBody>
          <a:bodyPr wrap="square" lIns="0" tIns="0" rIns="0" bIns="0" rtlCol="0" anchor="t"/>
          <a:lstStyle/>
          <a:p>
            <a:pPr indent="0" marL="0">
              <a:buNone/>
            </a:pPr>
            <a:r>
              <a:rPr lang="en-US" sz="1600" b="1" dirty="0">
                <a:solidFill>
                  <a:schemeClr val="tx1"/>
                </a:solidFill>
              </a:rPr>
              <a:t>Must-have capabilities</a:t>
            </a:r>
            <a:endParaRPr lang="en-US" sz="1600" dirty="0"/>
          </a:p>
        </p:txBody>
      </p:sp>
      <p:sp>
        <p:nvSpPr>
          <p:cNvPr id="6" name="Text 3"/>
          <p:cNvSpPr txBox="1"/>
          <p:nvPr/>
        </p:nvSpPr>
        <p:spPr>
          <a:xfrm>
            <a:off x="1280160" y="1700784"/>
            <a:ext cx="3291840" cy="822960"/>
          </a:xfrm>
          <a:prstGeom prst="rect">
            <a:avLst/>
          </a:prstGeom>
          <a:noFill/>
          <a:ln/>
        </p:spPr>
        <p:txBody>
          <a:bodyPr wrap="square" lIns="0" tIns="0" rIns="0" bIns="0" rtlCol="0" anchor="t"/>
          <a:lstStyle/>
          <a:p>
            <a:pPr indent="0" marL="0">
              <a:buNone/>
            </a:pPr>
            <a:r>
              <a:rPr lang="en-US" sz="1250" dirty="0">
                <a:solidFill>
                  <a:schemeClr val="tx2"/>
                </a:solidFill>
              </a:rPr>
              <a:t>A hospital qualifies only if the service exists, the specialist is on duty and the machine works now.</a:t>
            </a:r>
            <a:endParaRPr lang="en-US" sz="1250" dirty="0"/>
          </a:p>
        </p:txBody>
      </p:sp>
      <p:sp>
        <p:nvSpPr>
          <p:cNvPr id="7" name="Freshness on every figure circle"/>
          <p:cNvSpPr/>
          <p:nvPr/>
        </p:nvSpPr>
        <p:spPr>
          <a:xfrm>
            <a:off x="548640" y="2578608"/>
            <a:ext cx="566928" cy="566928"/>
          </a:xfrm>
          <a:prstGeom prst="ellipse">
            <a:avLst/>
          </a:prstGeom>
          <a:solidFill>
            <a:srgbClr val="0F9488"/>
          </a:solidFill>
          <a:ln w="12700">
            <a:solidFill>
              <a:srgbClr val="0F9488"/>
            </a:solidFill>
            <a:prstDash val="solid"/>
          </a:ln>
        </p:spPr>
      </p:sp>
      <p:pic>
        <p:nvPicPr>
          <p:cNvPr id="8" name="Freshness on every figure" descr="preencoded.png">    </p:cNvPr>
          <p:cNvPicPr>
            <a:picLocks noChangeAspect="1"/>
          </p:cNvPicPr>
          <p:nvPr/>
        </p:nvPicPr>
        <p:blipFill>
          <a:blip r:embed="rId2"/>
          <a:stretch>
            <a:fillRect/>
          </a:stretch>
        </p:blipFill>
        <p:spPr>
          <a:xfrm>
            <a:off x="684703" y="2714671"/>
            <a:ext cx="294803" cy="294803"/>
          </a:xfrm>
          <a:prstGeom prst="rect">
            <a:avLst/>
          </a:prstGeom>
        </p:spPr>
      </p:pic>
      <p:sp>
        <p:nvSpPr>
          <p:cNvPr id="9" name="Text 5"/>
          <p:cNvSpPr txBox="1"/>
          <p:nvPr/>
        </p:nvSpPr>
        <p:spPr>
          <a:xfrm>
            <a:off x="1280160" y="2560320"/>
            <a:ext cx="3291840" cy="320040"/>
          </a:xfrm>
          <a:prstGeom prst="rect">
            <a:avLst/>
          </a:prstGeom>
          <a:noFill/>
          <a:ln/>
        </p:spPr>
        <p:txBody>
          <a:bodyPr wrap="square" lIns="0" tIns="0" rIns="0" bIns="0" rtlCol="0" anchor="t"/>
          <a:lstStyle/>
          <a:p>
            <a:pPr indent="0" marL="0">
              <a:buNone/>
            </a:pPr>
            <a:r>
              <a:rPr lang="en-US" sz="1600" b="1" dirty="0">
                <a:solidFill>
                  <a:schemeClr val="tx1"/>
                </a:solidFill>
              </a:rPr>
              <a:t>Freshness on every figure</a:t>
            </a:r>
            <a:endParaRPr lang="en-US" sz="1600" dirty="0"/>
          </a:p>
        </p:txBody>
      </p:sp>
      <p:sp>
        <p:nvSpPr>
          <p:cNvPr id="10" name="Text 6"/>
          <p:cNvSpPr txBox="1"/>
          <p:nvPr/>
        </p:nvSpPr>
        <p:spPr>
          <a:xfrm>
            <a:off x="1280160" y="2907792"/>
            <a:ext cx="3291840" cy="822960"/>
          </a:xfrm>
          <a:prstGeom prst="rect">
            <a:avLst/>
          </a:prstGeom>
          <a:noFill/>
          <a:ln/>
        </p:spPr>
        <p:txBody>
          <a:bodyPr wrap="square" lIns="0" tIns="0" rIns="0" bIns="0" rtlCol="0" anchor="t"/>
          <a:lstStyle/>
          <a:p>
            <a:pPr indent="0" marL="0">
              <a:buNone/>
            </a:pPr>
            <a:r>
              <a:rPr lang="en-US" sz="1250" dirty="0">
                <a:solidFill>
                  <a:schemeClr val="tx2"/>
                </a:solidFill>
              </a:rPr>
              <a:t>Every number shows who updated it and when. Stale data is never shown as confirmed.</a:t>
            </a:r>
            <a:endParaRPr lang="en-US" sz="1250" dirty="0"/>
          </a:p>
        </p:txBody>
      </p:sp>
      <p:sp>
        <p:nvSpPr>
          <p:cNvPr id="11" name="Safe, explainable AI circle"/>
          <p:cNvSpPr/>
          <p:nvPr/>
        </p:nvSpPr>
        <p:spPr>
          <a:xfrm>
            <a:off x="548640" y="3785616"/>
            <a:ext cx="566928" cy="566928"/>
          </a:xfrm>
          <a:prstGeom prst="ellipse">
            <a:avLst/>
          </a:prstGeom>
          <a:solidFill>
            <a:srgbClr val="7C3AED"/>
          </a:solidFill>
          <a:ln w="12700">
            <a:solidFill>
              <a:srgbClr val="7C3AED"/>
            </a:solidFill>
            <a:prstDash val="solid"/>
          </a:ln>
        </p:spPr>
      </p:sp>
      <p:pic>
        <p:nvPicPr>
          <p:cNvPr id="12" name="Safe, explainable AI" descr="preencoded.png">    </p:cNvPr>
          <p:cNvPicPr>
            <a:picLocks noChangeAspect="1"/>
          </p:cNvPicPr>
          <p:nvPr/>
        </p:nvPicPr>
        <p:blipFill>
          <a:blip r:embed="rId3"/>
          <a:stretch>
            <a:fillRect/>
          </a:stretch>
        </p:blipFill>
        <p:spPr>
          <a:xfrm>
            <a:off x="684703" y="3921679"/>
            <a:ext cx="294803" cy="294803"/>
          </a:xfrm>
          <a:prstGeom prst="rect">
            <a:avLst/>
          </a:prstGeom>
        </p:spPr>
      </p:pic>
      <p:sp>
        <p:nvSpPr>
          <p:cNvPr id="13" name="Text 8"/>
          <p:cNvSpPr txBox="1"/>
          <p:nvPr/>
        </p:nvSpPr>
        <p:spPr>
          <a:xfrm>
            <a:off x="1280160" y="3767328"/>
            <a:ext cx="3291840" cy="320040"/>
          </a:xfrm>
          <a:prstGeom prst="rect">
            <a:avLst/>
          </a:prstGeom>
          <a:noFill/>
          <a:ln/>
        </p:spPr>
        <p:txBody>
          <a:bodyPr wrap="square" lIns="0" tIns="0" rIns="0" bIns="0" rtlCol="0" anchor="t"/>
          <a:lstStyle/>
          <a:p>
            <a:pPr indent="0" marL="0">
              <a:buNone/>
            </a:pPr>
            <a:r>
              <a:rPr lang="en-US" sz="1600" b="1" dirty="0">
                <a:solidFill>
                  <a:schemeClr val="tx1"/>
                </a:solidFill>
              </a:rPr>
              <a:t>Safe, explainable AI</a:t>
            </a:r>
            <a:endParaRPr lang="en-US" sz="1600" dirty="0"/>
          </a:p>
        </p:txBody>
      </p:sp>
      <p:sp>
        <p:nvSpPr>
          <p:cNvPr id="14" name="Text 9"/>
          <p:cNvSpPr txBox="1"/>
          <p:nvPr/>
        </p:nvSpPr>
        <p:spPr>
          <a:xfrm>
            <a:off x="1280160" y="4114800"/>
            <a:ext cx="3291840" cy="822960"/>
          </a:xfrm>
          <a:prstGeom prst="rect">
            <a:avLst/>
          </a:prstGeom>
          <a:noFill/>
          <a:ln/>
        </p:spPr>
        <p:txBody>
          <a:bodyPr wrap="square" lIns="0" tIns="0" rIns="0" bIns="0" rtlCol="0" anchor="t"/>
          <a:lstStyle/>
          <a:p>
            <a:pPr indent="0" marL="0">
              <a:buNone/>
            </a:pPr>
            <a:r>
              <a:rPr lang="en-US" sz="1250" dirty="0">
                <a:solidFill>
                  <a:schemeClr val="tx2"/>
                </a:solidFill>
              </a:rPr>
              <a:t>AI only understands; a deterministic engine decides. Severity = max(AI, rules), so AI can never lower urgency.</a:t>
            </a:r>
            <a:endParaRPr lang="en-US" sz="1250" dirty="0"/>
          </a:p>
        </p:txBody>
      </p:sp>
      <p:sp>
        <p:nvSpPr>
          <p:cNvPr id="15" name="freshness dot"/>
          <p:cNvSpPr/>
          <p:nvPr/>
        </p:nvSpPr>
        <p:spPr>
          <a:xfrm>
            <a:off x="594360" y="5129784"/>
            <a:ext cx="182880" cy="182880"/>
          </a:xfrm>
          <a:prstGeom prst="ellipse">
            <a:avLst/>
          </a:prstGeom>
          <a:solidFill>
            <a:srgbClr val="22C55E"/>
          </a:solidFill>
          <a:ln w="12700">
            <a:solidFill>
              <a:srgbClr val="22C55E"/>
            </a:solidFill>
            <a:prstDash val="solid"/>
          </a:ln>
        </p:spPr>
      </p:sp>
      <p:sp>
        <p:nvSpPr>
          <p:cNvPr id="16" name="Text 11"/>
          <p:cNvSpPr txBox="1"/>
          <p:nvPr/>
        </p:nvSpPr>
        <p:spPr>
          <a:xfrm>
            <a:off x="914400" y="5074920"/>
            <a:ext cx="3657600" cy="292608"/>
          </a:xfrm>
          <a:prstGeom prst="rect">
            <a:avLst/>
          </a:prstGeom>
          <a:noFill/>
          <a:ln/>
        </p:spPr>
        <p:txBody>
          <a:bodyPr wrap="square" lIns="0" tIns="0" rIns="0" bIns="0" rtlCol="0" anchor="t"/>
          <a:lstStyle/>
          <a:p>
            <a:pPr indent="0" marL="0">
              <a:buNone/>
            </a:pPr>
            <a:r>
              <a:rPr lang="en-US" sz="1300" dirty="0">
                <a:solidFill>
                  <a:schemeClr val="tx1"/>
                </a:solidFill>
              </a:rPr>
              <a:t>Verified &lt; 15 min</a:t>
            </a:r>
            <a:endParaRPr lang="en-US" sz="1300" dirty="0"/>
          </a:p>
        </p:txBody>
      </p:sp>
      <p:sp>
        <p:nvSpPr>
          <p:cNvPr id="17" name="freshness dot"/>
          <p:cNvSpPr/>
          <p:nvPr/>
        </p:nvSpPr>
        <p:spPr>
          <a:xfrm>
            <a:off x="594360" y="5495544"/>
            <a:ext cx="182880" cy="182880"/>
          </a:xfrm>
          <a:prstGeom prst="ellipse">
            <a:avLst/>
          </a:prstGeom>
          <a:solidFill>
            <a:srgbClr val="F59E0B"/>
          </a:solidFill>
          <a:ln w="12700">
            <a:solidFill>
              <a:srgbClr val="F59E0B"/>
            </a:solidFill>
            <a:prstDash val="solid"/>
          </a:ln>
        </p:spPr>
      </p:sp>
      <p:sp>
        <p:nvSpPr>
          <p:cNvPr id="18" name="Text 13"/>
          <p:cNvSpPr txBox="1"/>
          <p:nvPr/>
        </p:nvSpPr>
        <p:spPr>
          <a:xfrm>
            <a:off x="914400" y="5440680"/>
            <a:ext cx="3657600" cy="292608"/>
          </a:xfrm>
          <a:prstGeom prst="rect">
            <a:avLst/>
          </a:prstGeom>
          <a:noFill/>
          <a:ln/>
        </p:spPr>
        <p:txBody>
          <a:bodyPr wrap="square" lIns="0" tIns="0" rIns="0" bIns="0" rtlCol="0" anchor="t"/>
          <a:lstStyle/>
          <a:p>
            <a:pPr indent="0" marL="0">
              <a:buNone/>
            </a:pPr>
            <a:r>
              <a:rPr lang="en-US" sz="1300" dirty="0">
                <a:solidFill>
                  <a:schemeClr val="tx1"/>
                </a:solidFill>
              </a:rPr>
              <a:t>15–60 min: may have changed</a:t>
            </a:r>
            <a:endParaRPr lang="en-US" sz="1300" dirty="0"/>
          </a:p>
        </p:txBody>
      </p:sp>
      <p:sp>
        <p:nvSpPr>
          <p:cNvPr id="19" name="freshness dot"/>
          <p:cNvSpPr/>
          <p:nvPr/>
        </p:nvSpPr>
        <p:spPr>
          <a:xfrm>
            <a:off x="594360" y="5861304"/>
            <a:ext cx="182880" cy="182880"/>
          </a:xfrm>
          <a:prstGeom prst="ellipse">
            <a:avLst/>
          </a:prstGeom>
          <a:solidFill>
            <a:srgbClr val="EF4444"/>
          </a:solidFill>
          <a:ln w="12700">
            <a:solidFill>
              <a:srgbClr val="EF4444"/>
            </a:solidFill>
            <a:prstDash val="solid"/>
          </a:ln>
        </p:spPr>
      </p:sp>
      <p:sp>
        <p:nvSpPr>
          <p:cNvPr id="20" name="Text 15"/>
          <p:cNvSpPr txBox="1"/>
          <p:nvPr/>
        </p:nvSpPr>
        <p:spPr>
          <a:xfrm>
            <a:off x="914400" y="5806440"/>
            <a:ext cx="3657600" cy="292608"/>
          </a:xfrm>
          <a:prstGeom prst="rect">
            <a:avLst/>
          </a:prstGeom>
          <a:noFill/>
          <a:ln/>
        </p:spPr>
        <p:txBody>
          <a:bodyPr wrap="square" lIns="0" tIns="0" rIns="0" bIns="0" rtlCol="0" anchor="t"/>
          <a:lstStyle/>
          <a:p>
            <a:pPr indent="0" marL="0">
              <a:buNone/>
            </a:pPr>
            <a:r>
              <a:rPr lang="en-US" sz="1300" dirty="0">
                <a:solidFill>
                  <a:schemeClr val="tx1"/>
                </a:solidFill>
              </a:rPr>
              <a:t>Unverified: ranked lower</a:t>
            </a:r>
            <a:endParaRPr lang="en-US" sz="1300" dirty="0"/>
          </a:p>
        </p:txBody>
      </p:sp>
      <p:sp>
        <p:nvSpPr>
          <p:cNvPr id="21" name="chart panel"/>
          <p:cNvSpPr/>
          <p:nvPr/>
        </p:nvSpPr>
        <p:spPr>
          <a:xfrm>
            <a:off x="4846320" y="1280160"/>
            <a:ext cx="4343400" cy="4892040"/>
          </a:xfrm>
          <a:prstGeom prst="roundRect">
            <a:avLst>
              <a:gd name="adj" fmla="val 2526"/>
            </a:avLst>
          </a:prstGeom>
          <a:solidFill>
            <a:schemeClr val="bg2"/>
          </a:solidFill>
          <a:ln w="12700">
            <a:solidFill>
              <a:schemeClr val="bg2"/>
            </a:solidFill>
            <a:prstDash val="solid"/>
          </a:ln>
        </p:spPr>
      </p:sp>
      <p:graphicFrame>
        <p:nvGraphicFramePr>
          <p:cNvPr id="22" name="Chart 0" descr=""/>
          <p:cNvGraphicFramePr/>
          <p:nvPr/>
        </p:nvGraphicFramePr>
        <p:xfrm>
          <a:off x="4983480" y="1417320"/>
          <a:ext cx="4069080" cy="3931920"/>
        </p:xfrm>
        <a:graphic xmlns:a="http://schemas.openxmlformats.org/drawingml/2006/main">
          <a:graphicData uri="http://schemas.openxmlformats.org/drawingml/2006/chart">
            <c:chart xmlns:c="http://schemas.openxmlformats.org/drawingml/2006/chart" r:id="rId4"/>
          </a:graphicData>
        </a:graphic>
      </p:graphicFrame>
      <p:sp>
        <p:nvSpPr>
          <p:cNvPr id="23" name="Text 17"/>
          <p:cNvSpPr txBox="1"/>
          <p:nvPr/>
        </p:nvSpPr>
        <p:spPr>
          <a:xfrm>
            <a:off x="5074920" y="5394960"/>
            <a:ext cx="3886200" cy="685800"/>
          </a:xfrm>
          <a:prstGeom prst="rect">
            <a:avLst/>
          </a:prstGeom>
          <a:noFill/>
          <a:ln/>
        </p:spPr>
        <p:txBody>
          <a:bodyPr wrap="square" lIns="0" tIns="0" rIns="0" bIns="0" rtlCol="0" anchor="t"/>
          <a:lstStyle/>
          <a:p>
            <a:pPr indent="0" marL="0">
              <a:buNone/>
            </a:pPr>
            <a:r>
              <a:rPr lang="en-US" sz="1100" dirty="0">
                <a:solidFill>
                  <a:schemeClr val="tx2"/>
                </a:solidFill>
              </a:rPr>
              <a:t>Score parts always add up to the total (tested). Predictive analytics: traffic-aware ETA, Poisson bed-on-arrival, ER wait.</a:t>
            </a:r>
            <a:endParaRPr lang="en-US" sz="1100" dirty="0"/>
          </a:p>
        </p:txBody>
      </p:sp>
      <p:sp>
        <p:nvSpPr>
          <p:cNvPr id="24" name="score breakdown screen frame"/>
          <p:cNvSpPr/>
          <p:nvPr/>
        </p:nvSpPr>
        <p:spPr>
          <a:xfrm>
            <a:off x="9582912" y="1261872"/>
            <a:ext cx="2211997" cy="4608576"/>
          </a:xfrm>
          <a:prstGeom prst="roundRect">
            <a:avLst>
              <a:gd name="adj" fmla="val 7441"/>
            </a:avLst>
          </a:prstGeom>
          <a:solidFill>
            <a:schemeClr val="tx1"/>
          </a:solidFill>
          <a:ln w="12700">
            <a:solidFill>
              <a:schemeClr val="tx1"/>
            </a:solidFill>
            <a:prstDash val="solid"/>
          </a:ln>
          <a:effectLst>
            <a:outerShdw sx="100000" sy="100000" kx="0" ky="0" algn="bl" rotWithShape="0" blurRad="101600" dist="25400" dir="5400000">
              <a:srgbClr val="0B1427">
                <a:alpha val="12000"/>
              </a:srgbClr>
            </a:outerShdw>
          </a:effectLst>
        </p:spPr>
      </p:sp>
      <p:pic>
        <p:nvPicPr>
          <p:cNvPr id="25" name="score breakdown screen" descr="/tmp/claude-0/-home-user-Sehat-Setu/b06e8423-ed6e-57c3-bbb1-ac94b2a1720d/scratchpad/pdf/img/s/phone-4-score.jpg">    </p:cNvPr>
          <p:cNvPicPr>
            <a:picLocks noChangeAspect="1"/>
          </p:cNvPicPr>
          <p:nvPr/>
        </p:nvPicPr>
        <p:blipFill>
          <a:blip r:embed="rId5"/>
          <a:stretch>
            <a:fillRect/>
          </a:stretch>
        </p:blipFill>
        <p:spPr>
          <a:xfrm>
            <a:off x="9646920" y="1325880"/>
            <a:ext cx="2083981" cy="4480560"/>
          </a:xfrm>
          <a:prstGeom prst="rect">
            <a:avLst/>
          </a:prstGeom>
        </p:spPr>
      </p:pic>
      <p:sp>
        <p:nvSpPr>
          <p:cNvPr id="26" name="Text 19"/>
          <p:cNvSpPr txBox="1"/>
          <p:nvPr/>
        </p:nvSpPr>
        <p:spPr>
          <a:xfrm>
            <a:off x="9372600" y="5943600"/>
            <a:ext cx="2514600" cy="274320"/>
          </a:xfrm>
          <a:prstGeom prst="rect">
            <a:avLst/>
          </a:prstGeom>
          <a:noFill/>
          <a:ln/>
        </p:spPr>
        <p:txBody>
          <a:bodyPr wrap="square" lIns="0" tIns="0" rIns="0" bIns="0" rtlCol="0" anchor="t"/>
          <a:lstStyle/>
          <a:p>
            <a:pPr algn="ctr" indent="0" marL="0">
              <a:buNone/>
            </a:pPr>
            <a:r>
              <a:rPr lang="en-US" sz="1100" dirty="0">
                <a:solidFill>
                  <a:srgbClr val="64748B"/>
                </a:solidFill>
              </a:rPr>
              <a:t>“Why this hospital?” in the app</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For hospitals: verified status, accept in one tap</a:t>
            </a:r>
            <a:endParaRPr lang="en-US" sz="3400" dirty="0"/>
          </a:p>
        </p:txBody>
      </p:sp>
      <p:pic>
        <p:nvPicPr>
          <p:cNvPr id="3" name="hospital dashboard screenshot" descr="/tmp/claude-0/-home-user-Sehat-Setu/b06e8423-ed6e-57c3-bbb1-ac94b2a1720d/scratchpad/pdf/img/s/hosp-dashboard.jpg">    </p:cNvPr>
          <p:cNvPicPr>
            <a:picLocks noChangeAspect="1"/>
          </p:cNvPicPr>
          <p:nvPr/>
        </p:nvPicPr>
        <p:blipFill>
          <a:blip r:embed="rId1"/>
          <a:stretch>
            <a:fillRect/>
          </a:stretch>
        </p:blipFill>
        <p:spPr>
          <a:xfrm>
            <a:off x="548640" y="1325880"/>
            <a:ext cx="6675120" cy="4169383"/>
          </a:xfrm>
          <a:prstGeom prst="rect">
            <a:avLst/>
          </a:prstGeom>
          <a:effectLst>
            <a:outerShdw sx="100000" sy="100000" kx="0" ky="0" algn="bl" rotWithShape="0" blurRad="101600" dist="25400" dir="5400000">
              <a:srgbClr val="0B1427">
                <a:alpha val="12000"/>
              </a:srgbClr>
            </a:outerShdw>
          </a:effectLst>
        </p:spPr>
      </p:pic>
      <p:sp>
        <p:nvSpPr>
          <p:cNvPr id="4" name="Text 1"/>
          <p:cNvSpPr txBox="1"/>
          <p:nvPr/>
        </p:nvSpPr>
        <p:spPr>
          <a:xfrm>
            <a:off x="548640" y="5614135"/>
            <a:ext cx="6675120" cy="274320"/>
          </a:xfrm>
          <a:prstGeom prst="rect">
            <a:avLst/>
          </a:prstGeom>
          <a:noFill/>
          <a:ln/>
        </p:spPr>
        <p:txBody>
          <a:bodyPr wrap="square" lIns="0" tIns="0" rIns="0" bIns="0" rtlCol="0" anchor="t"/>
          <a:lstStyle/>
          <a:p>
            <a:pPr algn="ctr" indent="0" marL="0">
              <a:buNone/>
            </a:pPr>
            <a:r>
              <a:rPr lang="en-US" sz="1100" dirty="0">
                <a:solidFill>
                  <a:srgbClr val="64748B"/>
                </a:solidFill>
              </a:rPr>
              <a:t>Hospital dashboard: beds, ICU, ventilators and referrals, each with “updated by / time / source”</a:t>
            </a:r>
            <a:endParaRPr lang="en-US" sz="1100" dirty="0"/>
          </a:p>
        </p:txBody>
      </p:sp>
      <p:sp>
        <p:nvSpPr>
          <p:cNvPr id="5" name="hospital feature"/>
          <p:cNvSpPr/>
          <p:nvPr/>
        </p:nvSpPr>
        <p:spPr>
          <a:xfrm>
            <a:off x="7589520" y="1325880"/>
            <a:ext cx="4023360" cy="1078992"/>
          </a:xfrm>
          <a:prstGeom prst="roundRect">
            <a:avLst>
              <a:gd name="adj" fmla="val 10169"/>
            </a:avLst>
          </a:prstGeom>
          <a:solidFill>
            <a:schemeClr val="bg2"/>
          </a:solidFill>
          <a:ln w="12700">
            <a:solidFill>
              <a:schemeClr val="bg2"/>
            </a:solidFill>
            <a:prstDash val="solid"/>
          </a:ln>
        </p:spPr>
      </p:sp>
      <p:sp>
        <p:nvSpPr>
          <p:cNvPr id="6" name="AI pre-arrival SBAR note circle"/>
          <p:cNvSpPr/>
          <p:nvPr/>
        </p:nvSpPr>
        <p:spPr>
          <a:xfrm>
            <a:off x="7754112" y="1572768"/>
            <a:ext cx="566928" cy="566928"/>
          </a:xfrm>
          <a:prstGeom prst="ellipse">
            <a:avLst/>
          </a:prstGeom>
          <a:solidFill>
            <a:srgbClr val="7C3AED"/>
          </a:solidFill>
          <a:ln w="12700">
            <a:solidFill>
              <a:srgbClr val="7C3AED"/>
            </a:solidFill>
            <a:prstDash val="solid"/>
          </a:ln>
        </p:spPr>
      </p:sp>
      <p:pic>
        <p:nvPicPr>
          <p:cNvPr id="7" name="AI pre-arrival SBAR note" descr="preencoded.png">    </p:cNvPr>
          <p:cNvPicPr>
            <a:picLocks noChangeAspect="1"/>
          </p:cNvPicPr>
          <p:nvPr/>
        </p:nvPicPr>
        <p:blipFill>
          <a:blip r:embed="rId2"/>
          <a:stretch>
            <a:fillRect/>
          </a:stretch>
        </p:blipFill>
        <p:spPr>
          <a:xfrm>
            <a:off x="7890175" y="1708831"/>
            <a:ext cx="294803" cy="294803"/>
          </a:xfrm>
          <a:prstGeom prst="rect">
            <a:avLst/>
          </a:prstGeom>
        </p:spPr>
      </p:pic>
      <p:sp>
        <p:nvSpPr>
          <p:cNvPr id="8" name="Text 4"/>
          <p:cNvSpPr txBox="1"/>
          <p:nvPr/>
        </p:nvSpPr>
        <p:spPr>
          <a:xfrm>
            <a:off x="8485632" y="1453896"/>
            <a:ext cx="3017520" cy="301752"/>
          </a:xfrm>
          <a:prstGeom prst="rect">
            <a:avLst/>
          </a:prstGeom>
          <a:noFill/>
          <a:ln/>
        </p:spPr>
        <p:txBody>
          <a:bodyPr wrap="square" lIns="0" tIns="0" rIns="0" bIns="0" rtlCol="0" anchor="t"/>
          <a:lstStyle/>
          <a:p>
            <a:pPr indent="0" marL="0">
              <a:buNone/>
            </a:pPr>
            <a:r>
              <a:rPr lang="en-US" sz="1500" b="1" dirty="0">
                <a:solidFill>
                  <a:schemeClr val="tx1"/>
                </a:solidFill>
              </a:rPr>
              <a:t>AI pre-arrival SBAR note</a:t>
            </a:r>
            <a:endParaRPr lang="en-US" sz="1500" dirty="0"/>
          </a:p>
        </p:txBody>
      </p:sp>
      <p:sp>
        <p:nvSpPr>
          <p:cNvPr id="9" name="Text 5"/>
          <p:cNvSpPr txBox="1"/>
          <p:nvPr/>
        </p:nvSpPr>
        <p:spPr>
          <a:xfrm>
            <a:off x="8485632" y="1764792"/>
            <a:ext cx="3017520" cy="594360"/>
          </a:xfrm>
          <a:prstGeom prst="rect">
            <a:avLst/>
          </a:prstGeom>
          <a:noFill/>
          <a:ln/>
        </p:spPr>
        <p:txBody>
          <a:bodyPr wrap="square" lIns="0" tIns="0" rIns="0" bIns="0" rtlCol="0" anchor="t"/>
          <a:lstStyle/>
          <a:p>
            <a:pPr indent="0" marL="0">
              <a:buNone/>
            </a:pPr>
            <a:r>
              <a:rPr lang="en-US" sz="1150" dirty="0">
                <a:solidFill>
                  <a:schemeClr val="tx2"/>
                </a:solidFill>
              </a:rPr>
              <a:t>Situation, Background, Assessment, Recommendation before the patient arrives.</a:t>
            </a:r>
            <a:endParaRPr lang="en-US" sz="1150" dirty="0"/>
          </a:p>
        </p:txBody>
      </p:sp>
      <p:sp>
        <p:nvSpPr>
          <p:cNvPr id="10" name="hospital feature"/>
          <p:cNvSpPr/>
          <p:nvPr/>
        </p:nvSpPr>
        <p:spPr>
          <a:xfrm>
            <a:off x="7589520" y="2532888"/>
            <a:ext cx="4023360" cy="1078992"/>
          </a:xfrm>
          <a:prstGeom prst="roundRect">
            <a:avLst>
              <a:gd name="adj" fmla="val 10169"/>
            </a:avLst>
          </a:prstGeom>
          <a:solidFill>
            <a:schemeClr val="bg2"/>
          </a:solidFill>
          <a:ln w="12700">
            <a:solidFill>
              <a:schemeClr val="bg2"/>
            </a:solidFill>
            <a:prstDash val="solid"/>
          </a:ln>
        </p:spPr>
      </p:sp>
      <p:sp>
        <p:nvSpPr>
          <p:cNvPr id="11" name="Accept + receiving bay circle"/>
          <p:cNvSpPr/>
          <p:nvPr/>
        </p:nvSpPr>
        <p:spPr>
          <a:xfrm>
            <a:off x="7754112" y="2779776"/>
            <a:ext cx="566928" cy="566928"/>
          </a:xfrm>
          <a:prstGeom prst="ellipse">
            <a:avLst/>
          </a:prstGeom>
          <a:solidFill>
            <a:srgbClr val="16A34A"/>
          </a:solidFill>
          <a:ln w="12700">
            <a:solidFill>
              <a:srgbClr val="16A34A"/>
            </a:solidFill>
            <a:prstDash val="solid"/>
          </a:ln>
        </p:spPr>
      </p:sp>
      <p:pic>
        <p:nvPicPr>
          <p:cNvPr id="12" name="Accept + receiving bay" descr="preencoded.png">    </p:cNvPr>
          <p:cNvPicPr>
            <a:picLocks noChangeAspect="1"/>
          </p:cNvPicPr>
          <p:nvPr/>
        </p:nvPicPr>
        <p:blipFill>
          <a:blip r:embed="rId3"/>
          <a:stretch>
            <a:fillRect/>
          </a:stretch>
        </p:blipFill>
        <p:spPr>
          <a:xfrm>
            <a:off x="7890175" y="2915839"/>
            <a:ext cx="294803" cy="294803"/>
          </a:xfrm>
          <a:prstGeom prst="rect">
            <a:avLst/>
          </a:prstGeom>
        </p:spPr>
      </p:pic>
      <p:sp>
        <p:nvSpPr>
          <p:cNvPr id="13" name="Text 8"/>
          <p:cNvSpPr txBox="1"/>
          <p:nvPr/>
        </p:nvSpPr>
        <p:spPr>
          <a:xfrm>
            <a:off x="8485632" y="2660904"/>
            <a:ext cx="3017520" cy="301752"/>
          </a:xfrm>
          <a:prstGeom prst="rect">
            <a:avLst/>
          </a:prstGeom>
          <a:noFill/>
          <a:ln/>
        </p:spPr>
        <p:txBody>
          <a:bodyPr wrap="square" lIns="0" tIns="0" rIns="0" bIns="0" rtlCol="0" anchor="t"/>
          <a:lstStyle/>
          <a:p>
            <a:pPr indent="0" marL="0">
              <a:buNone/>
            </a:pPr>
            <a:r>
              <a:rPr lang="en-US" sz="1500" b="1" dirty="0">
                <a:solidFill>
                  <a:schemeClr val="tx1"/>
                </a:solidFill>
              </a:rPr>
              <a:t>Accept + receiving bay</a:t>
            </a:r>
            <a:endParaRPr lang="en-US" sz="1500" dirty="0"/>
          </a:p>
        </p:txBody>
      </p:sp>
      <p:sp>
        <p:nvSpPr>
          <p:cNvPr id="14" name="Text 9"/>
          <p:cNvSpPr txBox="1"/>
          <p:nvPr/>
        </p:nvSpPr>
        <p:spPr>
          <a:xfrm>
            <a:off x="8485632" y="2971800"/>
            <a:ext cx="3017520" cy="594360"/>
          </a:xfrm>
          <a:prstGeom prst="rect">
            <a:avLst/>
          </a:prstGeom>
          <a:noFill/>
          <a:ln/>
        </p:spPr>
        <p:txBody>
          <a:bodyPr wrap="square" lIns="0" tIns="0" rIns="0" bIns="0" rtlCol="0" anchor="t"/>
          <a:lstStyle/>
          <a:p>
            <a:pPr indent="0" marL="0">
              <a:buNone/>
            </a:pPr>
            <a:r>
              <a:rPr lang="en-US" sz="1150" dirty="0">
                <a:solidFill>
                  <a:schemeClr val="tx2"/>
                </a:solidFill>
              </a:rPr>
              <a:t>Named officer accepts and assigns e.g. Resus-02; citizen sees it instantly.</a:t>
            </a:r>
            <a:endParaRPr lang="en-US" sz="1150" dirty="0"/>
          </a:p>
        </p:txBody>
      </p:sp>
      <p:sp>
        <p:nvSpPr>
          <p:cNvPr id="15" name="hospital feature"/>
          <p:cNvSpPr/>
          <p:nvPr/>
        </p:nvSpPr>
        <p:spPr>
          <a:xfrm>
            <a:off x="7589520" y="3739896"/>
            <a:ext cx="4023360" cy="1078992"/>
          </a:xfrm>
          <a:prstGeom prst="roundRect">
            <a:avLst>
              <a:gd name="adj" fmla="val 10169"/>
            </a:avLst>
          </a:prstGeom>
          <a:solidFill>
            <a:schemeClr val="bg2"/>
          </a:solidFill>
          <a:ln w="12700">
            <a:solidFill>
              <a:schemeClr val="bg2"/>
            </a:solidFill>
            <a:prstDash val="solid"/>
          </a:ln>
        </p:spPr>
      </p:sp>
      <p:sp>
        <p:nvSpPr>
          <p:cNvPr id="16" name="60-second auto-fallback circle"/>
          <p:cNvSpPr/>
          <p:nvPr/>
        </p:nvSpPr>
        <p:spPr>
          <a:xfrm>
            <a:off x="7754112" y="3986784"/>
            <a:ext cx="566928" cy="566928"/>
          </a:xfrm>
          <a:prstGeom prst="ellipse">
            <a:avLst/>
          </a:prstGeom>
          <a:solidFill>
            <a:srgbClr val="E11D48"/>
          </a:solidFill>
          <a:ln w="12700">
            <a:solidFill>
              <a:srgbClr val="E11D48"/>
            </a:solidFill>
            <a:prstDash val="solid"/>
          </a:ln>
        </p:spPr>
      </p:sp>
      <p:pic>
        <p:nvPicPr>
          <p:cNvPr id="17" name="60-second auto-fallback" descr="preencoded.png">    </p:cNvPr>
          <p:cNvPicPr>
            <a:picLocks noChangeAspect="1"/>
          </p:cNvPicPr>
          <p:nvPr/>
        </p:nvPicPr>
        <p:blipFill>
          <a:blip r:embed="rId4"/>
          <a:stretch>
            <a:fillRect/>
          </a:stretch>
        </p:blipFill>
        <p:spPr>
          <a:xfrm>
            <a:off x="7890175" y="4122847"/>
            <a:ext cx="294803" cy="294803"/>
          </a:xfrm>
          <a:prstGeom prst="rect">
            <a:avLst/>
          </a:prstGeom>
        </p:spPr>
      </p:pic>
      <p:sp>
        <p:nvSpPr>
          <p:cNvPr id="18" name="Text 12"/>
          <p:cNvSpPr txBox="1"/>
          <p:nvPr/>
        </p:nvSpPr>
        <p:spPr>
          <a:xfrm>
            <a:off x="8485632" y="3867912"/>
            <a:ext cx="3017520" cy="301752"/>
          </a:xfrm>
          <a:prstGeom prst="rect">
            <a:avLst/>
          </a:prstGeom>
          <a:noFill/>
          <a:ln/>
        </p:spPr>
        <p:txBody>
          <a:bodyPr wrap="square" lIns="0" tIns="0" rIns="0" bIns="0" rtlCol="0" anchor="t"/>
          <a:lstStyle/>
          <a:p>
            <a:pPr indent="0" marL="0">
              <a:buNone/>
            </a:pPr>
            <a:r>
              <a:rPr lang="en-US" sz="1500" b="1" dirty="0">
                <a:solidFill>
                  <a:schemeClr val="tx1"/>
                </a:solidFill>
              </a:rPr>
              <a:t>60-second auto-fallback</a:t>
            </a:r>
            <a:endParaRPr lang="en-US" sz="1500" dirty="0"/>
          </a:p>
        </p:txBody>
      </p:sp>
      <p:sp>
        <p:nvSpPr>
          <p:cNvPr id="19" name="Text 13"/>
          <p:cNvSpPr txBox="1"/>
          <p:nvPr/>
        </p:nvSpPr>
        <p:spPr>
          <a:xfrm>
            <a:off x="8485632" y="4178808"/>
            <a:ext cx="3017520" cy="594360"/>
          </a:xfrm>
          <a:prstGeom prst="rect">
            <a:avLst/>
          </a:prstGeom>
          <a:noFill/>
          <a:ln/>
        </p:spPr>
        <p:txBody>
          <a:bodyPr wrap="square" lIns="0" tIns="0" rIns="0" bIns="0" rtlCol="0" anchor="t"/>
          <a:lstStyle/>
          <a:p>
            <a:pPr indent="0" marL="0">
              <a:buNone/>
            </a:pPr>
            <a:r>
              <a:rPr lang="en-US" sz="1150" dirty="0">
                <a:solidFill>
                  <a:schemeClr val="tx2"/>
                </a:solidFill>
              </a:rPr>
              <a:t>Decline or no answer → next suitable hospital is asked automatically.</a:t>
            </a:r>
            <a:endParaRPr lang="en-US" sz="1150" dirty="0"/>
          </a:p>
        </p:txBody>
      </p:sp>
      <p:sp>
        <p:nvSpPr>
          <p:cNvPr id="20" name="hospital feature"/>
          <p:cNvSpPr/>
          <p:nvPr/>
        </p:nvSpPr>
        <p:spPr>
          <a:xfrm>
            <a:off x="7589520" y="4946904"/>
            <a:ext cx="4023360" cy="1078992"/>
          </a:xfrm>
          <a:prstGeom prst="roundRect">
            <a:avLst>
              <a:gd name="adj" fmla="val 10169"/>
            </a:avLst>
          </a:prstGeom>
          <a:solidFill>
            <a:schemeClr val="bg2"/>
          </a:solidFill>
          <a:ln w="12700">
            <a:solidFill>
              <a:schemeClr val="bg2"/>
            </a:solidFill>
            <a:prstDash val="solid"/>
          </a:ln>
        </p:spPr>
      </p:sp>
      <p:sp>
        <p:nvSpPr>
          <p:cNvPr id="21" name="Staff-only, audited circle"/>
          <p:cNvSpPr/>
          <p:nvPr/>
        </p:nvSpPr>
        <p:spPr>
          <a:xfrm>
            <a:off x="7754112" y="5193792"/>
            <a:ext cx="566928" cy="566928"/>
          </a:xfrm>
          <a:prstGeom prst="ellipse">
            <a:avLst/>
          </a:prstGeom>
          <a:solidFill>
            <a:srgbClr val="2563EB"/>
          </a:solidFill>
          <a:ln w="12700">
            <a:solidFill>
              <a:srgbClr val="2563EB"/>
            </a:solidFill>
            <a:prstDash val="solid"/>
          </a:ln>
        </p:spPr>
      </p:sp>
      <p:pic>
        <p:nvPicPr>
          <p:cNvPr id="22" name="Staff-only, audited" descr="preencoded.png">    </p:cNvPr>
          <p:cNvPicPr>
            <a:picLocks noChangeAspect="1"/>
          </p:cNvPicPr>
          <p:nvPr/>
        </p:nvPicPr>
        <p:blipFill>
          <a:blip r:embed="rId5"/>
          <a:stretch>
            <a:fillRect/>
          </a:stretch>
        </p:blipFill>
        <p:spPr>
          <a:xfrm>
            <a:off x="7890175" y="5329855"/>
            <a:ext cx="294803" cy="294803"/>
          </a:xfrm>
          <a:prstGeom prst="rect">
            <a:avLst/>
          </a:prstGeom>
        </p:spPr>
      </p:pic>
      <p:sp>
        <p:nvSpPr>
          <p:cNvPr id="23" name="Text 16"/>
          <p:cNvSpPr txBox="1"/>
          <p:nvPr/>
        </p:nvSpPr>
        <p:spPr>
          <a:xfrm>
            <a:off x="8485632" y="5074920"/>
            <a:ext cx="3017520" cy="301752"/>
          </a:xfrm>
          <a:prstGeom prst="rect">
            <a:avLst/>
          </a:prstGeom>
          <a:noFill/>
          <a:ln/>
        </p:spPr>
        <p:txBody>
          <a:bodyPr wrap="square" lIns="0" tIns="0" rIns="0" bIns="0" rtlCol="0" anchor="t"/>
          <a:lstStyle/>
          <a:p>
            <a:pPr indent="0" marL="0">
              <a:buNone/>
            </a:pPr>
            <a:r>
              <a:rPr lang="en-US" sz="1500" b="1" dirty="0">
                <a:solidFill>
                  <a:schemeClr val="tx1"/>
                </a:solidFill>
              </a:rPr>
              <a:t>Staff-only, audited</a:t>
            </a:r>
            <a:endParaRPr lang="en-US" sz="1500" dirty="0"/>
          </a:p>
        </p:txBody>
      </p:sp>
      <p:sp>
        <p:nvSpPr>
          <p:cNvPr id="24" name="Text 17"/>
          <p:cNvSpPr txBox="1"/>
          <p:nvPr/>
        </p:nvSpPr>
        <p:spPr>
          <a:xfrm>
            <a:off x="8485632" y="5385816"/>
            <a:ext cx="3017520" cy="594360"/>
          </a:xfrm>
          <a:prstGeom prst="rect">
            <a:avLst/>
          </a:prstGeom>
          <a:noFill/>
          <a:ln/>
        </p:spPr>
        <p:txBody>
          <a:bodyPr wrap="square" lIns="0" tIns="0" rIns="0" bIns="0" rtlCol="0" anchor="t"/>
          <a:lstStyle/>
          <a:p>
            <a:pPr indent="0" marL="0">
              <a:buNone/>
            </a:pPr>
            <a:r>
              <a:rPr lang="en-US" sz="1150" dirty="0">
                <a:solidFill>
                  <a:schemeClr val="tx2"/>
                </a:solidFill>
              </a:rPr>
              <a:t>Hospital ID + Staff ID + OTP; 4 roles; every action in the audit log.</a:t>
            </a:r>
            <a:endParaRPr lang="en-US" sz="11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Live tracking, family link and “I’m alone” mode</a:t>
            </a:r>
            <a:endParaRPr lang="en-US" sz="3400" dirty="0"/>
          </a:p>
        </p:txBody>
      </p:sp>
      <p:pic>
        <p:nvPicPr>
          <p:cNvPr id="3" name="live map screenshot" descr="/tmp/claude-0/-home-user-Sehat-Setu/b06e8423-ed6e-57c3-bbb1-ac94b2a1720d/scratchpad/pdf/img/s/hosp-queue.jpg">    </p:cNvPr>
          <p:cNvPicPr>
            <a:picLocks noChangeAspect="1"/>
          </p:cNvPicPr>
          <p:nvPr/>
        </p:nvPicPr>
        <p:blipFill>
          <a:blip r:embed="rId1"/>
          <a:stretch>
            <a:fillRect/>
          </a:stretch>
        </p:blipFill>
        <p:spPr>
          <a:xfrm>
            <a:off x="548640" y="1325880"/>
            <a:ext cx="6035040" cy="3769579"/>
          </a:xfrm>
          <a:prstGeom prst="rect">
            <a:avLst/>
          </a:prstGeom>
          <a:effectLst>
            <a:outerShdw sx="100000" sy="100000" kx="0" ky="0" algn="bl" rotWithShape="0" blurRad="101600" dist="25400" dir="5400000">
              <a:srgbClr val="0B1427">
                <a:alpha val="12000"/>
              </a:srgbClr>
            </a:outerShdw>
          </a:effectLst>
        </p:spPr>
      </p:pic>
      <p:sp>
        <p:nvSpPr>
          <p:cNvPr id="4" name="Text 1"/>
          <p:cNvSpPr txBox="1"/>
          <p:nvPr/>
        </p:nvSpPr>
        <p:spPr>
          <a:xfrm>
            <a:off x="548640" y="5214331"/>
            <a:ext cx="6035040" cy="274320"/>
          </a:xfrm>
          <a:prstGeom prst="rect">
            <a:avLst/>
          </a:prstGeom>
          <a:noFill/>
          <a:ln/>
        </p:spPr>
        <p:txBody>
          <a:bodyPr wrap="square" lIns="0" tIns="0" rIns="0" bIns="0" rtlCol="0" anchor="t"/>
          <a:lstStyle/>
          <a:p>
            <a:pPr algn="ctr" indent="0" marL="0">
              <a:buNone/>
            </a:pPr>
            <a:r>
              <a:rPr lang="en-US" sz="1100" dirty="0">
                <a:solidFill>
                  <a:srgbClr val="64748B"/>
                </a:solidFill>
              </a:rPr>
              <a:t>Hospital Patient Queue: incoming patient, moving ambulance and live ETA</a:t>
            </a:r>
            <a:endParaRPr lang="en-US" sz="1100" dirty="0"/>
          </a:p>
        </p:txBody>
      </p:sp>
      <p:sp>
        <p:nvSpPr>
          <p:cNvPr id="5" name="Ambulance or own vehicle circle"/>
          <p:cNvSpPr/>
          <p:nvPr/>
        </p:nvSpPr>
        <p:spPr>
          <a:xfrm>
            <a:off x="548640" y="5532120"/>
            <a:ext cx="457200" cy="457200"/>
          </a:xfrm>
          <a:prstGeom prst="ellipse">
            <a:avLst/>
          </a:prstGeom>
          <a:solidFill>
            <a:srgbClr val="D97706"/>
          </a:solidFill>
          <a:ln w="12700">
            <a:solidFill>
              <a:srgbClr val="D97706"/>
            </a:solidFill>
            <a:prstDash val="solid"/>
          </a:ln>
        </p:spPr>
      </p:sp>
      <p:pic>
        <p:nvPicPr>
          <p:cNvPr id="6" name="Ambulance or own vehicle" descr="preencoded.png">    </p:cNvPr>
          <p:cNvPicPr>
            <a:picLocks noChangeAspect="1"/>
          </p:cNvPicPr>
          <p:nvPr/>
        </p:nvPicPr>
        <p:blipFill>
          <a:blip r:embed="rId2"/>
          <a:stretch>
            <a:fillRect/>
          </a:stretch>
        </p:blipFill>
        <p:spPr>
          <a:xfrm>
            <a:off x="658368" y="5641848"/>
            <a:ext cx="237744" cy="237744"/>
          </a:xfrm>
          <a:prstGeom prst="rect">
            <a:avLst/>
          </a:prstGeom>
        </p:spPr>
      </p:pic>
      <p:sp>
        <p:nvSpPr>
          <p:cNvPr id="7" name="Text 3"/>
          <p:cNvSpPr txBox="1"/>
          <p:nvPr/>
        </p:nvSpPr>
        <p:spPr>
          <a:xfrm>
            <a:off x="1097280" y="5550408"/>
            <a:ext cx="1417320" cy="457200"/>
          </a:xfrm>
          <a:prstGeom prst="rect">
            <a:avLst/>
          </a:prstGeom>
          <a:noFill/>
          <a:ln/>
        </p:spPr>
        <p:txBody>
          <a:bodyPr wrap="square" lIns="0" tIns="0" rIns="0" bIns="0" rtlCol="0" anchor="ctr"/>
          <a:lstStyle/>
          <a:p>
            <a:pPr indent="0" marL="0">
              <a:buNone/>
            </a:pPr>
            <a:r>
              <a:rPr lang="en-US" sz="1200" dirty="0">
                <a:solidFill>
                  <a:schemeClr val="tx1"/>
                </a:solidFill>
              </a:rPr>
              <a:t>Ambulance or own vehicle</a:t>
            </a:r>
            <a:endParaRPr lang="en-US" sz="1200" dirty="0"/>
          </a:p>
        </p:txBody>
      </p:sp>
      <p:sp>
        <p:nvSpPr>
          <p:cNvPr id="8" name="Free maps, no API keys circle"/>
          <p:cNvSpPr/>
          <p:nvPr/>
        </p:nvSpPr>
        <p:spPr>
          <a:xfrm>
            <a:off x="2606040" y="5532120"/>
            <a:ext cx="457200" cy="457200"/>
          </a:xfrm>
          <a:prstGeom prst="ellipse">
            <a:avLst/>
          </a:prstGeom>
          <a:solidFill>
            <a:srgbClr val="0F9488"/>
          </a:solidFill>
          <a:ln w="12700">
            <a:solidFill>
              <a:srgbClr val="0F9488"/>
            </a:solidFill>
            <a:prstDash val="solid"/>
          </a:ln>
        </p:spPr>
      </p:sp>
      <p:pic>
        <p:nvPicPr>
          <p:cNvPr id="9" name="Free maps, no API keys" descr="preencoded.png">    </p:cNvPr>
          <p:cNvPicPr>
            <a:picLocks noChangeAspect="1"/>
          </p:cNvPicPr>
          <p:nvPr/>
        </p:nvPicPr>
        <p:blipFill>
          <a:blip r:embed="rId3"/>
          <a:stretch>
            <a:fillRect/>
          </a:stretch>
        </p:blipFill>
        <p:spPr>
          <a:xfrm>
            <a:off x="2715768" y="5641848"/>
            <a:ext cx="237744" cy="237744"/>
          </a:xfrm>
          <a:prstGeom prst="rect">
            <a:avLst/>
          </a:prstGeom>
        </p:spPr>
      </p:pic>
      <p:sp>
        <p:nvSpPr>
          <p:cNvPr id="10" name="Text 5"/>
          <p:cNvSpPr txBox="1"/>
          <p:nvPr/>
        </p:nvSpPr>
        <p:spPr>
          <a:xfrm>
            <a:off x="3154680" y="5550408"/>
            <a:ext cx="1417320" cy="457200"/>
          </a:xfrm>
          <a:prstGeom prst="rect">
            <a:avLst/>
          </a:prstGeom>
          <a:noFill/>
          <a:ln/>
        </p:spPr>
        <p:txBody>
          <a:bodyPr wrap="square" lIns="0" tIns="0" rIns="0" bIns="0" rtlCol="0" anchor="ctr"/>
          <a:lstStyle/>
          <a:p>
            <a:pPr indent="0" marL="0">
              <a:buNone/>
            </a:pPr>
            <a:r>
              <a:rPr lang="en-US" sz="1200" dirty="0">
                <a:solidFill>
                  <a:schemeClr val="tx1"/>
                </a:solidFill>
              </a:rPr>
              <a:t>Free maps, no API keys</a:t>
            </a:r>
            <a:endParaRPr lang="en-US" sz="1200" dirty="0"/>
          </a:p>
        </p:txBody>
      </p:sp>
      <p:sp>
        <p:nvSpPr>
          <p:cNvPr id="11" name="Family link: no medical data circle"/>
          <p:cNvSpPr/>
          <p:nvPr/>
        </p:nvSpPr>
        <p:spPr>
          <a:xfrm>
            <a:off x="4663440" y="5532120"/>
            <a:ext cx="457200" cy="457200"/>
          </a:xfrm>
          <a:prstGeom prst="ellipse">
            <a:avLst/>
          </a:prstGeom>
          <a:solidFill>
            <a:srgbClr val="2563EB"/>
          </a:solidFill>
          <a:ln w="12700">
            <a:solidFill>
              <a:srgbClr val="2563EB"/>
            </a:solidFill>
            <a:prstDash val="solid"/>
          </a:ln>
        </p:spPr>
      </p:sp>
      <p:pic>
        <p:nvPicPr>
          <p:cNvPr id="12" name="Family link: no medical data" descr="preencoded.png">    </p:cNvPr>
          <p:cNvPicPr>
            <a:picLocks noChangeAspect="1"/>
          </p:cNvPicPr>
          <p:nvPr/>
        </p:nvPicPr>
        <p:blipFill>
          <a:blip r:embed="rId4"/>
          <a:stretch>
            <a:fillRect/>
          </a:stretch>
        </p:blipFill>
        <p:spPr>
          <a:xfrm>
            <a:off x="4773168" y="5641848"/>
            <a:ext cx="237744" cy="237744"/>
          </a:xfrm>
          <a:prstGeom prst="rect">
            <a:avLst/>
          </a:prstGeom>
        </p:spPr>
      </p:pic>
      <p:sp>
        <p:nvSpPr>
          <p:cNvPr id="13" name="Text 7"/>
          <p:cNvSpPr txBox="1"/>
          <p:nvPr/>
        </p:nvSpPr>
        <p:spPr>
          <a:xfrm>
            <a:off x="5212080" y="5550408"/>
            <a:ext cx="1417320" cy="457200"/>
          </a:xfrm>
          <a:prstGeom prst="rect">
            <a:avLst/>
          </a:prstGeom>
          <a:noFill/>
          <a:ln/>
        </p:spPr>
        <p:txBody>
          <a:bodyPr wrap="square" lIns="0" tIns="0" rIns="0" bIns="0" rtlCol="0" anchor="ctr"/>
          <a:lstStyle/>
          <a:p>
            <a:pPr indent="0" marL="0">
              <a:buNone/>
            </a:pPr>
            <a:r>
              <a:rPr lang="en-US" sz="1200" dirty="0">
                <a:solidFill>
                  <a:schemeClr val="tx1"/>
                </a:solidFill>
              </a:rPr>
              <a:t>Family link: no medical data</a:t>
            </a:r>
            <a:endParaRPr lang="en-US" sz="1200" dirty="0"/>
          </a:p>
        </p:txBody>
      </p:sp>
      <p:sp>
        <p:nvSpPr>
          <p:cNvPr id="14" name="alone panel"/>
          <p:cNvSpPr/>
          <p:nvPr/>
        </p:nvSpPr>
        <p:spPr>
          <a:xfrm>
            <a:off x="6949440" y="1325880"/>
            <a:ext cx="4663440" cy="4846320"/>
          </a:xfrm>
          <a:prstGeom prst="roundRect">
            <a:avLst>
              <a:gd name="adj" fmla="val 2353"/>
            </a:avLst>
          </a:prstGeom>
          <a:solidFill>
            <a:srgbClr val="FFF1F3"/>
          </a:solidFill>
          <a:ln w="12700">
            <a:solidFill>
              <a:srgbClr val="FFF1F3"/>
            </a:solidFill>
            <a:prstDash val="solid"/>
          </a:ln>
        </p:spPr>
      </p:sp>
      <p:pic>
        <p:nvPicPr>
          <p:cNvPr id="15" name="I am alone illustration" descr="preencoded.png">    </p:cNvPr>
          <p:cNvPicPr>
            <a:picLocks noChangeAspect="1"/>
          </p:cNvPicPr>
          <p:nvPr/>
        </p:nvPicPr>
        <p:blipFill>
          <a:blip r:embed="rId5"/>
          <a:stretch>
            <a:fillRect/>
          </a:stretch>
        </p:blipFill>
        <p:spPr>
          <a:xfrm>
            <a:off x="9829800" y="1463040"/>
            <a:ext cx="1645920" cy="1188720"/>
          </a:xfrm>
          <a:prstGeom prst="rect">
            <a:avLst/>
          </a:prstGeom>
        </p:spPr>
      </p:pic>
      <p:sp>
        <p:nvSpPr>
          <p:cNvPr id="16" name="Text 9"/>
          <p:cNvSpPr txBox="1"/>
          <p:nvPr/>
        </p:nvSpPr>
        <p:spPr>
          <a:xfrm>
            <a:off x="7223760" y="1554480"/>
            <a:ext cx="2560320" cy="36576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“I’m alone” mode</a:t>
            </a:r>
            <a:endParaRPr lang="en-US" sz="2000" dirty="0"/>
          </a:p>
        </p:txBody>
      </p:sp>
      <p:sp>
        <p:nvSpPr>
          <p:cNvPr id="17" name="Text 10"/>
          <p:cNvSpPr txBox="1"/>
          <p:nvPr/>
        </p:nvSpPr>
        <p:spPr>
          <a:xfrm>
            <a:off x="7223760" y="1965960"/>
            <a:ext cx="2560320" cy="731520"/>
          </a:xfrm>
          <a:prstGeom prst="rect">
            <a:avLst/>
          </a:prstGeom>
          <a:noFill/>
          <a:ln/>
        </p:spPr>
        <p:txBody>
          <a:bodyPr wrap="square" lIns="0" tIns="0" rIns="0" bIns="0" rtlCol="0" anchor="t"/>
          <a:lstStyle/>
          <a:p>
            <a:pPr indent="0" marL="0">
              <a:buNone/>
            </a:pPr>
            <a:r>
              <a:rPr lang="en-US" sz="1300" dirty="0">
                <a:solidFill>
                  <a:schemeClr val="tx2"/>
                </a:solidFill>
              </a:rPr>
              <a:t>One tap does every step for someone who cannot make calls.</a:t>
            </a:r>
            <a:endParaRPr lang="en-US" sz="1300" dirty="0"/>
          </a:p>
        </p:txBody>
      </p:sp>
      <p:sp>
        <p:nvSpPr>
          <p:cNvPr id="18" name="Text 11"/>
          <p:cNvSpPr txBox="1"/>
          <p:nvPr/>
        </p:nvSpPr>
        <p:spPr>
          <a:xfrm>
            <a:off x="7223760" y="2834640"/>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9" name="Text 12"/>
          <p:cNvSpPr txBox="1"/>
          <p:nvPr/>
        </p:nvSpPr>
        <p:spPr>
          <a:xfrm>
            <a:off x="7772400" y="2871216"/>
            <a:ext cx="3657600" cy="384048"/>
          </a:xfrm>
          <a:prstGeom prst="rect">
            <a:avLst/>
          </a:prstGeom>
          <a:noFill/>
          <a:ln/>
        </p:spPr>
        <p:txBody>
          <a:bodyPr wrap="square" lIns="0" tIns="0" rIns="0" bIns="0" rtlCol="0" anchor="t"/>
          <a:lstStyle/>
          <a:p>
            <a:pPr indent="0" marL="0">
              <a:buNone/>
            </a:pPr>
            <a:r>
              <a:rPr lang="en-US" sz="1400" dirty="0">
                <a:solidFill>
                  <a:schemeClr val="tx1"/>
                </a:solidFill>
              </a:rPr>
              <a:t>Location shared</a:t>
            </a:r>
            <a:endParaRPr lang="en-US" sz="1400" dirty="0"/>
          </a:p>
        </p:txBody>
      </p:sp>
      <p:sp>
        <p:nvSpPr>
          <p:cNvPr id="20" name="Text 13"/>
          <p:cNvSpPr txBox="1"/>
          <p:nvPr/>
        </p:nvSpPr>
        <p:spPr>
          <a:xfrm>
            <a:off x="7223760" y="345643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Text 14"/>
          <p:cNvSpPr txBox="1"/>
          <p:nvPr/>
        </p:nvSpPr>
        <p:spPr>
          <a:xfrm>
            <a:off x="7772400" y="3493008"/>
            <a:ext cx="3657600" cy="384048"/>
          </a:xfrm>
          <a:prstGeom prst="rect">
            <a:avLst/>
          </a:prstGeom>
          <a:noFill/>
          <a:ln/>
        </p:spPr>
        <p:txBody>
          <a:bodyPr wrap="square" lIns="0" tIns="0" rIns="0" bIns="0" rtlCol="0" anchor="t"/>
          <a:lstStyle/>
          <a:p>
            <a:pPr indent="0" marL="0">
              <a:buNone/>
            </a:pPr>
            <a:r>
              <a:rPr lang="en-US" sz="1400" dirty="0">
                <a:solidFill>
                  <a:schemeClr val="tx1"/>
                </a:solidFill>
              </a:rPr>
              <a:t>Trusted contact alerted with a tracking link</a:t>
            </a:r>
            <a:endParaRPr lang="en-US" sz="1400" dirty="0"/>
          </a:p>
        </p:txBody>
      </p:sp>
      <p:sp>
        <p:nvSpPr>
          <p:cNvPr id="22" name="Text 15"/>
          <p:cNvSpPr txBox="1"/>
          <p:nvPr/>
        </p:nvSpPr>
        <p:spPr>
          <a:xfrm>
            <a:off x="7223760" y="4078224"/>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Text 16"/>
          <p:cNvSpPr txBox="1"/>
          <p:nvPr/>
        </p:nvSpPr>
        <p:spPr>
          <a:xfrm>
            <a:off x="7772400" y="4114800"/>
            <a:ext cx="3657600" cy="384048"/>
          </a:xfrm>
          <a:prstGeom prst="rect">
            <a:avLst/>
          </a:prstGeom>
          <a:noFill/>
          <a:ln/>
        </p:spPr>
        <p:txBody>
          <a:bodyPr wrap="square" lIns="0" tIns="0" rIns="0" bIns="0" rtlCol="0" anchor="t"/>
          <a:lstStyle/>
          <a:p>
            <a:pPr indent="0" marL="0">
              <a:buNone/>
            </a:pPr>
            <a:r>
              <a:rPr lang="en-US" sz="1400" dirty="0">
                <a:solidFill>
                  <a:schemeClr val="tx1"/>
                </a:solidFill>
              </a:rPr>
              <a:t>Hospital request sent with “patient is ALONE”</a:t>
            </a:r>
            <a:endParaRPr lang="en-US" sz="1400" dirty="0"/>
          </a:p>
        </p:txBody>
      </p:sp>
      <p:sp>
        <p:nvSpPr>
          <p:cNvPr id="24" name="Text 17"/>
          <p:cNvSpPr txBox="1"/>
          <p:nvPr/>
        </p:nvSpPr>
        <p:spPr>
          <a:xfrm>
            <a:off x="7223760" y="4700016"/>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18"/>
          <p:cNvSpPr txBox="1"/>
          <p:nvPr/>
        </p:nvSpPr>
        <p:spPr>
          <a:xfrm>
            <a:off x="7772400" y="4736592"/>
            <a:ext cx="3657600" cy="384048"/>
          </a:xfrm>
          <a:prstGeom prst="rect">
            <a:avLst/>
          </a:prstGeom>
          <a:noFill/>
          <a:ln/>
        </p:spPr>
        <p:txBody>
          <a:bodyPr wrap="square" lIns="0" tIns="0" rIns="0" bIns="0" rtlCol="0" anchor="t"/>
          <a:lstStyle/>
          <a:p>
            <a:pPr indent="0" marL="0">
              <a:buNone/>
            </a:pPr>
            <a:r>
              <a:rPr lang="en-US" sz="1400" dirty="0">
                <a:solidFill>
                  <a:schemeClr val="tx1"/>
                </a:solidFill>
              </a:rPr>
              <a:t>Hospital accepted, bay prepared</a:t>
            </a:r>
            <a:endParaRPr lang="en-US" sz="1400" dirty="0"/>
          </a:p>
        </p:txBody>
      </p:sp>
      <p:sp>
        <p:nvSpPr>
          <p:cNvPr id="26" name="Text 19"/>
          <p:cNvSpPr txBox="1"/>
          <p:nvPr/>
        </p:nvSpPr>
        <p:spPr>
          <a:xfrm>
            <a:off x="7223760" y="5321808"/>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20"/>
          <p:cNvSpPr txBox="1"/>
          <p:nvPr/>
        </p:nvSpPr>
        <p:spPr>
          <a:xfrm>
            <a:off x="7772400" y="5358384"/>
            <a:ext cx="3657600" cy="384048"/>
          </a:xfrm>
          <a:prstGeom prst="rect">
            <a:avLst/>
          </a:prstGeom>
          <a:noFill/>
          <a:ln/>
        </p:spPr>
        <p:txBody>
          <a:bodyPr wrap="square" lIns="0" tIns="0" rIns="0" bIns="0" rtlCol="0" anchor="t"/>
          <a:lstStyle/>
          <a:p>
            <a:pPr indent="0" marL="0">
              <a:buNone/>
            </a:pPr>
            <a:r>
              <a:rPr lang="en-US" sz="1400" dirty="0">
                <a:solidFill>
                  <a:schemeClr val="tx1"/>
                </a:solidFill>
              </a:rPr>
              <a:t>Ambulance requested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All 7 suggested technologies, working in the product</a:t>
            </a:r>
            <a:endParaRPr lang="en-US" sz="3400" dirty="0"/>
          </a:p>
        </p:txBody>
      </p:sp>
      <p:sp>
        <p:nvSpPr>
          <p:cNvPr id="3" name="tech card"/>
          <p:cNvSpPr/>
          <p:nvPr/>
        </p:nvSpPr>
        <p:spPr>
          <a:xfrm>
            <a:off x="548640" y="1325880"/>
            <a:ext cx="2624328" cy="1920240"/>
          </a:xfrm>
          <a:prstGeom prst="roundRect">
            <a:avLst>
              <a:gd name="adj" fmla="val 5714"/>
            </a:avLst>
          </a:prstGeom>
          <a:solidFill>
            <a:schemeClr val="bg2"/>
          </a:solidFill>
          <a:ln w="12700">
            <a:solidFill>
              <a:schemeClr val="bg2"/>
            </a:solidFill>
            <a:prstDash val="solid"/>
          </a:ln>
        </p:spPr>
      </p:sp>
      <p:sp>
        <p:nvSpPr>
          <p:cNvPr id="4" name="Generative AI circle"/>
          <p:cNvSpPr/>
          <p:nvPr/>
        </p:nvSpPr>
        <p:spPr>
          <a:xfrm>
            <a:off x="749808" y="1527048"/>
            <a:ext cx="530352" cy="530352"/>
          </a:xfrm>
          <a:prstGeom prst="ellipse">
            <a:avLst/>
          </a:prstGeom>
          <a:solidFill>
            <a:srgbClr val="7C3AED"/>
          </a:solidFill>
          <a:ln w="12700">
            <a:solidFill>
              <a:srgbClr val="7C3AED"/>
            </a:solidFill>
            <a:prstDash val="solid"/>
          </a:ln>
        </p:spPr>
      </p:sp>
      <p:pic>
        <p:nvPicPr>
          <p:cNvPr id="5" name="Generative AI" descr="preencoded.png">    </p:cNvPr>
          <p:cNvPicPr>
            <a:picLocks noChangeAspect="1"/>
          </p:cNvPicPr>
          <p:nvPr/>
        </p:nvPicPr>
        <p:blipFill>
          <a:blip r:embed="rId1"/>
          <a:stretch>
            <a:fillRect/>
          </a:stretch>
        </p:blipFill>
        <p:spPr>
          <a:xfrm>
            <a:off x="877092" y="1654332"/>
            <a:ext cx="275783" cy="275783"/>
          </a:xfrm>
          <a:prstGeom prst="rect">
            <a:avLst/>
          </a:prstGeom>
        </p:spPr>
      </p:pic>
      <p:sp>
        <p:nvSpPr>
          <p:cNvPr id="6" name="Text 3"/>
          <p:cNvSpPr txBox="1"/>
          <p:nvPr/>
        </p:nvSpPr>
        <p:spPr>
          <a:xfrm>
            <a:off x="1389888" y="160020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Generative AI</a:t>
            </a:r>
            <a:endParaRPr lang="en-US" sz="1500" dirty="0"/>
          </a:p>
        </p:txBody>
      </p:sp>
      <p:sp>
        <p:nvSpPr>
          <p:cNvPr id="7" name="Text 4"/>
          <p:cNvSpPr txBox="1"/>
          <p:nvPr/>
        </p:nvSpPr>
        <p:spPr>
          <a:xfrm>
            <a:off x="749808" y="2194560"/>
            <a:ext cx="2240280" cy="685800"/>
          </a:xfrm>
          <a:prstGeom prst="rect">
            <a:avLst/>
          </a:prstGeom>
          <a:noFill/>
          <a:ln/>
        </p:spPr>
        <p:txBody>
          <a:bodyPr wrap="square" lIns="0" tIns="0" rIns="0" bIns="0" rtlCol="0" anchor="t"/>
          <a:lstStyle/>
          <a:p>
            <a:pPr indent="0" marL="0">
              <a:buNone/>
            </a:pPr>
            <a:r>
              <a:rPr lang="en-US" sz="1200" dirty="0">
                <a:solidFill>
                  <a:schemeClr val="tx2"/>
                </a:solidFill>
              </a:rPr>
              <a:t>Claude turns messy text into requirements and writes the SBAR note</a:t>
            </a:r>
            <a:endParaRPr lang="en-US" sz="1200" dirty="0"/>
          </a:p>
        </p:txBody>
      </p:sp>
      <p:sp>
        <p:nvSpPr>
          <p:cNvPr id="8" name="Text 5"/>
          <p:cNvSpPr txBox="1"/>
          <p:nvPr/>
        </p:nvSpPr>
        <p:spPr>
          <a:xfrm>
            <a:off x="749808" y="288036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server/llm.js</a:t>
            </a:r>
            <a:endParaRPr lang="en-US" sz="1000" dirty="0"/>
          </a:p>
        </p:txBody>
      </p:sp>
      <p:sp>
        <p:nvSpPr>
          <p:cNvPr id="9" name="tech card"/>
          <p:cNvSpPr/>
          <p:nvPr/>
        </p:nvSpPr>
        <p:spPr>
          <a:xfrm>
            <a:off x="3355848" y="1325880"/>
            <a:ext cx="2624328" cy="1920240"/>
          </a:xfrm>
          <a:prstGeom prst="roundRect">
            <a:avLst>
              <a:gd name="adj" fmla="val 5714"/>
            </a:avLst>
          </a:prstGeom>
          <a:solidFill>
            <a:schemeClr val="bg2"/>
          </a:solidFill>
          <a:ln w="12700">
            <a:solidFill>
              <a:schemeClr val="bg2"/>
            </a:solidFill>
            <a:prstDash val="solid"/>
          </a:ln>
        </p:spPr>
      </p:sp>
      <p:sp>
        <p:nvSpPr>
          <p:cNvPr id="10" name="Voice Bots circle"/>
          <p:cNvSpPr/>
          <p:nvPr/>
        </p:nvSpPr>
        <p:spPr>
          <a:xfrm>
            <a:off x="3557016" y="1527048"/>
            <a:ext cx="530352" cy="530352"/>
          </a:xfrm>
          <a:prstGeom prst="ellipse">
            <a:avLst/>
          </a:prstGeom>
          <a:solidFill>
            <a:srgbClr val="E11D48"/>
          </a:solidFill>
          <a:ln w="12700">
            <a:solidFill>
              <a:srgbClr val="E11D48"/>
            </a:solidFill>
            <a:prstDash val="solid"/>
          </a:ln>
        </p:spPr>
      </p:sp>
      <p:pic>
        <p:nvPicPr>
          <p:cNvPr id="11" name="Voice Bots" descr="preencoded.png">    </p:cNvPr>
          <p:cNvPicPr>
            <a:picLocks noChangeAspect="1"/>
          </p:cNvPicPr>
          <p:nvPr/>
        </p:nvPicPr>
        <p:blipFill>
          <a:blip r:embed="rId2"/>
          <a:stretch>
            <a:fillRect/>
          </a:stretch>
        </p:blipFill>
        <p:spPr>
          <a:xfrm>
            <a:off x="3684300" y="1654332"/>
            <a:ext cx="275783" cy="275783"/>
          </a:xfrm>
          <a:prstGeom prst="rect">
            <a:avLst/>
          </a:prstGeom>
        </p:spPr>
      </p:pic>
      <p:sp>
        <p:nvSpPr>
          <p:cNvPr id="12" name="Text 8"/>
          <p:cNvSpPr txBox="1"/>
          <p:nvPr/>
        </p:nvSpPr>
        <p:spPr>
          <a:xfrm>
            <a:off x="4197096" y="160020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Voice Bots</a:t>
            </a:r>
            <a:endParaRPr lang="en-US" sz="1500" dirty="0"/>
          </a:p>
        </p:txBody>
      </p:sp>
      <p:sp>
        <p:nvSpPr>
          <p:cNvPr id="13" name="Text 9"/>
          <p:cNvSpPr txBox="1"/>
          <p:nvPr/>
        </p:nvSpPr>
        <p:spPr>
          <a:xfrm>
            <a:off x="3557016" y="2194560"/>
            <a:ext cx="2240280" cy="685800"/>
          </a:xfrm>
          <a:prstGeom prst="rect">
            <a:avLst/>
          </a:prstGeom>
          <a:noFill/>
          <a:ln/>
        </p:spPr>
        <p:txBody>
          <a:bodyPr wrap="square" lIns="0" tIns="0" rIns="0" bIns="0" rtlCol="0" anchor="t"/>
          <a:lstStyle/>
          <a:p>
            <a:pPr indent="0" marL="0">
              <a:buNone/>
            </a:pPr>
            <a:r>
              <a:rPr lang="en-US" sz="1200" dirty="0">
                <a:solidFill>
                  <a:schemeClr val="tx2"/>
                </a:solidFill>
              </a:rPr>
              <a:t>Speak in Hindi / English; key steps are read aloud</a:t>
            </a:r>
            <a:endParaRPr lang="en-US" sz="1200" dirty="0"/>
          </a:p>
        </p:txBody>
      </p:sp>
      <p:sp>
        <p:nvSpPr>
          <p:cNvPr id="14" name="Text 10"/>
          <p:cNvSpPr txBox="1"/>
          <p:nvPr/>
        </p:nvSpPr>
        <p:spPr>
          <a:xfrm>
            <a:off x="3557016" y="288036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public/js/voice.js</a:t>
            </a:r>
            <a:endParaRPr lang="en-US" sz="1000" dirty="0"/>
          </a:p>
        </p:txBody>
      </p:sp>
      <p:sp>
        <p:nvSpPr>
          <p:cNvPr id="15" name="tech card"/>
          <p:cNvSpPr/>
          <p:nvPr/>
        </p:nvSpPr>
        <p:spPr>
          <a:xfrm>
            <a:off x="6163056" y="1325880"/>
            <a:ext cx="2624328" cy="1920240"/>
          </a:xfrm>
          <a:prstGeom prst="roundRect">
            <a:avLst>
              <a:gd name="adj" fmla="val 5714"/>
            </a:avLst>
          </a:prstGeom>
          <a:solidFill>
            <a:schemeClr val="bg2"/>
          </a:solidFill>
          <a:ln w="12700">
            <a:solidFill>
              <a:schemeClr val="bg2"/>
            </a:solidFill>
            <a:prstDash val="solid"/>
          </a:ln>
        </p:spPr>
      </p:sp>
      <p:sp>
        <p:nvSpPr>
          <p:cNvPr id="16" name="Computer Vision circle"/>
          <p:cNvSpPr/>
          <p:nvPr/>
        </p:nvSpPr>
        <p:spPr>
          <a:xfrm>
            <a:off x="6364224" y="1527048"/>
            <a:ext cx="530352" cy="530352"/>
          </a:xfrm>
          <a:prstGeom prst="ellipse">
            <a:avLst/>
          </a:prstGeom>
          <a:solidFill>
            <a:srgbClr val="D97706"/>
          </a:solidFill>
          <a:ln w="12700">
            <a:solidFill>
              <a:srgbClr val="D97706"/>
            </a:solidFill>
            <a:prstDash val="solid"/>
          </a:ln>
        </p:spPr>
      </p:sp>
      <p:pic>
        <p:nvPicPr>
          <p:cNvPr id="17" name="Computer Vision" descr="preencoded.png">    </p:cNvPr>
          <p:cNvPicPr>
            <a:picLocks noChangeAspect="1"/>
          </p:cNvPicPr>
          <p:nvPr/>
        </p:nvPicPr>
        <p:blipFill>
          <a:blip r:embed="rId3"/>
          <a:stretch>
            <a:fillRect/>
          </a:stretch>
        </p:blipFill>
        <p:spPr>
          <a:xfrm>
            <a:off x="6491508" y="1654332"/>
            <a:ext cx="275783" cy="275783"/>
          </a:xfrm>
          <a:prstGeom prst="rect">
            <a:avLst/>
          </a:prstGeom>
        </p:spPr>
      </p:pic>
      <p:sp>
        <p:nvSpPr>
          <p:cNvPr id="18" name="Text 13"/>
          <p:cNvSpPr txBox="1"/>
          <p:nvPr/>
        </p:nvSpPr>
        <p:spPr>
          <a:xfrm>
            <a:off x="7004304" y="160020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Computer Vision</a:t>
            </a:r>
            <a:endParaRPr lang="en-US" sz="1500" dirty="0"/>
          </a:p>
        </p:txBody>
      </p:sp>
      <p:sp>
        <p:nvSpPr>
          <p:cNvPr id="19" name="Text 14"/>
          <p:cNvSpPr txBox="1"/>
          <p:nvPr/>
        </p:nvSpPr>
        <p:spPr>
          <a:xfrm>
            <a:off x="6364224" y="2194560"/>
            <a:ext cx="2240280" cy="685800"/>
          </a:xfrm>
          <a:prstGeom prst="rect">
            <a:avLst/>
          </a:prstGeom>
          <a:noFill/>
          <a:ln/>
        </p:spPr>
        <p:txBody>
          <a:bodyPr wrap="square" lIns="0" tIns="0" rIns="0" bIns="0" rtlCol="0" anchor="t"/>
          <a:lstStyle/>
          <a:p>
            <a:pPr indent="0" marL="0">
              <a:buNone/>
            </a:pPr>
            <a:r>
              <a:rPr lang="en-US" sz="1200" dirty="0">
                <a:solidFill>
                  <a:schemeClr val="tx2"/>
                </a:solidFill>
              </a:rPr>
              <a:t>Photo of injury → visible findings that can raise urgency</a:t>
            </a:r>
            <a:endParaRPr lang="en-US" sz="1200" dirty="0"/>
          </a:p>
        </p:txBody>
      </p:sp>
      <p:sp>
        <p:nvSpPr>
          <p:cNvPr id="20" name="Text 15"/>
          <p:cNvSpPr txBox="1"/>
          <p:nvPr/>
        </p:nvSpPr>
        <p:spPr>
          <a:xfrm>
            <a:off x="6364224" y="288036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public/js/vision.js</a:t>
            </a:r>
            <a:endParaRPr lang="en-US" sz="1000" dirty="0"/>
          </a:p>
        </p:txBody>
      </p:sp>
      <p:sp>
        <p:nvSpPr>
          <p:cNvPr id="21" name="tech card"/>
          <p:cNvSpPr/>
          <p:nvPr/>
        </p:nvSpPr>
        <p:spPr>
          <a:xfrm>
            <a:off x="8970264" y="1325880"/>
            <a:ext cx="2624328" cy="1920240"/>
          </a:xfrm>
          <a:prstGeom prst="roundRect">
            <a:avLst>
              <a:gd name="adj" fmla="val 5714"/>
            </a:avLst>
          </a:prstGeom>
          <a:solidFill>
            <a:schemeClr val="bg2"/>
          </a:solidFill>
          <a:ln w="12700">
            <a:solidFill>
              <a:schemeClr val="bg2"/>
            </a:solidFill>
            <a:prstDash val="solid"/>
          </a:ln>
        </p:spPr>
      </p:sp>
      <p:sp>
        <p:nvSpPr>
          <p:cNvPr id="22" name="OCR circle"/>
          <p:cNvSpPr/>
          <p:nvPr/>
        </p:nvSpPr>
        <p:spPr>
          <a:xfrm>
            <a:off x="9171432" y="1527048"/>
            <a:ext cx="530352" cy="530352"/>
          </a:xfrm>
          <a:prstGeom prst="ellipse">
            <a:avLst/>
          </a:prstGeom>
          <a:solidFill>
            <a:srgbClr val="2563EB"/>
          </a:solidFill>
          <a:ln w="12700">
            <a:solidFill>
              <a:srgbClr val="2563EB"/>
            </a:solidFill>
            <a:prstDash val="solid"/>
          </a:ln>
        </p:spPr>
      </p:sp>
      <p:pic>
        <p:nvPicPr>
          <p:cNvPr id="23" name="OCR" descr="preencoded.png">    </p:cNvPr>
          <p:cNvPicPr>
            <a:picLocks noChangeAspect="1"/>
          </p:cNvPicPr>
          <p:nvPr/>
        </p:nvPicPr>
        <p:blipFill>
          <a:blip r:embed="rId4"/>
          <a:stretch>
            <a:fillRect/>
          </a:stretch>
        </p:blipFill>
        <p:spPr>
          <a:xfrm>
            <a:off x="9298716" y="1654332"/>
            <a:ext cx="275783" cy="275783"/>
          </a:xfrm>
          <a:prstGeom prst="rect">
            <a:avLst/>
          </a:prstGeom>
        </p:spPr>
      </p:pic>
      <p:sp>
        <p:nvSpPr>
          <p:cNvPr id="24" name="Text 18"/>
          <p:cNvSpPr txBox="1"/>
          <p:nvPr/>
        </p:nvSpPr>
        <p:spPr>
          <a:xfrm>
            <a:off x="9811512" y="160020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OCR</a:t>
            </a:r>
            <a:endParaRPr lang="en-US" sz="1500" dirty="0"/>
          </a:p>
        </p:txBody>
      </p:sp>
      <p:sp>
        <p:nvSpPr>
          <p:cNvPr id="25" name="Text 19"/>
          <p:cNvSpPr txBox="1"/>
          <p:nvPr/>
        </p:nvSpPr>
        <p:spPr>
          <a:xfrm>
            <a:off x="9171432" y="2194560"/>
            <a:ext cx="2240280" cy="685800"/>
          </a:xfrm>
          <a:prstGeom prst="rect">
            <a:avLst/>
          </a:prstGeom>
          <a:noFill/>
          <a:ln/>
        </p:spPr>
        <p:txBody>
          <a:bodyPr wrap="square" lIns="0" tIns="0" rIns="0" bIns="0" rtlCol="0" anchor="t"/>
          <a:lstStyle/>
          <a:p>
            <a:pPr indent="0" marL="0">
              <a:buNone/>
            </a:pPr>
            <a:r>
              <a:rPr lang="en-US" sz="1200" dirty="0">
                <a:solidFill>
                  <a:schemeClr val="tx2"/>
                </a:solidFill>
              </a:rPr>
              <a:t>Ayushman / ABHA card read on the phone, shared only with consent</a:t>
            </a:r>
            <a:endParaRPr lang="en-US" sz="1200" dirty="0"/>
          </a:p>
        </p:txBody>
      </p:sp>
      <p:sp>
        <p:nvSpPr>
          <p:cNvPr id="26" name="Text 20"/>
          <p:cNvSpPr txBox="1"/>
          <p:nvPr/>
        </p:nvSpPr>
        <p:spPr>
          <a:xfrm>
            <a:off x="9171432" y="288036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public/js/ocr.js</a:t>
            </a:r>
            <a:endParaRPr lang="en-US" sz="1000" dirty="0"/>
          </a:p>
        </p:txBody>
      </p:sp>
      <p:sp>
        <p:nvSpPr>
          <p:cNvPr id="27" name="tech card"/>
          <p:cNvSpPr/>
          <p:nvPr/>
        </p:nvSpPr>
        <p:spPr>
          <a:xfrm>
            <a:off x="548640" y="3429000"/>
            <a:ext cx="2624328" cy="1920240"/>
          </a:xfrm>
          <a:prstGeom prst="roundRect">
            <a:avLst>
              <a:gd name="adj" fmla="val 5714"/>
            </a:avLst>
          </a:prstGeom>
          <a:solidFill>
            <a:schemeClr val="bg2"/>
          </a:solidFill>
          <a:ln w="12700">
            <a:solidFill>
              <a:schemeClr val="bg2"/>
            </a:solidFill>
            <a:prstDash val="solid"/>
          </a:ln>
        </p:spPr>
      </p:sp>
      <p:sp>
        <p:nvSpPr>
          <p:cNvPr id="28" name="Predictive Analytics circle"/>
          <p:cNvSpPr/>
          <p:nvPr/>
        </p:nvSpPr>
        <p:spPr>
          <a:xfrm>
            <a:off x="749808" y="3630168"/>
            <a:ext cx="530352" cy="530352"/>
          </a:xfrm>
          <a:prstGeom prst="ellipse">
            <a:avLst/>
          </a:prstGeom>
          <a:solidFill>
            <a:srgbClr val="16A34A"/>
          </a:solidFill>
          <a:ln w="12700">
            <a:solidFill>
              <a:srgbClr val="16A34A"/>
            </a:solidFill>
            <a:prstDash val="solid"/>
          </a:ln>
        </p:spPr>
      </p:sp>
      <p:pic>
        <p:nvPicPr>
          <p:cNvPr id="29" name="Predictive Analytics" descr="preencoded.png">    </p:cNvPr>
          <p:cNvPicPr>
            <a:picLocks noChangeAspect="1"/>
          </p:cNvPicPr>
          <p:nvPr/>
        </p:nvPicPr>
        <p:blipFill>
          <a:blip r:embed="rId5"/>
          <a:stretch>
            <a:fillRect/>
          </a:stretch>
        </p:blipFill>
        <p:spPr>
          <a:xfrm>
            <a:off x="877092" y="3757452"/>
            <a:ext cx="275783" cy="275783"/>
          </a:xfrm>
          <a:prstGeom prst="rect">
            <a:avLst/>
          </a:prstGeom>
        </p:spPr>
      </p:pic>
      <p:sp>
        <p:nvSpPr>
          <p:cNvPr id="30" name="Text 23"/>
          <p:cNvSpPr txBox="1"/>
          <p:nvPr/>
        </p:nvSpPr>
        <p:spPr>
          <a:xfrm>
            <a:off x="1389888" y="370332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Predictive Analytics</a:t>
            </a:r>
            <a:endParaRPr lang="en-US" sz="1500" dirty="0"/>
          </a:p>
        </p:txBody>
      </p:sp>
      <p:sp>
        <p:nvSpPr>
          <p:cNvPr id="31" name="Text 24"/>
          <p:cNvSpPr txBox="1"/>
          <p:nvPr/>
        </p:nvSpPr>
        <p:spPr>
          <a:xfrm>
            <a:off x="749808" y="4297680"/>
            <a:ext cx="2240280" cy="685800"/>
          </a:xfrm>
          <a:prstGeom prst="rect">
            <a:avLst/>
          </a:prstGeom>
          <a:noFill/>
          <a:ln/>
        </p:spPr>
        <p:txBody>
          <a:bodyPr wrap="square" lIns="0" tIns="0" rIns="0" bIns="0" rtlCol="0" anchor="t"/>
          <a:lstStyle/>
          <a:p>
            <a:pPr indent="0" marL="0">
              <a:buNone/>
            </a:pPr>
            <a:r>
              <a:rPr lang="en-US" sz="1200" dirty="0">
                <a:solidFill>
                  <a:schemeClr val="tx2"/>
                </a:solidFill>
              </a:rPr>
              <a:t>Traffic ETA, bed-on-arrival odds, ER wait, 8-hour forecast</a:t>
            </a:r>
            <a:endParaRPr lang="en-US" sz="1200" dirty="0"/>
          </a:p>
        </p:txBody>
      </p:sp>
      <p:sp>
        <p:nvSpPr>
          <p:cNvPr id="32" name="Text 25"/>
          <p:cNvSpPr txBox="1"/>
          <p:nvPr/>
        </p:nvSpPr>
        <p:spPr>
          <a:xfrm>
            <a:off x="749808" y="498348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shared/predict.js</a:t>
            </a:r>
            <a:endParaRPr lang="en-US" sz="1000" dirty="0"/>
          </a:p>
        </p:txBody>
      </p:sp>
      <p:sp>
        <p:nvSpPr>
          <p:cNvPr id="33" name="tech card"/>
          <p:cNvSpPr/>
          <p:nvPr/>
        </p:nvSpPr>
        <p:spPr>
          <a:xfrm>
            <a:off x="3355848" y="3429000"/>
            <a:ext cx="2624328" cy="1920240"/>
          </a:xfrm>
          <a:prstGeom prst="roundRect">
            <a:avLst>
              <a:gd name="adj" fmla="val 5714"/>
            </a:avLst>
          </a:prstGeom>
          <a:solidFill>
            <a:schemeClr val="bg2"/>
          </a:solidFill>
          <a:ln w="12700">
            <a:solidFill>
              <a:schemeClr val="bg2"/>
            </a:solidFill>
            <a:prstDash val="solid"/>
          </a:ln>
        </p:spPr>
      </p:sp>
      <p:sp>
        <p:nvSpPr>
          <p:cNvPr id="34" name="Conversational AI circle"/>
          <p:cNvSpPr/>
          <p:nvPr/>
        </p:nvSpPr>
        <p:spPr>
          <a:xfrm>
            <a:off x="3557016" y="3630168"/>
            <a:ext cx="530352" cy="530352"/>
          </a:xfrm>
          <a:prstGeom prst="ellipse">
            <a:avLst/>
          </a:prstGeom>
          <a:solidFill>
            <a:srgbClr val="0F9488"/>
          </a:solidFill>
          <a:ln w="12700">
            <a:solidFill>
              <a:srgbClr val="0F9488"/>
            </a:solidFill>
            <a:prstDash val="solid"/>
          </a:ln>
        </p:spPr>
      </p:sp>
      <p:pic>
        <p:nvPicPr>
          <p:cNvPr id="35" name="Conversational AI" descr="preencoded.png">    </p:cNvPr>
          <p:cNvPicPr>
            <a:picLocks noChangeAspect="1"/>
          </p:cNvPicPr>
          <p:nvPr/>
        </p:nvPicPr>
        <p:blipFill>
          <a:blip r:embed="rId6"/>
          <a:stretch>
            <a:fillRect/>
          </a:stretch>
        </p:blipFill>
        <p:spPr>
          <a:xfrm>
            <a:off x="3684300" y="3757452"/>
            <a:ext cx="275783" cy="275783"/>
          </a:xfrm>
          <a:prstGeom prst="rect">
            <a:avLst/>
          </a:prstGeom>
        </p:spPr>
      </p:pic>
      <p:sp>
        <p:nvSpPr>
          <p:cNvPr id="36" name="Text 28"/>
          <p:cNvSpPr txBox="1"/>
          <p:nvPr/>
        </p:nvSpPr>
        <p:spPr>
          <a:xfrm>
            <a:off x="4197096" y="370332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Conversational AI</a:t>
            </a:r>
            <a:endParaRPr lang="en-US" sz="1500" dirty="0"/>
          </a:p>
        </p:txBody>
      </p:sp>
      <p:sp>
        <p:nvSpPr>
          <p:cNvPr id="37" name="Text 29"/>
          <p:cNvSpPr txBox="1"/>
          <p:nvPr/>
        </p:nvSpPr>
        <p:spPr>
          <a:xfrm>
            <a:off x="3557016" y="4297680"/>
            <a:ext cx="2240280" cy="685800"/>
          </a:xfrm>
          <a:prstGeom prst="rect">
            <a:avLst/>
          </a:prstGeom>
          <a:noFill/>
          <a:ln/>
        </p:spPr>
        <p:txBody>
          <a:bodyPr wrap="square" lIns="0" tIns="0" rIns="0" bIns="0" rtlCol="0" anchor="t"/>
          <a:lstStyle/>
          <a:p>
            <a:pPr indent="0" marL="0">
              <a:buNone/>
            </a:pPr>
            <a:r>
              <a:rPr lang="en-US" sz="1200" dirty="0">
                <a:solidFill>
                  <a:schemeClr val="tx2"/>
                </a:solidFill>
              </a:rPr>
              <a:t>One follow-up question at a time; severity updates live</a:t>
            </a:r>
            <a:endParaRPr lang="en-US" sz="1200" dirty="0"/>
          </a:p>
        </p:txBody>
      </p:sp>
      <p:sp>
        <p:nvSpPr>
          <p:cNvPr id="38" name="Text 30"/>
          <p:cNvSpPr txBox="1"/>
          <p:nvPr/>
        </p:nvSpPr>
        <p:spPr>
          <a:xfrm>
            <a:off x="3557016" y="498348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shared/triage.js</a:t>
            </a:r>
            <a:endParaRPr lang="en-US" sz="1000" dirty="0"/>
          </a:p>
        </p:txBody>
      </p:sp>
      <p:sp>
        <p:nvSpPr>
          <p:cNvPr id="39" name="tech card"/>
          <p:cNvSpPr/>
          <p:nvPr/>
        </p:nvSpPr>
        <p:spPr>
          <a:xfrm>
            <a:off x="6163056" y="3429000"/>
            <a:ext cx="2624328" cy="1920240"/>
          </a:xfrm>
          <a:prstGeom prst="roundRect">
            <a:avLst>
              <a:gd name="adj" fmla="val 5714"/>
            </a:avLst>
          </a:prstGeom>
          <a:solidFill>
            <a:schemeClr val="bg2"/>
          </a:solidFill>
          <a:ln w="12700">
            <a:solidFill>
              <a:schemeClr val="bg2"/>
            </a:solidFill>
            <a:prstDash val="solid"/>
          </a:ln>
        </p:spPr>
      </p:sp>
      <p:sp>
        <p:nvSpPr>
          <p:cNvPr id="40" name="Mobile App circle"/>
          <p:cNvSpPr/>
          <p:nvPr/>
        </p:nvSpPr>
        <p:spPr>
          <a:xfrm>
            <a:off x="6364224" y="3630168"/>
            <a:ext cx="530352" cy="530352"/>
          </a:xfrm>
          <a:prstGeom prst="ellipse">
            <a:avLst/>
          </a:prstGeom>
          <a:solidFill>
            <a:srgbClr val="0B1427"/>
          </a:solidFill>
          <a:ln w="12700">
            <a:solidFill>
              <a:srgbClr val="0B1427"/>
            </a:solidFill>
            <a:prstDash val="solid"/>
          </a:ln>
        </p:spPr>
      </p:sp>
      <p:pic>
        <p:nvPicPr>
          <p:cNvPr id="41" name="Mobile App" descr="preencoded.png">    </p:cNvPr>
          <p:cNvPicPr>
            <a:picLocks noChangeAspect="1"/>
          </p:cNvPicPr>
          <p:nvPr/>
        </p:nvPicPr>
        <p:blipFill>
          <a:blip r:embed="rId7"/>
          <a:stretch>
            <a:fillRect/>
          </a:stretch>
        </p:blipFill>
        <p:spPr>
          <a:xfrm>
            <a:off x="6491508" y="3757452"/>
            <a:ext cx="275783" cy="275783"/>
          </a:xfrm>
          <a:prstGeom prst="rect">
            <a:avLst/>
          </a:prstGeom>
        </p:spPr>
      </p:pic>
      <p:sp>
        <p:nvSpPr>
          <p:cNvPr id="42" name="Text 33"/>
          <p:cNvSpPr txBox="1"/>
          <p:nvPr/>
        </p:nvSpPr>
        <p:spPr>
          <a:xfrm>
            <a:off x="7004304" y="370332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Mobile App</a:t>
            </a:r>
            <a:endParaRPr lang="en-US" sz="1500" dirty="0"/>
          </a:p>
        </p:txBody>
      </p:sp>
      <p:sp>
        <p:nvSpPr>
          <p:cNvPr id="43" name="Text 34"/>
          <p:cNvSpPr txBox="1"/>
          <p:nvPr/>
        </p:nvSpPr>
        <p:spPr>
          <a:xfrm>
            <a:off x="6364224" y="4297680"/>
            <a:ext cx="2240280" cy="685800"/>
          </a:xfrm>
          <a:prstGeom prst="rect">
            <a:avLst/>
          </a:prstGeom>
          <a:noFill/>
          <a:ln/>
        </p:spPr>
        <p:txBody>
          <a:bodyPr wrap="square" lIns="0" tIns="0" rIns="0" bIns="0" rtlCol="0" anchor="t"/>
          <a:lstStyle/>
          <a:p>
            <a:pPr indent="0" marL="0">
              <a:buNone/>
            </a:pPr>
            <a:r>
              <a:rPr lang="en-US" sz="1200" dirty="0">
                <a:solidFill>
                  <a:schemeClr val="tx2"/>
                </a:solidFill>
              </a:rPr>
              <a:t>Installable PWA, bilingual, works offline</a:t>
            </a:r>
            <a:endParaRPr lang="en-US" sz="1200" dirty="0"/>
          </a:p>
        </p:txBody>
      </p:sp>
      <p:sp>
        <p:nvSpPr>
          <p:cNvPr id="44" name="Text 35"/>
          <p:cNvSpPr txBox="1"/>
          <p:nvPr/>
        </p:nvSpPr>
        <p:spPr>
          <a:xfrm>
            <a:off x="6364224" y="498348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public/sw.js</a:t>
            </a:r>
            <a:endParaRPr lang="en-US" sz="1000" dirty="0"/>
          </a:p>
        </p:txBody>
      </p:sp>
      <p:sp>
        <p:nvSpPr>
          <p:cNvPr id="45" name="tech card"/>
          <p:cNvSpPr/>
          <p:nvPr/>
        </p:nvSpPr>
        <p:spPr>
          <a:xfrm>
            <a:off x="8970264" y="3429000"/>
            <a:ext cx="2624328" cy="1920240"/>
          </a:xfrm>
          <a:prstGeom prst="roundRect">
            <a:avLst>
              <a:gd name="adj" fmla="val 5714"/>
            </a:avLst>
          </a:prstGeom>
          <a:solidFill>
            <a:schemeClr val="bg2"/>
          </a:solidFill>
          <a:ln w="12700">
            <a:solidFill>
              <a:schemeClr val="bg2"/>
            </a:solidFill>
            <a:prstDash val="solid"/>
          </a:ln>
        </p:spPr>
      </p:sp>
      <p:sp>
        <p:nvSpPr>
          <p:cNvPr id="46" name="Plus: live maps circle"/>
          <p:cNvSpPr/>
          <p:nvPr/>
        </p:nvSpPr>
        <p:spPr>
          <a:xfrm>
            <a:off x="9171432" y="3630168"/>
            <a:ext cx="530352" cy="530352"/>
          </a:xfrm>
          <a:prstGeom prst="ellipse">
            <a:avLst/>
          </a:prstGeom>
          <a:solidFill>
            <a:srgbClr val="0F9488"/>
          </a:solidFill>
          <a:ln w="12700">
            <a:solidFill>
              <a:srgbClr val="0F9488"/>
            </a:solidFill>
            <a:prstDash val="solid"/>
          </a:ln>
        </p:spPr>
      </p:sp>
      <p:pic>
        <p:nvPicPr>
          <p:cNvPr id="47" name="Plus: live maps" descr="preencoded.png">    </p:cNvPr>
          <p:cNvPicPr>
            <a:picLocks noChangeAspect="1"/>
          </p:cNvPicPr>
          <p:nvPr/>
        </p:nvPicPr>
        <p:blipFill>
          <a:blip r:embed="rId8"/>
          <a:stretch>
            <a:fillRect/>
          </a:stretch>
        </p:blipFill>
        <p:spPr>
          <a:xfrm>
            <a:off x="9298716" y="3757452"/>
            <a:ext cx="275783" cy="275783"/>
          </a:xfrm>
          <a:prstGeom prst="rect">
            <a:avLst/>
          </a:prstGeom>
        </p:spPr>
      </p:pic>
      <p:sp>
        <p:nvSpPr>
          <p:cNvPr id="48" name="Text 38"/>
          <p:cNvSpPr txBox="1"/>
          <p:nvPr/>
        </p:nvSpPr>
        <p:spPr>
          <a:xfrm>
            <a:off x="9811512" y="370332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Plus: live maps</a:t>
            </a:r>
            <a:endParaRPr lang="en-US" sz="1500" dirty="0"/>
          </a:p>
        </p:txBody>
      </p:sp>
      <p:sp>
        <p:nvSpPr>
          <p:cNvPr id="49" name="Text 39"/>
          <p:cNvSpPr txBox="1"/>
          <p:nvPr/>
        </p:nvSpPr>
        <p:spPr>
          <a:xfrm>
            <a:off x="9171432" y="4297680"/>
            <a:ext cx="2240280" cy="685800"/>
          </a:xfrm>
          <a:prstGeom prst="rect">
            <a:avLst/>
          </a:prstGeom>
          <a:noFill/>
          <a:ln/>
        </p:spPr>
        <p:txBody>
          <a:bodyPr wrap="square" lIns="0" tIns="0" rIns="0" bIns="0" rtlCol="0" anchor="t"/>
          <a:lstStyle/>
          <a:p>
            <a:pPr indent="0" marL="0">
              <a:buNone/>
            </a:pPr>
            <a:r>
              <a:rPr lang="en-US" sz="1200" dirty="0">
                <a:solidFill>
                  <a:schemeClr val="tx2"/>
                </a:solidFill>
              </a:rPr>
              <a:t>Citizen + hospital maps on free OpenStreetMap</a:t>
            </a:r>
            <a:endParaRPr lang="en-US" sz="1200" dirty="0"/>
          </a:p>
        </p:txBody>
      </p:sp>
      <p:sp>
        <p:nvSpPr>
          <p:cNvPr id="50" name="Text 40"/>
          <p:cNvSpPr txBox="1"/>
          <p:nvPr/>
        </p:nvSpPr>
        <p:spPr>
          <a:xfrm>
            <a:off x="9171432" y="4983480"/>
            <a:ext cx="2240280" cy="256032"/>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public/js/livemap.js</a:t>
            </a:r>
            <a:endParaRPr lang="en-US" sz="1000" dirty="0"/>
          </a:p>
        </p:txBody>
      </p:sp>
      <p:sp>
        <p:nvSpPr>
          <p:cNvPr id="51" name="principle band"/>
          <p:cNvSpPr/>
          <p:nvPr/>
        </p:nvSpPr>
        <p:spPr>
          <a:xfrm>
            <a:off x="548640" y="5623560"/>
            <a:ext cx="11064240" cy="566928"/>
          </a:xfrm>
          <a:prstGeom prst="roundRect">
            <a:avLst>
              <a:gd name="adj" fmla="val 19355"/>
            </a:avLst>
          </a:prstGeom>
          <a:solidFill>
            <a:srgbClr val="E6F6F4"/>
          </a:solidFill>
          <a:ln w="12700">
            <a:solidFill>
              <a:srgbClr val="E6F6F4"/>
            </a:solidFill>
            <a:prstDash val="solid"/>
          </a:ln>
        </p:spPr>
      </p:sp>
      <p:sp>
        <p:nvSpPr>
          <p:cNvPr id="52" name="Text 42"/>
          <p:cNvSpPr txBox="1"/>
          <p:nvPr/>
        </p:nvSpPr>
        <p:spPr>
          <a:xfrm>
            <a:off x="777240" y="5623560"/>
            <a:ext cx="10698480" cy="566928"/>
          </a:xfrm>
          <a:prstGeom prst="rect">
            <a:avLst/>
          </a:prstGeom>
          <a:noFill/>
          <a:ln/>
        </p:spPr>
        <p:txBody>
          <a:bodyPr wrap="square" lIns="0" tIns="0" rIns="0" bIns="0" rtlCol="0" anchor="ctr"/>
          <a:lstStyle/>
          <a:p>
            <a:pPr indent="0" marL="0">
              <a:buNone/>
            </a:pPr>
            <a:r>
              <a:rPr lang="en-US" sz="1300" b="1" dirty="0">
                <a:solidFill>
                  <a:schemeClr val="accent1"/>
                </a:solidFill>
              </a:rPr>
              <a:t>Design principle:  </a:t>
            </a:r>
            <a:pPr indent="0" marL="0">
              <a:buNone/>
            </a:pPr>
            <a:r>
              <a:rPr lang="en-US" sz="1300" dirty="0">
                <a:solidFill>
                  <a:schemeClr val="tx1"/>
                </a:solidFill>
              </a:rPr>
              <a:t>AI understands the citizen; a deterministic, explainable engine chooses the hospital from staff-verified data. Offline? The rules engine and PWA keep working.</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Impact for people, hospitals and the state</a:t>
            </a:r>
            <a:endParaRPr lang="en-US" sz="3400" dirty="0"/>
          </a:p>
        </p:txBody>
      </p:sp>
      <p:sp>
        <p:nvSpPr>
          <p:cNvPr id="3" name="impact card"/>
          <p:cNvSpPr/>
          <p:nvPr/>
        </p:nvSpPr>
        <p:spPr>
          <a:xfrm>
            <a:off x="548640" y="1325880"/>
            <a:ext cx="2377440" cy="1737360"/>
          </a:xfrm>
          <a:prstGeom prst="roundRect">
            <a:avLst>
              <a:gd name="adj" fmla="val 6316"/>
            </a:avLst>
          </a:prstGeom>
          <a:solidFill>
            <a:schemeClr val="bg2"/>
          </a:solidFill>
          <a:ln w="12700">
            <a:solidFill>
              <a:schemeClr val="bg2"/>
            </a:solidFill>
            <a:prstDash val="solid"/>
          </a:ln>
        </p:spPr>
      </p:sp>
      <p:sp>
        <p:nvSpPr>
          <p:cNvPr id="4" name="Social circle"/>
          <p:cNvSpPr/>
          <p:nvPr/>
        </p:nvSpPr>
        <p:spPr>
          <a:xfrm>
            <a:off x="731520" y="1508760"/>
            <a:ext cx="475488" cy="475488"/>
          </a:xfrm>
          <a:prstGeom prst="ellipse">
            <a:avLst/>
          </a:prstGeom>
          <a:solidFill>
            <a:srgbClr val="E11D48"/>
          </a:solidFill>
          <a:ln w="12700">
            <a:solidFill>
              <a:srgbClr val="E11D48"/>
            </a:solidFill>
            <a:prstDash val="solid"/>
          </a:ln>
        </p:spPr>
      </p:sp>
      <p:pic>
        <p:nvPicPr>
          <p:cNvPr id="5" name="Social" descr="preencoded.png">    </p:cNvPr>
          <p:cNvPicPr>
            <a:picLocks noChangeAspect="1"/>
          </p:cNvPicPr>
          <p:nvPr/>
        </p:nvPicPr>
        <p:blipFill>
          <a:blip r:embed="rId1"/>
          <a:stretch>
            <a:fillRect/>
          </a:stretch>
        </p:blipFill>
        <p:spPr>
          <a:xfrm>
            <a:off x="845637" y="1622877"/>
            <a:ext cx="247254" cy="247254"/>
          </a:xfrm>
          <a:prstGeom prst="rect">
            <a:avLst/>
          </a:prstGeom>
        </p:spPr>
      </p:pic>
      <p:sp>
        <p:nvSpPr>
          <p:cNvPr id="6" name="Text 3"/>
          <p:cNvSpPr txBox="1"/>
          <p:nvPr/>
        </p:nvSpPr>
        <p:spPr>
          <a:xfrm>
            <a:off x="1325880" y="156362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Social</a:t>
            </a:r>
            <a:endParaRPr lang="en-US" sz="1600" dirty="0"/>
          </a:p>
        </p:txBody>
      </p:sp>
      <p:sp>
        <p:nvSpPr>
          <p:cNvPr id="7" name="Text 4"/>
          <p:cNvSpPr txBox="1"/>
          <p:nvPr/>
        </p:nvSpPr>
        <p:spPr>
          <a:xfrm>
            <a:off x="731520" y="2103120"/>
            <a:ext cx="2057400" cy="868680"/>
          </a:xfrm>
          <a:prstGeom prst="rect">
            <a:avLst/>
          </a:prstGeom>
          <a:noFill/>
          <a:ln/>
        </p:spPr>
        <p:txBody>
          <a:bodyPr wrap="square" lIns="0" tIns="0" rIns="0" bIns="0" rtlCol="0" anchor="t"/>
          <a:lstStyle/>
          <a:p>
            <a:pPr indent="0" marL="0">
              <a:buNone/>
            </a:pPr>
            <a:r>
              <a:rPr lang="en-US" sz="1150" dirty="0">
                <a:solidFill>
                  <a:schemeClr val="tx2"/>
                </a:solidFill>
              </a:rPr>
              <a:t>Right care the first time; equal access for rural, elderly and Hindi-speaking citizens</a:t>
            </a:r>
            <a:endParaRPr lang="en-US" sz="1150" dirty="0"/>
          </a:p>
        </p:txBody>
      </p:sp>
      <p:sp>
        <p:nvSpPr>
          <p:cNvPr id="8" name="impact card"/>
          <p:cNvSpPr/>
          <p:nvPr/>
        </p:nvSpPr>
        <p:spPr>
          <a:xfrm>
            <a:off x="3063240" y="1325880"/>
            <a:ext cx="2377440" cy="1737360"/>
          </a:xfrm>
          <a:prstGeom prst="roundRect">
            <a:avLst>
              <a:gd name="adj" fmla="val 6316"/>
            </a:avLst>
          </a:prstGeom>
          <a:solidFill>
            <a:schemeClr val="bg2"/>
          </a:solidFill>
          <a:ln w="12700">
            <a:solidFill>
              <a:schemeClr val="bg2"/>
            </a:solidFill>
            <a:prstDash val="solid"/>
          </a:ln>
        </p:spPr>
      </p:sp>
      <p:sp>
        <p:nvSpPr>
          <p:cNvPr id="9" name="Economic circle"/>
          <p:cNvSpPr/>
          <p:nvPr/>
        </p:nvSpPr>
        <p:spPr>
          <a:xfrm>
            <a:off x="3246120" y="1508760"/>
            <a:ext cx="475488" cy="475488"/>
          </a:xfrm>
          <a:prstGeom prst="ellipse">
            <a:avLst/>
          </a:prstGeom>
          <a:solidFill>
            <a:srgbClr val="16A34A"/>
          </a:solidFill>
          <a:ln w="12700">
            <a:solidFill>
              <a:srgbClr val="16A34A"/>
            </a:solidFill>
            <a:prstDash val="solid"/>
          </a:ln>
        </p:spPr>
      </p:sp>
      <p:pic>
        <p:nvPicPr>
          <p:cNvPr id="10" name="Economic" descr="preencoded.png">    </p:cNvPr>
          <p:cNvPicPr>
            <a:picLocks noChangeAspect="1"/>
          </p:cNvPicPr>
          <p:nvPr/>
        </p:nvPicPr>
        <p:blipFill>
          <a:blip r:embed="rId2"/>
          <a:stretch>
            <a:fillRect/>
          </a:stretch>
        </p:blipFill>
        <p:spPr>
          <a:xfrm>
            <a:off x="3360237" y="1622877"/>
            <a:ext cx="247254" cy="247254"/>
          </a:xfrm>
          <a:prstGeom prst="rect">
            <a:avLst/>
          </a:prstGeom>
        </p:spPr>
      </p:pic>
      <p:sp>
        <p:nvSpPr>
          <p:cNvPr id="11" name="Text 7"/>
          <p:cNvSpPr txBox="1"/>
          <p:nvPr/>
        </p:nvSpPr>
        <p:spPr>
          <a:xfrm>
            <a:off x="3840480" y="156362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Economic</a:t>
            </a:r>
            <a:endParaRPr lang="en-US" sz="1600" dirty="0"/>
          </a:p>
        </p:txBody>
      </p:sp>
      <p:sp>
        <p:nvSpPr>
          <p:cNvPr id="12" name="Text 8"/>
          <p:cNvSpPr txBox="1"/>
          <p:nvPr/>
        </p:nvSpPr>
        <p:spPr>
          <a:xfrm>
            <a:off x="3246120" y="2103120"/>
            <a:ext cx="2057400" cy="868680"/>
          </a:xfrm>
          <a:prstGeom prst="rect">
            <a:avLst/>
          </a:prstGeom>
          <a:noFill/>
          <a:ln/>
        </p:spPr>
        <p:txBody>
          <a:bodyPr wrap="square" lIns="0" tIns="0" rIns="0" bIns="0" rtlCol="0" anchor="t"/>
          <a:lstStyle/>
          <a:p>
            <a:pPr indent="0" marL="0">
              <a:buNone/>
            </a:pPr>
            <a:r>
              <a:rPr lang="en-US" sz="1150" dirty="0">
                <a:solidFill>
                  <a:schemeClr val="tx2"/>
                </a:solidFill>
              </a:rPr>
              <a:t>No repeat trips or wasted visits; better use of ICU beds and specialists</a:t>
            </a:r>
            <a:endParaRPr lang="en-US" sz="1150" dirty="0"/>
          </a:p>
        </p:txBody>
      </p:sp>
      <p:sp>
        <p:nvSpPr>
          <p:cNvPr id="13" name="impact card"/>
          <p:cNvSpPr/>
          <p:nvPr/>
        </p:nvSpPr>
        <p:spPr>
          <a:xfrm>
            <a:off x="5577840" y="1325880"/>
            <a:ext cx="2377440" cy="1737360"/>
          </a:xfrm>
          <a:prstGeom prst="roundRect">
            <a:avLst>
              <a:gd name="adj" fmla="val 6316"/>
            </a:avLst>
          </a:prstGeom>
          <a:solidFill>
            <a:schemeClr val="bg2"/>
          </a:solidFill>
          <a:ln w="12700">
            <a:solidFill>
              <a:schemeClr val="bg2"/>
            </a:solidFill>
            <a:prstDash val="solid"/>
          </a:ln>
        </p:spPr>
      </p:sp>
      <p:sp>
        <p:nvSpPr>
          <p:cNvPr id="14" name="Governance circle"/>
          <p:cNvSpPr/>
          <p:nvPr/>
        </p:nvSpPr>
        <p:spPr>
          <a:xfrm>
            <a:off x="5760720" y="1508760"/>
            <a:ext cx="475488" cy="475488"/>
          </a:xfrm>
          <a:prstGeom prst="ellipse">
            <a:avLst/>
          </a:prstGeom>
          <a:solidFill>
            <a:srgbClr val="2563EB"/>
          </a:solidFill>
          <a:ln w="12700">
            <a:solidFill>
              <a:srgbClr val="2563EB"/>
            </a:solidFill>
            <a:prstDash val="solid"/>
          </a:ln>
        </p:spPr>
      </p:sp>
      <p:pic>
        <p:nvPicPr>
          <p:cNvPr id="15" name="Governance" descr="preencoded.png">    </p:cNvPr>
          <p:cNvPicPr>
            <a:picLocks noChangeAspect="1"/>
          </p:cNvPicPr>
          <p:nvPr/>
        </p:nvPicPr>
        <p:blipFill>
          <a:blip r:embed="rId3"/>
          <a:stretch>
            <a:fillRect/>
          </a:stretch>
        </p:blipFill>
        <p:spPr>
          <a:xfrm>
            <a:off x="5874837" y="1622877"/>
            <a:ext cx="247254" cy="247254"/>
          </a:xfrm>
          <a:prstGeom prst="rect">
            <a:avLst/>
          </a:prstGeom>
        </p:spPr>
      </p:pic>
      <p:sp>
        <p:nvSpPr>
          <p:cNvPr id="16" name="Text 11"/>
          <p:cNvSpPr txBox="1"/>
          <p:nvPr/>
        </p:nvSpPr>
        <p:spPr>
          <a:xfrm>
            <a:off x="6355080" y="156362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Governance</a:t>
            </a:r>
            <a:endParaRPr lang="en-US" sz="1600" dirty="0"/>
          </a:p>
        </p:txBody>
      </p:sp>
      <p:sp>
        <p:nvSpPr>
          <p:cNvPr id="17" name="Text 12"/>
          <p:cNvSpPr txBox="1"/>
          <p:nvPr/>
        </p:nvSpPr>
        <p:spPr>
          <a:xfrm>
            <a:off x="5760720" y="2103120"/>
            <a:ext cx="2057400" cy="868680"/>
          </a:xfrm>
          <a:prstGeom prst="rect">
            <a:avLst/>
          </a:prstGeom>
          <a:noFill/>
          <a:ln/>
        </p:spPr>
        <p:txBody>
          <a:bodyPr wrap="square" lIns="0" tIns="0" rIns="0" bIns="0" rtlCol="0" anchor="t"/>
          <a:lstStyle/>
          <a:p>
            <a:pPr indent="0" marL="0">
              <a:buNone/>
            </a:pPr>
            <a:r>
              <a:rPr lang="en-US" sz="1150" dirty="0">
                <a:solidFill>
                  <a:schemeClr val="tx2"/>
                </a:solidFill>
              </a:rPr>
              <a:t>Live, audited view of emergency capacity for planning beds and ambulances</a:t>
            </a:r>
            <a:endParaRPr lang="en-US" sz="1150" dirty="0"/>
          </a:p>
        </p:txBody>
      </p:sp>
      <p:sp>
        <p:nvSpPr>
          <p:cNvPr id="18" name="impact card"/>
          <p:cNvSpPr/>
          <p:nvPr/>
        </p:nvSpPr>
        <p:spPr>
          <a:xfrm>
            <a:off x="548640" y="3200400"/>
            <a:ext cx="2377440" cy="1737360"/>
          </a:xfrm>
          <a:prstGeom prst="roundRect">
            <a:avLst>
              <a:gd name="adj" fmla="val 6316"/>
            </a:avLst>
          </a:prstGeom>
          <a:solidFill>
            <a:schemeClr val="bg2"/>
          </a:solidFill>
          <a:ln w="12700">
            <a:solidFill>
              <a:schemeClr val="bg2"/>
            </a:solidFill>
            <a:prstDash val="solid"/>
          </a:ln>
        </p:spPr>
      </p:sp>
      <p:sp>
        <p:nvSpPr>
          <p:cNvPr id="19" name="Educational circle"/>
          <p:cNvSpPr/>
          <p:nvPr/>
        </p:nvSpPr>
        <p:spPr>
          <a:xfrm>
            <a:off x="731520" y="3383280"/>
            <a:ext cx="475488" cy="475488"/>
          </a:xfrm>
          <a:prstGeom prst="ellipse">
            <a:avLst/>
          </a:prstGeom>
          <a:solidFill>
            <a:srgbClr val="D97706"/>
          </a:solidFill>
          <a:ln w="12700">
            <a:solidFill>
              <a:srgbClr val="D97706"/>
            </a:solidFill>
            <a:prstDash val="solid"/>
          </a:ln>
        </p:spPr>
      </p:sp>
      <p:pic>
        <p:nvPicPr>
          <p:cNvPr id="20" name="Educational" descr="preencoded.png">    </p:cNvPr>
          <p:cNvPicPr>
            <a:picLocks noChangeAspect="1"/>
          </p:cNvPicPr>
          <p:nvPr/>
        </p:nvPicPr>
        <p:blipFill>
          <a:blip r:embed="rId4"/>
          <a:stretch>
            <a:fillRect/>
          </a:stretch>
        </p:blipFill>
        <p:spPr>
          <a:xfrm>
            <a:off x="845637" y="3497397"/>
            <a:ext cx="247254" cy="247254"/>
          </a:xfrm>
          <a:prstGeom prst="rect">
            <a:avLst/>
          </a:prstGeom>
        </p:spPr>
      </p:pic>
      <p:sp>
        <p:nvSpPr>
          <p:cNvPr id="21" name="Text 15"/>
          <p:cNvSpPr txBox="1"/>
          <p:nvPr/>
        </p:nvSpPr>
        <p:spPr>
          <a:xfrm>
            <a:off x="1325880" y="343814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Educational</a:t>
            </a:r>
            <a:endParaRPr lang="en-US" sz="1600" dirty="0"/>
          </a:p>
        </p:txBody>
      </p:sp>
      <p:sp>
        <p:nvSpPr>
          <p:cNvPr id="22" name="Text 16"/>
          <p:cNvSpPr txBox="1"/>
          <p:nvPr/>
        </p:nvSpPr>
        <p:spPr>
          <a:xfrm>
            <a:off x="731520" y="3977640"/>
            <a:ext cx="2057400" cy="868680"/>
          </a:xfrm>
          <a:prstGeom prst="rect">
            <a:avLst/>
          </a:prstGeom>
          <a:noFill/>
          <a:ln/>
        </p:spPr>
        <p:txBody>
          <a:bodyPr wrap="square" lIns="0" tIns="0" rIns="0" bIns="0" rtlCol="0" anchor="t"/>
          <a:lstStyle/>
          <a:p>
            <a:pPr indent="0" marL="0">
              <a:buNone/>
            </a:pPr>
            <a:r>
              <a:rPr lang="en-US" sz="1150" dirty="0">
                <a:solidFill>
                  <a:schemeClr val="tx2"/>
                </a:solidFill>
              </a:rPr>
              <a:t>Safe first-aid steps, “not a diagnosis” clarity, awareness of Ayushman, ABHA, 108</a:t>
            </a:r>
            <a:endParaRPr lang="en-US" sz="1150" dirty="0"/>
          </a:p>
        </p:txBody>
      </p:sp>
      <p:sp>
        <p:nvSpPr>
          <p:cNvPr id="23" name="impact card"/>
          <p:cNvSpPr/>
          <p:nvPr/>
        </p:nvSpPr>
        <p:spPr>
          <a:xfrm>
            <a:off x="3063240" y="3200400"/>
            <a:ext cx="2377440" cy="1737360"/>
          </a:xfrm>
          <a:prstGeom prst="roundRect">
            <a:avLst>
              <a:gd name="adj" fmla="val 6316"/>
            </a:avLst>
          </a:prstGeom>
          <a:solidFill>
            <a:schemeClr val="bg2"/>
          </a:solidFill>
          <a:ln w="12700">
            <a:solidFill>
              <a:schemeClr val="bg2"/>
            </a:solidFill>
            <a:prstDash val="solid"/>
          </a:ln>
        </p:spPr>
      </p:sp>
      <p:sp>
        <p:nvSpPr>
          <p:cNvPr id="24" name="User circle"/>
          <p:cNvSpPr/>
          <p:nvPr/>
        </p:nvSpPr>
        <p:spPr>
          <a:xfrm>
            <a:off x="3246120" y="3383280"/>
            <a:ext cx="475488" cy="475488"/>
          </a:xfrm>
          <a:prstGeom prst="ellipse">
            <a:avLst/>
          </a:prstGeom>
          <a:solidFill>
            <a:srgbClr val="7C3AED"/>
          </a:solidFill>
          <a:ln w="12700">
            <a:solidFill>
              <a:srgbClr val="7C3AED"/>
            </a:solidFill>
            <a:prstDash val="solid"/>
          </a:ln>
        </p:spPr>
      </p:sp>
      <p:pic>
        <p:nvPicPr>
          <p:cNvPr id="25" name="User" descr="preencoded.png">    </p:cNvPr>
          <p:cNvPicPr>
            <a:picLocks noChangeAspect="1"/>
          </p:cNvPicPr>
          <p:nvPr/>
        </p:nvPicPr>
        <p:blipFill>
          <a:blip r:embed="rId5"/>
          <a:stretch>
            <a:fillRect/>
          </a:stretch>
        </p:blipFill>
        <p:spPr>
          <a:xfrm>
            <a:off x="3360237" y="3497397"/>
            <a:ext cx="247254" cy="247254"/>
          </a:xfrm>
          <a:prstGeom prst="rect">
            <a:avLst/>
          </a:prstGeom>
        </p:spPr>
      </p:pic>
      <p:sp>
        <p:nvSpPr>
          <p:cNvPr id="26" name="Text 19"/>
          <p:cNvSpPr txBox="1"/>
          <p:nvPr/>
        </p:nvSpPr>
        <p:spPr>
          <a:xfrm>
            <a:off x="3840480" y="343814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User</a:t>
            </a:r>
            <a:endParaRPr lang="en-US" sz="1600" dirty="0"/>
          </a:p>
        </p:txBody>
      </p:sp>
      <p:sp>
        <p:nvSpPr>
          <p:cNvPr id="27" name="Text 20"/>
          <p:cNvSpPr txBox="1"/>
          <p:nvPr/>
        </p:nvSpPr>
        <p:spPr>
          <a:xfrm>
            <a:off x="3246120" y="3977640"/>
            <a:ext cx="2057400" cy="868680"/>
          </a:xfrm>
          <a:prstGeom prst="rect">
            <a:avLst/>
          </a:prstGeom>
          <a:noFill/>
          <a:ln/>
        </p:spPr>
        <p:txBody>
          <a:bodyPr wrap="square" lIns="0" tIns="0" rIns="0" bIns="0" rtlCol="0" anchor="t"/>
          <a:lstStyle/>
          <a:p>
            <a:pPr indent="0" marL="0">
              <a:buNone/>
            </a:pPr>
            <a:r>
              <a:rPr lang="en-US" sz="1150" dirty="0">
                <a:solidFill>
                  <a:schemeClr val="tx2"/>
                </a:solidFill>
              </a:rPr>
              <a:t>One button, voice, bilingual, clear status and a tracking link for family</a:t>
            </a:r>
            <a:endParaRPr lang="en-US" sz="1150" dirty="0"/>
          </a:p>
        </p:txBody>
      </p:sp>
      <p:sp>
        <p:nvSpPr>
          <p:cNvPr id="28" name="impact card"/>
          <p:cNvSpPr/>
          <p:nvPr/>
        </p:nvSpPr>
        <p:spPr>
          <a:xfrm>
            <a:off x="5577840" y="3200400"/>
            <a:ext cx="2377440" cy="1737360"/>
          </a:xfrm>
          <a:prstGeom prst="roundRect">
            <a:avLst>
              <a:gd name="adj" fmla="val 6316"/>
            </a:avLst>
          </a:prstGeom>
          <a:solidFill>
            <a:schemeClr val="bg2"/>
          </a:solidFill>
          <a:ln w="12700">
            <a:solidFill>
              <a:schemeClr val="bg2"/>
            </a:solidFill>
            <a:prstDash val="solid"/>
          </a:ln>
        </p:spPr>
      </p:sp>
      <p:sp>
        <p:nvSpPr>
          <p:cNvPr id="29" name="Health system circle"/>
          <p:cNvSpPr/>
          <p:nvPr/>
        </p:nvSpPr>
        <p:spPr>
          <a:xfrm>
            <a:off x="5760720" y="3383280"/>
            <a:ext cx="475488" cy="475488"/>
          </a:xfrm>
          <a:prstGeom prst="ellipse">
            <a:avLst/>
          </a:prstGeom>
          <a:solidFill>
            <a:srgbClr val="0F9488"/>
          </a:solidFill>
          <a:ln w="12700">
            <a:solidFill>
              <a:srgbClr val="0F9488"/>
            </a:solidFill>
            <a:prstDash val="solid"/>
          </a:ln>
        </p:spPr>
      </p:sp>
      <p:pic>
        <p:nvPicPr>
          <p:cNvPr id="30" name="Health system" descr="preencoded.png">    </p:cNvPr>
          <p:cNvPicPr>
            <a:picLocks noChangeAspect="1"/>
          </p:cNvPicPr>
          <p:nvPr/>
        </p:nvPicPr>
        <p:blipFill>
          <a:blip r:embed="rId6"/>
          <a:stretch>
            <a:fillRect/>
          </a:stretch>
        </p:blipFill>
        <p:spPr>
          <a:xfrm>
            <a:off x="5874837" y="3497397"/>
            <a:ext cx="247254" cy="247254"/>
          </a:xfrm>
          <a:prstGeom prst="rect">
            <a:avLst/>
          </a:prstGeom>
        </p:spPr>
      </p:pic>
      <p:sp>
        <p:nvSpPr>
          <p:cNvPr id="31" name="Text 23"/>
          <p:cNvSpPr txBox="1"/>
          <p:nvPr/>
        </p:nvSpPr>
        <p:spPr>
          <a:xfrm>
            <a:off x="6355080" y="3438144"/>
            <a:ext cx="1508760" cy="365760"/>
          </a:xfrm>
          <a:prstGeom prst="rect">
            <a:avLst/>
          </a:prstGeom>
          <a:noFill/>
          <a:ln/>
        </p:spPr>
        <p:txBody>
          <a:bodyPr wrap="square" lIns="0" tIns="0" rIns="0" bIns="0" rtlCol="0" anchor="ctr"/>
          <a:lstStyle/>
          <a:p>
            <a:pPr indent="0" marL="0">
              <a:buNone/>
            </a:pPr>
            <a:r>
              <a:rPr lang="en-US" sz="1600" b="1" dirty="0">
                <a:solidFill>
                  <a:schemeClr val="tx1"/>
                </a:solidFill>
              </a:rPr>
              <a:t>Health system</a:t>
            </a:r>
            <a:endParaRPr lang="en-US" sz="1600" dirty="0"/>
          </a:p>
        </p:txBody>
      </p:sp>
      <p:sp>
        <p:nvSpPr>
          <p:cNvPr id="32" name="Text 24"/>
          <p:cNvSpPr txBox="1"/>
          <p:nvPr/>
        </p:nvSpPr>
        <p:spPr>
          <a:xfrm>
            <a:off x="5760720" y="3977640"/>
            <a:ext cx="2057400" cy="868680"/>
          </a:xfrm>
          <a:prstGeom prst="rect">
            <a:avLst/>
          </a:prstGeom>
          <a:noFill/>
          <a:ln/>
        </p:spPr>
        <p:txBody>
          <a:bodyPr wrap="square" lIns="0" tIns="0" rIns="0" bIns="0" rtlCol="0" anchor="t"/>
          <a:lstStyle/>
          <a:p>
            <a:pPr indent="0" marL="0">
              <a:buNone/>
            </a:pPr>
            <a:r>
              <a:rPr lang="en-US" sz="1150" dirty="0">
                <a:solidFill>
                  <a:schemeClr val="tx2"/>
                </a:solidFill>
              </a:rPr>
              <a:t>Fewer surprise arrivals, less ER crowding, fewer inter-hospital transfers</a:t>
            </a:r>
            <a:endParaRPr lang="en-US" sz="1150" dirty="0"/>
          </a:p>
        </p:txBody>
      </p:sp>
      <p:sp>
        <p:nvSpPr>
          <p:cNvPr id="33" name="Text 25"/>
          <p:cNvSpPr txBox="1"/>
          <p:nvPr/>
        </p:nvSpPr>
        <p:spPr>
          <a:xfrm>
            <a:off x="548640" y="5166360"/>
            <a:ext cx="7406640" cy="548640"/>
          </a:xfrm>
          <a:prstGeom prst="rect">
            <a:avLst/>
          </a:prstGeom>
          <a:noFill/>
          <a:ln/>
        </p:spPr>
        <p:txBody>
          <a:bodyPr wrap="square" lIns="0" tIns="0" rIns="0" bIns="0" rtlCol="0" anchor="t"/>
          <a:lstStyle/>
          <a:p>
            <a:pPr indent="0" marL="0">
              <a:buNone/>
            </a:pPr>
            <a:r>
              <a:rPr lang="en-US" sz="1250" i="1" dirty="0">
                <a:solidFill>
                  <a:schemeClr val="tx2"/>
                </a:solidFill>
              </a:rPr>
              <a:t>Pilot KPIs: time to definitive care · secondary transfers avoided · referral acceptance time · data freshness</a:t>
            </a:r>
            <a:endParaRPr lang="en-US" sz="1250" dirty="0"/>
          </a:p>
        </p:txBody>
      </p:sp>
      <p:sp>
        <p:nvSpPr>
          <p:cNvPr id="34" name="privacy panel"/>
          <p:cNvSpPr/>
          <p:nvPr/>
        </p:nvSpPr>
        <p:spPr>
          <a:xfrm>
            <a:off x="8275320" y="1325880"/>
            <a:ext cx="3337560" cy="4846320"/>
          </a:xfrm>
          <a:prstGeom prst="roundRect">
            <a:avLst>
              <a:gd name="adj" fmla="val 3288"/>
            </a:avLst>
          </a:prstGeom>
          <a:solidFill>
            <a:schemeClr val="tx1"/>
          </a:solidFill>
          <a:ln w="12700">
            <a:solidFill>
              <a:schemeClr val="tx1"/>
            </a:solidFill>
            <a:prstDash val="solid"/>
          </a:ln>
        </p:spPr>
      </p:sp>
      <p:sp>
        <p:nvSpPr>
          <p:cNvPr id="35" name="Text 27"/>
          <p:cNvSpPr txBox="1"/>
          <p:nvPr/>
        </p:nvSpPr>
        <p:spPr>
          <a:xfrm>
            <a:off x="8503920" y="1508760"/>
            <a:ext cx="2926080" cy="640080"/>
          </a:xfrm>
          <a:prstGeom prst="rect">
            <a:avLst/>
          </a:prstGeom>
          <a:noFill/>
          <a:ln/>
        </p:spPr>
        <p:txBody>
          <a:bodyPr wrap="square" lIns="0" tIns="0" rIns="0" bIns="0" rtlCol="0" anchor="t"/>
          <a:lstStyle/>
          <a:p>
            <a:pPr indent="0" marL="0">
              <a:buNone/>
            </a:pPr>
            <a:r>
              <a:rPr lang="en-US" sz="1600" b="1" dirty="0">
                <a:solidFill>
                  <a:schemeClr val="bg1"/>
                </a:solidFill>
              </a:rPr>
              <a:t>Privacy &amp; security by design</a:t>
            </a:r>
            <a:endParaRPr lang="en-US" sz="1600" dirty="0"/>
          </a:p>
        </p:txBody>
      </p:sp>
      <p:pic>
        <p:nvPicPr>
          <p:cNvPr id="36" name="privacy icon" descr="preencoded.png">    </p:cNvPr>
          <p:cNvPicPr>
            <a:picLocks noChangeAspect="1"/>
          </p:cNvPicPr>
          <p:nvPr/>
        </p:nvPicPr>
        <p:blipFill>
          <a:blip r:embed="rId7"/>
          <a:stretch>
            <a:fillRect/>
          </a:stretch>
        </p:blipFill>
        <p:spPr>
          <a:xfrm>
            <a:off x="8522208" y="2322576"/>
            <a:ext cx="292608" cy="292608"/>
          </a:xfrm>
          <a:prstGeom prst="rect">
            <a:avLst/>
          </a:prstGeom>
        </p:spPr>
      </p:pic>
      <p:sp>
        <p:nvSpPr>
          <p:cNvPr id="37" name="Text 28"/>
          <p:cNvSpPr txBox="1"/>
          <p:nvPr/>
        </p:nvSpPr>
        <p:spPr>
          <a:xfrm>
            <a:off x="8961120" y="2286000"/>
            <a:ext cx="2514600" cy="548640"/>
          </a:xfrm>
          <a:prstGeom prst="rect">
            <a:avLst/>
          </a:prstGeom>
          <a:noFill/>
          <a:ln/>
        </p:spPr>
        <p:txBody>
          <a:bodyPr wrap="square" lIns="0" tIns="0" rIns="0" bIns="0" rtlCol="0" anchor="t"/>
          <a:lstStyle/>
          <a:p>
            <a:pPr indent="0" marL="0">
              <a:buNone/>
            </a:pPr>
            <a:r>
              <a:rPr lang="en-US" sz="1250" dirty="0">
                <a:solidFill>
                  <a:srgbClr val="E2E8F0"/>
                </a:solidFill>
              </a:rPr>
              <a:t>Consent before sharing patient details</a:t>
            </a:r>
            <a:endParaRPr lang="en-US" sz="1250" dirty="0"/>
          </a:p>
        </p:txBody>
      </p:sp>
      <p:pic>
        <p:nvPicPr>
          <p:cNvPr id="38" name="privacy icon" descr="preencoded.png">    </p:cNvPr>
          <p:cNvPicPr>
            <a:picLocks noChangeAspect="1"/>
          </p:cNvPicPr>
          <p:nvPr/>
        </p:nvPicPr>
        <p:blipFill>
          <a:blip r:embed="rId8"/>
          <a:stretch>
            <a:fillRect/>
          </a:stretch>
        </p:blipFill>
        <p:spPr>
          <a:xfrm>
            <a:off x="8522208" y="2944368"/>
            <a:ext cx="292608" cy="292608"/>
          </a:xfrm>
          <a:prstGeom prst="rect">
            <a:avLst/>
          </a:prstGeom>
        </p:spPr>
      </p:pic>
      <p:sp>
        <p:nvSpPr>
          <p:cNvPr id="39" name="Text 29"/>
          <p:cNvSpPr txBox="1"/>
          <p:nvPr/>
        </p:nvSpPr>
        <p:spPr>
          <a:xfrm>
            <a:off x="8961120" y="2907792"/>
            <a:ext cx="2514600" cy="548640"/>
          </a:xfrm>
          <a:prstGeom prst="rect">
            <a:avLst/>
          </a:prstGeom>
          <a:noFill/>
          <a:ln/>
        </p:spPr>
        <p:txBody>
          <a:bodyPr wrap="square" lIns="0" tIns="0" rIns="0" bIns="0" rtlCol="0" anchor="t"/>
          <a:lstStyle/>
          <a:p>
            <a:pPr indent="0" marL="0">
              <a:buNone/>
            </a:pPr>
            <a:r>
              <a:rPr lang="en-US" sz="1250" dirty="0">
                <a:solidFill>
                  <a:srgbClr val="E2E8F0"/>
                </a:solidFill>
              </a:rPr>
              <a:t>ABHA / Ayushman IDs masked</a:t>
            </a:r>
            <a:endParaRPr lang="en-US" sz="1250" dirty="0"/>
          </a:p>
        </p:txBody>
      </p:sp>
      <p:pic>
        <p:nvPicPr>
          <p:cNvPr id="40" name="privacy icon" descr="preencoded.png">    </p:cNvPr>
          <p:cNvPicPr>
            <a:picLocks noChangeAspect="1"/>
          </p:cNvPicPr>
          <p:nvPr/>
        </p:nvPicPr>
        <p:blipFill>
          <a:blip r:embed="rId9"/>
          <a:stretch>
            <a:fillRect/>
          </a:stretch>
        </p:blipFill>
        <p:spPr>
          <a:xfrm>
            <a:off x="8522208" y="3566160"/>
            <a:ext cx="292608" cy="292608"/>
          </a:xfrm>
          <a:prstGeom prst="rect">
            <a:avLst/>
          </a:prstGeom>
        </p:spPr>
      </p:pic>
      <p:sp>
        <p:nvSpPr>
          <p:cNvPr id="41" name="Text 30"/>
          <p:cNvSpPr txBox="1"/>
          <p:nvPr/>
        </p:nvSpPr>
        <p:spPr>
          <a:xfrm>
            <a:off x="8961120" y="3529584"/>
            <a:ext cx="2514600" cy="548640"/>
          </a:xfrm>
          <a:prstGeom prst="rect">
            <a:avLst/>
          </a:prstGeom>
          <a:noFill/>
          <a:ln/>
        </p:spPr>
        <p:txBody>
          <a:bodyPr wrap="square" lIns="0" tIns="0" rIns="0" bIns="0" rtlCol="0" anchor="t"/>
          <a:lstStyle/>
          <a:p>
            <a:pPr indent="0" marL="0">
              <a:buNone/>
            </a:pPr>
            <a:r>
              <a:rPr lang="en-US" sz="1250" dirty="0">
                <a:solidFill>
                  <a:srgbClr val="E2E8F0"/>
                </a:solidFill>
              </a:rPr>
              <a:t>Staff OTP login and roles</a:t>
            </a:r>
            <a:endParaRPr lang="en-US" sz="1250" dirty="0"/>
          </a:p>
        </p:txBody>
      </p:sp>
      <p:pic>
        <p:nvPicPr>
          <p:cNvPr id="42" name="privacy icon" descr="preencoded.png">    </p:cNvPr>
          <p:cNvPicPr>
            <a:picLocks noChangeAspect="1"/>
          </p:cNvPicPr>
          <p:nvPr/>
        </p:nvPicPr>
        <p:blipFill>
          <a:blip r:embed="rId10"/>
          <a:stretch>
            <a:fillRect/>
          </a:stretch>
        </p:blipFill>
        <p:spPr>
          <a:xfrm>
            <a:off x="8522208" y="4187952"/>
            <a:ext cx="292608" cy="292608"/>
          </a:xfrm>
          <a:prstGeom prst="rect">
            <a:avLst/>
          </a:prstGeom>
        </p:spPr>
      </p:pic>
      <p:sp>
        <p:nvSpPr>
          <p:cNvPr id="43" name="Text 31"/>
          <p:cNvSpPr txBox="1"/>
          <p:nvPr/>
        </p:nvSpPr>
        <p:spPr>
          <a:xfrm>
            <a:off x="8961120" y="4151376"/>
            <a:ext cx="2514600" cy="548640"/>
          </a:xfrm>
          <a:prstGeom prst="rect">
            <a:avLst/>
          </a:prstGeom>
          <a:noFill/>
          <a:ln/>
        </p:spPr>
        <p:txBody>
          <a:bodyPr wrap="square" lIns="0" tIns="0" rIns="0" bIns="0" rtlCol="0" anchor="t"/>
          <a:lstStyle/>
          <a:p>
            <a:pPr indent="0" marL="0">
              <a:buNone/>
            </a:pPr>
            <a:r>
              <a:rPr lang="en-US" sz="1250" dirty="0">
                <a:solidFill>
                  <a:srgbClr val="E2E8F0"/>
                </a:solidFill>
              </a:rPr>
              <a:t>Audit log of every action</a:t>
            </a:r>
            <a:endParaRPr lang="en-US" sz="1250" dirty="0"/>
          </a:p>
        </p:txBody>
      </p:sp>
      <p:pic>
        <p:nvPicPr>
          <p:cNvPr id="44" name="privacy icon" descr="preencoded.png">    </p:cNvPr>
          <p:cNvPicPr>
            <a:picLocks noChangeAspect="1"/>
          </p:cNvPicPr>
          <p:nvPr/>
        </p:nvPicPr>
        <p:blipFill>
          <a:blip r:embed="rId11"/>
          <a:stretch>
            <a:fillRect/>
          </a:stretch>
        </p:blipFill>
        <p:spPr>
          <a:xfrm>
            <a:off x="8522208" y="4809744"/>
            <a:ext cx="292608" cy="292608"/>
          </a:xfrm>
          <a:prstGeom prst="rect">
            <a:avLst/>
          </a:prstGeom>
        </p:spPr>
      </p:pic>
      <p:sp>
        <p:nvSpPr>
          <p:cNvPr id="45" name="Text 32"/>
          <p:cNvSpPr txBox="1"/>
          <p:nvPr/>
        </p:nvSpPr>
        <p:spPr>
          <a:xfrm>
            <a:off x="8961120" y="4773168"/>
            <a:ext cx="2514600" cy="548640"/>
          </a:xfrm>
          <a:prstGeom prst="rect">
            <a:avLst/>
          </a:prstGeom>
          <a:noFill/>
          <a:ln/>
        </p:spPr>
        <p:txBody>
          <a:bodyPr wrap="square" lIns="0" tIns="0" rIns="0" bIns="0" rtlCol="0" anchor="t"/>
          <a:lstStyle/>
          <a:p>
            <a:pPr indent="0" marL="0">
              <a:buNone/>
            </a:pPr>
            <a:r>
              <a:rPr lang="en-US" sz="1250" dirty="0">
                <a:solidFill>
                  <a:srgbClr val="E2E8F0"/>
                </a:solidFill>
              </a:rPr>
              <a:t>Details deleted 24 h after hand-over</a:t>
            </a:r>
            <a:endParaRPr lang="en-US" sz="1250" dirty="0"/>
          </a:p>
        </p:txBody>
      </p:sp>
      <p:pic>
        <p:nvPicPr>
          <p:cNvPr id="46" name="privacy icon" descr="preencoded.png">    </p:cNvPr>
          <p:cNvPicPr>
            <a:picLocks noChangeAspect="1"/>
          </p:cNvPicPr>
          <p:nvPr/>
        </p:nvPicPr>
        <p:blipFill>
          <a:blip r:embed="rId12"/>
          <a:stretch>
            <a:fillRect/>
          </a:stretch>
        </p:blipFill>
        <p:spPr>
          <a:xfrm>
            <a:off x="8522208" y="5431536"/>
            <a:ext cx="292608" cy="292608"/>
          </a:xfrm>
          <a:prstGeom prst="rect">
            <a:avLst/>
          </a:prstGeom>
        </p:spPr>
      </p:pic>
      <p:sp>
        <p:nvSpPr>
          <p:cNvPr id="47" name="Text 33"/>
          <p:cNvSpPr txBox="1"/>
          <p:nvPr/>
        </p:nvSpPr>
        <p:spPr>
          <a:xfrm>
            <a:off x="8961120" y="5394960"/>
            <a:ext cx="2514600" cy="548640"/>
          </a:xfrm>
          <a:prstGeom prst="rect">
            <a:avLst/>
          </a:prstGeom>
          <a:noFill/>
          <a:ln/>
        </p:spPr>
        <p:txBody>
          <a:bodyPr wrap="square" lIns="0" tIns="0" rIns="0" bIns="0" rtlCol="0" anchor="t"/>
          <a:lstStyle/>
          <a:p>
            <a:pPr indent="0" marL="0">
              <a:buNone/>
            </a:pPr>
            <a:r>
              <a:rPr lang="en-US" sz="1250" dirty="0">
                <a:solidFill>
                  <a:srgbClr val="E2E8F0"/>
                </a:solidFill>
              </a:rPr>
              <a:t>Aligned with the DPDP Act 2023</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Built today, ready to pilot in Bhopal</a:t>
            </a:r>
            <a:endParaRPr lang="en-US" sz="3400" dirty="0"/>
          </a:p>
        </p:txBody>
      </p:sp>
      <p:sp>
        <p:nvSpPr>
          <p:cNvPr id="3" name="timeline"/>
          <p:cNvSpPr/>
          <p:nvPr/>
        </p:nvSpPr>
        <p:spPr>
          <a:xfrm>
            <a:off x="1005840" y="1783080"/>
            <a:ext cx="8503920" cy="0"/>
          </a:xfrm>
          <a:prstGeom prst="line">
            <a:avLst/>
          </a:prstGeom>
          <a:noFill/>
          <a:ln w="38100">
            <a:solidFill>
              <a:srgbClr val="334155"/>
            </a:solidFill>
            <a:prstDash val="solid"/>
          </a:ln>
        </p:spPr>
      </p:sp>
      <p:sp>
        <p:nvSpPr>
          <p:cNvPr id="4" name="Prototype circle"/>
          <p:cNvSpPr/>
          <p:nvPr/>
        </p:nvSpPr>
        <p:spPr>
          <a:xfrm>
            <a:off x="548640" y="1463040"/>
            <a:ext cx="640080" cy="640080"/>
          </a:xfrm>
          <a:prstGeom prst="ellipse">
            <a:avLst/>
          </a:prstGeom>
          <a:solidFill>
            <a:srgbClr val="16A34A"/>
          </a:solidFill>
          <a:ln w="12700">
            <a:solidFill>
              <a:srgbClr val="16A34A"/>
            </a:solidFill>
            <a:prstDash val="solid"/>
          </a:ln>
        </p:spPr>
      </p:sp>
      <p:pic>
        <p:nvPicPr>
          <p:cNvPr id="5" name="Prototype" descr="preencoded.png">    </p:cNvPr>
          <p:cNvPicPr>
            <a:picLocks noChangeAspect="1"/>
          </p:cNvPicPr>
          <p:nvPr/>
        </p:nvPicPr>
        <p:blipFill>
          <a:blip r:embed="rId1"/>
          <a:stretch>
            <a:fillRect/>
          </a:stretch>
        </p:blipFill>
        <p:spPr>
          <a:xfrm>
            <a:off x="702259" y="1616659"/>
            <a:ext cx="332842" cy="332842"/>
          </a:xfrm>
          <a:prstGeom prst="rect">
            <a:avLst/>
          </a:prstGeom>
        </p:spPr>
      </p:pic>
      <p:sp>
        <p:nvSpPr>
          <p:cNvPr id="6" name="Text 3"/>
          <p:cNvSpPr txBox="1"/>
          <p:nvPr/>
        </p:nvSpPr>
        <p:spPr>
          <a:xfrm>
            <a:off x="548640" y="2240280"/>
            <a:ext cx="2651760" cy="347472"/>
          </a:xfrm>
          <a:prstGeom prst="rect">
            <a:avLst/>
          </a:prstGeom>
          <a:noFill/>
          <a:ln/>
        </p:spPr>
        <p:txBody>
          <a:bodyPr wrap="square" lIns="0" tIns="0" rIns="0" bIns="0" rtlCol="0" anchor="t"/>
          <a:lstStyle/>
          <a:p>
            <a:pPr indent="0" marL="0">
              <a:buNone/>
            </a:pPr>
            <a:r>
              <a:rPr lang="en-US" sz="1700" b="1" dirty="0">
                <a:solidFill>
                  <a:schemeClr val="bg1"/>
                </a:solidFill>
              </a:rPr>
              <a:t>Prototype</a:t>
            </a:r>
            <a:endParaRPr lang="en-US" sz="1700" dirty="0"/>
          </a:p>
        </p:txBody>
      </p:sp>
      <p:sp>
        <p:nvSpPr>
          <p:cNvPr id="7" name="Text 4"/>
          <p:cNvSpPr txBox="1"/>
          <p:nvPr/>
        </p:nvSpPr>
        <p:spPr>
          <a:xfrm>
            <a:off x="548640" y="2606040"/>
            <a:ext cx="2651760" cy="274320"/>
          </a:xfrm>
          <a:prstGeom prst="rect">
            <a:avLst/>
          </a:prstGeom>
          <a:noFill/>
          <a:ln/>
        </p:spPr>
        <p:txBody>
          <a:bodyPr wrap="square" lIns="0" tIns="0" rIns="0" bIns="0" rtlCol="0" anchor="t"/>
          <a:lstStyle/>
          <a:p>
            <a:pPr indent="0" marL="0">
              <a:buNone/>
            </a:pPr>
            <a:r>
              <a:rPr lang="en-US" sz="1200" dirty="0">
                <a:solidFill>
                  <a:srgbClr val="5EEAD4"/>
                </a:solidFill>
              </a:rPr>
              <a:t>Done</a:t>
            </a:r>
            <a:endParaRPr lang="en-US" sz="1200" dirty="0"/>
          </a:p>
        </p:txBody>
      </p:sp>
      <p:sp>
        <p:nvSpPr>
          <p:cNvPr id="8" name="Text 5"/>
          <p:cNvSpPr txBox="1"/>
          <p:nvPr/>
        </p:nvSpPr>
        <p:spPr>
          <a:xfrm>
            <a:off x="548640" y="2926080"/>
            <a:ext cx="2560320" cy="777240"/>
          </a:xfrm>
          <a:prstGeom prst="rect">
            <a:avLst/>
          </a:prstGeom>
          <a:noFill/>
          <a:ln/>
        </p:spPr>
        <p:txBody>
          <a:bodyPr wrap="square" lIns="0" tIns="0" rIns="0" bIns="0" rtlCol="0" anchor="t"/>
          <a:lstStyle/>
          <a:p>
            <a:pPr indent="0" marL="0">
              <a:buNone/>
            </a:pPr>
            <a:r>
              <a:rPr lang="en-US" sz="1200" dirty="0">
                <a:solidFill>
                  <a:srgbClr val="CBD5E1"/>
                </a:solidFill>
              </a:rPr>
              <a:t>Both portals live, AI triage, matching, acceptance, live maps, 51 tests</a:t>
            </a:r>
            <a:endParaRPr lang="en-US" sz="1200" dirty="0"/>
          </a:p>
        </p:txBody>
      </p:sp>
      <p:sp>
        <p:nvSpPr>
          <p:cNvPr id="9" name="Pilot · Bhopal circle"/>
          <p:cNvSpPr/>
          <p:nvPr/>
        </p:nvSpPr>
        <p:spPr>
          <a:xfrm>
            <a:off x="3383280" y="1463040"/>
            <a:ext cx="640080" cy="640080"/>
          </a:xfrm>
          <a:prstGeom prst="ellipse">
            <a:avLst/>
          </a:prstGeom>
          <a:solidFill>
            <a:srgbClr val="0F9488"/>
          </a:solidFill>
          <a:ln w="12700">
            <a:solidFill>
              <a:srgbClr val="0F9488"/>
            </a:solidFill>
            <a:prstDash val="solid"/>
          </a:ln>
        </p:spPr>
      </p:sp>
      <p:pic>
        <p:nvPicPr>
          <p:cNvPr id="10" name="Pilot · Bhopal" descr="preencoded.png">    </p:cNvPr>
          <p:cNvPicPr>
            <a:picLocks noChangeAspect="1"/>
          </p:cNvPicPr>
          <p:nvPr/>
        </p:nvPicPr>
        <p:blipFill>
          <a:blip r:embed="rId2"/>
          <a:stretch>
            <a:fillRect/>
          </a:stretch>
        </p:blipFill>
        <p:spPr>
          <a:xfrm>
            <a:off x="3536899" y="1616659"/>
            <a:ext cx="332842" cy="332842"/>
          </a:xfrm>
          <a:prstGeom prst="rect">
            <a:avLst/>
          </a:prstGeom>
        </p:spPr>
      </p:pic>
      <p:sp>
        <p:nvSpPr>
          <p:cNvPr id="11" name="Text 7"/>
          <p:cNvSpPr txBox="1"/>
          <p:nvPr/>
        </p:nvSpPr>
        <p:spPr>
          <a:xfrm>
            <a:off x="3383280" y="2240280"/>
            <a:ext cx="2651760" cy="347472"/>
          </a:xfrm>
          <a:prstGeom prst="rect">
            <a:avLst/>
          </a:prstGeom>
          <a:noFill/>
          <a:ln/>
        </p:spPr>
        <p:txBody>
          <a:bodyPr wrap="square" lIns="0" tIns="0" rIns="0" bIns="0" rtlCol="0" anchor="t"/>
          <a:lstStyle/>
          <a:p>
            <a:pPr indent="0" marL="0">
              <a:buNone/>
            </a:pPr>
            <a:r>
              <a:rPr lang="en-US" sz="1700" b="1" dirty="0">
                <a:solidFill>
                  <a:schemeClr val="bg1"/>
                </a:solidFill>
              </a:rPr>
              <a:t>Pilot · Bhopal</a:t>
            </a:r>
            <a:endParaRPr lang="en-US" sz="1700" dirty="0"/>
          </a:p>
        </p:txBody>
      </p:sp>
      <p:sp>
        <p:nvSpPr>
          <p:cNvPr id="12" name="Text 8"/>
          <p:cNvSpPr txBox="1"/>
          <p:nvPr/>
        </p:nvSpPr>
        <p:spPr>
          <a:xfrm>
            <a:off x="3383280" y="2606040"/>
            <a:ext cx="2651760" cy="274320"/>
          </a:xfrm>
          <a:prstGeom prst="rect">
            <a:avLst/>
          </a:prstGeom>
          <a:noFill/>
          <a:ln/>
        </p:spPr>
        <p:txBody>
          <a:bodyPr wrap="square" lIns="0" tIns="0" rIns="0" bIns="0" rtlCol="0" anchor="t"/>
          <a:lstStyle/>
          <a:p>
            <a:pPr indent="0" marL="0">
              <a:buNone/>
            </a:pPr>
            <a:r>
              <a:rPr lang="en-US" sz="1200" dirty="0">
                <a:solidFill>
                  <a:srgbClr val="5EEAD4"/>
                </a:solidFill>
              </a:rPr>
              <a:t>~3 months</a:t>
            </a:r>
            <a:endParaRPr lang="en-US" sz="1200" dirty="0"/>
          </a:p>
        </p:txBody>
      </p:sp>
      <p:sp>
        <p:nvSpPr>
          <p:cNvPr id="13" name="Text 9"/>
          <p:cNvSpPr txBox="1"/>
          <p:nvPr/>
        </p:nvSpPr>
        <p:spPr>
          <a:xfrm>
            <a:off x="3383280" y="2926080"/>
            <a:ext cx="2560320" cy="777240"/>
          </a:xfrm>
          <a:prstGeom prst="rect">
            <a:avLst/>
          </a:prstGeom>
          <a:noFill/>
          <a:ln/>
        </p:spPr>
        <p:txBody>
          <a:bodyPr wrap="square" lIns="0" tIns="0" rIns="0" bIns="0" rtlCol="0" anchor="t"/>
          <a:lstStyle/>
          <a:p>
            <a:pPr indent="0" marL="0">
              <a:buNone/>
            </a:pPr>
            <a:r>
              <a:rPr lang="en-US" sz="1200" dirty="0">
                <a:solidFill>
                  <a:srgbClr val="CBD5E1"/>
                </a:solidFill>
              </a:rPr>
              <a:t>Onboard hospitals, nodal officers, ER desk training, clinical review</a:t>
            </a:r>
            <a:endParaRPr lang="en-US" sz="1200" dirty="0"/>
          </a:p>
        </p:txBody>
      </p:sp>
      <p:sp>
        <p:nvSpPr>
          <p:cNvPr id="14" name="Integrate circle"/>
          <p:cNvSpPr/>
          <p:nvPr/>
        </p:nvSpPr>
        <p:spPr>
          <a:xfrm>
            <a:off x="6217920" y="1463040"/>
            <a:ext cx="640080" cy="640080"/>
          </a:xfrm>
          <a:prstGeom prst="ellipse">
            <a:avLst/>
          </a:prstGeom>
          <a:solidFill>
            <a:srgbClr val="2563EB"/>
          </a:solidFill>
          <a:ln w="12700">
            <a:solidFill>
              <a:srgbClr val="2563EB"/>
            </a:solidFill>
            <a:prstDash val="solid"/>
          </a:ln>
        </p:spPr>
      </p:sp>
      <p:pic>
        <p:nvPicPr>
          <p:cNvPr id="15" name="Integrate" descr="preencoded.png">    </p:cNvPr>
          <p:cNvPicPr>
            <a:picLocks noChangeAspect="1"/>
          </p:cNvPicPr>
          <p:nvPr/>
        </p:nvPicPr>
        <p:blipFill>
          <a:blip r:embed="rId3"/>
          <a:stretch>
            <a:fillRect/>
          </a:stretch>
        </p:blipFill>
        <p:spPr>
          <a:xfrm>
            <a:off x="6371539" y="1616659"/>
            <a:ext cx="332842" cy="332842"/>
          </a:xfrm>
          <a:prstGeom prst="rect">
            <a:avLst/>
          </a:prstGeom>
        </p:spPr>
      </p:pic>
      <p:sp>
        <p:nvSpPr>
          <p:cNvPr id="16" name="Text 11"/>
          <p:cNvSpPr txBox="1"/>
          <p:nvPr/>
        </p:nvSpPr>
        <p:spPr>
          <a:xfrm>
            <a:off x="6217920" y="2240280"/>
            <a:ext cx="2651760" cy="347472"/>
          </a:xfrm>
          <a:prstGeom prst="rect">
            <a:avLst/>
          </a:prstGeom>
          <a:noFill/>
          <a:ln/>
        </p:spPr>
        <p:txBody>
          <a:bodyPr wrap="square" lIns="0" tIns="0" rIns="0" bIns="0" rtlCol="0" anchor="t"/>
          <a:lstStyle/>
          <a:p>
            <a:pPr indent="0" marL="0">
              <a:buNone/>
            </a:pPr>
            <a:r>
              <a:rPr lang="en-US" sz="1700" b="1" dirty="0">
                <a:solidFill>
                  <a:schemeClr val="bg1"/>
                </a:solidFill>
              </a:rPr>
              <a:t>Integrate</a:t>
            </a:r>
            <a:endParaRPr lang="en-US" sz="1700" dirty="0"/>
          </a:p>
        </p:txBody>
      </p:sp>
      <p:sp>
        <p:nvSpPr>
          <p:cNvPr id="17" name="Text 12"/>
          <p:cNvSpPr txBox="1"/>
          <p:nvPr/>
        </p:nvSpPr>
        <p:spPr>
          <a:xfrm>
            <a:off x="6217920" y="2606040"/>
            <a:ext cx="2651760" cy="274320"/>
          </a:xfrm>
          <a:prstGeom prst="rect">
            <a:avLst/>
          </a:prstGeom>
          <a:noFill/>
          <a:ln/>
        </p:spPr>
        <p:txBody>
          <a:bodyPr wrap="square" lIns="0" tIns="0" rIns="0" bIns="0" rtlCol="0" anchor="t"/>
          <a:lstStyle/>
          <a:p>
            <a:pPr indent="0" marL="0">
              <a:buNone/>
            </a:pPr>
            <a:r>
              <a:rPr lang="en-US" sz="1200" dirty="0">
                <a:solidFill>
                  <a:srgbClr val="5EEAD4"/>
                </a:solidFill>
              </a:rPr>
              <a:t>~3–6 months</a:t>
            </a:r>
            <a:endParaRPr lang="en-US" sz="1200" dirty="0"/>
          </a:p>
        </p:txBody>
      </p:sp>
      <p:sp>
        <p:nvSpPr>
          <p:cNvPr id="18" name="Text 13"/>
          <p:cNvSpPr txBox="1"/>
          <p:nvPr/>
        </p:nvSpPr>
        <p:spPr>
          <a:xfrm>
            <a:off x="6217920" y="2926080"/>
            <a:ext cx="2560320" cy="777240"/>
          </a:xfrm>
          <a:prstGeom prst="rect">
            <a:avLst/>
          </a:prstGeom>
          <a:noFill/>
          <a:ln/>
        </p:spPr>
        <p:txBody>
          <a:bodyPr wrap="square" lIns="0" tIns="0" rIns="0" bIns="0" rtlCol="0" anchor="t"/>
          <a:lstStyle/>
          <a:p>
            <a:pPr indent="0" marL="0">
              <a:buNone/>
            </a:pPr>
            <a:r>
              <a:rPr lang="en-US" sz="1200" dirty="0">
                <a:solidFill>
                  <a:srgbClr val="CBD5E1"/>
                </a:solidFill>
              </a:rPr>
              <a:t>Health Facility Registry, hospital HMIS, 108 control room, ABDM, SMS</a:t>
            </a:r>
            <a:endParaRPr lang="en-US" sz="1200" dirty="0"/>
          </a:p>
        </p:txBody>
      </p:sp>
      <p:sp>
        <p:nvSpPr>
          <p:cNvPr id="19" name="Scale · MP circle"/>
          <p:cNvSpPr/>
          <p:nvPr/>
        </p:nvSpPr>
        <p:spPr>
          <a:xfrm>
            <a:off x="9052560" y="1463040"/>
            <a:ext cx="640080" cy="640080"/>
          </a:xfrm>
          <a:prstGeom prst="ellipse">
            <a:avLst/>
          </a:prstGeom>
          <a:solidFill>
            <a:srgbClr val="7C3AED"/>
          </a:solidFill>
          <a:ln w="12700">
            <a:solidFill>
              <a:srgbClr val="7C3AED"/>
            </a:solidFill>
            <a:prstDash val="solid"/>
          </a:ln>
        </p:spPr>
      </p:sp>
      <p:pic>
        <p:nvPicPr>
          <p:cNvPr id="20" name="Scale · MP" descr="preencoded.png">    </p:cNvPr>
          <p:cNvPicPr>
            <a:picLocks noChangeAspect="1"/>
          </p:cNvPicPr>
          <p:nvPr/>
        </p:nvPicPr>
        <p:blipFill>
          <a:blip r:embed="rId4"/>
          <a:stretch>
            <a:fillRect/>
          </a:stretch>
        </p:blipFill>
        <p:spPr>
          <a:xfrm>
            <a:off x="9206179" y="1616659"/>
            <a:ext cx="332842" cy="332842"/>
          </a:xfrm>
          <a:prstGeom prst="rect">
            <a:avLst/>
          </a:prstGeom>
        </p:spPr>
      </p:pic>
      <p:sp>
        <p:nvSpPr>
          <p:cNvPr id="21" name="Text 15"/>
          <p:cNvSpPr txBox="1"/>
          <p:nvPr/>
        </p:nvSpPr>
        <p:spPr>
          <a:xfrm>
            <a:off x="9052560" y="2240280"/>
            <a:ext cx="2651760" cy="347472"/>
          </a:xfrm>
          <a:prstGeom prst="rect">
            <a:avLst/>
          </a:prstGeom>
          <a:noFill/>
          <a:ln/>
        </p:spPr>
        <p:txBody>
          <a:bodyPr wrap="square" lIns="0" tIns="0" rIns="0" bIns="0" rtlCol="0" anchor="t"/>
          <a:lstStyle/>
          <a:p>
            <a:pPr indent="0" marL="0">
              <a:buNone/>
            </a:pPr>
            <a:r>
              <a:rPr lang="en-US" sz="1700" b="1" dirty="0">
                <a:solidFill>
                  <a:schemeClr val="bg1"/>
                </a:solidFill>
              </a:rPr>
              <a:t>Scale · MP</a:t>
            </a:r>
            <a:endParaRPr lang="en-US" sz="1700" dirty="0"/>
          </a:p>
        </p:txBody>
      </p:sp>
      <p:sp>
        <p:nvSpPr>
          <p:cNvPr id="22" name="Text 16"/>
          <p:cNvSpPr txBox="1"/>
          <p:nvPr/>
        </p:nvSpPr>
        <p:spPr>
          <a:xfrm>
            <a:off x="9052560" y="2606040"/>
            <a:ext cx="2651760" cy="274320"/>
          </a:xfrm>
          <a:prstGeom prst="rect">
            <a:avLst/>
          </a:prstGeom>
          <a:noFill/>
          <a:ln/>
        </p:spPr>
        <p:txBody>
          <a:bodyPr wrap="square" lIns="0" tIns="0" rIns="0" bIns="0" rtlCol="0" anchor="t"/>
          <a:lstStyle/>
          <a:p>
            <a:pPr indent="0" marL="0">
              <a:buNone/>
            </a:pPr>
            <a:r>
              <a:rPr lang="en-US" sz="1200" dirty="0">
                <a:solidFill>
                  <a:srgbClr val="5EEAD4"/>
                </a:solidFill>
              </a:rPr>
              <a:t>~6–12 months</a:t>
            </a:r>
            <a:endParaRPr lang="en-US" sz="1200" dirty="0"/>
          </a:p>
        </p:txBody>
      </p:sp>
      <p:sp>
        <p:nvSpPr>
          <p:cNvPr id="23" name="Text 17"/>
          <p:cNvSpPr txBox="1"/>
          <p:nvPr/>
        </p:nvSpPr>
        <p:spPr>
          <a:xfrm>
            <a:off x="9052560" y="2926080"/>
            <a:ext cx="2560320" cy="777240"/>
          </a:xfrm>
          <a:prstGeom prst="rect">
            <a:avLst/>
          </a:prstGeom>
          <a:noFill/>
          <a:ln/>
        </p:spPr>
        <p:txBody>
          <a:bodyPr wrap="square" lIns="0" tIns="0" rIns="0" bIns="0" rtlCol="0" anchor="t"/>
          <a:lstStyle/>
          <a:p>
            <a:pPr indent="0" marL="0">
              <a:buNone/>
            </a:pPr>
            <a:r>
              <a:rPr lang="en-US" sz="1200" dirty="0">
                <a:solidFill>
                  <a:srgbClr val="CBD5E1"/>
                </a:solidFill>
              </a:rPr>
              <a:t>District-by-district rollout, state view, IVR for feature phones</a:t>
            </a:r>
            <a:endParaRPr lang="en-US" sz="1200" dirty="0"/>
          </a:p>
        </p:txBody>
      </p:sp>
      <p:sp>
        <p:nvSpPr>
          <p:cNvPr id="24" name="Text 18"/>
          <p:cNvSpPr txBox="1"/>
          <p:nvPr/>
        </p:nvSpPr>
        <p:spPr>
          <a:xfrm>
            <a:off x="548640" y="39319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Why Medreach should be selected</a:t>
            </a:r>
            <a:endParaRPr lang="en-US" sz="1800" dirty="0"/>
          </a:p>
        </p:txBody>
      </p:sp>
      <p:sp>
        <p:nvSpPr>
          <p:cNvPr id="25" name="why card"/>
          <p:cNvSpPr/>
          <p:nvPr/>
        </p:nvSpPr>
        <p:spPr>
          <a:xfrm>
            <a:off x="548640" y="4389120"/>
            <a:ext cx="2651760" cy="1097280"/>
          </a:xfrm>
          <a:prstGeom prst="roundRect">
            <a:avLst>
              <a:gd name="adj" fmla="val 10000"/>
            </a:avLst>
          </a:prstGeom>
          <a:solidFill>
            <a:srgbClr val="16233A"/>
          </a:solidFill>
          <a:ln w="12700">
            <a:solidFill>
              <a:srgbClr val="16233A"/>
            </a:solidFill>
            <a:prstDash val="solid"/>
          </a:ln>
        </p:spPr>
      </p:sp>
      <p:sp>
        <p:nvSpPr>
          <p:cNvPr id="26" name="Text 20"/>
          <p:cNvSpPr txBox="1"/>
          <p:nvPr/>
        </p:nvSpPr>
        <p:spPr>
          <a:xfrm>
            <a:off x="731520" y="4498848"/>
            <a:ext cx="2286000" cy="347472"/>
          </a:xfrm>
          <a:prstGeom prst="rect">
            <a:avLst/>
          </a:prstGeom>
          <a:noFill/>
          <a:ln/>
        </p:spPr>
        <p:txBody>
          <a:bodyPr wrap="square" lIns="0" tIns="0" rIns="0" bIns="0" rtlCol="0" anchor="t"/>
          <a:lstStyle/>
          <a:p>
            <a:pPr indent="0" marL="0">
              <a:buNone/>
            </a:pPr>
            <a:r>
              <a:rPr lang="en-US" sz="1500" b="1" dirty="0">
                <a:solidFill>
                  <a:srgbClr val="5EEAD4"/>
                </a:solidFill>
              </a:rPr>
              <a:t>Real, urgent problem</a:t>
            </a:r>
            <a:endParaRPr lang="en-US" sz="1500" dirty="0"/>
          </a:p>
        </p:txBody>
      </p:sp>
      <p:sp>
        <p:nvSpPr>
          <p:cNvPr id="27" name="Text 21"/>
          <p:cNvSpPr txBox="1"/>
          <p:nvPr/>
        </p:nvSpPr>
        <p:spPr>
          <a:xfrm>
            <a:off x="731520" y="4864608"/>
            <a:ext cx="2286000" cy="548640"/>
          </a:xfrm>
          <a:prstGeom prst="rect">
            <a:avLst/>
          </a:prstGeom>
          <a:noFill/>
          <a:ln/>
        </p:spPr>
        <p:txBody>
          <a:bodyPr wrap="square" lIns="0" tIns="0" rIns="0" bIns="0" rtlCol="0" anchor="t"/>
          <a:lstStyle/>
          <a:p>
            <a:pPr indent="0" marL="0">
              <a:buNone/>
            </a:pPr>
            <a:r>
              <a:rPr lang="en-US" sz="1200" dirty="0">
                <a:solidFill>
                  <a:srgbClr val="E2E8F0"/>
                </a:solidFill>
              </a:rPr>
              <a:t>Life-or-death gap for MP citizens</a:t>
            </a:r>
            <a:endParaRPr lang="en-US" sz="1200" dirty="0"/>
          </a:p>
        </p:txBody>
      </p:sp>
      <p:sp>
        <p:nvSpPr>
          <p:cNvPr id="28" name="why card"/>
          <p:cNvSpPr/>
          <p:nvPr/>
        </p:nvSpPr>
        <p:spPr>
          <a:xfrm>
            <a:off x="3383280" y="4389120"/>
            <a:ext cx="2651760" cy="1097280"/>
          </a:xfrm>
          <a:prstGeom prst="roundRect">
            <a:avLst>
              <a:gd name="adj" fmla="val 10000"/>
            </a:avLst>
          </a:prstGeom>
          <a:solidFill>
            <a:srgbClr val="16233A"/>
          </a:solidFill>
          <a:ln w="12700">
            <a:solidFill>
              <a:srgbClr val="16233A"/>
            </a:solidFill>
            <a:prstDash val="solid"/>
          </a:ln>
        </p:spPr>
      </p:sp>
      <p:sp>
        <p:nvSpPr>
          <p:cNvPr id="29" name="Text 23"/>
          <p:cNvSpPr txBox="1"/>
          <p:nvPr/>
        </p:nvSpPr>
        <p:spPr>
          <a:xfrm>
            <a:off x="3566160" y="4498848"/>
            <a:ext cx="2286000" cy="347472"/>
          </a:xfrm>
          <a:prstGeom prst="rect">
            <a:avLst/>
          </a:prstGeom>
          <a:noFill/>
          <a:ln/>
        </p:spPr>
        <p:txBody>
          <a:bodyPr wrap="square" lIns="0" tIns="0" rIns="0" bIns="0" rtlCol="0" anchor="t"/>
          <a:lstStyle/>
          <a:p>
            <a:pPr indent="0" marL="0">
              <a:buNone/>
            </a:pPr>
            <a:r>
              <a:rPr lang="en-US" sz="1500" b="1" dirty="0">
                <a:solidFill>
                  <a:srgbClr val="5EEAD4"/>
                </a:solidFill>
              </a:rPr>
              <a:t>Working product</a:t>
            </a:r>
            <a:endParaRPr lang="en-US" sz="1500" dirty="0"/>
          </a:p>
        </p:txBody>
      </p:sp>
      <p:sp>
        <p:nvSpPr>
          <p:cNvPr id="30" name="Text 24"/>
          <p:cNvSpPr txBox="1"/>
          <p:nvPr/>
        </p:nvSpPr>
        <p:spPr>
          <a:xfrm>
            <a:off x="3566160" y="4864608"/>
            <a:ext cx="2286000" cy="548640"/>
          </a:xfrm>
          <a:prstGeom prst="rect">
            <a:avLst/>
          </a:prstGeom>
          <a:noFill/>
          <a:ln/>
        </p:spPr>
        <p:txBody>
          <a:bodyPr wrap="square" lIns="0" tIns="0" rIns="0" bIns="0" rtlCol="0" anchor="t"/>
          <a:lstStyle/>
          <a:p>
            <a:pPr indent="0" marL="0">
              <a:buNone/>
            </a:pPr>
            <a:r>
              <a:rPr lang="en-US" sz="1200" dirty="0">
                <a:solidFill>
                  <a:srgbClr val="E2E8F0"/>
                </a:solidFill>
              </a:rPr>
              <a:t>Deployed, 7/7 technologies, 51 tests</a:t>
            </a:r>
            <a:endParaRPr lang="en-US" sz="1200" dirty="0"/>
          </a:p>
        </p:txBody>
      </p:sp>
      <p:sp>
        <p:nvSpPr>
          <p:cNvPr id="31" name="why card"/>
          <p:cNvSpPr/>
          <p:nvPr/>
        </p:nvSpPr>
        <p:spPr>
          <a:xfrm>
            <a:off x="6217920" y="4389120"/>
            <a:ext cx="2651760" cy="1097280"/>
          </a:xfrm>
          <a:prstGeom prst="roundRect">
            <a:avLst>
              <a:gd name="adj" fmla="val 10000"/>
            </a:avLst>
          </a:prstGeom>
          <a:solidFill>
            <a:srgbClr val="16233A"/>
          </a:solidFill>
          <a:ln w="12700">
            <a:solidFill>
              <a:srgbClr val="16233A"/>
            </a:solidFill>
            <a:prstDash val="solid"/>
          </a:ln>
        </p:spPr>
      </p:sp>
      <p:sp>
        <p:nvSpPr>
          <p:cNvPr id="32" name="Text 26"/>
          <p:cNvSpPr txBox="1"/>
          <p:nvPr/>
        </p:nvSpPr>
        <p:spPr>
          <a:xfrm>
            <a:off x="6400800" y="4498848"/>
            <a:ext cx="2286000" cy="347472"/>
          </a:xfrm>
          <a:prstGeom prst="rect">
            <a:avLst/>
          </a:prstGeom>
          <a:noFill/>
          <a:ln/>
        </p:spPr>
        <p:txBody>
          <a:bodyPr wrap="square" lIns="0" tIns="0" rIns="0" bIns="0" rtlCol="0" anchor="t"/>
          <a:lstStyle/>
          <a:p>
            <a:pPr indent="0" marL="0">
              <a:buNone/>
            </a:pPr>
            <a:r>
              <a:rPr lang="en-US" sz="1500" b="1" dirty="0">
                <a:solidFill>
                  <a:srgbClr val="5EEAD4"/>
                </a:solidFill>
              </a:rPr>
              <a:t>Safe &amp; honest</a:t>
            </a:r>
            <a:endParaRPr lang="en-US" sz="1500" dirty="0"/>
          </a:p>
        </p:txBody>
      </p:sp>
      <p:sp>
        <p:nvSpPr>
          <p:cNvPr id="33" name="Text 27"/>
          <p:cNvSpPr txBox="1"/>
          <p:nvPr/>
        </p:nvSpPr>
        <p:spPr>
          <a:xfrm>
            <a:off x="6400800" y="4864608"/>
            <a:ext cx="2286000" cy="548640"/>
          </a:xfrm>
          <a:prstGeom prst="rect">
            <a:avLst/>
          </a:prstGeom>
          <a:noFill/>
          <a:ln/>
        </p:spPr>
        <p:txBody>
          <a:bodyPr wrap="square" lIns="0" tIns="0" rIns="0" bIns="0" rtlCol="0" anchor="t"/>
          <a:lstStyle/>
          <a:p>
            <a:pPr indent="0" marL="0">
              <a:buNone/>
            </a:pPr>
            <a:r>
              <a:rPr lang="en-US" sz="1200" dirty="0">
                <a:solidFill>
                  <a:srgbClr val="E2E8F0"/>
                </a:solidFill>
              </a:rPr>
              <a:t>Explainable, private, data labelled</a:t>
            </a:r>
            <a:endParaRPr lang="en-US" sz="1200" dirty="0"/>
          </a:p>
        </p:txBody>
      </p:sp>
      <p:sp>
        <p:nvSpPr>
          <p:cNvPr id="34" name="why card"/>
          <p:cNvSpPr/>
          <p:nvPr/>
        </p:nvSpPr>
        <p:spPr>
          <a:xfrm>
            <a:off x="9052560" y="4389120"/>
            <a:ext cx="2651760" cy="1097280"/>
          </a:xfrm>
          <a:prstGeom prst="roundRect">
            <a:avLst>
              <a:gd name="adj" fmla="val 10000"/>
            </a:avLst>
          </a:prstGeom>
          <a:solidFill>
            <a:srgbClr val="16233A"/>
          </a:solidFill>
          <a:ln w="12700">
            <a:solidFill>
              <a:srgbClr val="16233A"/>
            </a:solidFill>
            <a:prstDash val="solid"/>
          </a:ln>
        </p:spPr>
      </p:sp>
      <p:sp>
        <p:nvSpPr>
          <p:cNvPr id="35" name="Text 29"/>
          <p:cNvSpPr txBox="1"/>
          <p:nvPr/>
        </p:nvSpPr>
        <p:spPr>
          <a:xfrm>
            <a:off x="9235440" y="4498848"/>
            <a:ext cx="2286000" cy="347472"/>
          </a:xfrm>
          <a:prstGeom prst="rect">
            <a:avLst/>
          </a:prstGeom>
          <a:noFill/>
          <a:ln/>
        </p:spPr>
        <p:txBody>
          <a:bodyPr wrap="square" lIns="0" tIns="0" rIns="0" bIns="0" rtlCol="0" anchor="t"/>
          <a:lstStyle/>
          <a:p>
            <a:pPr indent="0" marL="0">
              <a:buNone/>
            </a:pPr>
            <a:r>
              <a:rPr lang="en-US" sz="1500" b="1" dirty="0">
                <a:solidFill>
                  <a:srgbClr val="5EEAD4"/>
                </a:solidFill>
              </a:rPr>
              <a:t>Ready to scale</a:t>
            </a:r>
            <a:endParaRPr lang="en-US" sz="1500" dirty="0"/>
          </a:p>
        </p:txBody>
      </p:sp>
      <p:sp>
        <p:nvSpPr>
          <p:cNvPr id="36" name="Text 30"/>
          <p:cNvSpPr txBox="1"/>
          <p:nvPr/>
        </p:nvSpPr>
        <p:spPr>
          <a:xfrm>
            <a:off x="9235440" y="4864608"/>
            <a:ext cx="2286000" cy="548640"/>
          </a:xfrm>
          <a:prstGeom prst="rect">
            <a:avLst/>
          </a:prstGeom>
          <a:noFill/>
          <a:ln/>
        </p:spPr>
        <p:txBody>
          <a:bodyPr wrap="square" lIns="0" tIns="0" rIns="0" bIns="0" rtlCol="0" anchor="t"/>
          <a:lstStyle/>
          <a:p>
            <a:pPr indent="0" marL="0">
              <a:buNone/>
            </a:pPr>
            <a:r>
              <a:rPr lang="en-US" sz="1200" dirty="0">
                <a:solidFill>
                  <a:srgbClr val="E2E8F0"/>
                </a:solidFill>
              </a:rPr>
              <a:t>HFR, HMIS, 108, ABDM integration</a:t>
            </a:r>
            <a:endParaRPr lang="en-US" sz="1200" dirty="0"/>
          </a:p>
        </p:txBody>
      </p:sp>
      <p:sp>
        <p:nvSpPr>
          <p:cNvPr id="37" name="Text 31"/>
          <p:cNvSpPr txBox="1"/>
          <p:nvPr/>
        </p:nvSpPr>
        <p:spPr>
          <a:xfrm>
            <a:off x="548640" y="5760720"/>
            <a:ext cx="10424160" cy="365760"/>
          </a:xfrm>
          <a:prstGeom prst="rect">
            <a:avLst/>
          </a:prstGeom>
          <a:noFill/>
          <a:ln/>
        </p:spPr>
        <p:txBody>
          <a:bodyPr wrap="square" lIns="0" tIns="0" rIns="0" bIns="0" rtlCol="0" anchor="t"/>
          <a:lstStyle/>
          <a:p>
            <a:pPr indent="0" marL="0">
              <a:buNone/>
            </a:pPr>
            <a:r>
              <a:rPr lang="en-US" sz="1250" dirty="0">
                <a:solidFill>
                  <a:srgbClr val="94A3B8"/>
                </a:solidFill>
              </a:rPr>
              <a:t>Live demo: </a:t>
            </a:r>
            <a:pPr indent="0" marL="0">
              <a:buNone/>
            </a:pPr>
            <a:r>
              <a:rPr lang="en-US" sz="1250" b="1" dirty="0">
                <a:solidFill>
                  <a:srgbClr val="99F6E4"/>
                </a:solidFill>
              </a:rPr>
              <a:t>medreach-2.onrender.com</a:t>
            </a:r>
            <a:pPr indent="0" marL="0">
              <a:buNone/>
            </a:pPr>
            <a:r>
              <a:rPr lang="en-US" sz="1250" dirty="0">
                <a:solidFill>
                  <a:srgbClr val="94A3B8"/>
                </a:solidFill>
              </a:rPr>
              <a:t>     Code: </a:t>
            </a:r>
            <a:pPr indent="0" marL="0">
              <a:buNone/>
            </a:pPr>
            <a:r>
              <a:rPr lang="en-US" sz="1250" b="1" dirty="0">
                <a:solidFill>
                  <a:srgbClr val="99F6E4"/>
                </a:solidFill>
              </a:rPr>
              <a:t>github.com/prakharporwal518-collab/Medreach</a:t>
            </a:r>
            <a:pPr indent="0" marL="0">
              <a:buNone/>
            </a:pPr>
            <a:r>
              <a:rPr lang="en-US" sz="1250" dirty="0">
                <a:solidFill>
                  <a:srgbClr val="94A3B8"/>
                </a:solidFill>
              </a:rPr>
              <a:t>     Hospital login: </a:t>
            </a:r>
            <a:pPr indent="0" marL="0">
              <a:buNone/>
            </a:pPr>
            <a:r>
              <a:rPr lang="en-US" sz="1250" dirty="0">
                <a:solidFill>
                  <a:srgbClr val="FFFFFF"/>
                </a:solidFill>
              </a:rPr>
              <a:t>Bansal Hospital · BANSAL-ED01</a:t>
            </a:r>
            <a:endParaRPr lang="en-US" sz="1250" dirty="0"/>
          </a:p>
        </p:txBody>
      </p:sp>
      <p:sp>
        <p:nvSpPr>
          <p:cNvPr id="38" name="Text 32"/>
          <p:cNvSpPr txBox="1"/>
          <p:nvPr/>
        </p:nvSpPr>
        <p:spPr>
          <a:xfrm>
            <a:off x="8869680" y="411480"/>
            <a:ext cx="2743200" cy="594360"/>
          </a:xfrm>
          <a:prstGeom prst="rect">
            <a:avLst/>
          </a:prstGeom>
          <a:noFill/>
          <a:ln/>
        </p:spPr>
        <p:txBody>
          <a:bodyPr wrap="square" lIns="0" tIns="0" rIns="0" bIns="0" rtlCol="0" anchor="ctr"/>
          <a:lstStyle/>
          <a:p>
            <a:pPr algn="r" indent="0" marL="0">
              <a:buNone/>
            </a:pPr>
            <a:r>
              <a:rPr lang="en-US" sz="3000" b="1" dirty="0">
                <a:solidFill>
                  <a:srgbClr val="5EEAD4"/>
                </a:solidFill>
                <a:latin typeface="Arial" pitchFamily="34" charset="0"/>
                <a:ea typeface="Arial" pitchFamily="34" charset="-122"/>
                <a:cs typeface="Arial" pitchFamily="34" charset="-120"/>
              </a:rPr>
              <a:t>Thank you</a:t>
            </a: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edreach">
  <a:themeElements>
    <a:clrScheme name="Medreach">
      <a:dk1>
        <a:srgbClr val="0B1427"/>
      </a:dk1>
      <a:lt1>
        <a:srgbClr val="FFFFFF"/>
      </a:lt1>
      <a:dk2>
        <a:srgbClr val="334155"/>
      </a:dk2>
      <a:lt2>
        <a:srgbClr val="EEF4F7"/>
      </a:lt2>
      <a:accent1>
        <a:srgbClr val="0F9488"/>
      </a:accent1>
      <a:accent2>
        <a:srgbClr val="E11D48"/>
      </a:accent2>
      <a:accent3>
        <a:srgbClr val="2563EB"/>
      </a:accent3>
      <a:accent4>
        <a:srgbClr val="D97706"/>
      </a:accent4>
      <a:accent5>
        <a:srgbClr val="7C3AED"/>
      </a:accent5>
      <a:accent6>
        <a:srgbClr val="16A34A"/>
      </a:accent6>
      <a:hlink>
        <a:srgbClr val="0F766E"/>
      </a:hlink>
      <a:folHlink>
        <a:srgbClr val="7C3AED"/>
      </a:folHlink>
    </a:clrScheme>
    <a:fontScheme name="Medrea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Team Medreach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Medreach – Right hospital, right now</dc:title>
  <dc:subject>PptxGenJS Presentation</dc:subject>
  <dc:creator>Prakhar Porwal</dc:creator>
  <cp:lastModifiedBy>Prakhar Porwal</cp:lastModifiedBy>
  <cp:revision>1</cp:revision>
  <dcterms:created xsi:type="dcterms:W3CDTF">2026-10-07T11:18:02Z</dcterms:created>
  <dcterms:modified xsi:type="dcterms:W3CDTF">2026-10-07T11:18:02Z</dcterms:modified>
</cp:coreProperties>
</file>