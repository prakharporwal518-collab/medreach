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Medreach is a working product: everything shown on the following slides is from the prototype that is live today.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user sees a different, private view. Citizens never see other patients; hospitals only see referrals sent to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both rows. The family never has to guess, and the hospital is never surprised.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Verify the statistic from the MoRTH report before presenting. The six causes map one-to-one to the features on the next slides.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flowchart from our idea, implemented. Every phone screen is a real screenshot.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62 automated tests cover triage, matching, scoring, login, roles and privacy views.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Durations are planning estimates. Cost stays low: open-source stack, free maps, one web app for every phone, AI optional.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 proof: set a hospital’s ER to “Diverting” and it disappears from every family’s list immediately.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Impact will be measured from our own audit log and case timestamps during the pilot.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ask, then offer to run the live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R_N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548640" y="641908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Medreach  ·  MPOnline Idea &amp; Innovation Hackathon 2026  ·  Challenge 5, Healthcare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R_COV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jp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slideLayout" Target="../slideLayouts/slideLayout2.xml"/><Relationship Id="rId1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jpg"/><Relationship Id="rId9" Type="http://schemas.openxmlformats.org/officeDocument/2006/relationships/image" Target="../media/image-5-9.jpg"/><Relationship Id="rId10" Type="http://schemas.openxmlformats.org/officeDocument/2006/relationships/image" Target="../media/image-5-10.jpg"/><Relationship Id="rId11" Type="http://schemas.openxmlformats.org/officeDocument/2006/relationships/image" Target="../media/image-5-11.jpg"/><Relationship Id="rId12" Type="http://schemas.openxmlformats.org/officeDocument/2006/relationships/image" Target="../media/image-5-12.png"/><Relationship Id="rId13" Type="http://schemas.openxmlformats.org/officeDocument/2006/relationships/image" Target="../media/image-5-13.png"/><Relationship Id="rId14" Type="http://schemas.openxmlformats.org/officeDocument/2006/relationships/image" Target="../media/image-5-14.png"/><Relationship Id="rId15" Type="http://schemas.openxmlformats.org/officeDocument/2006/relationships/image" Target="../media/image-5-15.png"/><Relationship Id="rId16" Type="http://schemas.openxmlformats.org/officeDocument/2006/relationships/image" Target="../media/image-5-16.png"/><Relationship Id="rId17" Type="http://schemas.openxmlformats.org/officeDocument/2006/relationships/slideLayout" Target="../slideLayouts/slideLayout2.xml"/><Relationship Id="rId1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jp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jpg"/><Relationship Id="rId6" Type="http://schemas.openxmlformats.org/officeDocument/2006/relationships/image" Target="../media/image-9-6.jp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mbulance photo" descr="/tmp/claude-0/-home-user-Sehat-Setu/b06e8423-ed6e-57c3-bbb1-ac94b2a1720d/scratchpad/ppt/crops/cover-whit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0" y="0"/>
            <a:ext cx="5242255" cy="6858000"/>
          </a:xfrm>
          <a:prstGeom prst="rect">
            <a:avLst/>
          </a:prstGeom>
        </p:spPr>
      </p:pic>
      <p:pic>
        <p:nvPicPr>
          <p:cNvPr id="3" name="logo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02920"/>
            <a:ext cx="548640" cy="54864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234440" y="62179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MEDREACH</a:t>
            </a:r>
            <a:endParaRPr lang="en-US" sz="1600" dirty="0"/>
          </a:p>
        </p:txBody>
      </p:sp>
      <p:sp>
        <p:nvSpPr>
          <p:cNvPr id="5" name="Text 1"/>
          <p:cNvSpPr txBox="1"/>
          <p:nvPr/>
        </p:nvSpPr>
        <p:spPr>
          <a:xfrm>
            <a:off x="548640" y="1371600"/>
            <a:ext cx="6858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Medreach:</a:t>
            </a:r>
            <a:endParaRPr lang="en-US" sz="60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2377440"/>
            <a:ext cx="6949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right hospital, right now,</a:t>
            </a:r>
            <a:endParaRPr lang="en-US" sz="2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confirmed before you leave home</a:t>
            </a:r>
            <a:endParaRPr lang="en-US" sz="2700" dirty="0"/>
          </a:p>
        </p:txBody>
      </p:sp>
      <p:sp>
        <p:nvSpPr>
          <p:cNvPr id="7" name="divider"/>
          <p:cNvSpPr/>
          <p:nvPr/>
        </p:nvSpPr>
        <p:spPr>
          <a:xfrm>
            <a:off x="548640" y="3584448"/>
            <a:ext cx="914400" cy="0"/>
          </a:xfrm>
          <a:prstGeom prst="line">
            <a:avLst/>
          </a:prstGeom>
          <a:noFill/>
          <a:ln w="25400">
            <a:solidFill>
              <a:srgbClr val="0E7490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548640" y="37490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emergency coordination for </a:t>
            </a:r>
            <a:pPr indent="0" marL="0">
              <a:buNone/>
            </a:pPr>
            <a:r>
              <a:rPr lang="en-US" sz="17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Madhya Pradesh</a:t>
            </a:r>
            <a:endParaRPr lang="en-US" sz="1700" dirty="0"/>
          </a:p>
        </p:txBody>
      </p:sp>
      <p:pic>
        <p:nvPicPr>
          <p:cNvPr id="9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4315968"/>
            <a:ext cx="256032" cy="256032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960120" y="4297680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Understands </a:t>
            </a:r>
            <a:pPr indent="0" marL="0">
              <a:buNone/>
            </a:pPr>
            <a:r>
              <a:rPr lang="en-US" sz="14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Hindi, English, Hinglish</a:t>
            </a:r>
            <a:endParaRPr lang="en-US" sz="1400" dirty="0"/>
          </a:p>
        </p:txBody>
      </p:sp>
      <p:pic>
        <p:nvPicPr>
          <p:cNvPr id="11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4700016"/>
            <a:ext cx="256032" cy="256032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960120" y="4681728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</a:t>
            </a:r>
            <a:pPr indent="0" marL="0">
              <a:buNone/>
            </a:pPr>
            <a:r>
              <a:rPr lang="en-US" sz="14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accepts before you travel</a:t>
            </a:r>
            <a:endParaRPr lang="en-US" sz="1400" dirty="0"/>
          </a:p>
        </p:txBody>
      </p:sp>
      <p:pic>
        <p:nvPicPr>
          <p:cNvPr id="13" name="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5084064"/>
            <a:ext cx="256032" cy="256032"/>
          </a:xfrm>
          <a:prstGeom prst="rect">
            <a:avLst/>
          </a:prstGeom>
        </p:spPr>
      </p:pic>
      <p:sp>
        <p:nvSpPr>
          <p:cNvPr id="14" name="Text 7"/>
          <p:cNvSpPr txBox="1"/>
          <p:nvPr/>
        </p:nvSpPr>
        <p:spPr>
          <a:xfrm>
            <a:off x="960120" y="5065776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</a:t>
            </a:r>
            <a:pPr indent="0" marL="0">
              <a:buNone/>
            </a:pPr>
            <a:r>
              <a:rPr lang="en-US" sz="14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tracking</a:t>
            </a:r>
            <a:endParaRPr lang="en-US" sz="1400" dirty="0"/>
          </a:p>
        </p:txBody>
      </p:sp>
      <p:sp>
        <p:nvSpPr>
          <p:cNvPr id="15" name="card"/>
          <p:cNvSpPr/>
          <p:nvPr/>
        </p:nvSpPr>
        <p:spPr>
          <a:xfrm>
            <a:off x="548640" y="5532120"/>
            <a:ext cx="5760720" cy="868680"/>
          </a:xfrm>
          <a:prstGeom prst="roundRect">
            <a:avLst>
              <a:gd name="adj" fmla="val 8421"/>
            </a:avLst>
          </a:prstGeom>
          <a:solidFill>
            <a:srgbClr val="F1F5F9">
              <a:alpha val="75000"/>
            </a:srgbClr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16" name="Text 9"/>
          <p:cNvSpPr txBox="1"/>
          <p:nvPr/>
        </p:nvSpPr>
        <p:spPr>
          <a:xfrm>
            <a:off x="731520" y="5605272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MPOnline Idea &amp; Innovation Hackathon 2026  ·  Challenge 5, Healthcare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Live: medreach-wtne.onrender.com   |   github.com/prakharporwal518-collab/Medreach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INTRODUCTION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What </a:t>
            </a:r>
            <a:pPr algn="l" indent="0" marL="0">
              <a:buNone/>
            </a:pPr>
            <a:r>
              <a:rPr lang="en-US" sz="3400" b="1" dirty="0">
                <a:solidFill>
                  <a:srgbClr val="0E7490"/>
                </a:solidFill>
              </a:rPr>
              <a:t>Medreach</a:t>
            </a:r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 Is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5486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emergency coordination, </a:t>
            </a:r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diagnosis app. It joins the family in panic, the hospital emergency desk and the health department on one live network.</a:t>
            </a:r>
            <a:endParaRPr lang="en-US" sz="1500" dirty="0"/>
          </a:p>
        </p:txBody>
      </p:sp>
      <p:sp>
        <p:nvSpPr>
          <p:cNvPr id="5" name="card"/>
          <p:cNvSpPr/>
          <p:nvPr/>
        </p:nvSpPr>
        <p:spPr>
          <a:xfrm>
            <a:off x="548640" y="2468880"/>
            <a:ext cx="548640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D6DEE8"/>
            </a:solidFill>
            <a:prstDash val="solid"/>
          </a:ln>
        </p:spPr>
      </p:sp>
      <p:pic>
        <p:nvPicPr>
          <p:cNvPr id="6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2697480"/>
            <a:ext cx="457200" cy="4572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17320" y="257860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CITIZENS &amp; FAMILIES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1417320" y="2852928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the emergency, see only hospitals that can treat it, get a confirmed bed and a tracking link. No login. “I’m alone” mode.</a:t>
            </a:r>
            <a:endParaRPr lang="en-US" sz="1150" dirty="0"/>
          </a:p>
        </p:txBody>
      </p:sp>
      <p:sp>
        <p:nvSpPr>
          <p:cNvPr id="9" name="card"/>
          <p:cNvSpPr/>
          <p:nvPr/>
        </p:nvSpPr>
        <p:spPr>
          <a:xfrm>
            <a:off x="548640" y="3493008"/>
            <a:ext cx="548640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D6DEE8"/>
            </a:solidFill>
            <a:prstDash val="solid"/>
          </a:ln>
        </p:spPr>
      </p:sp>
      <p:pic>
        <p:nvPicPr>
          <p:cNvPr id="10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3721608"/>
            <a:ext cx="457200" cy="4572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417320" y="3602736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HOSPITALS</a:t>
            </a:r>
            <a:endParaRPr lang="en-US" sz="1250" dirty="0"/>
          </a:p>
        </p:txBody>
      </p:sp>
      <p:sp>
        <p:nvSpPr>
          <p:cNvPr id="12" name="Text 8"/>
          <p:cNvSpPr txBox="1"/>
          <p:nvPr/>
        </p:nvSpPr>
        <p:spPr>
          <a:xfrm>
            <a:off x="1417320" y="3877056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board of beds, ICU, ventilators and doctors on duty. Referrals arrive with an AI pre-arrival (SBAR) note; one tap to accept.</a:t>
            </a:r>
            <a:endParaRPr lang="en-US" sz="1150" dirty="0"/>
          </a:p>
        </p:txBody>
      </p:sp>
      <p:sp>
        <p:nvSpPr>
          <p:cNvPr id="13" name="card"/>
          <p:cNvSpPr/>
          <p:nvPr/>
        </p:nvSpPr>
        <p:spPr>
          <a:xfrm>
            <a:off x="548640" y="4517136"/>
            <a:ext cx="548640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D6DEE8"/>
            </a:solidFill>
            <a:prstDash val="solid"/>
          </a:ln>
        </p:spPr>
      </p:sp>
      <p:pic>
        <p:nvPicPr>
          <p:cNvPr id="14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4745736"/>
            <a:ext cx="457200" cy="45720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417320" y="462686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OF MP</a:t>
            </a:r>
            <a:endParaRPr lang="en-US" sz="1250" dirty="0"/>
          </a:p>
        </p:txBody>
      </p:sp>
      <p:sp>
        <p:nvSpPr>
          <p:cNvPr id="16" name="Text 11"/>
          <p:cNvSpPr txBox="1"/>
          <p:nvPr/>
        </p:nvSpPr>
        <p:spPr>
          <a:xfrm>
            <a:off x="1417320" y="4901184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live, audited view of emergency capacity, and data on where patients are refused or delayed.</a:t>
            </a:r>
            <a:endParaRPr lang="en-US" sz="1150" dirty="0"/>
          </a:p>
        </p:txBody>
      </p:sp>
      <p:sp>
        <p:nvSpPr>
          <p:cNvPr id="17" name="home page frame"/>
          <p:cNvSpPr/>
          <p:nvPr/>
        </p:nvSpPr>
        <p:spPr>
          <a:xfrm>
            <a:off x="6409944" y="1426464"/>
            <a:ext cx="5239512" cy="3160052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A">
                <a:alpha val="16000"/>
              </a:srgbClr>
            </a:outerShdw>
          </a:effectLst>
        </p:spPr>
      </p:sp>
      <p:pic>
        <p:nvPicPr>
          <p:cNvPr id="18" name="home page" descr="/tmp/claude-0/-home-user-Sehat-Setu/b06e8423-ed6e-57c3-bbb1-ac94b2a1720d/scratchpad/ppt/crops/home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0" y="1463040"/>
            <a:ext cx="5166360" cy="308690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6446520" y="4659668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live home page, with network figures (demo data labelled as simulated).</a:t>
            </a:r>
            <a:endParaRPr lang="en-US" sz="1050" dirty="0"/>
          </a:p>
        </p:txBody>
      </p:sp>
      <p:sp>
        <p:nvSpPr>
          <p:cNvPr id="20" name="card"/>
          <p:cNvSpPr/>
          <p:nvPr/>
        </p:nvSpPr>
        <p:spPr>
          <a:xfrm>
            <a:off x="6446520" y="5074920"/>
            <a:ext cx="5166360" cy="1097280"/>
          </a:xfrm>
          <a:prstGeom prst="roundRect">
            <a:avLst>
              <a:gd name="adj" fmla="val 6667"/>
            </a:avLst>
          </a:prstGeom>
          <a:solidFill>
            <a:srgbClr val="F1F5F9">
              <a:alpha val="90000"/>
            </a:srgbClr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21" name="Text 15"/>
          <p:cNvSpPr txBox="1"/>
          <p:nvPr/>
        </p:nvSpPr>
        <p:spPr>
          <a:xfrm>
            <a:off x="6629400" y="5138928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3200" dirty="0"/>
          </a:p>
        </p:txBody>
      </p:sp>
      <p:sp>
        <p:nvSpPr>
          <p:cNvPr id="22" name="Text 16"/>
          <p:cNvSpPr txBox="1"/>
          <p:nvPr/>
        </p:nvSpPr>
        <p:spPr>
          <a:xfrm>
            <a:off x="6629400" y="5687568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 technologies</a:t>
            </a:r>
            <a:endParaRPr lang="en-US" sz="1050" dirty="0"/>
          </a:p>
        </p:txBody>
      </p:sp>
      <p:sp>
        <p:nvSpPr>
          <p:cNvPr id="23" name="Text 17"/>
          <p:cNvSpPr txBox="1"/>
          <p:nvPr/>
        </p:nvSpPr>
        <p:spPr>
          <a:xfrm>
            <a:off x="7891272" y="5138928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200" dirty="0"/>
          </a:p>
        </p:txBody>
      </p:sp>
      <p:sp>
        <p:nvSpPr>
          <p:cNvPr id="24" name="Text 18"/>
          <p:cNvSpPr txBox="1"/>
          <p:nvPr/>
        </p:nvSpPr>
        <p:spPr>
          <a:xfrm>
            <a:off x="7891272" y="5687568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portals</a:t>
            </a:r>
            <a:endParaRPr lang="en-US" sz="1050" dirty="0"/>
          </a:p>
        </p:txBody>
      </p:sp>
      <p:sp>
        <p:nvSpPr>
          <p:cNvPr id="25" name="Text 19"/>
          <p:cNvSpPr txBox="1"/>
          <p:nvPr/>
        </p:nvSpPr>
        <p:spPr>
          <a:xfrm>
            <a:off x="9153144" y="5138928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3200" dirty="0"/>
          </a:p>
        </p:txBody>
      </p:sp>
      <p:sp>
        <p:nvSpPr>
          <p:cNvPr id="26" name="Text 20"/>
          <p:cNvSpPr txBox="1"/>
          <p:nvPr/>
        </p:nvSpPr>
        <p:spPr>
          <a:xfrm>
            <a:off x="9153144" y="5687568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Bhopal-region hospitals</a:t>
            </a:r>
            <a:endParaRPr lang="en-US" sz="1050" dirty="0"/>
          </a:p>
        </p:txBody>
      </p:sp>
      <p:sp>
        <p:nvSpPr>
          <p:cNvPr id="27" name="Text 21"/>
          <p:cNvSpPr txBox="1"/>
          <p:nvPr/>
        </p:nvSpPr>
        <p:spPr>
          <a:xfrm>
            <a:off x="10415016" y="5138928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</a:t>
            </a:r>
            <a:endParaRPr lang="en-US" sz="3200" dirty="0"/>
          </a:p>
        </p:txBody>
      </p:sp>
      <p:sp>
        <p:nvSpPr>
          <p:cNvPr id="28" name="Text 22"/>
          <p:cNvSpPr txBox="1"/>
          <p:nvPr/>
        </p:nvSpPr>
        <p:spPr>
          <a:xfrm>
            <a:off x="10415016" y="5687568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</a:t>
            </a:r>
            <a:endParaRPr lang="en-US" sz="1050" dirty="0"/>
          </a:p>
        </p:txBody>
      </p:sp>
      <p:sp>
        <p:nvSpPr>
          <p:cNvPr id="29" name="Text 23"/>
          <p:cNvSpPr txBox="1"/>
          <p:nvPr/>
        </p:nvSpPr>
        <p:spPr>
          <a:xfrm>
            <a:off x="548640" y="56235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DEPLOYMENT</a:t>
            </a:r>
            <a:endParaRPr lang="en-US" sz="1100" dirty="0"/>
          </a:p>
        </p:txBody>
      </p:sp>
      <p:sp>
        <p:nvSpPr>
          <p:cNvPr id="30" name="Text 24"/>
          <p:cNvSpPr txBox="1"/>
          <p:nvPr/>
        </p:nvSpPr>
        <p:spPr>
          <a:xfrm>
            <a:off x="548640" y="58795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medreach-wtne.onrender.com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SCENARIO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E7490"/>
                </a:solidFill>
              </a:rPr>
              <a:t>Chest Pain </a:t>
            </a:r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at </a:t>
            </a:r>
            <a:pPr algn="l" indent="0" marL="0">
              <a:buNone/>
            </a:pPr>
            <a:r>
              <a:rPr lang="en-US" sz="3400" b="1" dirty="0">
                <a:solidFill>
                  <a:srgbClr val="0E7490"/>
                </a:solidFill>
              </a:rPr>
              <a:t>11 pm </a:t>
            </a:r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in Bhopal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25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62-year-old man has chest pain and is sweating. His son has a phone and a car.</a:t>
            </a:r>
            <a:endParaRPr lang="en-US" sz="1400" dirty="0"/>
          </a:p>
        </p:txBody>
      </p:sp>
      <p:sp>
        <p:nvSpPr>
          <p:cNvPr id="5" name="card"/>
          <p:cNvSpPr/>
          <p:nvPr/>
        </p:nvSpPr>
        <p:spPr>
          <a:xfrm>
            <a:off x="548640" y="1828800"/>
            <a:ext cx="1463040" cy="178308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 w="15875">
            <a:solidFill>
              <a:srgbClr val="DC262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22860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69748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journey</a:t>
            </a:r>
            <a:endParaRPr lang="en-US" sz="1100" dirty="0"/>
          </a:p>
        </p:txBody>
      </p:sp>
      <p:sp>
        <p:nvSpPr>
          <p:cNvPr id="8" name="card"/>
          <p:cNvSpPr/>
          <p:nvPr/>
        </p:nvSpPr>
        <p:spPr>
          <a:xfrm>
            <a:off x="2148840" y="1828800"/>
            <a:ext cx="1572768" cy="1783080"/>
          </a:xfrm>
          <a:prstGeom prst="roundRect">
            <a:avLst>
              <a:gd name="adj" fmla="val 4651"/>
            </a:avLst>
          </a:prstGeom>
          <a:solidFill>
            <a:srgbClr val="F1F5F9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258568" y="19659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11:00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2258568" y="2377440"/>
            <a:ext cx="1371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Drives to the nearest hospital, chosen by distance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3703320" y="2514600"/>
            <a:ext cx="146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12" name="card"/>
          <p:cNvSpPr/>
          <p:nvPr/>
        </p:nvSpPr>
        <p:spPr>
          <a:xfrm>
            <a:off x="3849624" y="1828800"/>
            <a:ext cx="1572768" cy="1783080"/>
          </a:xfrm>
          <a:prstGeom prst="roundRect">
            <a:avLst>
              <a:gd name="adj" fmla="val 4651"/>
            </a:avLst>
          </a:prstGeom>
          <a:solidFill>
            <a:srgbClr val="F1F5F9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959352" y="19659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11:25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3959352" y="2377440"/>
            <a:ext cx="1371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gate: no cardiologist, ICU full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5404104" y="2514600"/>
            <a:ext cx="146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16" name="card"/>
          <p:cNvSpPr/>
          <p:nvPr/>
        </p:nvSpPr>
        <p:spPr>
          <a:xfrm>
            <a:off x="5550408" y="1828800"/>
            <a:ext cx="1572768" cy="1783080"/>
          </a:xfrm>
          <a:prstGeom prst="roundRect">
            <a:avLst>
              <a:gd name="adj" fmla="val 4651"/>
            </a:avLst>
          </a:prstGeom>
          <a:solidFill>
            <a:srgbClr val="F1F5F9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660136" y="19659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11:35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5660136" y="2377440"/>
            <a:ext cx="1371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trip across the city at night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7104888" y="2514600"/>
            <a:ext cx="146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20" name="card"/>
          <p:cNvSpPr/>
          <p:nvPr/>
        </p:nvSpPr>
        <p:spPr>
          <a:xfrm>
            <a:off x="7251192" y="1828800"/>
            <a:ext cx="1572768" cy="1783080"/>
          </a:xfrm>
          <a:prstGeom prst="roundRect">
            <a:avLst>
              <a:gd name="adj" fmla="val 4651"/>
            </a:avLst>
          </a:prstGeom>
          <a:solidFill>
            <a:srgbClr val="F1F5F9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360920" y="19659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12:05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7360920" y="2377440"/>
            <a:ext cx="1371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Arrives; the ER was not expecting him</a:t>
            </a:r>
            <a:endParaRPr lang="en-US" sz="1150" dirty="0"/>
          </a:p>
        </p:txBody>
      </p:sp>
      <p:sp>
        <p:nvSpPr>
          <p:cNvPr id="23" name="spacer"/>
          <p:cNvSpPr/>
          <p:nvPr/>
        </p:nvSpPr>
        <p:spPr>
          <a:xfrm>
            <a:off x="8458200" y="1828800"/>
            <a:ext cx="91" cy="91"/>
          </a:xfrm>
          <a:prstGeom prst="roundRect">
            <a:avLst>
              <a:gd name="adj" fmla="val 80386813"/>
            </a:avLst>
          </a:prstGeom>
          <a:solidFill>
            <a:srgbClr val="F1F5F9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24" name="card"/>
          <p:cNvSpPr/>
          <p:nvPr/>
        </p:nvSpPr>
        <p:spPr>
          <a:xfrm>
            <a:off x="548640" y="3840480"/>
            <a:ext cx="1463040" cy="178308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 w="15875">
            <a:solidFill>
              <a:srgbClr val="0E749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85800" y="42976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Medreach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685800" y="470916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Coordinated journey</a:t>
            </a:r>
            <a:endParaRPr lang="en-US" sz="1100" dirty="0"/>
          </a:p>
        </p:txBody>
      </p:sp>
      <p:sp>
        <p:nvSpPr>
          <p:cNvPr id="27" name="card"/>
          <p:cNvSpPr/>
          <p:nvPr/>
        </p:nvSpPr>
        <p:spPr>
          <a:xfrm>
            <a:off x="2148840" y="3840480"/>
            <a:ext cx="1572768" cy="1783080"/>
          </a:xfrm>
          <a:prstGeom prst="roundRect">
            <a:avLst>
              <a:gd name="adj" fmla="val 4651"/>
            </a:avLst>
          </a:prstGeom>
          <a:solidFill>
            <a:srgbClr val="F1F5F9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2258568" y="39776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11:00</a:t>
            </a:r>
            <a:endParaRPr lang="en-US" sz="1700" dirty="0"/>
          </a:p>
        </p:txBody>
      </p:sp>
      <p:sp>
        <p:nvSpPr>
          <p:cNvPr id="29" name="Text 27"/>
          <p:cNvSpPr txBox="1"/>
          <p:nvPr/>
        </p:nvSpPr>
        <p:spPr>
          <a:xfrm>
            <a:off x="2258568" y="4389120"/>
            <a:ext cx="1371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 says “Papa ko seene mein dard hai…”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3703320" y="4526280"/>
            <a:ext cx="146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31" name="card"/>
          <p:cNvSpPr/>
          <p:nvPr/>
        </p:nvSpPr>
        <p:spPr>
          <a:xfrm>
            <a:off x="3849624" y="3840480"/>
            <a:ext cx="1572768" cy="1783080"/>
          </a:xfrm>
          <a:prstGeom prst="roundRect">
            <a:avLst>
              <a:gd name="adj" fmla="val 4651"/>
            </a:avLst>
          </a:prstGeom>
          <a:solidFill>
            <a:srgbClr val="F1F5F9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3959352" y="39776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11:01</a:t>
            </a:r>
            <a:endParaRPr lang="en-US" sz="1700" dirty="0"/>
          </a:p>
        </p:txBody>
      </p:sp>
      <p:sp>
        <p:nvSpPr>
          <p:cNvPr id="33" name="Text 31"/>
          <p:cNvSpPr txBox="1"/>
          <p:nvPr/>
        </p:nvSpPr>
        <p:spPr>
          <a:xfrm>
            <a:off x="3959352" y="4389120"/>
            <a:ext cx="1371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Possible heart attack, CRITICAL; needs cardiologist + ICU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5404104" y="4526280"/>
            <a:ext cx="146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35" name="card"/>
          <p:cNvSpPr/>
          <p:nvPr/>
        </p:nvSpPr>
        <p:spPr>
          <a:xfrm>
            <a:off x="5550408" y="3840480"/>
            <a:ext cx="1572768" cy="1783080"/>
          </a:xfrm>
          <a:prstGeom prst="roundRect">
            <a:avLst>
              <a:gd name="adj" fmla="val 4651"/>
            </a:avLst>
          </a:prstGeom>
          <a:solidFill>
            <a:srgbClr val="F1F5F9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660136" y="39776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11:03</a:t>
            </a:r>
            <a:endParaRPr lang="en-US" sz="1700" dirty="0"/>
          </a:p>
        </p:txBody>
      </p:sp>
      <p:sp>
        <p:nvSpPr>
          <p:cNvPr id="37" name="Text 35"/>
          <p:cNvSpPr txBox="1"/>
          <p:nvPr/>
        </p:nvSpPr>
        <p:spPr>
          <a:xfrm>
            <a:off x="5660136" y="4389120"/>
            <a:ext cx="1371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Bansal Hospital accepts, prepares bay Resus-02</a:t>
            </a:r>
            <a:endParaRPr lang="en-US" sz="1150" dirty="0"/>
          </a:p>
        </p:txBody>
      </p:sp>
      <p:sp>
        <p:nvSpPr>
          <p:cNvPr id="38" name="Text 36"/>
          <p:cNvSpPr txBox="1"/>
          <p:nvPr/>
        </p:nvSpPr>
        <p:spPr>
          <a:xfrm>
            <a:off x="7104888" y="4526280"/>
            <a:ext cx="146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39" name="card"/>
          <p:cNvSpPr/>
          <p:nvPr/>
        </p:nvSpPr>
        <p:spPr>
          <a:xfrm>
            <a:off x="7251192" y="3840480"/>
            <a:ext cx="1572768" cy="1783080"/>
          </a:xfrm>
          <a:prstGeom prst="roundRect">
            <a:avLst>
              <a:gd name="adj" fmla="val 4651"/>
            </a:avLst>
          </a:prstGeom>
          <a:solidFill>
            <a:srgbClr val="F1F5F9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7360920" y="39776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11:16</a:t>
            </a:r>
            <a:endParaRPr lang="en-US" sz="1700" dirty="0"/>
          </a:p>
        </p:txBody>
      </p:sp>
      <p:sp>
        <p:nvSpPr>
          <p:cNvPr id="41" name="Text 39"/>
          <p:cNvSpPr txBox="1"/>
          <p:nvPr/>
        </p:nvSpPr>
        <p:spPr>
          <a:xfrm>
            <a:off x="7360920" y="4389120"/>
            <a:ext cx="1371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Ambulance arrives (ETA 13 min); ER read the note</a:t>
            </a:r>
            <a:endParaRPr lang="en-US" sz="1150" dirty="0"/>
          </a:p>
        </p:txBody>
      </p:sp>
      <p:sp>
        <p:nvSpPr>
          <p:cNvPr id="42" name="spacer"/>
          <p:cNvSpPr/>
          <p:nvPr/>
        </p:nvSpPr>
        <p:spPr>
          <a:xfrm>
            <a:off x="8458200" y="3840480"/>
            <a:ext cx="91" cy="91"/>
          </a:xfrm>
          <a:prstGeom prst="roundRect">
            <a:avLst>
              <a:gd name="adj" fmla="val 80386813"/>
            </a:avLst>
          </a:prstGeom>
          <a:solidFill>
            <a:srgbClr val="F1F5F9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548640" y="59436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 are illustrative; the 13-minute ETA and bay come from our prototype run.</a:t>
            </a:r>
            <a:endParaRPr lang="en-US" sz="1050" dirty="0"/>
          </a:p>
        </p:txBody>
      </p:sp>
      <p:sp>
        <p:nvSpPr>
          <p:cNvPr id="44" name="AI result screen bezel"/>
          <p:cNvSpPr/>
          <p:nvPr/>
        </p:nvSpPr>
        <p:spPr>
          <a:xfrm>
            <a:off x="9217152" y="1307592"/>
            <a:ext cx="2148202" cy="4471416"/>
          </a:xfrm>
          <a:prstGeom prst="roundRect">
            <a:avLst>
              <a:gd name="adj" fmla="val 5959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A">
                <a:alpha val="16000"/>
              </a:srgbClr>
            </a:outerShdw>
          </a:effectLst>
        </p:spPr>
      </p:sp>
      <p:pic>
        <p:nvPicPr>
          <p:cNvPr id="45" name="AI result screen" descr="/tmp/claude-0/-home-user-Sehat-Setu/b06e8423-ed6e-57c3-bbb1-ac94b2a1720d/scratchpad/pdf/img/s/phone-2-ai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81160" y="1371600"/>
            <a:ext cx="2020186" cy="4343400"/>
          </a:xfrm>
          <a:prstGeom prst="rect">
            <a:avLst/>
          </a:prstGeom>
        </p:spPr>
      </p:pic>
      <p:sp>
        <p:nvSpPr>
          <p:cNvPr id="46" name="Text 43"/>
          <p:cNvSpPr txBox="1"/>
          <p:nvPr/>
        </p:nvSpPr>
        <p:spPr>
          <a:xfrm>
            <a:off x="8961120" y="58978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son sees a minute after speaking.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OVERVIEW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Why Patients Lose the </a:t>
            </a:r>
            <a:pPr algn="l" indent="0" marL="0">
              <a:buNone/>
            </a:pPr>
            <a:r>
              <a:rPr lang="en-US" sz="3400" b="1" dirty="0">
                <a:solidFill>
                  <a:srgbClr val="0E7490"/>
                </a:solidFill>
              </a:rPr>
              <a:t>Golden Hour</a:t>
            </a:r>
            <a:endParaRPr lang="en-US" sz="3400" dirty="0"/>
          </a:p>
        </p:txBody>
      </p:sp>
      <p:sp>
        <p:nvSpPr>
          <p:cNvPr id="4" name="card"/>
          <p:cNvSpPr/>
          <p:nvPr/>
        </p:nvSpPr>
        <p:spPr>
          <a:xfrm>
            <a:off x="548640" y="1463040"/>
            <a:ext cx="3931920" cy="3291840"/>
          </a:xfrm>
          <a:prstGeom prst="roundRect">
            <a:avLst>
              <a:gd name="adj" fmla="val 2222"/>
            </a:avLst>
          </a:prstGeom>
          <a:solidFill>
            <a:srgbClr val="F1F5F9"/>
          </a:solidFill>
          <a:ln w="15875">
            <a:solidFill>
              <a:srgbClr val="DC2626"/>
            </a:solidFill>
            <a:prstDash val="solid"/>
          </a:ln>
        </p:spPr>
      </p:sp>
      <p:pic>
        <p:nvPicPr>
          <p:cNvPr id="5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691640"/>
            <a:ext cx="548640" cy="5486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77240" y="233172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2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1,68,491</a:t>
            </a:r>
            <a:endParaRPr lang="en-US" sz="52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320040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died in road accidents in India in 2022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79476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MoRTH, “Road Accidents in India 2022”. Heart attacks, strokes, burns and childbirth emergencies face the same delays.</a:t>
            </a:r>
            <a:endParaRPr lang="en-US" sz="1100" dirty="0"/>
          </a:p>
        </p:txBody>
      </p:sp>
      <p:sp>
        <p:nvSpPr>
          <p:cNvPr id="9" name="card"/>
          <p:cNvSpPr/>
          <p:nvPr/>
        </p:nvSpPr>
        <p:spPr>
          <a:xfrm>
            <a:off x="4709160" y="1463040"/>
            <a:ext cx="329184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D6DEE8"/>
            </a:solidFill>
            <a:prstDash val="solid"/>
          </a:ln>
        </p:spPr>
      </p:sp>
      <p:pic>
        <p:nvPicPr>
          <p:cNvPr id="10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3752" y="1719072"/>
            <a:ext cx="457200" cy="4572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486400" y="157276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Nearest is not capable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5486400" y="1865376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show distance, not whether the specialist is on duty or the ICU has a bed tonight.</a:t>
            </a:r>
            <a:endParaRPr lang="en-US" sz="1050" dirty="0"/>
          </a:p>
        </p:txBody>
      </p:sp>
      <p:sp>
        <p:nvSpPr>
          <p:cNvPr id="13" name="card"/>
          <p:cNvSpPr/>
          <p:nvPr/>
        </p:nvSpPr>
        <p:spPr>
          <a:xfrm>
            <a:off x="8183880" y="1463040"/>
            <a:ext cx="329184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D6DEE8"/>
            </a:solidFill>
            <a:prstDash val="solid"/>
          </a:ln>
        </p:spPr>
      </p:sp>
      <p:pic>
        <p:nvPicPr>
          <p:cNvPr id="14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8472" y="1719072"/>
            <a:ext cx="457200" cy="45720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8961120" y="157276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trusted live status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8961120" y="1865376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 figures are old, with no owner or time stamp.</a:t>
            </a:r>
            <a:endParaRPr lang="en-US" sz="1050" dirty="0"/>
          </a:p>
        </p:txBody>
      </p:sp>
      <p:sp>
        <p:nvSpPr>
          <p:cNvPr id="17" name="card"/>
          <p:cNvSpPr/>
          <p:nvPr/>
        </p:nvSpPr>
        <p:spPr>
          <a:xfrm>
            <a:off x="4709160" y="2587752"/>
            <a:ext cx="329184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D6DEE8"/>
            </a:solidFill>
            <a:prstDash val="solid"/>
          </a:ln>
        </p:spPr>
      </p:sp>
      <p:pic>
        <p:nvPicPr>
          <p:cNvPr id="18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3752" y="2843784"/>
            <a:ext cx="457200" cy="45720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5486400" y="269748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acceptance first</a:t>
            </a:r>
            <a:endParaRPr lang="en-US" sz="1300" dirty="0"/>
          </a:p>
        </p:txBody>
      </p:sp>
      <p:sp>
        <p:nvSpPr>
          <p:cNvPr id="20" name="Text 14"/>
          <p:cNvSpPr txBox="1"/>
          <p:nvPr/>
        </p:nvSpPr>
        <p:spPr>
          <a:xfrm>
            <a:off x="5486400" y="2990088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Families arrive unannounced; refusal happens at the gate.</a:t>
            </a:r>
            <a:endParaRPr lang="en-US" sz="1050" dirty="0"/>
          </a:p>
        </p:txBody>
      </p:sp>
      <p:sp>
        <p:nvSpPr>
          <p:cNvPr id="21" name="card"/>
          <p:cNvSpPr/>
          <p:nvPr/>
        </p:nvSpPr>
        <p:spPr>
          <a:xfrm>
            <a:off x="8183880" y="2587752"/>
            <a:ext cx="329184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D6DEE8"/>
            </a:solidFill>
            <a:prstDash val="solid"/>
          </a:ln>
        </p:spPr>
      </p:sp>
      <p:pic>
        <p:nvPicPr>
          <p:cNvPr id="22" name="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48472" y="2843784"/>
            <a:ext cx="457200" cy="457200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8961120" y="269748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Panic and language</a:t>
            </a:r>
            <a:endParaRPr lang="en-US" sz="1300" dirty="0"/>
          </a:p>
        </p:txBody>
      </p:sp>
      <p:sp>
        <p:nvSpPr>
          <p:cNvPr id="24" name="Text 17"/>
          <p:cNvSpPr txBox="1"/>
          <p:nvPr/>
        </p:nvSpPr>
        <p:spPr>
          <a:xfrm>
            <a:off x="8961120" y="2990088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cannot fill forms in panic; many prefer to speak Hindi.</a:t>
            </a:r>
            <a:endParaRPr lang="en-US" sz="1050" dirty="0"/>
          </a:p>
        </p:txBody>
      </p:sp>
      <p:sp>
        <p:nvSpPr>
          <p:cNvPr id="25" name="card"/>
          <p:cNvSpPr/>
          <p:nvPr/>
        </p:nvSpPr>
        <p:spPr>
          <a:xfrm>
            <a:off x="4709160" y="3712464"/>
            <a:ext cx="329184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D6DEE8"/>
            </a:solidFill>
            <a:prstDash val="solid"/>
          </a:ln>
        </p:spPr>
      </p:sp>
      <p:pic>
        <p:nvPicPr>
          <p:cNvPr id="26" name="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73752" y="3968496"/>
            <a:ext cx="457200" cy="457200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5486400" y="382219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living alone</a:t>
            </a:r>
            <a:endParaRPr lang="en-US" sz="1300" dirty="0"/>
          </a:p>
        </p:txBody>
      </p:sp>
      <p:sp>
        <p:nvSpPr>
          <p:cNvPr id="28" name="Text 20"/>
          <p:cNvSpPr txBox="1"/>
          <p:nvPr/>
        </p:nvSpPr>
        <p:spPr>
          <a:xfrm>
            <a:off x="5486400" y="4114800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call hospitals, arrange transport and inform family at once.</a:t>
            </a:r>
            <a:endParaRPr lang="en-US" sz="1050" dirty="0"/>
          </a:p>
        </p:txBody>
      </p:sp>
      <p:sp>
        <p:nvSpPr>
          <p:cNvPr id="29" name="card"/>
          <p:cNvSpPr/>
          <p:nvPr/>
        </p:nvSpPr>
        <p:spPr>
          <a:xfrm>
            <a:off x="8183880" y="3712464"/>
            <a:ext cx="329184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D6DEE8"/>
            </a:solidFill>
            <a:prstDash val="solid"/>
          </a:ln>
        </p:spPr>
      </p:sp>
      <p:pic>
        <p:nvPicPr>
          <p:cNvPr id="30" name="icon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48472" y="3968496"/>
            <a:ext cx="457200" cy="457200"/>
          </a:xfrm>
          <a:prstGeom prst="rect">
            <a:avLst/>
          </a:prstGeom>
        </p:spPr>
      </p:pic>
      <p:sp>
        <p:nvSpPr>
          <p:cNvPr id="31" name="Text 22"/>
          <p:cNvSpPr txBox="1"/>
          <p:nvPr/>
        </p:nvSpPr>
        <p:spPr>
          <a:xfrm>
            <a:off x="8961120" y="382219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is lost</a:t>
            </a:r>
            <a:endParaRPr lang="en-US" sz="1300" dirty="0"/>
          </a:p>
        </p:txBody>
      </p:sp>
      <p:sp>
        <p:nvSpPr>
          <p:cNvPr id="32" name="Text 23"/>
          <p:cNvSpPr txBox="1"/>
          <p:nvPr/>
        </p:nvSpPr>
        <p:spPr>
          <a:xfrm>
            <a:off x="8961120" y="4114800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Allergies and Ayushman / ABHA details don’t reach the ER doctor.</a:t>
            </a:r>
            <a:endParaRPr lang="en-US" sz="1050" dirty="0"/>
          </a:p>
        </p:txBody>
      </p:sp>
      <p:sp>
        <p:nvSpPr>
          <p:cNvPr id="33" name="Text 24"/>
          <p:cNvSpPr txBox="1"/>
          <p:nvPr/>
        </p:nvSpPr>
        <p:spPr>
          <a:xfrm>
            <a:off x="548640" y="5029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FEELS IT</a:t>
            </a:r>
            <a:endParaRPr lang="en-US" sz="1100" dirty="0"/>
          </a:p>
        </p:txBody>
      </p:sp>
      <p:pic>
        <p:nvPicPr>
          <p:cNvPr id="34" name="icon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8640" y="5413248"/>
            <a:ext cx="365760" cy="365760"/>
          </a:xfrm>
          <a:prstGeom prst="rect">
            <a:avLst/>
          </a:prstGeom>
        </p:spPr>
      </p:pic>
      <p:sp>
        <p:nvSpPr>
          <p:cNvPr id="35" name="Text 25"/>
          <p:cNvSpPr txBox="1"/>
          <p:nvPr/>
        </p:nvSpPr>
        <p:spPr>
          <a:xfrm>
            <a:off x="1024128" y="5376672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&amp; families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wasted trips, delayed treatment</a:t>
            </a:r>
            <a:endParaRPr lang="en-US" sz="1100" dirty="0"/>
          </a:p>
        </p:txBody>
      </p:sp>
      <p:pic>
        <p:nvPicPr>
          <p:cNvPr id="36" name="icon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55848" y="5413248"/>
            <a:ext cx="365760" cy="365760"/>
          </a:xfrm>
          <a:prstGeom prst="rect">
            <a:avLst/>
          </a:prstGeom>
        </p:spPr>
      </p:pic>
      <p:sp>
        <p:nvSpPr>
          <p:cNvPr id="37" name="Text 26"/>
          <p:cNvSpPr txBox="1"/>
          <p:nvPr/>
        </p:nvSpPr>
        <p:spPr>
          <a:xfrm>
            <a:off x="3831336" y="5376672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Rural citizens &amp; ASHA workers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distances, costly wrong choice</a:t>
            </a:r>
            <a:endParaRPr lang="en-US" sz="1100" dirty="0"/>
          </a:p>
        </p:txBody>
      </p:sp>
      <p:pic>
        <p:nvPicPr>
          <p:cNvPr id="38" name="icon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63056" y="5413248"/>
            <a:ext cx="365760" cy="365760"/>
          </a:xfrm>
          <a:prstGeom prst="rect">
            <a:avLst/>
          </a:prstGeom>
        </p:spPr>
      </p:pic>
      <p:sp>
        <p:nvSpPr>
          <p:cNvPr id="39" name="Text 27"/>
          <p:cNvSpPr txBox="1"/>
          <p:nvPr/>
        </p:nvSpPr>
        <p:spPr>
          <a:xfrm>
            <a:off x="6638544" y="5376672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ER teams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unannounced critical arrivals</a:t>
            </a:r>
            <a:endParaRPr lang="en-US" sz="1100" dirty="0"/>
          </a:p>
        </p:txBody>
      </p:sp>
      <p:pic>
        <p:nvPicPr>
          <p:cNvPr id="40" name="icon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70264" y="5413248"/>
            <a:ext cx="365760" cy="365760"/>
          </a:xfrm>
          <a:prstGeom prst="rect">
            <a:avLst/>
          </a:prstGeom>
        </p:spPr>
      </p:pic>
      <p:sp>
        <p:nvSpPr>
          <p:cNvPr id="41" name="Text 28"/>
          <p:cNvSpPr txBox="1"/>
          <p:nvPr/>
        </p:nvSpPr>
        <p:spPr>
          <a:xfrm>
            <a:off x="9445752" y="5376672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department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live picture of capacity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SOLUTION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One Flow from Emergency to </a:t>
            </a:r>
            <a:pPr algn="l" indent="0" marL="0">
              <a:buNone/>
            </a:pPr>
            <a:r>
              <a:rPr lang="en-US" sz="3400" b="1" dirty="0">
                <a:solidFill>
                  <a:srgbClr val="0E7490"/>
                </a:solidFill>
              </a:rPr>
              <a:t>Confirmed Bed</a:t>
            </a:r>
            <a:endParaRPr lang="en-US" sz="3400" dirty="0"/>
          </a:p>
        </p:txBody>
      </p:sp>
      <p:sp>
        <p:nvSpPr>
          <p:cNvPr id="4" name="card"/>
          <p:cNvSpPr/>
          <p:nvPr/>
        </p:nvSpPr>
        <p:spPr>
          <a:xfrm>
            <a:off x="548640" y="1417320"/>
            <a:ext cx="1444752" cy="1600200"/>
          </a:xfrm>
          <a:prstGeom prst="roundRect">
            <a:avLst>
              <a:gd name="adj" fmla="val 5063"/>
            </a:avLst>
          </a:prstGeom>
          <a:solidFill>
            <a:srgbClr val="F1F5F9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353312"/>
            <a:ext cx="310896" cy="310896"/>
          </a:xfrm>
          <a:prstGeom prst="ellipse">
            <a:avLst/>
          </a:prstGeom>
          <a:solidFill>
            <a:srgbClr val="0E749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pic>
        <p:nvPicPr>
          <p:cNvPr id="6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" y="1572768"/>
            <a:ext cx="457200" cy="4572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94360" y="2103120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input</a:t>
            </a:r>
            <a:endParaRPr lang="en-US" sz="1150" dirty="0"/>
          </a:p>
        </p:txBody>
      </p:sp>
      <p:sp>
        <p:nvSpPr>
          <p:cNvPr id="8" name="Text 5"/>
          <p:cNvSpPr txBox="1"/>
          <p:nvPr/>
        </p:nvSpPr>
        <p:spPr>
          <a:xfrm>
            <a:off x="621792" y="2377440"/>
            <a:ext cx="12984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speak, type, photo or health card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975104" y="196596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10" name="card"/>
          <p:cNvSpPr/>
          <p:nvPr/>
        </p:nvSpPr>
        <p:spPr>
          <a:xfrm>
            <a:off x="2139696" y="1417320"/>
            <a:ext cx="1444752" cy="1600200"/>
          </a:xfrm>
          <a:prstGeom prst="roundRect">
            <a:avLst>
              <a:gd name="adj" fmla="val 5063"/>
            </a:avLst>
          </a:prstGeom>
          <a:solidFill>
            <a:srgbClr val="F1F5F9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2212848" y="1353312"/>
            <a:ext cx="310896" cy="310896"/>
          </a:xfrm>
          <a:prstGeom prst="ellipse">
            <a:avLst/>
          </a:prstGeom>
          <a:solidFill>
            <a:srgbClr val="0E749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pic>
        <p:nvPicPr>
          <p:cNvPr id="12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3472" y="1572768"/>
            <a:ext cx="457200" cy="45720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2185416" y="2103120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understanding</a:t>
            </a:r>
            <a:endParaRPr lang="en-US" sz="1150" dirty="0"/>
          </a:p>
        </p:txBody>
      </p:sp>
      <p:sp>
        <p:nvSpPr>
          <p:cNvPr id="14" name="Text 10"/>
          <p:cNvSpPr txBox="1"/>
          <p:nvPr/>
        </p:nvSpPr>
        <p:spPr>
          <a:xfrm>
            <a:off x="2212848" y="2377440"/>
            <a:ext cx="12984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severity, red flags, needs</a:t>
            </a:r>
            <a:endParaRPr lang="en-US" sz="1000" dirty="0"/>
          </a:p>
        </p:txBody>
      </p:sp>
      <p:sp>
        <p:nvSpPr>
          <p:cNvPr id="15" name="Text 11"/>
          <p:cNvSpPr txBox="1"/>
          <p:nvPr/>
        </p:nvSpPr>
        <p:spPr>
          <a:xfrm>
            <a:off x="3566160" y="196596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16" name="card"/>
          <p:cNvSpPr/>
          <p:nvPr/>
        </p:nvSpPr>
        <p:spPr>
          <a:xfrm>
            <a:off x="3730752" y="1417320"/>
            <a:ext cx="1444752" cy="1600200"/>
          </a:xfrm>
          <a:prstGeom prst="roundRect">
            <a:avLst>
              <a:gd name="adj" fmla="val 5063"/>
            </a:avLst>
          </a:prstGeom>
          <a:solidFill>
            <a:srgbClr val="F1F5F9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3803904" y="1353312"/>
            <a:ext cx="310896" cy="310896"/>
          </a:xfrm>
          <a:prstGeom prst="ellipse">
            <a:avLst/>
          </a:prstGeom>
          <a:solidFill>
            <a:srgbClr val="0E749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pic>
        <p:nvPicPr>
          <p:cNvPr id="18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4528" y="1572768"/>
            <a:ext cx="457200" cy="45720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3776472" y="2103120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hospital</a:t>
            </a:r>
            <a:endParaRPr lang="en-US" sz="1150" dirty="0"/>
          </a:p>
        </p:txBody>
      </p:sp>
      <p:sp>
        <p:nvSpPr>
          <p:cNvPr id="20" name="Text 15"/>
          <p:cNvSpPr txBox="1"/>
          <p:nvPr/>
        </p:nvSpPr>
        <p:spPr>
          <a:xfrm>
            <a:off x="3803904" y="2377440"/>
            <a:ext cx="12984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specialist, equipment, bed</a:t>
            </a:r>
            <a:endParaRPr lang="en-US" sz="1000" dirty="0"/>
          </a:p>
        </p:txBody>
      </p:sp>
      <p:sp>
        <p:nvSpPr>
          <p:cNvPr id="21" name="Text 16"/>
          <p:cNvSpPr txBox="1"/>
          <p:nvPr/>
        </p:nvSpPr>
        <p:spPr>
          <a:xfrm>
            <a:off x="5157216" y="196596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22" name="card"/>
          <p:cNvSpPr/>
          <p:nvPr/>
        </p:nvSpPr>
        <p:spPr>
          <a:xfrm>
            <a:off x="5321808" y="1417320"/>
            <a:ext cx="1444752" cy="1600200"/>
          </a:xfrm>
          <a:prstGeom prst="roundRect">
            <a:avLst>
              <a:gd name="adj" fmla="val 5063"/>
            </a:avLst>
          </a:prstGeom>
          <a:solidFill>
            <a:srgbClr val="F1F5F9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5394960" y="1353312"/>
            <a:ext cx="310896" cy="310896"/>
          </a:xfrm>
          <a:prstGeom prst="ellipse">
            <a:avLst/>
          </a:prstGeom>
          <a:solidFill>
            <a:srgbClr val="0E749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pic>
        <p:nvPicPr>
          <p:cNvPr id="24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5584" y="1572768"/>
            <a:ext cx="457200" cy="457200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5367528" y="2103120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freshness</a:t>
            </a:r>
            <a:endParaRPr lang="en-US" sz="1150" dirty="0"/>
          </a:p>
        </p:txBody>
      </p:sp>
      <p:sp>
        <p:nvSpPr>
          <p:cNvPr id="26" name="Text 20"/>
          <p:cNvSpPr txBox="1"/>
          <p:nvPr/>
        </p:nvSpPr>
        <p:spPr>
          <a:xfrm>
            <a:off x="5394960" y="2377440"/>
            <a:ext cx="12984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updated, and when</a:t>
            </a:r>
            <a:endParaRPr lang="en-US" sz="1000" dirty="0"/>
          </a:p>
        </p:txBody>
      </p:sp>
      <p:sp>
        <p:nvSpPr>
          <p:cNvPr id="27" name="Text 21"/>
          <p:cNvSpPr txBox="1"/>
          <p:nvPr/>
        </p:nvSpPr>
        <p:spPr>
          <a:xfrm>
            <a:off x="6748272" y="196596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28" name="card"/>
          <p:cNvSpPr/>
          <p:nvPr/>
        </p:nvSpPr>
        <p:spPr>
          <a:xfrm>
            <a:off x="6912864" y="1417320"/>
            <a:ext cx="1444752" cy="1600200"/>
          </a:xfrm>
          <a:prstGeom prst="roundRect">
            <a:avLst>
              <a:gd name="adj" fmla="val 5063"/>
            </a:avLst>
          </a:prstGeom>
          <a:solidFill>
            <a:srgbClr val="F1F5F9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29" name="Text 23"/>
          <p:cNvSpPr txBox="1"/>
          <p:nvPr/>
        </p:nvSpPr>
        <p:spPr>
          <a:xfrm>
            <a:off x="6986016" y="1353312"/>
            <a:ext cx="310896" cy="310896"/>
          </a:xfrm>
          <a:prstGeom prst="ellipse">
            <a:avLst/>
          </a:prstGeom>
          <a:solidFill>
            <a:srgbClr val="0E749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pic>
        <p:nvPicPr>
          <p:cNvPr id="30" name="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06640" y="1572768"/>
            <a:ext cx="457200" cy="457200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6958584" y="2103120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accepts</a:t>
            </a:r>
            <a:endParaRPr lang="en-US" sz="1150" dirty="0"/>
          </a:p>
        </p:txBody>
      </p:sp>
      <p:sp>
        <p:nvSpPr>
          <p:cNvPr id="32" name="Text 25"/>
          <p:cNvSpPr txBox="1"/>
          <p:nvPr/>
        </p:nvSpPr>
        <p:spPr>
          <a:xfrm>
            <a:off x="6986016" y="2377440"/>
            <a:ext cx="12984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officer assigns a bay</a:t>
            </a:r>
            <a:endParaRPr lang="en-US" sz="1000" dirty="0"/>
          </a:p>
        </p:txBody>
      </p:sp>
      <p:sp>
        <p:nvSpPr>
          <p:cNvPr id="33" name="Text 26"/>
          <p:cNvSpPr txBox="1"/>
          <p:nvPr/>
        </p:nvSpPr>
        <p:spPr>
          <a:xfrm>
            <a:off x="8339328" y="196596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34" name="card"/>
          <p:cNvSpPr/>
          <p:nvPr/>
        </p:nvSpPr>
        <p:spPr>
          <a:xfrm>
            <a:off x="8503920" y="1417320"/>
            <a:ext cx="1444752" cy="1600200"/>
          </a:xfrm>
          <a:prstGeom prst="roundRect">
            <a:avLst>
              <a:gd name="adj" fmla="val 5063"/>
            </a:avLst>
          </a:prstGeom>
          <a:solidFill>
            <a:srgbClr val="F1F5F9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35" name="Text 28"/>
          <p:cNvSpPr txBox="1"/>
          <p:nvPr/>
        </p:nvSpPr>
        <p:spPr>
          <a:xfrm>
            <a:off x="8577072" y="1353312"/>
            <a:ext cx="310896" cy="310896"/>
          </a:xfrm>
          <a:prstGeom prst="ellipse">
            <a:avLst/>
          </a:prstGeom>
          <a:solidFill>
            <a:srgbClr val="0E749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pic>
        <p:nvPicPr>
          <p:cNvPr id="36" name="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97696" y="1572768"/>
            <a:ext cx="457200" cy="457200"/>
          </a:xfrm>
          <a:prstGeom prst="rect">
            <a:avLst/>
          </a:prstGeom>
        </p:spPr>
      </p:pic>
      <p:sp>
        <p:nvSpPr>
          <p:cNvPr id="37" name="Text 29"/>
          <p:cNvSpPr txBox="1"/>
          <p:nvPr/>
        </p:nvSpPr>
        <p:spPr>
          <a:xfrm>
            <a:off x="8549640" y="2103120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</a:t>
            </a:r>
            <a:endParaRPr lang="en-US" sz="1150" dirty="0"/>
          </a:p>
        </p:txBody>
      </p:sp>
      <p:sp>
        <p:nvSpPr>
          <p:cNvPr id="38" name="Text 30"/>
          <p:cNvSpPr txBox="1"/>
          <p:nvPr/>
        </p:nvSpPr>
        <p:spPr>
          <a:xfrm>
            <a:off x="8577072" y="2377440"/>
            <a:ext cx="12984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ambulance or own vehicle</a:t>
            </a:r>
            <a:endParaRPr lang="en-US" sz="1000" dirty="0"/>
          </a:p>
        </p:txBody>
      </p:sp>
      <p:sp>
        <p:nvSpPr>
          <p:cNvPr id="39" name="Text 31"/>
          <p:cNvSpPr txBox="1"/>
          <p:nvPr/>
        </p:nvSpPr>
        <p:spPr>
          <a:xfrm>
            <a:off x="9930384" y="196596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40" name="card"/>
          <p:cNvSpPr/>
          <p:nvPr/>
        </p:nvSpPr>
        <p:spPr>
          <a:xfrm>
            <a:off x="10094976" y="1417320"/>
            <a:ext cx="1444752" cy="1600200"/>
          </a:xfrm>
          <a:prstGeom prst="roundRect">
            <a:avLst>
              <a:gd name="adj" fmla="val 5063"/>
            </a:avLst>
          </a:prstGeom>
          <a:solidFill>
            <a:srgbClr val="F1F5F9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41" name="Text 33"/>
          <p:cNvSpPr txBox="1"/>
          <p:nvPr/>
        </p:nvSpPr>
        <p:spPr>
          <a:xfrm>
            <a:off x="10168128" y="1353312"/>
            <a:ext cx="310896" cy="310896"/>
          </a:xfrm>
          <a:prstGeom prst="ellipse">
            <a:avLst/>
          </a:prstGeom>
          <a:solidFill>
            <a:srgbClr val="0E749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pic>
        <p:nvPicPr>
          <p:cNvPr id="42" name="icon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88752" y="1572768"/>
            <a:ext cx="457200" cy="457200"/>
          </a:xfrm>
          <a:prstGeom prst="rect">
            <a:avLst/>
          </a:prstGeom>
        </p:spPr>
      </p:pic>
      <p:sp>
        <p:nvSpPr>
          <p:cNvPr id="43" name="Text 34"/>
          <p:cNvSpPr txBox="1"/>
          <p:nvPr/>
        </p:nvSpPr>
        <p:spPr>
          <a:xfrm>
            <a:off x="10140696" y="2103120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Arrival</a:t>
            </a:r>
            <a:endParaRPr lang="en-US" sz="1150" dirty="0"/>
          </a:p>
        </p:txBody>
      </p:sp>
      <p:sp>
        <p:nvSpPr>
          <p:cNvPr id="44" name="Text 35"/>
          <p:cNvSpPr txBox="1"/>
          <p:nvPr/>
        </p:nvSpPr>
        <p:spPr>
          <a:xfrm>
            <a:off x="10168128" y="2377440"/>
            <a:ext cx="12984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bed, family informed</a:t>
            </a:r>
            <a:endParaRPr lang="en-US" sz="1000" dirty="0"/>
          </a:p>
        </p:txBody>
      </p:sp>
      <p:sp>
        <p:nvSpPr>
          <p:cNvPr id="45" name="step screen 1 bezel"/>
          <p:cNvSpPr/>
          <p:nvPr/>
        </p:nvSpPr>
        <p:spPr>
          <a:xfrm>
            <a:off x="621792" y="3227832"/>
            <a:ext cx="1233802" cy="2505456"/>
          </a:xfrm>
          <a:prstGeom prst="roundRect">
            <a:avLst>
              <a:gd name="adj" fmla="val 10376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A">
                <a:alpha val="16000"/>
              </a:srgbClr>
            </a:outerShdw>
          </a:effectLst>
        </p:spPr>
      </p:sp>
      <p:pic>
        <p:nvPicPr>
          <p:cNvPr id="46" name="step screen 1" descr="/tmp/claude-0/-home-user-Sehat-Setu/b06e8423-ed6e-57c3-bbb1-ac94b2a1720d/scratchpad/pdf/img/s/phone-1-start.jp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5800" y="3291840"/>
            <a:ext cx="1105786" cy="2377440"/>
          </a:xfrm>
          <a:prstGeom prst="rect">
            <a:avLst/>
          </a:prstGeom>
        </p:spPr>
      </p:pic>
      <p:sp>
        <p:nvSpPr>
          <p:cNvPr id="47" name="Text 37"/>
          <p:cNvSpPr txBox="1"/>
          <p:nvPr/>
        </p:nvSpPr>
        <p:spPr>
          <a:xfrm>
            <a:off x="594360" y="5788152"/>
            <a:ext cx="13801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or pick a common emergency</a:t>
            </a:r>
            <a:endParaRPr lang="en-US" sz="1050" dirty="0"/>
          </a:p>
        </p:txBody>
      </p:sp>
      <p:sp>
        <p:nvSpPr>
          <p:cNvPr id="48" name="step screen 2 bezel"/>
          <p:cNvSpPr/>
          <p:nvPr/>
        </p:nvSpPr>
        <p:spPr>
          <a:xfrm>
            <a:off x="2496312" y="3227832"/>
            <a:ext cx="1233802" cy="2505456"/>
          </a:xfrm>
          <a:prstGeom prst="roundRect">
            <a:avLst>
              <a:gd name="adj" fmla="val 10376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A">
                <a:alpha val="16000"/>
              </a:srgbClr>
            </a:outerShdw>
          </a:effectLst>
        </p:spPr>
      </p:sp>
      <p:pic>
        <p:nvPicPr>
          <p:cNvPr id="49" name="step screen 2" descr="/tmp/claude-0/-home-user-Sehat-Setu/b06e8423-ed6e-57c3-bbb1-ac94b2a1720d/scratchpad/pdf/img/s/phone-3-hospitals.jp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560320" y="3291840"/>
            <a:ext cx="1105786" cy="2377440"/>
          </a:xfrm>
          <a:prstGeom prst="rect">
            <a:avLst/>
          </a:prstGeom>
        </p:spPr>
      </p:pic>
      <p:sp>
        <p:nvSpPr>
          <p:cNvPr id="50" name="Text 39"/>
          <p:cNvSpPr txBox="1"/>
          <p:nvPr/>
        </p:nvSpPr>
        <p:spPr>
          <a:xfrm>
            <a:off x="2468880" y="5788152"/>
            <a:ext cx="13801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hospitals that can treat it</a:t>
            </a:r>
            <a:endParaRPr lang="en-US" sz="1050" dirty="0"/>
          </a:p>
        </p:txBody>
      </p:sp>
      <p:sp>
        <p:nvSpPr>
          <p:cNvPr id="51" name="step screen 3 bezel"/>
          <p:cNvSpPr/>
          <p:nvPr/>
        </p:nvSpPr>
        <p:spPr>
          <a:xfrm>
            <a:off x="4370832" y="3227832"/>
            <a:ext cx="1233802" cy="2505456"/>
          </a:xfrm>
          <a:prstGeom prst="roundRect">
            <a:avLst>
              <a:gd name="adj" fmla="val 10376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A">
                <a:alpha val="16000"/>
              </a:srgbClr>
            </a:outerShdw>
          </a:effectLst>
        </p:spPr>
      </p:sp>
      <p:pic>
        <p:nvPicPr>
          <p:cNvPr id="52" name="step screen 3" descr="/tmp/claude-0/-home-user-Sehat-Setu/b06e8423-ed6e-57c3-bbb1-ac94b2a1720d/scratchpad/pdf/img/s/phone-4-score.jp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34840" y="3291840"/>
            <a:ext cx="1105786" cy="2377440"/>
          </a:xfrm>
          <a:prstGeom prst="rect">
            <a:avLst/>
          </a:prstGeom>
        </p:spPr>
      </p:pic>
      <p:sp>
        <p:nvSpPr>
          <p:cNvPr id="53" name="Text 41"/>
          <p:cNvSpPr txBox="1"/>
          <p:nvPr/>
        </p:nvSpPr>
        <p:spPr>
          <a:xfrm>
            <a:off x="4343400" y="5788152"/>
            <a:ext cx="13801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“Why this hospital?” score parts</a:t>
            </a:r>
            <a:endParaRPr lang="en-US" sz="1050" dirty="0"/>
          </a:p>
        </p:txBody>
      </p:sp>
      <p:sp>
        <p:nvSpPr>
          <p:cNvPr id="54" name="step screen 4 bezel"/>
          <p:cNvSpPr/>
          <p:nvPr/>
        </p:nvSpPr>
        <p:spPr>
          <a:xfrm>
            <a:off x="6245352" y="3227832"/>
            <a:ext cx="1233802" cy="2505456"/>
          </a:xfrm>
          <a:prstGeom prst="roundRect">
            <a:avLst>
              <a:gd name="adj" fmla="val 10376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A">
                <a:alpha val="16000"/>
              </a:srgbClr>
            </a:outerShdw>
          </a:effectLst>
        </p:spPr>
      </p:sp>
      <p:pic>
        <p:nvPicPr>
          <p:cNvPr id="55" name="step screen 4" descr="/tmp/claude-0/-home-user-Sehat-Setu/b06e8423-ed6e-57c3-bbb1-ac94b2a1720d/scratchpad/pdf/img/s/phone-6-navigation.jp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09360" y="3291840"/>
            <a:ext cx="1105786" cy="2377440"/>
          </a:xfrm>
          <a:prstGeom prst="rect">
            <a:avLst/>
          </a:prstGeom>
        </p:spPr>
      </p:pic>
      <p:sp>
        <p:nvSpPr>
          <p:cNvPr id="56" name="Text 43"/>
          <p:cNvSpPr txBox="1"/>
          <p:nvPr/>
        </p:nvSpPr>
        <p:spPr>
          <a:xfrm>
            <a:off x="6217920" y="5788152"/>
            <a:ext cx="13801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Ambulance status and navigation</a:t>
            </a:r>
            <a:endParaRPr lang="en-US" sz="1050" dirty="0"/>
          </a:p>
        </p:txBody>
      </p:sp>
      <p:sp>
        <p:nvSpPr>
          <p:cNvPr id="57" name="card"/>
          <p:cNvSpPr/>
          <p:nvPr/>
        </p:nvSpPr>
        <p:spPr>
          <a:xfrm>
            <a:off x="8229600" y="3246120"/>
            <a:ext cx="3383280" cy="2971800"/>
          </a:xfrm>
          <a:prstGeom prst="roundRect">
            <a:avLst>
              <a:gd name="adj" fmla="val 2462"/>
            </a:avLst>
          </a:prstGeom>
          <a:solidFill>
            <a:srgbClr val="F1F5F9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58" name="Text 45"/>
          <p:cNvSpPr txBox="1"/>
          <p:nvPr/>
        </p:nvSpPr>
        <p:spPr>
          <a:xfrm>
            <a:off x="8412480" y="33832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WE NEVER BREAK</a:t>
            </a:r>
            <a:endParaRPr lang="en-US" sz="1200" dirty="0"/>
          </a:p>
        </p:txBody>
      </p:sp>
      <p:pic>
        <p:nvPicPr>
          <p:cNvPr id="59" name="icon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412480" y="3813048"/>
            <a:ext cx="274320" cy="274320"/>
          </a:xfrm>
          <a:prstGeom prst="rect">
            <a:avLst/>
          </a:prstGeom>
        </p:spPr>
      </p:pic>
      <p:sp>
        <p:nvSpPr>
          <p:cNvPr id="60" name="Text 46"/>
          <p:cNvSpPr txBox="1"/>
          <p:nvPr/>
        </p:nvSpPr>
        <p:spPr>
          <a:xfrm>
            <a:off x="8796528" y="3794760"/>
            <a:ext cx="2697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accepts before anyone travels</a:t>
            </a:r>
            <a:endParaRPr lang="en-US" sz="1150" dirty="0"/>
          </a:p>
        </p:txBody>
      </p:sp>
      <p:pic>
        <p:nvPicPr>
          <p:cNvPr id="61" name="icon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412480" y="4270248"/>
            <a:ext cx="274320" cy="274320"/>
          </a:xfrm>
          <a:prstGeom prst="rect">
            <a:avLst/>
          </a:prstGeom>
        </p:spPr>
      </p:pic>
      <p:sp>
        <p:nvSpPr>
          <p:cNvPr id="62" name="Text 47"/>
          <p:cNvSpPr txBox="1"/>
          <p:nvPr/>
        </p:nvSpPr>
        <p:spPr>
          <a:xfrm>
            <a:off x="8796528" y="4251960"/>
            <a:ext cx="2697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hospitals that can treat the case</a:t>
            </a:r>
            <a:endParaRPr lang="en-US" sz="1150" dirty="0"/>
          </a:p>
        </p:txBody>
      </p:sp>
      <p:pic>
        <p:nvPicPr>
          <p:cNvPr id="63" name="icon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412480" y="4727448"/>
            <a:ext cx="274320" cy="274320"/>
          </a:xfrm>
          <a:prstGeom prst="rect">
            <a:avLst/>
          </a:prstGeom>
        </p:spPr>
      </p:pic>
      <p:sp>
        <p:nvSpPr>
          <p:cNvPr id="64" name="Text 48"/>
          <p:cNvSpPr txBox="1"/>
          <p:nvPr/>
        </p:nvSpPr>
        <p:spPr>
          <a:xfrm>
            <a:off x="8796528" y="4709160"/>
            <a:ext cx="2697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s without answer → next hospital</a:t>
            </a:r>
            <a:endParaRPr lang="en-US" sz="1150" dirty="0"/>
          </a:p>
        </p:txBody>
      </p:sp>
      <p:pic>
        <p:nvPicPr>
          <p:cNvPr id="65" name="icon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412480" y="5184648"/>
            <a:ext cx="274320" cy="274320"/>
          </a:xfrm>
          <a:prstGeom prst="rect">
            <a:avLst/>
          </a:prstGeom>
        </p:spPr>
      </p:pic>
      <p:sp>
        <p:nvSpPr>
          <p:cNvPr id="66" name="Text 49"/>
          <p:cNvSpPr txBox="1"/>
          <p:nvPr/>
        </p:nvSpPr>
        <p:spPr>
          <a:xfrm>
            <a:off x="8796528" y="5166360"/>
            <a:ext cx="2697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diagnoses: “may indicate”</a:t>
            </a:r>
            <a:endParaRPr lang="en-US" sz="1150" dirty="0"/>
          </a:p>
        </p:txBody>
      </p:sp>
      <p:pic>
        <p:nvPicPr>
          <p:cNvPr id="67" name="icon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412480" y="5641848"/>
            <a:ext cx="274320" cy="274320"/>
          </a:xfrm>
          <a:prstGeom prst="rect">
            <a:avLst/>
          </a:prstGeom>
        </p:spPr>
      </p:pic>
      <p:sp>
        <p:nvSpPr>
          <p:cNvPr id="68" name="Text 50"/>
          <p:cNvSpPr txBox="1"/>
          <p:nvPr/>
        </p:nvSpPr>
        <p:spPr>
          <a:xfrm>
            <a:off x="8796528" y="5623560"/>
            <a:ext cx="2697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108 on every screen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TECHNICAL APPROACH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Technical </a:t>
            </a:r>
            <a:pPr algn="l" indent="0" marL="0">
              <a:buNone/>
            </a:pPr>
            <a:r>
              <a:rPr lang="en-US" sz="3400" b="1" dirty="0">
                <a:solidFill>
                  <a:srgbClr val="0E7490"/>
                </a:solidFill>
              </a:rPr>
              <a:t>Approach</a:t>
            </a:r>
            <a:endParaRPr lang="en-US" sz="3400" dirty="0"/>
          </a:p>
        </p:txBody>
      </p:sp>
      <p:sp>
        <p:nvSpPr>
          <p:cNvPr id="4" name="CITIZEN PWA"/>
          <p:cNvSpPr/>
          <p:nvPr/>
        </p:nvSpPr>
        <p:spPr>
          <a:xfrm>
            <a:off x="548640" y="1417320"/>
            <a:ext cx="1783080" cy="82296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490472"/>
            <a:ext cx="1636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 PWA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621792" y="1764792"/>
            <a:ext cx="16367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· photo · OCR · offline</a:t>
            </a:r>
            <a:endParaRPr lang="en-US" sz="1000" dirty="0"/>
          </a:p>
        </p:txBody>
      </p:sp>
      <p:sp>
        <p:nvSpPr>
          <p:cNvPr id="7" name="FAMILY LINK"/>
          <p:cNvSpPr/>
          <p:nvPr/>
        </p:nvSpPr>
        <p:spPr>
          <a:xfrm>
            <a:off x="2450592" y="1417320"/>
            <a:ext cx="1783080" cy="82296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523744" y="1490472"/>
            <a:ext cx="1636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LINK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2523744" y="1764792"/>
            <a:ext cx="16367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· hospital · ETA only</a:t>
            </a:r>
            <a:endParaRPr lang="en-US" sz="1000" dirty="0"/>
          </a:p>
        </p:txBody>
      </p:sp>
      <p:sp>
        <p:nvSpPr>
          <p:cNvPr id="10" name="HOSPITAL DESK"/>
          <p:cNvSpPr/>
          <p:nvPr/>
        </p:nvSpPr>
        <p:spPr>
          <a:xfrm>
            <a:off x="4352544" y="1417320"/>
            <a:ext cx="1783080" cy="82296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425696" y="1490472"/>
            <a:ext cx="1636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DESK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4425696" y="1764792"/>
            <a:ext cx="16367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referrals · beds · live map</a:t>
            </a:r>
            <a:endParaRPr lang="en-US" sz="1000" dirty="0"/>
          </a:p>
        </p:txBody>
      </p:sp>
      <p:sp>
        <p:nvSpPr>
          <p:cNvPr id="13" name="arrow"/>
          <p:cNvSpPr/>
          <p:nvPr/>
        </p:nvSpPr>
        <p:spPr>
          <a:xfrm>
            <a:off x="3337560" y="2267712"/>
            <a:ext cx="0" cy="347472"/>
          </a:xfrm>
          <a:prstGeom prst="line">
            <a:avLst/>
          </a:prstGeom>
          <a:noFill/>
          <a:ln w="15875">
            <a:solidFill>
              <a:srgbClr val="0E7490"/>
            </a:solidFill>
            <a:prstDash val="solid"/>
            <a:headEnd type="triangle"/>
            <a:tailEnd type="triangle"/>
          </a:ln>
        </p:spPr>
      </p:sp>
      <p:sp>
        <p:nvSpPr>
          <p:cNvPr id="14" name="MEDREACH SERVER  (Node.js + Express)"/>
          <p:cNvSpPr/>
          <p:nvPr/>
        </p:nvSpPr>
        <p:spPr>
          <a:xfrm>
            <a:off x="548640" y="2651760"/>
            <a:ext cx="5586984" cy="868680"/>
          </a:xfrm>
          <a:prstGeom prst="roundRect">
            <a:avLst>
              <a:gd name="adj" fmla="val 6316"/>
            </a:avLst>
          </a:prstGeom>
          <a:solidFill>
            <a:srgbClr val="F1F5F9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1792" y="2724912"/>
            <a:ext cx="5440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MEDREACH SERVER  (Node.js + Express)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621792" y="2999232"/>
            <a:ext cx="54406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+ live updates (SSE) · OTP login with 4 roles · case store · audit log · consent · 24-hour deletion</a:t>
            </a:r>
            <a:endParaRPr lang="en-US" sz="1000" dirty="0"/>
          </a:p>
        </p:txBody>
      </p:sp>
      <p:sp>
        <p:nvSpPr>
          <p:cNvPr id="17" name="arrow"/>
          <p:cNvSpPr/>
          <p:nvPr/>
        </p:nvSpPr>
        <p:spPr>
          <a:xfrm>
            <a:off x="1463040" y="3547872"/>
            <a:ext cx="0" cy="347472"/>
          </a:xfrm>
          <a:prstGeom prst="line">
            <a:avLst/>
          </a:prstGeom>
          <a:noFill/>
          <a:ln w="15875">
            <a:solidFill>
              <a:srgbClr val="0E7490"/>
            </a:solidFill>
            <a:prstDash val="solid"/>
            <a:headEnd type="triangle"/>
            <a:tailEnd type="triangle"/>
          </a:ln>
        </p:spPr>
      </p:sp>
      <p:sp>
        <p:nvSpPr>
          <p:cNvPr id="18" name="arrow"/>
          <p:cNvSpPr/>
          <p:nvPr/>
        </p:nvSpPr>
        <p:spPr>
          <a:xfrm>
            <a:off x="3337560" y="3547872"/>
            <a:ext cx="0" cy="347472"/>
          </a:xfrm>
          <a:prstGeom prst="line">
            <a:avLst/>
          </a:prstGeom>
          <a:noFill/>
          <a:ln w="15875">
            <a:solidFill>
              <a:srgbClr val="0E7490"/>
            </a:solidFill>
            <a:prstDash val="solid"/>
            <a:headEnd type="triangle"/>
            <a:tailEnd type="triangle"/>
          </a:ln>
        </p:spPr>
      </p:sp>
      <p:sp>
        <p:nvSpPr>
          <p:cNvPr id="19" name="arrow"/>
          <p:cNvSpPr/>
          <p:nvPr/>
        </p:nvSpPr>
        <p:spPr>
          <a:xfrm>
            <a:off x="5212080" y="3547872"/>
            <a:ext cx="0" cy="347472"/>
          </a:xfrm>
          <a:prstGeom prst="line">
            <a:avLst/>
          </a:prstGeom>
          <a:noFill/>
          <a:ln w="15875">
            <a:solidFill>
              <a:srgbClr val="0E7490"/>
            </a:solidFill>
            <a:prstDash val="solid"/>
            <a:headEnd type="triangle"/>
            <a:tailEnd type="triangle"/>
          </a:ln>
        </p:spPr>
      </p:sp>
      <p:sp>
        <p:nvSpPr>
          <p:cNvPr id="20" name="TRIAGE ENGINE"/>
          <p:cNvSpPr/>
          <p:nvPr/>
        </p:nvSpPr>
        <p:spPr>
          <a:xfrm>
            <a:off x="548640" y="3931920"/>
            <a:ext cx="1783080" cy="1051560"/>
          </a:xfrm>
          <a:prstGeom prst="roundRect">
            <a:avLst>
              <a:gd name="adj" fmla="val 5217"/>
            </a:avLst>
          </a:prstGeom>
          <a:solidFill>
            <a:srgbClr val="F1F5F9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21792" y="4005072"/>
            <a:ext cx="1636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 ENGINE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621792" y="4279392"/>
            <a:ext cx="1636776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understands and classifies severity</a:t>
            </a:r>
            <a:endParaRPr lang="en-US" sz="1000" dirty="0"/>
          </a:p>
        </p:txBody>
      </p:sp>
      <p:sp>
        <p:nvSpPr>
          <p:cNvPr id="23" name="MATCHING ENGINE"/>
          <p:cNvSpPr/>
          <p:nvPr/>
        </p:nvSpPr>
        <p:spPr>
          <a:xfrm>
            <a:off x="2450592" y="3931920"/>
            <a:ext cx="1783080" cy="1051560"/>
          </a:xfrm>
          <a:prstGeom prst="roundRect">
            <a:avLst>
              <a:gd name="adj" fmla="val 5217"/>
            </a:avLst>
          </a:prstGeom>
          <a:solidFill>
            <a:srgbClr val="F1F5F9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2523744" y="4005072"/>
            <a:ext cx="1636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ENGINE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2523744" y="4279392"/>
            <a:ext cx="1636776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ranks hospitals that can treat it</a:t>
            </a:r>
            <a:endParaRPr lang="en-US" sz="1000" dirty="0"/>
          </a:p>
        </p:txBody>
      </p:sp>
      <p:sp>
        <p:nvSpPr>
          <p:cNvPr id="26" name="PREDICTION"/>
          <p:cNvSpPr/>
          <p:nvPr/>
        </p:nvSpPr>
        <p:spPr>
          <a:xfrm>
            <a:off x="4352544" y="3931920"/>
            <a:ext cx="1783080" cy="1051560"/>
          </a:xfrm>
          <a:prstGeom prst="roundRect">
            <a:avLst>
              <a:gd name="adj" fmla="val 5217"/>
            </a:avLst>
          </a:prstGeom>
          <a:solidFill>
            <a:srgbClr val="F1F5F9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425696" y="4005072"/>
            <a:ext cx="1636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4425696" y="4279392"/>
            <a:ext cx="1636776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ETA, bed on arrival, ER forecast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5074920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Engines run on the server and on the phone, so triage works offline. Gemini or Claude (optional) adds understanding and writes the SBAR note.</a:t>
            </a:r>
            <a:endParaRPr lang="en-US" sz="1050" dirty="0"/>
          </a:p>
        </p:txBody>
      </p:sp>
      <p:graphicFrame>
        <p:nvGraphicFramePr>
          <p:cNvPr id="7" name="technology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46520" y="1417320"/>
          <a:ext cx="5166360" cy="914400"/>
        </p:xfrm>
        <a:graphic>
          <a:graphicData uri="http://schemas.openxmlformats.org/drawingml/2006/table">
            <a:tbl>
              <a:tblPr/>
              <a:tblGrid>
                <a:gridCol w="1508760"/>
                <a:gridCol w="36576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E74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Technology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E74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does in Medreach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Generative AI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Turns spoken words into requirements; writes the ER note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Voice bots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Hindi / English speech in; key steps read aloud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Computer vision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Photo of an injury → visible findings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Reads Ayushman / ABHA cards on the phone, with consent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Predictive analytics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Traffic ETA, chance a bed is free on arrival, ER forecast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Conversational AI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follow-up question at a time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Mobile app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Installable, bilingual PWA; works on weak networks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1" name="Text 28"/>
          <p:cNvSpPr txBox="1"/>
          <p:nvPr/>
        </p:nvSpPr>
        <p:spPr>
          <a:xfrm>
            <a:off x="6446520" y="4709160"/>
            <a:ext cx="5166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Stack: </a:t>
            </a:r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22 · Express 5 · PWA · Leaflet + OpenStreetMap + OSRM roads (no API keys) · Tesseract.js · Web Speech · Gemini / Claude</a:t>
            </a:r>
            <a:endParaRPr lang="en-US" sz="1050" dirty="0"/>
          </a:p>
        </p:txBody>
      </p:sp>
      <p:sp>
        <p:nvSpPr>
          <p:cNvPr id="32" name="card"/>
          <p:cNvSpPr/>
          <p:nvPr/>
        </p:nvSpPr>
        <p:spPr>
          <a:xfrm>
            <a:off x="548640" y="5715000"/>
            <a:ext cx="11064240" cy="530352"/>
          </a:xfrm>
          <a:prstGeom prst="roundRect">
            <a:avLst>
              <a:gd name="adj" fmla="val 13793"/>
            </a:avLst>
          </a:prstGeom>
          <a:solidFill>
            <a:srgbClr val="F1F5F9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731520" y="5715000"/>
            <a:ext cx="10789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Safety:  </a:t>
            </a:r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= max(AI, rules), so AI never lowers urgency.   </a:t>
            </a:r>
            <a:pPr indent="0" marL="0">
              <a:buNone/>
            </a:pPr>
            <a:r>
              <a:rPr lang="en-US" sz="11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Ranking:  </a:t>
            </a:r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to care 55 + bed on arrival × freshness 25 + services 15 + level 5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IMPLEMENTATION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From Prototype to </a:t>
            </a:r>
            <a:pPr algn="l" indent="0" marL="0">
              <a:buNone/>
            </a:pPr>
            <a:r>
              <a:rPr lang="en-US" sz="3400" b="1" dirty="0">
                <a:solidFill>
                  <a:srgbClr val="0E7490"/>
                </a:solidFill>
              </a:rPr>
              <a:t>Statewide</a:t>
            </a:r>
            <a:endParaRPr lang="en-US" sz="3400" dirty="0"/>
          </a:p>
        </p:txBody>
      </p:sp>
      <p:sp>
        <p:nvSpPr>
          <p:cNvPr id="4" name="timeline"/>
          <p:cNvSpPr/>
          <p:nvPr/>
        </p:nvSpPr>
        <p:spPr>
          <a:xfrm>
            <a:off x="1005840" y="1783080"/>
            <a:ext cx="8503920" cy="0"/>
          </a:xfrm>
          <a:prstGeom prst="line">
            <a:avLst/>
          </a:prstGeom>
          <a:noFill/>
          <a:ln w="19050">
            <a:solidFill>
              <a:srgbClr val="0E7490"/>
            </a:solidFill>
            <a:prstDash val="dash"/>
          </a:ln>
        </p:spPr>
      </p:sp>
      <p:sp>
        <p:nvSpPr>
          <p:cNvPr id="5" name="phase icon circle"/>
          <p:cNvSpPr/>
          <p:nvPr/>
        </p:nvSpPr>
        <p:spPr>
          <a:xfrm>
            <a:off x="548640" y="1417320"/>
            <a:ext cx="731520" cy="7315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E7490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A">
                <a:alpha val="16000"/>
              </a:srgbClr>
            </a:outerShdw>
          </a:effectLst>
        </p:spPr>
      </p:sp>
      <p:pic>
        <p:nvPicPr>
          <p:cNvPr id="6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581912"/>
            <a:ext cx="402336" cy="40233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22860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6060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2898648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Portals live, AI triage, matching, acceptance, real-road live maps, 62 tests</a:t>
            </a:r>
            <a:endParaRPr lang="en-US" sz="1100" dirty="0"/>
          </a:p>
        </p:txBody>
      </p:sp>
      <p:sp>
        <p:nvSpPr>
          <p:cNvPr id="10" name="phase icon circle"/>
          <p:cNvSpPr/>
          <p:nvPr/>
        </p:nvSpPr>
        <p:spPr>
          <a:xfrm>
            <a:off x="3383280" y="1417320"/>
            <a:ext cx="731520" cy="7315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E7490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A">
                <a:alpha val="16000"/>
              </a:srgbClr>
            </a:outerShdw>
          </a:effectLst>
        </p:spPr>
      </p:sp>
      <p:pic>
        <p:nvPicPr>
          <p:cNvPr id="11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7872" y="1581912"/>
            <a:ext cx="402336" cy="40233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383280" y="22860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· Bhopal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3383280" y="26060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 months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3383280" y="2898648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onboarding, nodal officers, ER training, clinical review, SMS OTP</a:t>
            </a:r>
            <a:endParaRPr lang="en-US" sz="1100" dirty="0"/>
          </a:p>
        </p:txBody>
      </p:sp>
      <p:sp>
        <p:nvSpPr>
          <p:cNvPr id="15" name="phase icon circle"/>
          <p:cNvSpPr/>
          <p:nvPr/>
        </p:nvSpPr>
        <p:spPr>
          <a:xfrm>
            <a:off x="6217920" y="1417320"/>
            <a:ext cx="731520" cy="7315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E7490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A">
                <a:alpha val="16000"/>
              </a:srgbClr>
            </a:outerShdw>
          </a:effectLst>
        </p:spPr>
      </p:sp>
      <p:pic>
        <p:nvPicPr>
          <p:cNvPr id="16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2512" y="1581912"/>
            <a:ext cx="402336" cy="40233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217920" y="22860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6217920" y="26060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~3–6 months</a:t>
            </a:r>
            <a:endParaRPr lang="en-US" sz="1200" dirty="0"/>
          </a:p>
        </p:txBody>
      </p:sp>
      <p:sp>
        <p:nvSpPr>
          <p:cNvPr id="19" name="Text 14"/>
          <p:cNvSpPr txBox="1"/>
          <p:nvPr/>
        </p:nvSpPr>
        <p:spPr>
          <a:xfrm>
            <a:off x="6217920" y="2898648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Facility Registry, HMIS, 108 control room, ABDM, encrypted DB</a:t>
            </a:r>
            <a:endParaRPr lang="en-US" sz="1100" dirty="0"/>
          </a:p>
        </p:txBody>
      </p:sp>
      <p:sp>
        <p:nvSpPr>
          <p:cNvPr id="20" name="phase icon circle"/>
          <p:cNvSpPr/>
          <p:nvPr/>
        </p:nvSpPr>
        <p:spPr>
          <a:xfrm>
            <a:off x="9052560" y="1417320"/>
            <a:ext cx="731520" cy="7315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E7490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A">
                <a:alpha val="16000"/>
              </a:srgbClr>
            </a:outerShdw>
          </a:effectLst>
        </p:spPr>
      </p:sp>
      <p:pic>
        <p:nvPicPr>
          <p:cNvPr id="21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17152" y="1581912"/>
            <a:ext cx="402336" cy="402336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9052560" y="22860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· MP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9052560" y="26060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~6–12 months</a:t>
            </a:r>
            <a:endParaRPr lang="en-US" sz="1200" dirty="0"/>
          </a:p>
        </p:txBody>
      </p:sp>
      <p:sp>
        <p:nvSpPr>
          <p:cNvPr id="24" name="Text 18"/>
          <p:cNvSpPr txBox="1"/>
          <p:nvPr/>
        </p:nvSpPr>
        <p:spPr>
          <a:xfrm>
            <a:off x="9052560" y="2898648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 rollouts, state command view, IVR for feature phones</a:t>
            </a:r>
            <a:endParaRPr lang="en-US" sz="1100" dirty="0"/>
          </a:p>
        </p:txBody>
      </p:sp>
      <p:sp>
        <p:nvSpPr>
          <p:cNvPr id="25" name="bed management frame"/>
          <p:cNvSpPr/>
          <p:nvPr/>
        </p:nvSpPr>
        <p:spPr>
          <a:xfrm>
            <a:off x="557784" y="3758184"/>
            <a:ext cx="5010912" cy="2130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A">
                <a:alpha val="16000"/>
              </a:srgbClr>
            </a:outerShdw>
          </a:effectLst>
        </p:spPr>
      </p:sp>
      <p:pic>
        <p:nvPicPr>
          <p:cNvPr id="26" name="bed management" descr="/tmp/claude-0/-home-user-Sehat-Setu/b06e8423-ed6e-57c3-bbb1-ac94b2a1720d/scratchpad/ppt/crops/beds.jp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594360" y="3794760"/>
            <a:ext cx="4937760" cy="205740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548640" y="59436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hospitals keep current. One click re-confirms the figures.</a:t>
            </a:r>
            <a:endParaRPr lang="en-US" sz="1050" dirty="0"/>
          </a:p>
        </p:txBody>
      </p:sp>
      <p:sp>
        <p:nvSpPr>
          <p:cNvPr id="28" name="Text 21"/>
          <p:cNvSpPr txBox="1"/>
          <p:nvPr/>
        </p:nvSpPr>
        <p:spPr>
          <a:xfrm>
            <a:off x="5989320" y="3657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RISKS &amp; MITIGATIONS</a:t>
            </a:r>
            <a:endParaRPr lang="en-US" sz="1150" dirty="0"/>
          </a:p>
        </p:txBody>
      </p:sp>
      <p:graphicFrame>
        <p:nvGraphicFramePr>
          <p:cNvPr id="8" name="risk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89320" y="4005072"/>
          <a:ext cx="5623560" cy="914400"/>
        </p:xfrm>
        <a:graphic>
          <a:graphicData uri="http://schemas.openxmlformats.org/drawingml/2006/table">
            <a:tbl>
              <a:tblPr/>
              <a:tblGrid>
                <a:gridCol w="1783080"/>
                <a:gridCol w="38404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E74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E74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Mitigation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Hospitals stop updating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Freshness on every figure; stale ranked lower; one-click confirm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misreads a case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only raises urgency; a deterministic engine decides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hospital answers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After 60 s the next suitable hospital is asked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Weak network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Offline PWA runs triage and matching on the phone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INNOVATION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What Makes Medreach </a:t>
            </a:r>
            <a:pPr algn="l" indent="0" marL="0">
              <a:buNone/>
            </a:pPr>
            <a:r>
              <a:rPr lang="en-US" sz="3400" b="1" dirty="0">
                <a:solidFill>
                  <a:srgbClr val="0E7490"/>
                </a:solidFill>
              </a:rPr>
              <a:t>Different</a:t>
            </a:r>
            <a:endParaRPr lang="en-US" sz="3400" dirty="0"/>
          </a:p>
        </p:txBody>
      </p:sp>
      <p:graphicFrame>
        <p:nvGraphicFramePr>
          <p:cNvPr id="9" name="comparison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640080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777240"/>
                <a:gridCol w="960120"/>
                <a:gridCol w="914400"/>
                <a:gridCol w="10972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E74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E74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Bed portals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E74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Helplines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E74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Medreach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Understands a spoken emergency in Hindi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Matches specialist and equipment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Beds only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Shows who updated each figure, and when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Rarely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figure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Hospital accepts before travel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Sometimes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+ bay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Automatic fallback to next hospital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 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Pre-arrival note for the ER doctor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SBAR note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Help for a person living alone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“I’m alone”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25780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Reported capacity, referral accepted and confirmed destination are always shown separately, so “2 ICU beds” is never mistaken for “admitted”.</a:t>
            </a:r>
            <a:endParaRPr lang="en-US" sz="1200" dirty="0"/>
          </a:p>
        </p:txBody>
      </p:sp>
      <p:sp>
        <p:nvSpPr>
          <p:cNvPr id="6" name="referral with SBAR note frame"/>
          <p:cNvSpPr/>
          <p:nvPr/>
        </p:nvSpPr>
        <p:spPr>
          <a:xfrm>
            <a:off x="7415784" y="1426464"/>
            <a:ext cx="4233672" cy="1290422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A">
                <a:alpha val="16000"/>
              </a:srgbClr>
            </a:outerShdw>
          </a:effectLst>
        </p:spPr>
      </p:sp>
      <p:pic>
        <p:nvPicPr>
          <p:cNvPr id="7" name="referral with SBAR note" descr="/tmp/claude-0/-home-user-Sehat-Setu/b06e8423-ed6e-57c3-bbb1-ac94b2a1720d/scratchpad/ppt/crops/sba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52360" y="1463040"/>
            <a:ext cx="4160520" cy="121727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7086600" y="1949948"/>
            <a:ext cx="292608" cy="292608"/>
          </a:xfrm>
          <a:prstGeom prst="ellipse">
            <a:avLst/>
          </a:prstGeom>
          <a:solidFill>
            <a:srgbClr val="0E749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9" name="Text 5"/>
          <p:cNvSpPr txBox="1"/>
          <p:nvPr/>
        </p:nvSpPr>
        <p:spPr>
          <a:xfrm>
            <a:off x="7086600" y="2461201"/>
            <a:ext cx="292608" cy="292608"/>
          </a:xfrm>
          <a:prstGeom prst="ellipse">
            <a:avLst/>
          </a:prstGeom>
          <a:solidFill>
            <a:srgbClr val="0E749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10" name="Text 6"/>
          <p:cNvSpPr txBox="1"/>
          <p:nvPr/>
        </p:nvSpPr>
        <p:spPr>
          <a:xfrm>
            <a:off x="7452360" y="281747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AI-written SBAR note from what the son said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a bay and accept in one tap</a:t>
            </a:r>
            <a:endParaRPr lang="en-US" sz="1100" dirty="0"/>
          </a:p>
        </p:txBody>
      </p:sp>
      <p:sp>
        <p:nvSpPr>
          <p:cNvPr id="11" name="card"/>
          <p:cNvSpPr/>
          <p:nvPr/>
        </p:nvSpPr>
        <p:spPr>
          <a:xfrm>
            <a:off x="7452360" y="3429000"/>
            <a:ext cx="4160520" cy="749808"/>
          </a:xfrm>
          <a:prstGeom prst="roundRect">
            <a:avLst>
              <a:gd name="adj" fmla="val 9756"/>
            </a:avLst>
          </a:prstGeom>
          <a:solidFill>
            <a:srgbClr val="F1F5F9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7635240" y="3429000"/>
            <a:ext cx="1188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1 s</a:t>
            </a:r>
            <a:endParaRPr lang="en-US" sz="2600" dirty="0"/>
          </a:p>
        </p:txBody>
      </p:sp>
      <p:sp>
        <p:nvSpPr>
          <p:cNvPr id="13" name="Text 9"/>
          <p:cNvSpPr txBox="1"/>
          <p:nvPr/>
        </p:nvSpPr>
        <p:spPr>
          <a:xfrm>
            <a:off x="8869680" y="3429000"/>
            <a:ext cx="2651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change reaches every citizen</a:t>
            </a:r>
            <a:endParaRPr lang="en-US" sz="1200" dirty="0"/>
          </a:p>
        </p:txBody>
      </p:sp>
      <p:sp>
        <p:nvSpPr>
          <p:cNvPr id="14" name="card"/>
          <p:cNvSpPr/>
          <p:nvPr/>
        </p:nvSpPr>
        <p:spPr>
          <a:xfrm>
            <a:off x="7452360" y="4297680"/>
            <a:ext cx="4160520" cy="749808"/>
          </a:xfrm>
          <a:prstGeom prst="roundRect">
            <a:avLst>
              <a:gd name="adj" fmla="val 9756"/>
            </a:avLst>
          </a:prstGeom>
          <a:solidFill>
            <a:srgbClr val="F1F5F9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7635240" y="4297680"/>
            <a:ext cx="1188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 s</a:t>
            </a:r>
            <a:endParaRPr lang="en-US" sz="2600" dirty="0"/>
          </a:p>
        </p:txBody>
      </p:sp>
      <p:sp>
        <p:nvSpPr>
          <p:cNvPr id="16" name="Text 12"/>
          <p:cNvSpPr txBox="1"/>
          <p:nvPr/>
        </p:nvSpPr>
        <p:spPr>
          <a:xfrm>
            <a:off x="8869680" y="4297680"/>
            <a:ext cx="2651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the next hospital is asked</a:t>
            </a:r>
            <a:endParaRPr lang="en-US" sz="1200" dirty="0"/>
          </a:p>
        </p:txBody>
      </p:sp>
      <p:sp>
        <p:nvSpPr>
          <p:cNvPr id="17" name="card"/>
          <p:cNvSpPr/>
          <p:nvPr/>
        </p:nvSpPr>
        <p:spPr>
          <a:xfrm>
            <a:off x="7452360" y="5166360"/>
            <a:ext cx="4160520" cy="749808"/>
          </a:xfrm>
          <a:prstGeom prst="roundRect">
            <a:avLst>
              <a:gd name="adj" fmla="val 9756"/>
            </a:avLst>
          </a:prstGeom>
          <a:solidFill>
            <a:srgbClr val="F1F5F9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7635240" y="5166360"/>
            <a:ext cx="1188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600" dirty="0"/>
          </a:p>
        </p:txBody>
      </p:sp>
      <p:sp>
        <p:nvSpPr>
          <p:cNvPr id="19" name="Text 15"/>
          <p:cNvSpPr txBox="1"/>
          <p:nvPr/>
        </p:nvSpPr>
        <p:spPr>
          <a:xfrm>
            <a:off x="8869680" y="5166360"/>
            <a:ext cx="2651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keys needed for maps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IMPACT AND BENEFITS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Impact and </a:t>
            </a:r>
            <a:pPr algn="l" indent="0" marL="0">
              <a:buNone/>
            </a:pPr>
            <a:r>
              <a:rPr lang="en-US" sz="3400" b="1" dirty="0">
                <a:solidFill>
                  <a:srgbClr val="0E7490"/>
                </a:solidFill>
              </a:rPr>
              <a:t>Benefits</a:t>
            </a:r>
            <a:endParaRPr lang="en-US" sz="3400" dirty="0"/>
          </a:p>
        </p:txBody>
      </p:sp>
      <p:sp>
        <p:nvSpPr>
          <p:cNvPr id="4" name="card"/>
          <p:cNvSpPr/>
          <p:nvPr/>
        </p:nvSpPr>
        <p:spPr>
          <a:xfrm>
            <a:off x="548640" y="1417320"/>
            <a:ext cx="2103120" cy="1645920"/>
          </a:xfrm>
          <a:prstGeom prst="roundRect">
            <a:avLst>
              <a:gd name="adj" fmla="val 4444"/>
            </a:avLst>
          </a:prstGeom>
          <a:solidFill>
            <a:srgbClr val="F1F5F9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13232" y="152704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713232" y="207568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care, first time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13232" y="2386584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Pre-arrival acceptance gets patients treated sooner.</a:t>
            </a:r>
            <a:endParaRPr lang="en-US" sz="1050" dirty="0"/>
          </a:p>
        </p:txBody>
      </p:sp>
      <p:sp>
        <p:nvSpPr>
          <p:cNvPr id="8" name="card"/>
          <p:cNvSpPr/>
          <p:nvPr/>
        </p:nvSpPr>
        <p:spPr>
          <a:xfrm>
            <a:off x="2788920" y="1417320"/>
            <a:ext cx="2103120" cy="1645920"/>
          </a:xfrm>
          <a:prstGeom prst="roundRect">
            <a:avLst>
              <a:gd name="adj" fmla="val 4444"/>
            </a:avLst>
          </a:prstGeom>
          <a:solidFill>
            <a:srgbClr val="F1F5F9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953512" y="152704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2953512" y="207568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 access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2953512" y="2386584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and Hindi for rural, elderly and first-time users.</a:t>
            </a:r>
            <a:endParaRPr lang="en-US" sz="1050" dirty="0"/>
          </a:p>
        </p:txBody>
      </p:sp>
      <p:sp>
        <p:nvSpPr>
          <p:cNvPr id="12" name="card"/>
          <p:cNvSpPr/>
          <p:nvPr/>
        </p:nvSpPr>
        <p:spPr>
          <a:xfrm>
            <a:off x="5029200" y="1417320"/>
            <a:ext cx="2103120" cy="1645920"/>
          </a:xfrm>
          <a:prstGeom prst="roundRect">
            <a:avLst>
              <a:gd name="adj" fmla="val 4444"/>
            </a:avLst>
          </a:prstGeom>
          <a:solidFill>
            <a:srgbClr val="F1F5F9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193792" y="152704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5193792" y="207568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costs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193792" y="2386584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repeat trips; better use of ICU beds and specialists.</a:t>
            </a:r>
            <a:endParaRPr lang="en-US" sz="1050" dirty="0"/>
          </a:p>
        </p:txBody>
      </p:sp>
      <p:sp>
        <p:nvSpPr>
          <p:cNvPr id="16" name="card"/>
          <p:cNvSpPr/>
          <p:nvPr/>
        </p:nvSpPr>
        <p:spPr>
          <a:xfrm>
            <a:off x="548640" y="3200400"/>
            <a:ext cx="2103120" cy="1645920"/>
          </a:xfrm>
          <a:prstGeom prst="roundRect">
            <a:avLst>
              <a:gd name="adj" fmla="val 4444"/>
            </a:avLst>
          </a:prstGeom>
          <a:solidFill>
            <a:srgbClr val="F1F5F9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13232" y="331012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800" dirty="0"/>
          </a:p>
        </p:txBody>
      </p:sp>
      <p:sp>
        <p:nvSpPr>
          <p:cNvPr id="18" name="Text 16"/>
          <p:cNvSpPr txBox="1"/>
          <p:nvPr/>
        </p:nvSpPr>
        <p:spPr>
          <a:xfrm>
            <a:off x="713232" y="38587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Live, audited data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713232" y="4169664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capacity for planning beds and ambulances.</a:t>
            </a:r>
            <a:endParaRPr lang="en-US" sz="1050" dirty="0"/>
          </a:p>
        </p:txBody>
      </p:sp>
      <p:sp>
        <p:nvSpPr>
          <p:cNvPr id="20" name="card"/>
          <p:cNvSpPr/>
          <p:nvPr/>
        </p:nvSpPr>
        <p:spPr>
          <a:xfrm>
            <a:off x="2788920" y="3200400"/>
            <a:ext cx="2103120" cy="1645920"/>
          </a:xfrm>
          <a:prstGeom prst="roundRect">
            <a:avLst>
              <a:gd name="adj" fmla="val 4444"/>
            </a:avLst>
          </a:prstGeom>
          <a:solidFill>
            <a:srgbClr val="F1F5F9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953512" y="331012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800" dirty="0"/>
          </a:p>
        </p:txBody>
      </p:sp>
      <p:sp>
        <p:nvSpPr>
          <p:cNvPr id="22" name="Text 20"/>
          <p:cNvSpPr txBox="1"/>
          <p:nvPr/>
        </p:nvSpPr>
        <p:spPr>
          <a:xfrm>
            <a:off x="2953512" y="38587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Informed citizens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2953512" y="4169664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first-aid steps; awareness of Ayushman, ABHA, 108.</a:t>
            </a:r>
            <a:endParaRPr lang="en-US" sz="1050" dirty="0"/>
          </a:p>
        </p:txBody>
      </p:sp>
      <p:sp>
        <p:nvSpPr>
          <p:cNvPr id="24" name="card"/>
          <p:cNvSpPr/>
          <p:nvPr/>
        </p:nvSpPr>
        <p:spPr>
          <a:xfrm>
            <a:off x="5029200" y="3200400"/>
            <a:ext cx="2103120" cy="1645920"/>
          </a:xfrm>
          <a:prstGeom prst="roundRect">
            <a:avLst>
              <a:gd name="adj" fmla="val 4444"/>
            </a:avLst>
          </a:prstGeom>
          <a:solidFill>
            <a:srgbClr val="F1F5F9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193792" y="331012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2800" dirty="0"/>
          </a:p>
        </p:txBody>
      </p:sp>
      <p:sp>
        <p:nvSpPr>
          <p:cNvPr id="26" name="Text 24"/>
          <p:cNvSpPr txBox="1"/>
          <p:nvPr/>
        </p:nvSpPr>
        <p:spPr>
          <a:xfrm>
            <a:off x="5193792" y="38587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Stronger system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5193792" y="4169664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surprise arrivals, less crowding, fewer transfers.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51206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PILOT WILL MEASURE IT</a:t>
            </a:r>
            <a:endParaRPr lang="en-US" sz="1100" dirty="0"/>
          </a:p>
        </p:txBody>
      </p:sp>
      <p:pic>
        <p:nvPicPr>
          <p:cNvPr id="29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486400"/>
            <a:ext cx="329184" cy="329184"/>
          </a:xfrm>
          <a:prstGeom prst="rect">
            <a:avLst/>
          </a:prstGeom>
        </p:spPr>
      </p:pic>
      <p:sp>
        <p:nvSpPr>
          <p:cNvPr id="30" name="Text 27"/>
          <p:cNvSpPr txBox="1"/>
          <p:nvPr/>
        </p:nvSpPr>
        <p:spPr>
          <a:xfrm>
            <a:off x="960120" y="5468112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to definitive care</a:t>
            </a:r>
            <a:endParaRPr lang="en-US" sz="1050" dirty="0"/>
          </a:p>
        </p:txBody>
      </p:sp>
      <p:pic>
        <p:nvPicPr>
          <p:cNvPr id="31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1136" y="5486400"/>
            <a:ext cx="329184" cy="329184"/>
          </a:xfrm>
          <a:prstGeom prst="rect">
            <a:avLst/>
          </a:prstGeom>
        </p:spPr>
      </p:pic>
      <p:sp>
        <p:nvSpPr>
          <p:cNvPr id="32" name="Text 28"/>
          <p:cNvSpPr txBox="1"/>
          <p:nvPr/>
        </p:nvSpPr>
        <p:spPr>
          <a:xfrm>
            <a:off x="2642616" y="5468112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Transfers avoided</a:t>
            </a:r>
            <a:endParaRPr lang="en-US" sz="1050" dirty="0"/>
          </a:p>
        </p:txBody>
      </p:sp>
      <p:pic>
        <p:nvPicPr>
          <p:cNvPr id="33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3632" y="5486400"/>
            <a:ext cx="329184" cy="329184"/>
          </a:xfrm>
          <a:prstGeom prst="rect">
            <a:avLst/>
          </a:prstGeom>
        </p:spPr>
      </p:pic>
      <p:sp>
        <p:nvSpPr>
          <p:cNvPr id="34" name="Text 29"/>
          <p:cNvSpPr txBox="1"/>
          <p:nvPr/>
        </p:nvSpPr>
        <p:spPr>
          <a:xfrm>
            <a:off x="4325112" y="5468112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Acceptance time</a:t>
            </a:r>
            <a:endParaRPr lang="en-US" sz="1050" dirty="0"/>
          </a:p>
        </p:txBody>
      </p:sp>
      <p:pic>
        <p:nvPicPr>
          <p:cNvPr id="35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96128" y="5486400"/>
            <a:ext cx="329184" cy="329184"/>
          </a:xfrm>
          <a:prstGeom prst="rect">
            <a:avLst/>
          </a:prstGeom>
        </p:spPr>
      </p:pic>
      <p:sp>
        <p:nvSpPr>
          <p:cNvPr id="36" name="Text 30"/>
          <p:cNvSpPr txBox="1"/>
          <p:nvPr/>
        </p:nvSpPr>
        <p:spPr>
          <a:xfrm>
            <a:off x="6007608" y="5468112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freshness</a:t>
            </a:r>
            <a:endParaRPr lang="en-US" sz="1050" dirty="0"/>
          </a:p>
        </p:txBody>
      </p:sp>
      <p:sp>
        <p:nvSpPr>
          <p:cNvPr id="37" name="I am alone screen bezel"/>
          <p:cNvSpPr/>
          <p:nvPr/>
        </p:nvSpPr>
        <p:spPr>
          <a:xfrm>
            <a:off x="7479792" y="1399032"/>
            <a:ext cx="1935551" cy="4014216"/>
          </a:xfrm>
          <a:prstGeom prst="roundRect">
            <a:avLst>
              <a:gd name="adj" fmla="val 6614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A">
                <a:alpha val="16000"/>
              </a:srgbClr>
            </a:outerShdw>
          </a:effectLst>
        </p:spPr>
      </p:sp>
      <p:pic>
        <p:nvPicPr>
          <p:cNvPr id="38" name="I am alone screen" descr="/tmp/claude-0/-home-user-Sehat-Setu/b06e8423-ed6e-57c3-bbb1-ac94b2a1720d/scratchpad/pdf/img/s/phone-8-alone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43800" y="1463040"/>
            <a:ext cx="1807535" cy="3886200"/>
          </a:xfrm>
          <a:prstGeom prst="rect">
            <a:avLst/>
          </a:prstGeom>
        </p:spPr>
      </p:pic>
      <p:sp>
        <p:nvSpPr>
          <p:cNvPr id="39" name="Text 32"/>
          <p:cNvSpPr txBox="1"/>
          <p:nvPr/>
        </p:nvSpPr>
        <p:spPr>
          <a:xfrm>
            <a:off x="7406640" y="5486400"/>
            <a:ext cx="2081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“I’m alone”: one tap does every step.</a:t>
            </a:r>
            <a:endParaRPr lang="en-US" sz="1050" dirty="0"/>
          </a:p>
        </p:txBody>
      </p:sp>
      <p:sp>
        <p:nvSpPr>
          <p:cNvPr id="40" name="family link screen bezel"/>
          <p:cNvSpPr/>
          <p:nvPr/>
        </p:nvSpPr>
        <p:spPr>
          <a:xfrm>
            <a:off x="9674352" y="1399032"/>
            <a:ext cx="1935551" cy="4014216"/>
          </a:xfrm>
          <a:prstGeom prst="roundRect">
            <a:avLst>
              <a:gd name="adj" fmla="val 6614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A">
                <a:alpha val="16000"/>
              </a:srgbClr>
            </a:outerShdw>
          </a:effectLst>
        </p:spPr>
      </p:sp>
      <p:pic>
        <p:nvPicPr>
          <p:cNvPr id="41" name="family link screen" descr="/tmp/claude-0/-home-user-Sehat-Setu/b06e8423-ed6e-57c3-bbb1-ac94b2a1720d/scratchpad/pdf/img/s/phone-7-family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38360" y="1463040"/>
            <a:ext cx="1807535" cy="3886200"/>
          </a:xfrm>
          <a:prstGeom prst="rect">
            <a:avLst/>
          </a:prstGeom>
        </p:spPr>
      </p:pic>
      <p:sp>
        <p:nvSpPr>
          <p:cNvPr id="42" name="Text 34"/>
          <p:cNvSpPr txBox="1"/>
          <p:nvPr/>
        </p:nvSpPr>
        <p:spPr>
          <a:xfrm>
            <a:off x="9601200" y="5486400"/>
            <a:ext cx="2081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link: status, hospital, ETA. No medical data.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WHY MEDREACH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Why Should Medreach </a:t>
            </a:r>
            <a:pPr algn="l" indent="0" marL="0">
              <a:buNone/>
            </a:pPr>
            <a:r>
              <a:rPr lang="en-US" sz="3400" b="1" dirty="0">
                <a:solidFill>
                  <a:srgbClr val="0E7490"/>
                </a:solidFill>
              </a:rPr>
              <a:t>Be Selected?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9052560" y="603504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2800" dirty="0"/>
          </a:p>
        </p:txBody>
      </p:sp>
      <p:sp>
        <p:nvSpPr>
          <p:cNvPr id="5" name="card"/>
          <p:cNvSpPr/>
          <p:nvPr/>
        </p:nvSpPr>
        <p:spPr>
          <a:xfrm>
            <a:off x="548640" y="1463040"/>
            <a:ext cx="3520440" cy="1508760"/>
          </a:xfrm>
          <a:prstGeom prst="roundRect">
            <a:avLst>
              <a:gd name="adj" fmla="val 4848"/>
            </a:avLst>
          </a:prstGeom>
          <a:solidFill>
            <a:srgbClr val="F1F5F9"/>
          </a:solidFill>
          <a:ln w="12700">
            <a:solidFill>
              <a:srgbClr val="D6DEE8"/>
            </a:solidFill>
            <a:prstDash val="solid"/>
          </a:ln>
        </p:spPr>
      </p:sp>
      <p:pic>
        <p:nvPicPr>
          <p:cNvPr id="6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664208"/>
            <a:ext cx="411480" cy="4114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298448" y="171907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IMPACT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749808" y="2212848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Closes a life-or-death gap for citizens of Madhya Pradesh: a bed confirmed before travel.</a:t>
            </a:r>
            <a:endParaRPr lang="en-US" sz="1150" dirty="0"/>
          </a:p>
        </p:txBody>
      </p:sp>
      <p:sp>
        <p:nvSpPr>
          <p:cNvPr id="9" name="card"/>
          <p:cNvSpPr/>
          <p:nvPr/>
        </p:nvSpPr>
        <p:spPr>
          <a:xfrm>
            <a:off x="4270248" y="1463040"/>
            <a:ext cx="3520440" cy="1508760"/>
          </a:xfrm>
          <a:prstGeom prst="roundRect">
            <a:avLst>
              <a:gd name="adj" fmla="val 4848"/>
            </a:avLst>
          </a:prstGeom>
          <a:solidFill>
            <a:srgbClr val="F1F5F9"/>
          </a:solidFill>
          <a:ln w="12700">
            <a:solidFill>
              <a:srgbClr val="D6DEE8"/>
            </a:solidFill>
            <a:prstDash val="solid"/>
          </a:ln>
        </p:spPr>
      </p:sp>
      <p:pic>
        <p:nvPicPr>
          <p:cNvPr id="10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1416" y="1664208"/>
            <a:ext cx="411480" cy="41148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020056" y="171907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NOW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4471416" y="2212848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portals are live on the web today. Try the whole flow in about 3 minutes.</a:t>
            </a:r>
            <a:endParaRPr lang="en-US" sz="1150" dirty="0"/>
          </a:p>
        </p:txBody>
      </p:sp>
      <p:sp>
        <p:nvSpPr>
          <p:cNvPr id="13" name="card"/>
          <p:cNvSpPr/>
          <p:nvPr/>
        </p:nvSpPr>
        <p:spPr>
          <a:xfrm>
            <a:off x="7991856" y="1463040"/>
            <a:ext cx="3520440" cy="1508760"/>
          </a:xfrm>
          <a:prstGeom prst="roundRect">
            <a:avLst>
              <a:gd name="adj" fmla="val 4848"/>
            </a:avLst>
          </a:prstGeom>
          <a:solidFill>
            <a:srgbClr val="F1F5F9"/>
          </a:solidFill>
          <a:ln w="12700">
            <a:solidFill>
              <a:srgbClr val="D6DEE8"/>
            </a:solidFill>
            <a:prstDash val="solid"/>
          </a:ln>
        </p:spPr>
      </p:sp>
      <p:pic>
        <p:nvPicPr>
          <p:cNvPr id="14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3024" y="1664208"/>
            <a:ext cx="411480" cy="41148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8741664" y="171907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IN FULL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8193024" y="2212848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7 suggested technologies in working code, listed file by file.</a:t>
            </a:r>
            <a:endParaRPr lang="en-US" sz="1150" dirty="0"/>
          </a:p>
        </p:txBody>
      </p:sp>
      <p:sp>
        <p:nvSpPr>
          <p:cNvPr id="17" name="card"/>
          <p:cNvSpPr/>
          <p:nvPr/>
        </p:nvSpPr>
        <p:spPr>
          <a:xfrm>
            <a:off x="548640" y="3108960"/>
            <a:ext cx="3520440" cy="1508760"/>
          </a:xfrm>
          <a:prstGeom prst="roundRect">
            <a:avLst>
              <a:gd name="adj" fmla="val 4848"/>
            </a:avLst>
          </a:prstGeom>
          <a:solidFill>
            <a:srgbClr val="F1F5F9"/>
          </a:solidFill>
          <a:ln w="12700">
            <a:solidFill>
              <a:srgbClr val="D6DEE8"/>
            </a:solidFill>
            <a:prstDash val="solid"/>
          </a:ln>
        </p:spPr>
      </p:sp>
      <p:pic>
        <p:nvPicPr>
          <p:cNvPr id="18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" y="3310128"/>
            <a:ext cx="411480" cy="41148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298448" y="336499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BY DESIGN</a:t>
            </a:r>
            <a:endParaRPr lang="en-US" sz="1300" dirty="0"/>
          </a:p>
        </p:txBody>
      </p:sp>
      <p:sp>
        <p:nvSpPr>
          <p:cNvPr id="20" name="Text 14"/>
          <p:cNvSpPr txBox="1"/>
          <p:nvPr/>
        </p:nvSpPr>
        <p:spPr>
          <a:xfrm>
            <a:off x="749808" y="3858768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only raises urgency; a tested engine decides; 108 always one tap away.</a:t>
            </a:r>
            <a:endParaRPr lang="en-US" sz="1150" dirty="0"/>
          </a:p>
        </p:txBody>
      </p:sp>
      <p:sp>
        <p:nvSpPr>
          <p:cNvPr id="21" name="card"/>
          <p:cNvSpPr/>
          <p:nvPr/>
        </p:nvSpPr>
        <p:spPr>
          <a:xfrm>
            <a:off x="4270248" y="3108960"/>
            <a:ext cx="3520440" cy="1508760"/>
          </a:xfrm>
          <a:prstGeom prst="roundRect">
            <a:avLst>
              <a:gd name="adj" fmla="val 4848"/>
            </a:avLst>
          </a:prstGeom>
          <a:solidFill>
            <a:srgbClr val="F1F5F9"/>
          </a:solidFill>
          <a:ln w="12700">
            <a:solidFill>
              <a:srgbClr val="D6DEE8"/>
            </a:solidFill>
            <a:prstDash val="solid"/>
          </a:ln>
        </p:spPr>
      </p:sp>
      <p:pic>
        <p:nvPicPr>
          <p:cNvPr id="22" name="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71416" y="3310128"/>
            <a:ext cx="411480" cy="411480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5020056" y="336499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</a:t>
            </a:r>
            <a:endParaRPr lang="en-US" sz="1300" dirty="0"/>
          </a:p>
        </p:txBody>
      </p:sp>
      <p:sp>
        <p:nvSpPr>
          <p:cNvPr id="24" name="Text 17"/>
          <p:cNvSpPr txBox="1"/>
          <p:nvPr/>
        </p:nvSpPr>
        <p:spPr>
          <a:xfrm>
            <a:off x="4471416" y="3858768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Consent, masked IDs, OTP and roles, audit log, deletion 24 h after hand-over.</a:t>
            </a:r>
            <a:endParaRPr lang="en-US" sz="1150" dirty="0"/>
          </a:p>
        </p:txBody>
      </p:sp>
      <p:sp>
        <p:nvSpPr>
          <p:cNvPr id="25" name="card"/>
          <p:cNvSpPr/>
          <p:nvPr/>
        </p:nvSpPr>
        <p:spPr>
          <a:xfrm>
            <a:off x="7991856" y="3108960"/>
            <a:ext cx="3520440" cy="1508760"/>
          </a:xfrm>
          <a:prstGeom prst="roundRect">
            <a:avLst>
              <a:gd name="adj" fmla="val 4848"/>
            </a:avLst>
          </a:prstGeom>
          <a:solidFill>
            <a:srgbClr val="F1F5F9"/>
          </a:solidFill>
          <a:ln w="12700">
            <a:solidFill>
              <a:srgbClr val="D6DEE8"/>
            </a:solidFill>
            <a:prstDash val="solid"/>
          </a:ln>
        </p:spPr>
      </p:sp>
      <p:pic>
        <p:nvPicPr>
          <p:cNvPr id="26" name="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93024" y="3310128"/>
            <a:ext cx="411480" cy="411480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8741664" y="336499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SCALE</a:t>
            </a:r>
            <a:endParaRPr lang="en-US" sz="1300" dirty="0"/>
          </a:p>
        </p:txBody>
      </p:sp>
      <p:sp>
        <p:nvSpPr>
          <p:cNvPr id="28" name="Text 20"/>
          <p:cNvSpPr txBox="1"/>
          <p:nvPr/>
        </p:nvSpPr>
        <p:spPr>
          <a:xfrm>
            <a:off x="8193024" y="3858768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Low-cost open stack; clear path to HFR, HMIS, 108 and ABDM.</a:t>
            </a:r>
            <a:endParaRPr lang="en-US" sz="1150" dirty="0"/>
          </a:p>
        </p:txBody>
      </p:sp>
      <p:sp>
        <p:nvSpPr>
          <p:cNvPr id="29" name="card"/>
          <p:cNvSpPr/>
          <p:nvPr/>
        </p:nvSpPr>
        <p:spPr>
          <a:xfrm>
            <a:off x="548640" y="484632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1F5F9"/>
          </a:solidFill>
          <a:ln w="19050">
            <a:solidFill>
              <a:srgbClr val="0E7490"/>
            </a:solidFill>
            <a:prstDash val="solid"/>
          </a:ln>
        </p:spPr>
      </p:sp>
      <p:sp>
        <p:nvSpPr>
          <p:cNvPr id="30" name="Text 22"/>
          <p:cNvSpPr txBox="1"/>
          <p:nvPr/>
        </p:nvSpPr>
        <p:spPr>
          <a:xfrm>
            <a:off x="777240" y="484632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ASK</a:t>
            </a:r>
            <a:endParaRPr lang="en-US" sz="1500" dirty="0"/>
          </a:p>
        </p:txBody>
      </p:sp>
      <p:sp>
        <p:nvSpPr>
          <p:cNvPr id="31" name="Text 23"/>
          <p:cNvSpPr txBox="1"/>
          <p:nvPr/>
        </p:nvSpPr>
        <p:spPr>
          <a:xfrm>
            <a:off x="2103120" y="4846320"/>
            <a:ext cx="9326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with us for a 3-month pilot with Bhopal hospitals, then statewide integration with the Health Facility Registry, hospital HMIS, the 108 control room and ABDM.</a:t>
            </a:r>
            <a:endParaRPr lang="en-US" sz="1300" dirty="0"/>
          </a:p>
        </p:txBody>
      </p:sp>
      <p:sp>
        <p:nvSpPr>
          <p:cNvPr id="32" name="Text 24"/>
          <p:cNvSpPr txBox="1"/>
          <p:nvPr/>
        </p:nvSpPr>
        <p:spPr>
          <a:xfrm>
            <a:off x="548640" y="58064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 </a:t>
            </a:r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medreach-wtne.onrender.com</a:t>
            </a:r>
            <a:pPr indent="0" marL="0">
              <a:buNone/>
            </a:pPr>
            <a:r>
              <a:rPr lang="en-US" sz="11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CODE  </a:t>
            </a:r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github.com/prakharporwal518-collab/Medreach</a:t>
            </a:r>
            <a:pPr indent="0" marL="0">
              <a:buNone/>
            </a:pPr>
            <a:r>
              <a:rPr lang="en-US" sz="11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HOSPITAL LOGIN  </a:t>
            </a:r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Bansal Hospital · BANSAL-ED01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edreach Day">
  <a:themeElements>
    <a:clrScheme name="Medreach Day">
      <a:dk1>
        <a:srgbClr val="0F172A"/>
      </a:dk1>
      <a:lt1>
        <a:srgbClr val="FFFFFF"/>
      </a:lt1>
      <a:dk2>
        <a:srgbClr val="1E293B"/>
      </a:dk2>
      <a:lt2>
        <a:srgbClr val="F1F5F9"/>
      </a:lt2>
      <a:accent1>
        <a:srgbClr val="0E7490"/>
      </a:accent1>
      <a:accent2>
        <a:srgbClr val="DC2626"/>
      </a:accent2>
      <a:accent3>
        <a:srgbClr val="2563EB"/>
      </a:accent3>
      <a:accent4>
        <a:srgbClr val="D97706"/>
      </a:accent4>
      <a:accent5>
        <a:srgbClr val="7C3AED"/>
      </a:accent5>
      <a:accent6>
        <a:srgbClr val="059669"/>
      </a:accent6>
      <a:hlink>
        <a:srgbClr val="0E7490"/>
      </a:hlink>
      <a:folHlink>
        <a:srgbClr val="7C3AED"/>
      </a:folHlink>
    </a:clrScheme>
    <a:fontScheme name="Medreach Day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Team Medreach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Medreach</dc:title>
  <dc:subject>PptxGenJS Presentation</dc:subject>
  <dc:creator>Team Medreach</dc:creator>
  <cp:lastModifiedBy>Team Medreach</cp:lastModifiedBy>
  <cp:revision>1</cp:revision>
  <dcterms:created xsi:type="dcterms:W3CDTF">2026-10-07T16:29:30Z</dcterms:created>
  <dcterms:modified xsi:type="dcterms:W3CDTF">2026-10-07T16:29:30Z</dcterms:modified>
</cp:coreProperties>
</file>