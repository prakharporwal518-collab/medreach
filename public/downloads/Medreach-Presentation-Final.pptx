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Medreach is a working product: everything shown on the following slides is from the prototype that is live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user sees a different, private view. Citizens never see other patients; hospitals only see referrals sent to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both rows. The family never has to guess, and the hospital is never surprised.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Verify the statistic from the MoRTH report before presenting. The six causes map one-to-one to the features on the next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flowchart from our idea, implemented. Every phone screen is a real screenshot.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62 automated tests cover triage, matching, scoring, login, roles and privacy views.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Durations are planning estimates. Cost stays low: open-source stack, free maps, one web app for every phone, AI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proof: set a hospital’s ER to “Diverting” and it disappears from every family’s list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will be measured from our own audit log and case timestamps during the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ask, then offer to run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R_N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Medreach  ·  MPOnline Idea &amp; Innovation Hackathon 2026  ·  Challenge 5, Healthcare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jpg"/><Relationship Id="rId9" Type="http://schemas.openxmlformats.org/officeDocument/2006/relationships/image" Target="../media/image-5-9.jpg"/><Relationship Id="rId10" Type="http://schemas.openxmlformats.org/officeDocument/2006/relationships/image" Target="../media/image-5-10.jpg"/><Relationship Id="rId11" Type="http://schemas.openxmlformats.org/officeDocument/2006/relationships/image" Target="../media/image-5-11.jp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jpg"/><Relationship Id="rId6" Type="http://schemas.openxmlformats.org/officeDocument/2006/relationships/image" Target="../media/image-9-6.jp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mbulance photo" descr="/tmp/claude-0/-home-user-Sehat-Setu/b06e8423-ed6e-57c3-bbb1-ac94b2a1720d/scratchpad/ppt/crops/cover-whi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0"/>
            <a:ext cx="5242255" cy="6858000"/>
          </a:xfrm>
          <a:prstGeom prst="rect">
            <a:avLst/>
          </a:prstGeom>
        </p:spPr>
      </p:pic>
      <p:pic>
        <p:nvPicPr>
          <p:cNvPr id="3" name="log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548640" cy="5486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234440" y="6217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MEDREACH</a:t>
            </a:r>
            <a:endParaRPr lang="en-US" sz="16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37160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Medreach:</a:t>
            </a:r>
            <a:endParaRPr lang="en-US" sz="60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37744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hospital, right now,</a:t>
            </a:r>
            <a:endParaRPr lang="en-US" sz="2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before you leave home</a:t>
            </a:r>
            <a:endParaRPr lang="en-US" sz="2700" dirty="0"/>
          </a:p>
        </p:txBody>
      </p:sp>
      <p:sp>
        <p:nvSpPr>
          <p:cNvPr id="7" name="divider"/>
          <p:cNvSpPr/>
          <p:nvPr/>
        </p:nvSpPr>
        <p:spPr>
          <a:xfrm>
            <a:off x="548640" y="3584448"/>
            <a:ext cx="914400" cy="0"/>
          </a:xfrm>
          <a:prstGeom prst="line">
            <a:avLst/>
          </a:prstGeom>
          <a:noFill/>
          <a:ln w="25400">
            <a:solidFill>
              <a:srgbClr val="0E7490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37490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emergency coordination for </a:t>
            </a:r>
            <a:pPr indent="0" marL="0">
              <a:buNone/>
            </a:pPr>
            <a:r>
              <a:rPr lang="en-US" sz="17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Madhya Pradesh</a:t>
            </a:r>
            <a:endParaRPr lang="en-US" sz="1700" dirty="0"/>
          </a:p>
        </p:txBody>
      </p:sp>
      <p:pic>
        <p:nvPicPr>
          <p:cNvPr id="9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315968"/>
            <a:ext cx="256032" cy="25603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60120" y="429768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</a:t>
            </a:r>
            <a:pPr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Hindi, English, Hinglish</a:t>
            </a:r>
            <a:endParaRPr lang="en-US" sz="1400" dirty="0"/>
          </a:p>
        </p:txBody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700016"/>
            <a:ext cx="256032" cy="256032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60120" y="4681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</a:t>
            </a:r>
            <a:pPr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before you travel</a:t>
            </a:r>
            <a:endParaRPr lang="en-US" sz="1400" dirty="0"/>
          </a:p>
        </p:txBody>
      </p:sp>
      <p:pic>
        <p:nvPicPr>
          <p:cNvPr id="13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5084064"/>
            <a:ext cx="256032" cy="256032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960120" y="506577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</a:t>
            </a:r>
            <a:pPr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tracking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5532120"/>
            <a:ext cx="5760720" cy="868680"/>
          </a:xfrm>
          <a:prstGeom prst="roundRect">
            <a:avLst>
              <a:gd name="adj" fmla="val 8421"/>
            </a:avLst>
          </a:prstGeom>
          <a:solidFill>
            <a:srgbClr val="F1F5F9">
              <a:alpha val="75000"/>
            </a:srgbClr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731520" y="5605272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MPOnline Idea &amp; Innovation Hackathon 2026  ·  Challenge 5, Healthcare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medreach-2.onrender.com   |   github.com/prakharporwal518-collab/Medreach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INTRODUCTION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</a:t>
            </a:r>
            <a:pPr algn="l" indent="0" marL="0">
              <a:buNone/>
            </a:pPr>
            <a:r>
              <a:rPr lang="en-US" sz="3400" b="1" dirty="0">
                <a:solidFill>
                  <a:srgbClr val="0E7490"/>
                </a:solidFill>
              </a:rPr>
              <a:t>Medreach</a:t>
            </a:r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 Is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emergency coordination,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diagnosis app. It joins the family in panic, the hospital emergency desk and the health department on one live network.</a:t>
            </a:r>
            <a:endParaRPr lang="en-US" sz="1500" dirty="0"/>
          </a:p>
        </p:txBody>
      </p:sp>
      <p:sp>
        <p:nvSpPr>
          <p:cNvPr id="5" name="card"/>
          <p:cNvSpPr/>
          <p:nvPr/>
        </p:nvSpPr>
        <p:spPr>
          <a:xfrm>
            <a:off x="548640" y="246888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26974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25786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&amp; FAMILIES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85292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the emergency, see only hospitals that can treat it, get a confirmed bed and a tracking link. No login. “I’m alone” mode.</a:t>
            </a:r>
            <a:endParaRPr lang="en-US" sz="1150" dirty="0"/>
          </a:p>
        </p:txBody>
      </p:sp>
      <p:sp>
        <p:nvSpPr>
          <p:cNvPr id="9" name="card"/>
          <p:cNvSpPr/>
          <p:nvPr/>
        </p:nvSpPr>
        <p:spPr>
          <a:xfrm>
            <a:off x="548640" y="3493008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721608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360273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417320" y="387705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board of beds, ICU, ventilators and doctors on duty. Referrals arrive with an AI pre-arrival (SBAR) note; one tap to accept.</a:t>
            </a:r>
            <a:endParaRPr lang="en-US" sz="1150" dirty="0"/>
          </a:p>
        </p:txBody>
      </p:sp>
      <p:sp>
        <p:nvSpPr>
          <p:cNvPr id="13" name="card"/>
          <p:cNvSpPr/>
          <p:nvPr/>
        </p:nvSpPr>
        <p:spPr>
          <a:xfrm>
            <a:off x="548640" y="4517136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745736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462686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OF MP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417320" y="49011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audited view of emergency capacity, and data on where patients are refused or delayed.</a:t>
            </a:r>
            <a:endParaRPr lang="en-US" sz="1150" dirty="0"/>
          </a:p>
        </p:txBody>
      </p:sp>
      <p:sp>
        <p:nvSpPr>
          <p:cNvPr id="17" name="home page frame"/>
          <p:cNvSpPr/>
          <p:nvPr/>
        </p:nvSpPr>
        <p:spPr>
          <a:xfrm>
            <a:off x="6409944" y="1426464"/>
            <a:ext cx="5239512" cy="31600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6000"/>
              </a:srgbClr>
            </a:outerShdw>
          </a:effectLst>
        </p:spPr>
      </p:sp>
      <p:pic>
        <p:nvPicPr>
          <p:cNvPr id="18" name="home page" descr="/tmp/claude-0/-home-user-Sehat-Setu/b06e8423-ed6e-57c3-bbb1-ac94b2a1720d/scratchpad/ppt/crops/hom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463040"/>
            <a:ext cx="5166360" cy="30869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46520" y="465966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live home page, with network figures (demo data labelled as simulated).</a:t>
            </a:r>
            <a:endParaRPr lang="en-US" sz="1050" dirty="0"/>
          </a:p>
        </p:txBody>
      </p:sp>
      <p:sp>
        <p:nvSpPr>
          <p:cNvPr id="20" name="card"/>
          <p:cNvSpPr/>
          <p:nvPr/>
        </p:nvSpPr>
        <p:spPr>
          <a:xfrm>
            <a:off x="6446520" y="5074920"/>
            <a:ext cx="5166360" cy="1097280"/>
          </a:xfrm>
          <a:prstGeom prst="roundRect">
            <a:avLst>
              <a:gd name="adj" fmla="val 6667"/>
            </a:avLst>
          </a:prstGeom>
          <a:solidFill>
            <a:srgbClr val="F1F5F9">
              <a:alpha val="90000"/>
            </a:srgbClr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629400" y="51389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200" dirty="0"/>
          </a:p>
        </p:txBody>
      </p:sp>
      <p:sp>
        <p:nvSpPr>
          <p:cNvPr id="22" name="Text 16"/>
          <p:cNvSpPr txBox="1"/>
          <p:nvPr/>
        </p:nvSpPr>
        <p:spPr>
          <a:xfrm>
            <a:off x="6629400" y="568756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technologies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7891272" y="51389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7891272" y="568756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portals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9153144" y="51389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3200" dirty="0"/>
          </a:p>
        </p:txBody>
      </p:sp>
      <p:sp>
        <p:nvSpPr>
          <p:cNvPr id="26" name="Text 20"/>
          <p:cNvSpPr txBox="1"/>
          <p:nvPr/>
        </p:nvSpPr>
        <p:spPr>
          <a:xfrm>
            <a:off x="9153144" y="568756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Bhopal-region hospitals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10415016" y="513892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3200" dirty="0"/>
          </a:p>
        </p:txBody>
      </p:sp>
      <p:sp>
        <p:nvSpPr>
          <p:cNvPr id="28" name="Text 22"/>
          <p:cNvSpPr txBox="1"/>
          <p:nvPr/>
        </p:nvSpPr>
        <p:spPr>
          <a:xfrm>
            <a:off x="10415016" y="568756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0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5623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DEPLOYMENT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58795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medreach-2.onrender.com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SCENARIO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7490"/>
                </a:solidFill>
              </a:rPr>
              <a:t>Chest Pain </a:t>
            </a:r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at </a:t>
            </a:r>
            <a:pPr algn="l" indent="0" marL="0">
              <a:buNone/>
            </a:pPr>
            <a:r>
              <a:rPr lang="en-US" sz="3400" b="1" dirty="0">
                <a:solidFill>
                  <a:srgbClr val="0E7490"/>
                </a:solidFill>
              </a:rPr>
              <a:t>11 pm </a:t>
            </a:r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in Bhopal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62-year-old man has chest pain and is sweating. His son has a phone and a car.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1828800"/>
            <a:ext cx="1463040" cy="17830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875">
            <a:solidFill>
              <a:srgbClr val="DC262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286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journey</a:t>
            </a:r>
            <a:endParaRPr lang="en-US" sz="1100" dirty="0"/>
          </a:p>
        </p:txBody>
      </p:sp>
      <p:sp>
        <p:nvSpPr>
          <p:cNvPr id="8" name="card"/>
          <p:cNvSpPr/>
          <p:nvPr/>
        </p:nvSpPr>
        <p:spPr>
          <a:xfrm>
            <a:off x="2148840" y="182880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58568" y="1965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11:00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258568" y="23774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to the nearest hospital, chosen by distance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51460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2" name="card"/>
          <p:cNvSpPr/>
          <p:nvPr/>
        </p:nvSpPr>
        <p:spPr>
          <a:xfrm>
            <a:off x="3849624" y="182880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59352" y="1965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11:25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959352" y="23774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gate: no cardiologist, ICU full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04104" y="251460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6" name="card"/>
          <p:cNvSpPr/>
          <p:nvPr/>
        </p:nvSpPr>
        <p:spPr>
          <a:xfrm>
            <a:off x="5550408" y="182880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0136" y="1965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11:35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660136" y="23774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trip across the city at night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104888" y="251460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0" name="card"/>
          <p:cNvSpPr/>
          <p:nvPr/>
        </p:nvSpPr>
        <p:spPr>
          <a:xfrm>
            <a:off x="7251192" y="182880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60920" y="19659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12:05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360920" y="23774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Arrives; the ER was not expecting him</a:t>
            </a:r>
            <a:endParaRPr lang="en-US" sz="1150" dirty="0"/>
          </a:p>
        </p:txBody>
      </p:sp>
      <p:sp>
        <p:nvSpPr>
          <p:cNvPr id="23" name="spacer"/>
          <p:cNvSpPr/>
          <p:nvPr/>
        </p:nvSpPr>
        <p:spPr>
          <a:xfrm>
            <a:off x="8458200" y="1828800"/>
            <a:ext cx="91" cy="91"/>
          </a:xfrm>
          <a:prstGeom prst="roundRect">
            <a:avLst>
              <a:gd name="adj" fmla="val 8038681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4" name="card"/>
          <p:cNvSpPr/>
          <p:nvPr/>
        </p:nvSpPr>
        <p:spPr>
          <a:xfrm>
            <a:off x="548640" y="3840480"/>
            <a:ext cx="1463040" cy="178308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15875">
            <a:solidFill>
              <a:srgbClr val="0E749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4297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Medreach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470916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journey</a:t>
            </a:r>
            <a:endParaRPr lang="en-US" sz="1100" dirty="0"/>
          </a:p>
        </p:txBody>
      </p:sp>
      <p:sp>
        <p:nvSpPr>
          <p:cNvPr id="27" name="card"/>
          <p:cNvSpPr/>
          <p:nvPr/>
        </p:nvSpPr>
        <p:spPr>
          <a:xfrm>
            <a:off x="2148840" y="384048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258568" y="3977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11:00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2258568" y="4389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says “Papa ko seene mein dard hai…”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703320" y="452628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card"/>
          <p:cNvSpPr/>
          <p:nvPr/>
        </p:nvSpPr>
        <p:spPr>
          <a:xfrm>
            <a:off x="3849624" y="384048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959352" y="3977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11:01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3959352" y="4389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heart attack, CRITICAL; needs cardiologist + ICU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404104" y="452628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5" name="card"/>
          <p:cNvSpPr/>
          <p:nvPr/>
        </p:nvSpPr>
        <p:spPr>
          <a:xfrm>
            <a:off x="5550408" y="384048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60136" y="3977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11:03</a:t>
            </a:r>
            <a:endParaRPr lang="en-US" sz="1700" dirty="0"/>
          </a:p>
        </p:txBody>
      </p:sp>
      <p:sp>
        <p:nvSpPr>
          <p:cNvPr id="37" name="Text 35"/>
          <p:cNvSpPr txBox="1"/>
          <p:nvPr/>
        </p:nvSpPr>
        <p:spPr>
          <a:xfrm>
            <a:off x="5660136" y="4389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Bansal Hospital accepts, prepares bay Resus-02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104888" y="4526280"/>
            <a:ext cx="146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9" name="card"/>
          <p:cNvSpPr/>
          <p:nvPr/>
        </p:nvSpPr>
        <p:spPr>
          <a:xfrm>
            <a:off x="7251192" y="3840480"/>
            <a:ext cx="1572768" cy="1783080"/>
          </a:xfrm>
          <a:prstGeom prst="roundRect">
            <a:avLst>
              <a:gd name="adj" fmla="val 4651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60920" y="39776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11:16</a:t>
            </a:r>
            <a:endParaRPr lang="en-US" sz="1700" dirty="0"/>
          </a:p>
        </p:txBody>
      </p:sp>
      <p:sp>
        <p:nvSpPr>
          <p:cNvPr id="41" name="Text 39"/>
          <p:cNvSpPr txBox="1"/>
          <p:nvPr/>
        </p:nvSpPr>
        <p:spPr>
          <a:xfrm>
            <a:off x="7360920" y="438912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arrives (ETA 13 min); ER read the note</a:t>
            </a:r>
            <a:endParaRPr lang="en-US" sz="1150" dirty="0"/>
          </a:p>
        </p:txBody>
      </p:sp>
      <p:sp>
        <p:nvSpPr>
          <p:cNvPr id="42" name="spacer"/>
          <p:cNvSpPr/>
          <p:nvPr/>
        </p:nvSpPr>
        <p:spPr>
          <a:xfrm>
            <a:off x="8458200" y="3840480"/>
            <a:ext cx="91" cy="91"/>
          </a:xfrm>
          <a:prstGeom prst="roundRect">
            <a:avLst>
              <a:gd name="adj" fmla="val 8038681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59436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are illustrative; the 13-minute ETA and bay come from our prototype run.</a:t>
            </a:r>
            <a:endParaRPr lang="en-US" sz="1050" dirty="0"/>
          </a:p>
        </p:txBody>
      </p:sp>
      <p:sp>
        <p:nvSpPr>
          <p:cNvPr id="44" name="AI result screen bezel"/>
          <p:cNvSpPr/>
          <p:nvPr/>
        </p:nvSpPr>
        <p:spPr>
          <a:xfrm>
            <a:off x="9217152" y="1307592"/>
            <a:ext cx="2148202" cy="4471416"/>
          </a:xfrm>
          <a:prstGeom prst="roundRect">
            <a:avLst>
              <a:gd name="adj" fmla="val 5959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6000"/>
              </a:srgbClr>
            </a:outerShdw>
          </a:effectLst>
        </p:spPr>
      </p:sp>
      <p:pic>
        <p:nvPicPr>
          <p:cNvPr id="45" name="AI result screen" descr="/tmp/claude-0/-home-user-Sehat-Setu/b06e8423-ed6e-57c3-bbb1-ac94b2a1720d/scratchpad/pdf/img/s/phone-2-a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1371600"/>
            <a:ext cx="2020186" cy="4343400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8961120" y="5897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son sees a minute after speaking.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OVERVIEW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Why Patients Lose the </a:t>
            </a:r>
            <a:pPr algn="l" indent="0" marL="0">
              <a:buNone/>
            </a:pPr>
            <a:r>
              <a:rPr lang="en-US" sz="3400" b="1" dirty="0">
                <a:solidFill>
                  <a:srgbClr val="0E7490"/>
                </a:solidFill>
              </a:rPr>
              <a:t>Golden Hour</a:t>
            </a:r>
            <a:endParaRPr lang="en-US" sz="3400" dirty="0"/>
          </a:p>
        </p:txBody>
      </p:sp>
      <p:sp>
        <p:nvSpPr>
          <p:cNvPr id="4" name="card"/>
          <p:cNvSpPr/>
          <p:nvPr/>
        </p:nvSpPr>
        <p:spPr>
          <a:xfrm>
            <a:off x="548640" y="1463040"/>
            <a:ext cx="3931920" cy="3291840"/>
          </a:xfrm>
          <a:prstGeom prst="roundRect">
            <a:avLst>
              <a:gd name="adj" fmla="val 2222"/>
            </a:avLst>
          </a:prstGeom>
          <a:solidFill>
            <a:srgbClr val="F1F5F9"/>
          </a:solidFill>
          <a:ln w="15875">
            <a:solidFill>
              <a:srgbClr val="DC2626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9164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331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1,68,491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200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died in road accidents in India in 2022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7947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MoRTH, “Road Accidents in India 2022”. Heart attacks, strokes, burns and childbirth emergencies face the same delays.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4709160" y="146304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3752" y="171907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5727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is not capable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0" y="186537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show distance, not whether the specialist is on duty or the ICU has a bed tonight.</a:t>
            </a:r>
            <a:endParaRPr lang="en-US" sz="1050" dirty="0"/>
          </a:p>
        </p:txBody>
      </p:sp>
      <p:sp>
        <p:nvSpPr>
          <p:cNvPr id="13" name="card"/>
          <p:cNvSpPr/>
          <p:nvPr/>
        </p:nvSpPr>
        <p:spPr>
          <a:xfrm>
            <a:off x="8183880" y="146304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1719072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961120" y="15727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trusted live status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961120" y="186537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 figures are old, with no owner or time stamp.</a:t>
            </a:r>
            <a:endParaRPr lang="en-US" sz="1050" dirty="0"/>
          </a:p>
        </p:txBody>
      </p:sp>
      <p:sp>
        <p:nvSpPr>
          <p:cNvPr id="17" name="card"/>
          <p:cNvSpPr/>
          <p:nvPr/>
        </p:nvSpPr>
        <p:spPr>
          <a:xfrm>
            <a:off x="4709160" y="2587752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2843784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86400" y="26974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acceptance first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0" y="299008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arrive unannounced; refusal happens at the gate.</a:t>
            </a:r>
            <a:endParaRPr lang="en-US" sz="1050" dirty="0"/>
          </a:p>
        </p:txBody>
      </p:sp>
      <p:sp>
        <p:nvSpPr>
          <p:cNvPr id="21" name="card"/>
          <p:cNvSpPr/>
          <p:nvPr/>
        </p:nvSpPr>
        <p:spPr>
          <a:xfrm>
            <a:off x="8183880" y="2587752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472" y="2843784"/>
            <a:ext cx="457200" cy="4572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961120" y="269748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Panic and language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8961120" y="299008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cannot fill forms in panic; many prefer to speak Hindi.</a:t>
            </a:r>
            <a:endParaRPr lang="en-US" sz="1050" dirty="0"/>
          </a:p>
        </p:txBody>
      </p:sp>
      <p:sp>
        <p:nvSpPr>
          <p:cNvPr id="25" name="card"/>
          <p:cNvSpPr/>
          <p:nvPr/>
        </p:nvSpPr>
        <p:spPr>
          <a:xfrm>
            <a:off x="4709160" y="3712464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26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3752" y="3968496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5486400" y="382219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living alone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5486400" y="41148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call hospitals, arrange transport and inform family at once.</a:t>
            </a:r>
            <a:endParaRPr lang="en-US" sz="1050" dirty="0"/>
          </a:p>
        </p:txBody>
      </p:sp>
      <p:sp>
        <p:nvSpPr>
          <p:cNvPr id="29" name="card"/>
          <p:cNvSpPr/>
          <p:nvPr/>
        </p:nvSpPr>
        <p:spPr>
          <a:xfrm>
            <a:off x="8183880" y="3712464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8472" y="3968496"/>
            <a:ext cx="457200" cy="4572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961120" y="382219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is lost</a:t>
            </a:r>
            <a:endParaRPr lang="en-US" sz="1300" dirty="0"/>
          </a:p>
        </p:txBody>
      </p:sp>
      <p:sp>
        <p:nvSpPr>
          <p:cNvPr id="32" name="Text 23"/>
          <p:cNvSpPr txBox="1"/>
          <p:nvPr/>
        </p:nvSpPr>
        <p:spPr>
          <a:xfrm>
            <a:off x="8961120" y="41148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Allergies and Ayushman / ABHA details don’t reach the ER doctor.</a:t>
            </a:r>
            <a:endParaRPr lang="en-US" sz="1050" dirty="0"/>
          </a:p>
        </p:txBody>
      </p:sp>
      <p:sp>
        <p:nvSpPr>
          <p:cNvPr id="33" name="Text 24"/>
          <p:cNvSpPr txBox="1"/>
          <p:nvPr/>
        </p:nvSpPr>
        <p:spPr>
          <a:xfrm>
            <a:off x="54864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FEELS IT</a:t>
            </a:r>
            <a:endParaRPr lang="en-US" sz="1100" dirty="0"/>
          </a:p>
        </p:txBody>
      </p:sp>
      <p:pic>
        <p:nvPicPr>
          <p:cNvPr id="34" name="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13248"/>
            <a:ext cx="365760" cy="36576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1024128" y="537667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&amp; families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trips, delayed treatment</a:t>
            </a:r>
            <a:endParaRPr lang="en-US" sz="1100" dirty="0"/>
          </a:p>
        </p:txBody>
      </p:sp>
      <p:pic>
        <p:nvPicPr>
          <p:cNvPr id="36" name="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55848" y="5413248"/>
            <a:ext cx="365760" cy="365760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3831336" y="537667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citizens &amp; ASHA workers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distances, costly wrong choice</a:t>
            </a:r>
            <a:endParaRPr lang="en-US" sz="1100" dirty="0"/>
          </a:p>
        </p:txBody>
      </p:sp>
      <p:pic>
        <p:nvPicPr>
          <p:cNvPr id="38" name="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63056" y="5413248"/>
            <a:ext cx="365760" cy="36576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6638544" y="537667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ER teams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unannounced critical arrivals</a:t>
            </a:r>
            <a:endParaRPr lang="en-US" sz="1100" dirty="0"/>
          </a:p>
        </p:txBody>
      </p:sp>
      <p:pic>
        <p:nvPicPr>
          <p:cNvPr id="40" name="ico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70264" y="5413248"/>
            <a:ext cx="365760" cy="365760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445752" y="537667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department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picture of capacity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SOLUTION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One Flow from Emergency to </a:t>
            </a:r>
            <a:pPr algn="l" indent="0" marL="0">
              <a:buNone/>
            </a:pPr>
            <a:r>
              <a:rPr lang="en-US" sz="3400" b="1" dirty="0">
                <a:solidFill>
                  <a:srgbClr val="0E7490"/>
                </a:solidFill>
              </a:rPr>
              <a:t>Confirmed Bed</a:t>
            </a:r>
            <a:endParaRPr lang="en-US" sz="3400" dirty="0"/>
          </a:p>
        </p:txBody>
      </p:sp>
      <p:sp>
        <p:nvSpPr>
          <p:cNvPr id="4" name="card"/>
          <p:cNvSpPr/>
          <p:nvPr/>
        </p:nvSpPr>
        <p:spPr>
          <a:xfrm>
            <a:off x="548640" y="1417320"/>
            <a:ext cx="1444752" cy="1600200"/>
          </a:xfrm>
          <a:prstGeom prst="roundRect">
            <a:avLst>
              <a:gd name="adj" fmla="val 506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53312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1572768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210312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input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2377440"/>
            <a:ext cx="129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speak, type, photo or health card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975104" y="19659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0" name="card"/>
          <p:cNvSpPr/>
          <p:nvPr/>
        </p:nvSpPr>
        <p:spPr>
          <a:xfrm>
            <a:off x="2139696" y="1417320"/>
            <a:ext cx="1444752" cy="1600200"/>
          </a:xfrm>
          <a:prstGeom prst="roundRect">
            <a:avLst>
              <a:gd name="adj" fmla="val 506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12848" y="1353312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1572768"/>
            <a:ext cx="457200" cy="457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185416" y="210312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understanding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212848" y="2377440"/>
            <a:ext cx="129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severity, red flags, needs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3566160" y="19659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6" name="card"/>
          <p:cNvSpPr/>
          <p:nvPr/>
        </p:nvSpPr>
        <p:spPr>
          <a:xfrm>
            <a:off x="3730752" y="1417320"/>
            <a:ext cx="1444752" cy="1600200"/>
          </a:xfrm>
          <a:prstGeom prst="roundRect">
            <a:avLst>
              <a:gd name="adj" fmla="val 506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803904" y="1353312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4528" y="1572768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776472" y="210312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hospital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3803904" y="2377440"/>
            <a:ext cx="129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specialist, equipment, bed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157216" y="19659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2" name="card"/>
          <p:cNvSpPr/>
          <p:nvPr/>
        </p:nvSpPr>
        <p:spPr>
          <a:xfrm>
            <a:off x="5321808" y="1417320"/>
            <a:ext cx="1444752" cy="1600200"/>
          </a:xfrm>
          <a:prstGeom prst="roundRect">
            <a:avLst>
              <a:gd name="adj" fmla="val 506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394960" y="1353312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pic>
        <p:nvPicPr>
          <p:cNvPr id="24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584" y="1572768"/>
            <a:ext cx="457200" cy="457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367528" y="210312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freshness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5394960" y="2377440"/>
            <a:ext cx="129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updated, and when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6748272" y="19659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card"/>
          <p:cNvSpPr/>
          <p:nvPr/>
        </p:nvSpPr>
        <p:spPr>
          <a:xfrm>
            <a:off x="6912864" y="1417320"/>
            <a:ext cx="1444752" cy="1600200"/>
          </a:xfrm>
          <a:prstGeom prst="roundRect">
            <a:avLst>
              <a:gd name="adj" fmla="val 506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986016" y="1353312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0" y="1572768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958584" y="210312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accepts</a:t>
            </a:r>
            <a:endParaRPr lang="en-US" sz="1150" dirty="0"/>
          </a:p>
        </p:txBody>
      </p:sp>
      <p:sp>
        <p:nvSpPr>
          <p:cNvPr id="32" name="Text 25"/>
          <p:cNvSpPr txBox="1"/>
          <p:nvPr/>
        </p:nvSpPr>
        <p:spPr>
          <a:xfrm>
            <a:off x="6986016" y="2377440"/>
            <a:ext cx="129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officer assigns a bay</a:t>
            </a:r>
            <a:endParaRPr lang="en-US" sz="1000" dirty="0"/>
          </a:p>
        </p:txBody>
      </p:sp>
      <p:sp>
        <p:nvSpPr>
          <p:cNvPr id="33" name="Text 26"/>
          <p:cNvSpPr txBox="1"/>
          <p:nvPr/>
        </p:nvSpPr>
        <p:spPr>
          <a:xfrm>
            <a:off x="8339328" y="19659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4" name="card"/>
          <p:cNvSpPr/>
          <p:nvPr/>
        </p:nvSpPr>
        <p:spPr>
          <a:xfrm>
            <a:off x="8503920" y="1417320"/>
            <a:ext cx="1444752" cy="1600200"/>
          </a:xfrm>
          <a:prstGeom prst="roundRect">
            <a:avLst>
              <a:gd name="adj" fmla="val 506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77072" y="1353312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pic>
        <p:nvPicPr>
          <p:cNvPr id="36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7696" y="1572768"/>
            <a:ext cx="457200" cy="4572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549640" y="210312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1150" dirty="0"/>
          </a:p>
        </p:txBody>
      </p:sp>
      <p:sp>
        <p:nvSpPr>
          <p:cNvPr id="38" name="Text 30"/>
          <p:cNvSpPr txBox="1"/>
          <p:nvPr/>
        </p:nvSpPr>
        <p:spPr>
          <a:xfrm>
            <a:off x="8577072" y="2377440"/>
            <a:ext cx="129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or own vehicle</a:t>
            </a:r>
            <a:endParaRPr lang="en-US" sz="1000" dirty="0"/>
          </a:p>
        </p:txBody>
      </p:sp>
      <p:sp>
        <p:nvSpPr>
          <p:cNvPr id="39" name="Text 31"/>
          <p:cNvSpPr txBox="1"/>
          <p:nvPr/>
        </p:nvSpPr>
        <p:spPr>
          <a:xfrm>
            <a:off x="9930384" y="19659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40" name="card"/>
          <p:cNvSpPr/>
          <p:nvPr/>
        </p:nvSpPr>
        <p:spPr>
          <a:xfrm>
            <a:off x="10094976" y="1417320"/>
            <a:ext cx="1444752" cy="1600200"/>
          </a:xfrm>
          <a:prstGeom prst="roundRect">
            <a:avLst>
              <a:gd name="adj" fmla="val 5063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10168128" y="1353312"/>
            <a:ext cx="310896" cy="310896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pic>
        <p:nvPicPr>
          <p:cNvPr id="42" name="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8752" y="1572768"/>
            <a:ext cx="457200" cy="45720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10140696" y="210312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</a:t>
            </a:r>
            <a:endParaRPr lang="en-US" sz="1150" dirty="0"/>
          </a:p>
        </p:txBody>
      </p:sp>
      <p:sp>
        <p:nvSpPr>
          <p:cNvPr id="44" name="Text 35"/>
          <p:cNvSpPr txBox="1"/>
          <p:nvPr/>
        </p:nvSpPr>
        <p:spPr>
          <a:xfrm>
            <a:off x="10168128" y="2377440"/>
            <a:ext cx="12984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bed, family informed</a:t>
            </a:r>
            <a:endParaRPr lang="en-US" sz="1000" dirty="0"/>
          </a:p>
        </p:txBody>
      </p:sp>
      <p:sp>
        <p:nvSpPr>
          <p:cNvPr id="45" name="step screen 1 bezel"/>
          <p:cNvSpPr/>
          <p:nvPr/>
        </p:nvSpPr>
        <p:spPr>
          <a:xfrm>
            <a:off x="621792" y="3227832"/>
            <a:ext cx="1233802" cy="2505456"/>
          </a:xfrm>
          <a:prstGeom prst="roundRect">
            <a:avLst>
              <a:gd name="adj" fmla="val 1037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6000"/>
              </a:srgbClr>
            </a:outerShdw>
          </a:effectLst>
        </p:spPr>
      </p:sp>
      <p:pic>
        <p:nvPicPr>
          <p:cNvPr id="46" name="step screen 1" descr="/tmp/claude-0/-home-user-Sehat-Setu/b06e8423-ed6e-57c3-bbb1-ac94b2a1720d/scratchpad/pdf/img/s/phone-1-start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291840"/>
            <a:ext cx="1105786" cy="2377440"/>
          </a:xfrm>
          <a:prstGeom prst="rect">
            <a:avLst/>
          </a:prstGeom>
        </p:spPr>
      </p:pic>
      <p:sp>
        <p:nvSpPr>
          <p:cNvPr id="47" name="Text 37"/>
          <p:cNvSpPr txBox="1"/>
          <p:nvPr/>
        </p:nvSpPr>
        <p:spPr>
          <a:xfrm>
            <a:off x="594360" y="5788152"/>
            <a:ext cx="1380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or pick a common emergency</a:t>
            </a:r>
            <a:endParaRPr lang="en-US" sz="1050" dirty="0"/>
          </a:p>
        </p:txBody>
      </p:sp>
      <p:sp>
        <p:nvSpPr>
          <p:cNvPr id="48" name="step screen 2 bezel"/>
          <p:cNvSpPr/>
          <p:nvPr/>
        </p:nvSpPr>
        <p:spPr>
          <a:xfrm>
            <a:off x="2496312" y="3227832"/>
            <a:ext cx="1233802" cy="2505456"/>
          </a:xfrm>
          <a:prstGeom prst="roundRect">
            <a:avLst>
              <a:gd name="adj" fmla="val 1037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6000"/>
              </a:srgbClr>
            </a:outerShdw>
          </a:effectLst>
        </p:spPr>
      </p:sp>
      <p:pic>
        <p:nvPicPr>
          <p:cNvPr id="49" name="step screen 2" descr="/tmp/claude-0/-home-user-Sehat-Setu/b06e8423-ed6e-57c3-bbb1-ac94b2a1720d/scratchpad/pdf/img/s/phone-3-hospitals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60320" y="3291840"/>
            <a:ext cx="1105786" cy="2377440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2468880" y="5788152"/>
            <a:ext cx="1380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hospitals that can treat it</a:t>
            </a:r>
            <a:endParaRPr lang="en-US" sz="1050" dirty="0"/>
          </a:p>
        </p:txBody>
      </p:sp>
      <p:sp>
        <p:nvSpPr>
          <p:cNvPr id="51" name="step screen 3 bezel"/>
          <p:cNvSpPr/>
          <p:nvPr/>
        </p:nvSpPr>
        <p:spPr>
          <a:xfrm>
            <a:off x="4370832" y="3227832"/>
            <a:ext cx="1233802" cy="2505456"/>
          </a:xfrm>
          <a:prstGeom prst="roundRect">
            <a:avLst>
              <a:gd name="adj" fmla="val 1037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6000"/>
              </a:srgbClr>
            </a:outerShdw>
          </a:effectLst>
        </p:spPr>
      </p:sp>
      <p:pic>
        <p:nvPicPr>
          <p:cNvPr id="52" name="step screen 3" descr="/tmp/claude-0/-home-user-Sehat-Setu/b06e8423-ed6e-57c3-bbb1-ac94b2a1720d/scratchpad/pdf/img/s/phone-4-score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34840" y="3291840"/>
            <a:ext cx="1105786" cy="2377440"/>
          </a:xfrm>
          <a:prstGeom prst="rect">
            <a:avLst/>
          </a:prstGeom>
        </p:spPr>
      </p:pic>
      <p:sp>
        <p:nvSpPr>
          <p:cNvPr id="53" name="Text 41"/>
          <p:cNvSpPr txBox="1"/>
          <p:nvPr/>
        </p:nvSpPr>
        <p:spPr>
          <a:xfrm>
            <a:off x="4343400" y="5788152"/>
            <a:ext cx="1380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“Why this hospital?” score parts</a:t>
            </a:r>
            <a:endParaRPr lang="en-US" sz="1050" dirty="0"/>
          </a:p>
        </p:txBody>
      </p:sp>
      <p:sp>
        <p:nvSpPr>
          <p:cNvPr id="54" name="step screen 4 bezel"/>
          <p:cNvSpPr/>
          <p:nvPr/>
        </p:nvSpPr>
        <p:spPr>
          <a:xfrm>
            <a:off x="6245352" y="3227832"/>
            <a:ext cx="1233802" cy="2505456"/>
          </a:xfrm>
          <a:prstGeom prst="roundRect">
            <a:avLst>
              <a:gd name="adj" fmla="val 10376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6000"/>
              </a:srgbClr>
            </a:outerShdw>
          </a:effectLst>
        </p:spPr>
      </p:sp>
      <p:pic>
        <p:nvPicPr>
          <p:cNvPr id="55" name="step screen 4" descr="/tmp/claude-0/-home-user-Sehat-Setu/b06e8423-ed6e-57c3-bbb1-ac94b2a1720d/scratchpad/pdf/img/s/phone-6-navigation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3291840"/>
            <a:ext cx="1105786" cy="2377440"/>
          </a:xfrm>
          <a:prstGeom prst="rect">
            <a:avLst/>
          </a:prstGeom>
        </p:spPr>
      </p:pic>
      <p:sp>
        <p:nvSpPr>
          <p:cNvPr id="56" name="Text 43"/>
          <p:cNvSpPr txBox="1"/>
          <p:nvPr/>
        </p:nvSpPr>
        <p:spPr>
          <a:xfrm>
            <a:off x="6217920" y="5788152"/>
            <a:ext cx="1380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status and navigation</a:t>
            </a:r>
            <a:endParaRPr lang="en-US" sz="1050" dirty="0"/>
          </a:p>
        </p:txBody>
      </p:sp>
      <p:sp>
        <p:nvSpPr>
          <p:cNvPr id="57" name="card"/>
          <p:cNvSpPr/>
          <p:nvPr/>
        </p:nvSpPr>
        <p:spPr>
          <a:xfrm>
            <a:off x="8229600" y="3246120"/>
            <a:ext cx="3383280" cy="2971800"/>
          </a:xfrm>
          <a:prstGeom prst="roundRect">
            <a:avLst>
              <a:gd name="adj" fmla="val 2462"/>
            </a:avLst>
          </a:prstGeom>
          <a:solidFill>
            <a:srgbClr val="F1F5F9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58" name="Text 45"/>
          <p:cNvSpPr txBox="1"/>
          <p:nvPr/>
        </p:nvSpPr>
        <p:spPr>
          <a:xfrm>
            <a:off x="8412480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WE NEVER BREAK</a:t>
            </a:r>
            <a:endParaRPr lang="en-US" sz="1200" dirty="0"/>
          </a:p>
        </p:txBody>
      </p:sp>
      <p:pic>
        <p:nvPicPr>
          <p:cNvPr id="59" name="icon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12480" y="3813048"/>
            <a:ext cx="274320" cy="274320"/>
          </a:xfrm>
          <a:prstGeom prst="rect">
            <a:avLst/>
          </a:prstGeom>
        </p:spPr>
      </p:pic>
      <p:sp>
        <p:nvSpPr>
          <p:cNvPr id="60" name="Text 46"/>
          <p:cNvSpPr txBox="1"/>
          <p:nvPr/>
        </p:nvSpPr>
        <p:spPr>
          <a:xfrm>
            <a:off x="8796528" y="37947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accepts before anyone travels</a:t>
            </a:r>
            <a:endParaRPr lang="en-US" sz="1150" dirty="0"/>
          </a:p>
        </p:txBody>
      </p:sp>
      <p:pic>
        <p:nvPicPr>
          <p:cNvPr id="61" name="icon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12480" y="4270248"/>
            <a:ext cx="274320" cy="274320"/>
          </a:xfrm>
          <a:prstGeom prst="rect">
            <a:avLst/>
          </a:prstGeom>
        </p:spPr>
      </p:pic>
      <p:sp>
        <p:nvSpPr>
          <p:cNvPr id="62" name="Text 47"/>
          <p:cNvSpPr txBox="1"/>
          <p:nvPr/>
        </p:nvSpPr>
        <p:spPr>
          <a:xfrm>
            <a:off x="8796528" y="42519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hospitals that can treat the case</a:t>
            </a:r>
            <a:endParaRPr lang="en-US" sz="1150" dirty="0"/>
          </a:p>
        </p:txBody>
      </p:sp>
      <p:pic>
        <p:nvPicPr>
          <p:cNvPr id="63" name="icon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12480" y="4727448"/>
            <a:ext cx="274320" cy="274320"/>
          </a:xfrm>
          <a:prstGeom prst="rect">
            <a:avLst/>
          </a:prstGeom>
        </p:spPr>
      </p:pic>
      <p:sp>
        <p:nvSpPr>
          <p:cNvPr id="64" name="Text 48"/>
          <p:cNvSpPr txBox="1"/>
          <p:nvPr/>
        </p:nvSpPr>
        <p:spPr>
          <a:xfrm>
            <a:off x="8796528" y="47091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 without answer → next hospital</a:t>
            </a:r>
            <a:endParaRPr lang="en-US" sz="1150" dirty="0"/>
          </a:p>
        </p:txBody>
      </p:sp>
      <p:pic>
        <p:nvPicPr>
          <p:cNvPr id="65" name="icon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12480" y="5184648"/>
            <a:ext cx="274320" cy="274320"/>
          </a:xfrm>
          <a:prstGeom prst="rect">
            <a:avLst/>
          </a:prstGeom>
        </p:spPr>
      </p:pic>
      <p:sp>
        <p:nvSpPr>
          <p:cNvPr id="66" name="Text 49"/>
          <p:cNvSpPr txBox="1"/>
          <p:nvPr/>
        </p:nvSpPr>
        <p:spPr>
          <a:xfrm>
            <a:off x="8796528" y="51663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diagnoses: “may indicate”</a:t>
            </a:r>
            <a:endParaRPr lang="en-US" sz="1150" dirty="0"/>
          </a:p>
        </p:txBody>
      </p:sp>
      <p:pic>
        <p:nvPicPr>
          <p:cNvPr id="67" name="icon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12480" y="5641848"/>
            <a:ext cx="274320" cy="274320"/>
          </a:xfrm>
          <a:prstGeom prst="rect">
            <a:avLst/>
          </a:prstGeom>
        </p:spPr>
      </p:pic>
      <p:sp>
        <p:nvSpPr>
          <p:cNvPr id="68" name="Text 50"/>
          <p:cNvSpPr txBox="1"/>
          <p:nvPr/>
        </p:nvSpPr>
        <p:spPr>
          <a:xfrm>
            <a:off x="8796528" y="562356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108 on every screen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TECHNICAL APPROACH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Technical </a:t>
            </a:r>
            <a:pPr algn="l" indent="0" marL="0">
              <a:buNone/>
            </a:pPr>
            <a:r>
              <a:rPr lang="en-US" sz="3400" b="1" dirty="0">
                <a:solidFill>
                  <a:srgbClr val="0E7490"/>
                </a:solidFill>
              </a:rPr>
              <a:t>Approach</a:t>
            </a:r>
            <a:endParaRPr lang="en-US" sz="3400" dirty="0"/>
          </a:p>
        </p:txBody>
      </p:sp>
      <p:sp>
        <p:nvSpPr>
          <p:cNvPr id="4" name="CITIZEN PWA"/>
          <p:cNvSpPr/>
          <p:nvPr/>
        </p:nvSpPr>
        <p:spPr>
          <a:xfrm>
            <a:off x="548640" y="1417320"/>
            <a:ext cx="178308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9047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PWA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64792"/>
            <a:ext cx="1636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· photo · OCR · offline</a:t>
            </a:r>
            <a:endParaRPr lang="en-US" sz="1000" dirty="0"/>
          </a:p>
        </p:txBody>
      </p:sp>
      <p:sp>
        <p:nvSpPr>
          <p:cNvPr id="7" name="FAMILY LINK"/>
          <p:cNvSpPr/>
          <p:nvPr/>
        </p:nvSpPr>
        <p:spPr>
          <a:xfrm>
            <a:off x="2450592" y="1417320"/>
            <a:ext cx="178308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23744" y="149047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LINK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523744" y="1764792"/>
            <a:ext cx="1636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· hospital · ETA only</a:t>
            </a:r>
            <a:endParaRPr lang="en-US" sz="1000" dirty="0"/>
          </a:p>
        </p:txBody>
      </p:sp>
      <p:sp>
        <p:nvSpPr>
          <p:cNvPr id="10" name="HOSPITAL DESK"/>
          <p:cNvSpPr/>
          <p:nvPr/>
        </p:nvSpPr>
        <p:spPr>
          <a:xfrm>
            <a:off x="4352544" y="1417320"/>
            <a:ext cx="178308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25696" y="149047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DESK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1764792"/>
            <a:ext cx="16367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referrals · beds · live map</a:t>
            </a:r>
            <a:endParaRPr lang="en-US" sz="1000" dirty="0"/>
          </a:p>
        </p:txBody>
      </p:sp>
      <p:sp>
        <p:nvSpPr>
          <p:cNvPr id="13" name="arrow"/>
          <p:cNvSpPr/>
          <p:nvPr/>
        </p:nvSpPr>
        <p:spPr>
          <a:xfrm>
            <a:off x="3337560" y="2267712"/>
            <a:ext cx="0" cy="347472"/>
          </a:xfrm>
          <a:prstGeom prst="line">
            <a:avLst/>
          </a:prstGeom>
          <a:noFill/>
          <a:ln w="15875">
            <a:solidFill>
              <a:srgbClr val="0E7490"/>
            </a:solidFill>
            <a:prstDash val="solid"/>
            <a:headEnd type="triangle"/>
            <a:tailEnd type="triangle"/>
          </a:ln>
        </p:spPr>
      </p:sp>
      <p:sp>
        <p:nvSpPr>
          <p:cNvPr id="14" name="MEDREACH SERVER  (Node.js + Express)"/>
          <p:cNvSpPr/>
          <p:nvPr/>
        </p:nvSpPr>
        <p:spPr>
          <a:xfrm>
            <a:off x="548640" y="2651760"/>
            <a:ext cx="5586984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2724912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MEDREACH SERVER  (Node.js + Express)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2999232"/>
            <a:ext cx="54406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+ live updates (SSE) · OTP login with 4 roles · case store · audit log · consent · 24-hour deletion</a:t>
            </a:r>
            <a:endParaRPr lang="en-US" sz="1000" dirty="0"/>
          </a:p>
        </p:txBody>
      </p:sp>
      <p:sp>
        <p:nvSpPr>
          <p:cNvPr id="17" name="arrow"/>
          <p:cNvSpPr/>
          <p:nvPr/>
        </p:nvSpPr>
        <p:spPr>
          <a:xfrm>
            <a:off x="1463040" y="3547872"/>
            <a:ext cx="0" cy="347472"/>
          </a:xfrm>
          <a:prstGeom prst="line">
            <a:avLst/>
          </a:prstGeom>
          <a:noFill/>
          <a:ln w="15875">
            <a:solidFill>
              <a:srgbClr val="0E7490"/>
            </a:solidFill>
            <a:prstDash val="solid"/>
            <a:headEnd type="triangle"/>
            <a:tailEnd type="triangle"/>
          </a:ln>
        </p:spPr>
      </p:sp>
      <p:sp>
        <p:nvSpPr>
          <p:cNvPr id="18" name="arrow"/>
          <p:cNvSpPr/>
          <p:nvPr/>
        </p:nvSpPr>
        <p:spPr>
          <a:xfrm>
            <a:off x="3337560" y="3547872"/>
            <a:ext cx="0" cy="347472"/>
          </a:xfrm>
          <a:prstGeom prst="line">
            <a:avLst/>
          </a:prstGeom>
          <a:noFill/>
          <a:ln w="15875">
            <a:solidFill>
              <a:srgbClr val="0E7490"/>
            </a:solidFill>
            <a:prstDash val="solid"/>
            <a:headEnd type="triangle"/>
            <a:tailEnd type="triangle"/>
          </a:ln>
        </p:spPr>
      </p:sp>
      <p:sp>
        <p:nvSpPr>
          <p:cNvPr id="19" name="arrow"/>
          <p:cNvSpPr/>
          <p:nvPr/>
        </p:nvSpPr>
        <p:spPr>
          <a:xfrm>
            <a:off x="5212080" y="3547872"/>
            <a:ext cx="0" cy="347472"/>
          </a:xfrm>
          <a:prstGeom prst="line">
            <a:avLst/>
          </a:prstGeom>
          <a:noFill/>
          <a:ln w="15875">
            <a:solidFill>
              <a:srgbClr val="0E7490"/>
            </a:solidFill>
            <a:prstDash val="solid"/>
            <a:headEnd type="triangle"/>
            <a:tailEnd type="triangle"/>
          </a:ln>
        </p:spPr>
      </p:sp>
      <p:sp>
        <p:nvSpPr>
          <p:cNvPr id="20" name="TRIAGE ENGINE"/>
          <p:cNvSpPr/>
          <p:nvPr/>
        </p:nvSpPr>
        <p:spPr>
          <a:xfrm>
            <a:off x="548640" y="3931920"/>
            <a:ext cx="1783080" cy="1051560"/>
          </a:xfrm>
          <a:prstGeom prst="roundRect">
            <a:avLst>
              <a:gd name="adj" fmla="val 5217"/>
            </a:avLst>
          </a:prstGeom>
          <a:solidFill>
            <a:srgbClr val="F1F5F9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400507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ENGINE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4279392"/>
            <a:ext cx="163677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and classifies severity</a:t>
            </a:r>
            <a:endParaRPr lang="en-US" sz="1000" dirty="0"/>
          </a:p>
        </p:txBody>
      </p:sp>
      <p:sp>
        <p:nvSpPr>
          <p:cNvPr id="23" name="MATCHING ENGINE"/>
          <p:cNvSpPr/>
          <p:nvPr/>
        </p:nvSpPr>
        <p:spPr>
          <a:xfrm>
            <a:off x="2450592" y="3931920"/>
            <a:ext cx="1783080" cy="1051560"/>
          </a:xfrm>
          <a:prstGeom prst="roundRect">
            <a:avLst>
              <a:gd name="adj" fmla="val 5217"/>
            </a:avLst>
          </a:prstGeom>
          <a:solidFill>
            <a:srgbClr val="F1F5F9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23744" y="400507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ENGINE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2523744" y="4279392"/>
            <a:ext cx="163677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hospitals that can treat it</a:t>
            </a:r>
            <a:endParaRPr lang="en-US" sz="1000" dirty="0"/>
          </a:p>
        </p:txBody>
      </p:sp>
      <p:sp>
        <p:nvSpPr>
          <p:cNvPr id="26" name="PREDICTION"/>
          <p:cNvSpPr/>
          <p:nvPr/>
        </p:nvSpPr>
        <p:spPr>
          <a:xfrm>
            <a:off x="4352544" y="3931920"/>
            <a:ext cx="1783080" cy="1051560"/>
          </a:xfrm>
          <a:prstGeom prst="roundRect">
            <a:avLst>
              <a:gd name="adj" fmla="val 5217"/>
            </a:avLst>
          </a:prstGeom>
          <a:solidFill>
            <a:srgbClr val="F1F5F9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25696" y="4005072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4425696" y="4279392"/>
            <a:ext cx="163677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ETA, bed on arrival, ER forecast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07492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Engines run on the server and on the phone, so triage works offline. Gemini or Claude (optional) adds understanding and writes the SBAR note.</a:t>
            </a:r>
            <a:endParaRPr lang="en-US" sz="1050" dirty="0"/>
          </a:p>
        </p:txBody>
      </p:sp>
      <p:graphicFrame>
        <p:nvGraphicFramePr>
          <p:cNvPr id="7" name="technolog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417320"/>
          <a:ext cx="516636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3657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 in Medreach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Generative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Turns spoken words into requirements; writes the ER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Voice bots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Hindi / English speech in; key steps read aloud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Computer vision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 of an injury → visible findings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Ayushman / ABHA cards on the phone, with consent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Predictive analytics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Traffic ETA, chance a bed is free on arrival, ER forecast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follow-up question at a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app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Installable, bilingual PWA; works on weak networks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8"/>
          <p:cNvSpPr txBox="1"/>
          <p:nvPr/>
        </p:nvSpPr>
        <p:spPr>
          <a:xfrm>
            <a:off x="6446520" y="47091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22 · Express 5 · PWA · Leaflet + OpenStreetMap + OSRM roads (no API keys) · Tesseract.js · Web Speech · Gemini / Claude</a:t>
            </a:r>
            <a:endParaRPr lang="en-US" sz="1050" dirty="0"/>
          </a:p>
        </p:txBody>
      </p:sp>
      <p:sp>
        <p:nvSpPr>
          <p:cNvPr id="32" name="card"/>
          <p:cNvSpPr/>
          <p:nvPr/>
        </p:nvSpPr>
        <p:spPr>
          <a:xfrm>
            <a:off x="548640" y="5715000"/>
            <a:ext cx="11064240" cy="530352"/>
          </a:xfrm>
          <a:prstGeom prst="roundRect">
            <a:avLst>
              <a:gd name="adj" fmla="val 13793"/>
            </a:avLst>
          </a:prstGeom>
          <a:solidFill>
            <a:srgbClr val="F1F5F9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1520" y="5715000"/>
            <a:ext cx="10789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 </a:t>
            </a:r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= max(AI, rules), so AI never lowers urgency.   </a:t>
            </a:r>
            <a:pPr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Ranking:  </a:t>
            </a:r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care 55 + bed on arrival × freshness 25 + services 15 + level 5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IMPLEMENTATION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From Prototype to </a:t>
            </a:r>
            <a:pPr algn="l" indent="0" marL="0">
              <a:buNone/>
            </a:pPr>
            <a:r>
              <a:rPr lang="en-US" sz="3400" b="1" dirty="0">
                <a:solidFill>
                  <a:srgbClr val="0E7490"/>
                </a:solidFill>
              </a:rPr>
              <a:t>Statewide</a:t>
            </a:r>
            <a:endParaRPr lang="en-US" sz="3400" dirty="0"/>
          </a:p>
        </p:txBody>
      </p:sp>
      <p:sp>
        <p:nvSpPr>
          <p:cNvPr id="4" name="timeline"/>
          <p:cNvSpPr/>
          <p:nvPr/>
        </p:nvSpPr>
        <p:spPr>
          <a:xfrm>
            <a:off x="1005840" y="1783080"/>
            <a:ext cx="8503920" cy="0"/>
          </a:xfrm>
          <a:prstGeom prst="line">
            <a:avLst/>
          </a:prstGeom>
          <a:noFill/>
          <a:ln w="19050">
            <a:solidFill>
              <a:srgbClr val="0E7490"/>
            </a:solidFill>
            <a:prstDash val="dash"/>
          </a:ln>
        </p:spPr>
      </p:sp>
      <p:sp>
        <p:nvSpPr>
          <p:cNvPr id="5" name="phase icon circle"/>
          <p:cNvSpPr/>
          <p:nvPr/>
        </p:nvSpPr>
        <p:spPr>
          <a:xfrm>
            <a:off x="548640" y="14173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749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6000"/>
              </a:srgbClr>
            </a:outerShdw>
          </a:effectLst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402336" cy="4023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2860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606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89864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Portals live, AI triage, matching, acceptance, real-road live maps, 62 tests</a:t>
            </a:r>
            <a:endParaRPr lang="en-US" sz="1100" dirty="0"/>
          </a:p>
        </p:txBody>
      </p:sp>
      <p:sp>
        <p:nvSpPr>
          <p:cNvPr id="10" name="phase icon circle"/>
          <p:cNvSpPr/>
          <p:nvPr/>
        </p:nvSpPr>
        <p:spPr>
          <a:xfrm>
            <a:off x="3383280" y="14173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749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6000"/>
              </a:srgbClr>
            </a:outerShdw>
          </a:effectLst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7872" y="158191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383280" y="22860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· Bhopal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383280" y="2606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months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383280" y="289864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onboarding, nodal officers, ER training, clinical review, SMS OTP</a:t>
            </a:r>
            <a:endParaRPr lang="en-US" sz="1100" dirty="0"/>
          </a:p>
        </p:txBody>
      </p:sp>
      <p:sp>
        <p:nvSpPr>
          <p:cNvPr id="15" name="phase icon circle"/>
          <p:cNvSpPr/>
          <p:nvPr/>
        </p:nvSpPr>
        <p:spPr>
          <a:xfrm>
            <a:off x="6217920" y="14173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749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6000"/>
              </a:srgbClr>
            </a:outerShdw>
          </a:effectLst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58191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17920" y="22860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606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~3–6 months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6217920" y="289864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Facility Registry, HMIS, 108 control room, ABDM, encrypted DB</a:t>
            </a:r>
            <a:endParaRPr lang="en-US" sz="1100" dirty="0"/>
          </a:p>
        </p:txBody>
      </p:sp>
      <p:sp>
        <p:nvSpPr>
          <p:cNvPr id="20" name="phase icon circle"/>
          <p:cNvSpPr/>
          <p:nvPr/>
        </p:nvSpPr>
        <p:spPr>
          <a:xfrm>
            <a:off x="9052560" y="1417320"/>
            <a:ext cx="731520" cy="7315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7490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6000"/>
              </a:srgbClr>
            </a:outerShdw>
          </a:effectLst>
        </p:spPr>
      </p:sp>
      <p:pic>
        <p:nvPicPr>
          <p:cNvPr id="21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7152" y="1581912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052560" y="22860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· MP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9052560" y="2606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~6–12 months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9052560" y="289864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rollouts, state command view, IVR for feature phones</a:t>
            </a:r>
            <a:endParaRPr lang="en-US" sz="1100" dirty="0"/>
          </a:p>
        </p:txBody>
      </p:sp>
      <p:sp>
        <p:nvSpPr>
          <p:cNvPr id="25" name="bed management frame"/>
          <p:cNvSpPr/>
          <p:nvPr/>
        </p:nvSpPr>
        <p:spPr>
          <a:xfrm>
            <a:off x="557784" y="3758184"/>
            <a:ext cx="5010912" cy="21305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6000"/>
              </a:srgbClr>
            </a:outerShdw>
          </a:effectLst>
        </p:spPr>
      </p:sp>
      <p:pic>
        <p:nvPicPr>
          <p:cNvPr id="26" name="bed management" descr="/tmp/claude-0/-home-user-Sehat-Setu/b06e8423-ed6e-57c3-bbb1-ac94b2a1720d/scratchpad/ppt/crops/beds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94360" y="3794760"/>
            <a:ext cx="4937760" cy="20574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48640" y="5943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hospitals keep current. One click re-confirms the figures.</a:t>
            </a:r>
            <a:endParaRPr 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5989320" y="3657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 &amp; MITIGATIONS</a:t>
            </a:r>
            <a:endParaRPr lang="en-US" sz="1150" dirty="0"/>
          </a:p>
        </p:txBody>
      </p:sp>
      <p:graphicFrame>
        <p:nvGraphicFramePr>
          <p:cNvPr id="8" name="ri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4005072"/>
          <a:ext cx="56235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840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Hospitals stop updating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 on every figure; stale ranked lower; one-click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misreads a 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only raises urgency; a deterministic engine decides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hospital answers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60 s the next suitable hospital is asked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network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PWA runs triage and matching on the phone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INNOVATION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What Makes Medreach </a:t>
            </a:r>
            <a:pPr algn="l" indent="0" marL="0">
              <a:buNone/>
            </a:pPr>
            <a:r>
              <a:rPr lang="en-US" sz="3400" b="1" dirty="0">
                <a:solidFill>
                  <a:srgbClr val="0E7490"/>
                </a:solidFill>
              </a:rPr>
              <a:t>Different</a:t>
            </a:r>
            <a:endParaRPr lang="en-US" sz="34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64008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777240"/>
                <a:gridCol w="960120"/>
                <a:gridCol w="91440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 portals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Helplines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E74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Medreach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F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Understands a spoken emergency in Hindi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specialist and equipment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who updated each figure, and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figure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Hospital accepts before travel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+ bay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 fallback to next hospital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Pre-arrival note for the ER doctor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SBAR note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Help for a person living alone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“I’m alone”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2578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capacity, referral accepted and confirmed destination are always shown separately, so “2 ICU beds” is never mistaken for “admitted”.</a:t>
            </a:r>
            <a:endParaRPr lang="en-US" sz="1200" dirty="0"/>
          </a:p>
        </p:txBody>
      </p:sp>
      <p:sp>
        <p:nvSpPr>
          <p:cNvPr id="6" name="referral with SBAR note frame"/>
          <p:cNvSpPr/>
          <p:nvPr/>
        </p:nvSpPr>
        <p:spPr>
          <a:xfrm>
            <a:off x="7415784" y="1426464"/>
            <a:ext cx="4233672" cy="129042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6000"/>
              </a:srgbClr>
            </a:outerShdw>
          </a:effectLst>
        </p:spPr>
      </p:sp>
      <p:pic>
        <p:nvPicPr>
          <p:cNvPr id="7" name="referral with SBAR note" descr="/tmp/claude-0/-home-user-Sehat-Setu/b06e8423-ed6e-57c3-bbb1-ac94b2a1720d/scratchpad/ppt/crops/sb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463040"/>
            <a:ext cx="4160520" cy="121727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086600" y="1949948"/>
            <a:ext cx="292608" cy="292608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7086600" y="2461201"/>
            <a:ext cx="292608" cy="292608"/>
          </a:xfrm>
          <a:prstGeom prst="ellipse">
            <a:avLst/>
          </a:prstGeom>
          <a:solidFill>
            <a:srgbClr val="0E74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81747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AI-written SBAR note from what the son said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bay and accept in one tap</a:t>
            </a:r>
            <a:endParaRPr lang="en-US" sz="1100" dirty="0"/>
          </a:p>
        </p:txBody>
      </p:sp>
      <p:sp>
        <p:nvSpPr>
          <p:cNvPr id="11" name="card"/>
          <p:cNvSpPr/>
          <p:nvPr/>
        </p:nvSpPr>
        <p:spPr>
          <a:xfrm>
            <a:off x="7452360" y="3429000"/>
            <a:ext cx="4160520" cy="749808"/>
          </a:xfrm>
          <a:prstGeom prst="roundRect">
            <a:avLst>
              <a:gd name="adj" fmla="val 9756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35240" y="342900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s</a:t>
            </a:r>
            <a:endParaRPr lang="en-US" sz="2600" dirty="0"/>
          </a:p>
        </p:txBody>
      </p:sp>
      <p:sp>
        <p:nvSpPr>
          <p:cNvPr id="13" name="Text 9"/>
          <p:cNvSpPr txBox="1"/>
          <p:nvPr/>
        </p:nvSpPr>
        <p:spPr>
          <a:xfrm>
            <a:off x="8869680" y="342900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change reaches every citizen</a:t>
            </a:r>
            <a:endParaRPr lang="en-US" sz="1200" dirty="0"/>
          </a:p>
        </p:txBody>
      </p:sp>
      <p:sp>
        <p:nvSpPr>
          <p:cNvPr id="14" name="card"/>
          <p:cNvSpPr/>
          <p:nvPr/>
        </p:nvSpPr>
        <p:spPr>
          <a:xfrm>
            <a:off x="7452360" y="4297680"/>
            <a:ext cx="4160520" cy="749808"/>
          </a:xfrm>
          <a:prstGeom prst="roundRect">
            <a:avLst>
              <a:gd name="adj" fmla="val 9756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635240" y="429768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s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8869680" y="429768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hospital is asked</a:t>
            </a:r>
            <a:endParaRPr lang="en-US" sz="1200" dirty="0"/>
          </a:p>
        </p:txBody>
      </p:sp>
      <p:sp>
        <p:nvSpPr>
          <p:cNvPr id="17" name="card"/>
          <p:cNvSpPr/>
          <p:nvPr/>
        </p:nvSpPr>
        <p:spPr>
          <a:xfrm>
            <a:off x="7452360" y="5166360"/>
            <a:ext cx="4160520" cy="749808"/>
          </a:xfrm>
          <a:prstGeom prst="roundRect">
            <a:avLst>
              <a:gd name="adj" fmla="val 9756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635240" y="5166360"/>
            <a:ext cx="1188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8869680" y="5166360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needed for maps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IMPACT AND BENEFITS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Impact and </a:t>
            </a:r>
            <a:pPr algn="l" indent="0" marL="0">
              <a:buNone/>
            </a:pPr>
            <a:r>
              <a:rPr lang="en-US" sz="3400" b="1" dirty="0">
                <a:solidFill>
                  <a:srgbClr val="0E7490"/>
                </a:solidFill>
              </a:rPr>
              <a:t>Benefits</a:t>
            </a:r>
            <a:endParaRPr lang="en-US" sz="3400" dirty="0"/>
          </a:p>
        </p:txBody>
      </p:sp>
      <p:sp>
        <p:nvSpPr>
          <p:cNvPr id="4" name="card"/>
          <p:cNvSpPr/>
          <p:nvPr/>
        </p:nvSpPr>
        <p:spPr>
          <a:xfrm>
            <a:off x="548640" y="1417320"/>
            <a:ext cx="2103120" cy="1645920"/>
          </a:xfrm>
          <a:prstGeom prst="roundRect">
            <a:avLst>
              <a:gd name="adj" fmla="val 4444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2704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75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care, first time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8658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Pre-arrival acceptance gets patients treated sooner.</a:t>
            </a:r>
            <a:endParaRPr lang="en-US" sz="1050" dirty="0"/>
          </a:p>
        </p:txBody>
      </p:sp>
      <p:sp>
        <p:nvSpPr>
          <p:cNvPr id="8" name="card"/>
          <p:cNvSpPr/>
          <p:nvPr/>
        </p:nvSpPr>
        <p:spPr>
          <a:xfrm>
            <a:off x="2788920" y="1417320"/>
            <a:ext cx="2103120" cy="1645920"/>
          </a:xfrm>
          <a:prstGeom prst="roundRect">
            <a:avLst>
              <a:gd name="adj" fmla="val 4444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53512" y="152704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953512" y="2075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53512" y="238658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and Hindi for rural, elderly and first-time users.</a:t>
            </a:r>
            <a:endParaRPr lang="en-US" sz="1050" dirty="0"/>
          </a:p>
        </p:txBody>
      </p:sp>
      <p:sp>
        <p:nvSpPr>
          <p:cNvPr id="12" name="card"/>
          <p:cNvSpPr/>
          <p:nvPr/>
        </p:nvSpPr>
        <p:spPr>
          <a:xfrm>
            <a:off x="5029200" y="1417320"/>
            <a:ext cx="2103120" cy="1645920"/>
          </a:xfrm>
          <a:prstGeom prst="roundRect">
            <a:avLst>
              <a:gd name="adj" fmla="val 4444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93792" y="152704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5193792" y="20756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costs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193792" y="238658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repeat trips; better use of ICU beds and specialists.</a:t>
            </a:r>
            <a:endParaRPr lang="en-US" sz="1050" dirty="0"/>
          </a:p>
        </p:txBody>
      </p:sp>
      <p:sp>
        <p:nvSpPr>
          <p:cNvPr id="16" name="card"/>
          <p:cNvSpPr/>
          <p:nvPr/>
        </p:nvSpPr>
        <p:spPr>
          <a:xfrm>
            <a:off x="548640" y="3200400"/>
            <a:ext cx="2103120" cy="1645920"/>
          </a:xfrm>
          <a:prstGeom prst="roundRect">
            <a:avLst>
              <a:gd name="adj" fmla="val 4444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331012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3858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Live, audited data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16966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capacity for planning beds and ambulances.</a:t>
            </a:r>
            <a:endParaRPr lang="en-US" sz="1050" dirty="0"/>
          </a:p>
        </p:txBody>
      </p:sp>
      <p:sp>
        <p:nvSpPr>
          <p:cNvPr id="20" name="card"/>
          <p:cNvSpPr/>
          <p:nvPr/>
        </p:nvSpPr>
        <p:spPr>
          <a:xfrm>
            <a:off x="2788920" y="3200400"/>
            <a:ext cx="2103120" cy="1645920"/>
          </a:xfrm>
          <a:prstGeom prst="roundRect">
            <a:avLst>
              <a:gd name="adj" fmla="val 4444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53512" y="331012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800" dirty="0"/>
          </a:p>
        </p:txBody>
      </p:sp>
      <p:sp>
        <p:nvSpPr>
          <p:cNvPr id="22" name="Text 20"/>
          <p:cNvSpPr txBox="1"/>
          <p:nvPr/>
        </p:nvSpPr>
        <p:spPr>
          <a:xfrm>
            <a:off x="2953512" y="3858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Informed citizens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953512" y="416966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first-aid steps; awareness of Ayushman, ABHA, 108.</a:t>
            </a:r>
            <a:endParaRPr lang="en-US" sz="1050" dirty="0"/>
          </a:p>
        </p:txBody>
      </p:sp>
      <p:sp>
        <p:nvSpPr>
          <p:cNvPr id="24" name="card"/>
          <p:cNvSpPr/>
          <p:nvPr/>
        </p:nvSpPr>
        <p:spPr>
          <a:xfrm>
            <a:off x="5029200" y="3200400"/>
            <a:ext cx="2103120" cy="1645920"/>
          </a:xfrm>
          <a:prstGeom prst="roundRect">
            <a:avLst>
              <a:gd name="adj" fmla="val 4444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3792" y="331012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800" dirty="0"/>
          </a:p>
        </p:txBody>
      </p:sp>
      <p:sp>
        <p:nvSpPr>
          <p:cNvPr id="26" name="Text 24"/>
          <p:cNvSpPr txBox="1"/>
          <p:nvPr/>
        </p:nvSpPr>
        <p:spPr>
          <a:xfrm>
            <a:off x="5193792" y="3858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system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93792" y="416966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surprise arrivals, less crowding, fewer transfers.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120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PILOT WILL MEASURE IT</a:t>
            </a:r>
            <a:endParaRPr lang="en-US" sz="1100" dirty="0"/>
          </a:p>
        </p:txBody>
      </p:sp>
      <p:pic>
        <p:nvPicPr>
          <p:cNvPr id="29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0"/>
            <a:ext cx="329184" cy="32918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960120" y="54681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definitive care</a:t>
            </a:r>
            <a:endParaRPr lang="en-US" sz="1050" dirty="0"/>
          </a:p>
        </p:txBody>
      </p:sp>
      <p:pic>
        <p:nvPicPr>
          <p:cNvPr id="3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5486400"/>
            <a:ext cx="329184" cy="329184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2642616" y="54681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avoided</a:t>
            </a:r>
            <a:endParaRPr lang="en-US" sz="1050" dirty="0"/>
          </a:p>
        </p:txBody>
      </p:sp>
      <p:pic>
        <p:nvPicPr>
          <p:cNvPr id="33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3632" y="5486400"/>
            <a:ext cx="329184" cy="329184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4325112" y="54681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time</a:t>
            </a:r>
            <a:endParaRPr lang="en-US" sz="1050" dirty="0"/>
          </a:p>
        </p:txBody>
      </p:sp>
      <p:pic>
        <p:nvPicPr>
          <p:cNvPr id="35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6128" y="5486400"/>
            <a:ext cx="329184" cy="329184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>
            <a:off x="6007608" y="54681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freshness</a:t>
            </a:r>
            <a:endParaRPr lang="en-US" sz="1050" dirty="0"/>
          </a:p>
        </p:txBody>
      </p:sp>
      <p:sp>
        <p:nvSpPr>
          <p:cNvPr id="37" name="I am alone screen bezel"/>
          <p:cNvSpPr/>
          <p:nvPr/>
        </p:nvSpPr>
        <p:spPr>
          <a:xfrm>
            <a:off x="7479792" y="1399032"/>
            <a:ext cx="1935551" cy="4014216"/>
          </a:xfrm>
          <a:prstGeom prst="roundRect">
            <a:avLst>
              <a:gd name="adj" fmla="val 661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6000"/>
              </a:srgbClr>
            </a:outerShdw>
          </a:effectLst>
        </p:spPr>
      </p:sp>
      <p:pic>
        <p:nvPicPr>
          <p:cNvPr id="38" name="I am alone screen" descr="/tmp/claude-0/-home-user-Sehat-Setu/b06e8423-ed6e-57c3-bbb1-ac94b2a1720d/scratchpad/pdf/img/s/phone-8-alon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1463040"/>
            <a:ext cx="1807535" cy="3886200"/>
          </a:xfrm>
          <a:prstGeom prst="rect">
            <a:avLst/>
          </a:prstGeom>
        </p:spPr>
      </p:pic>
      <p:sp>
        <p:nvSpPr>
          <p:cNvPr id="39" name="Text 32"/>
          <p:cNvSpPr txBox="1"/>
          <p:nvPr/>
        </p:nvSpPr>
        <p:spPr>
          <a:xfrm>
            <a:off x="7406640" y="5486400"/>
            <a:ext cx="2081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“I’m alone”: one tap does every step.</a:t>
            </a:r>
            <a:endParaRPr lang="en-US" sz="1050" dirty="0"/>
          </a:p>
        </p:txBody>
      </p:sp>
      <p:sp>
        <p:nvSpPr>
          <p:cNvPr id="40" name="family link screen bezel"/>
          <p:cNvSpPr/>
          <p:nvPr/>
        </p:nvSpPr>
        <p:spPr>
          <a:xfrm>
            <a:off x="9674352" y="1399032"/>
            <a:ext cx="1935551" cy="4014216"/>
          </a:xfrm>
          <a:prstGeom prst="roundRect">
            <a:avLst>
              <a:gd name="adj" fmla="val 661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127000" dist="25400" dir="5400000">
              <a:srgbClr val="0F172A">
                <a:alpha val="16000"/>
              </a:srgbClr>
            </a:outerShdw>
          </a:effectLst>
        </p:spPr>
      </p:sp>
      <p:pic>
        <p:nvPicPr>
          <p:cNvPr id="41" name="family link screen" descr="/tmp/claude-0/-home-user-Sehat-Setu/b06e8423-ed6e-57c3-bbb1-ac94b2a1720d/scratchpad/pdf/img/s/phone-7-family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38360" y="1463040"/>
            <a:ext cx="1807535" cy="3886200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9601200" y="5486400"/>
            <a:ext cx="2081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link: status, hospital, ETA. No medical data.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WHY MEDREACH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Why Should Medreach </a:t>
            </a:r>
            <a:pPr algn="l" indent="0" marL="0">
              <a:buNone/>
            </a:pPr>
            <a:r>
              <a:rPr lang="en-US" sz="3400" b="1" dirty="0">
                <a:solidFill>
                  <a:srgbClr val="0E7490"/>
                </a:solidFill>
              </a:rPr>
              <a:t>Be Selected?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9052560" y="603504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5" name="card"/>
          <p:cNvSpPr/>
          <p:nvPr/>
        </p:nvSpPr>
        <p:spPr>
          <a:xfrm>
            <a:off x="548640" y="146304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664208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17190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IMPACT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221284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a life-or-death gap for citizens of Madhya Pradesh: a bed confirmed before travel.</a:t>
            </a:r>
            <a:endParaRPr lang="en-US" sz="1150" dirty="0"/>
          </a:p>
        </p:txBody>
      </p:sp>
      <p:sp>
        <p:nvSpPr>
          <p:cNvPr id="9" name="card"/>
          <p:cNvSpPr/>
          <p:nvPr/>
        </p:nvSpPr>
        <p:spPr>
          <a:xfrm>
            <a:off x="4270248" y="146304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1664208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0056" y="17190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NOW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71416" y="221284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portals are live on the web today. Try the whole flow in about 3 minutes.</a:t>
            </a:r>
            <a:endParaRPr lang="en-US" sz="1150" dirty="0"/>
          </a:p>
        </p:txBody>
      </p:sp>
      <p:sp>
        <p:nvSpPr>
          <p:cNvPr id="13" name="card"/>
          <p:cNvSpPr/>
          <p:nvPr/>
        </p:nvSpPr>
        <p:spPr>
          <a:xfrm>
            <a:off x="7991856" y="146304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1664208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741664" y="17190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 FULL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193024" y="221284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 suggested technologies in working code, listed file by file.</a:t>
            </a:r>
            <a:endParaRPr lang="en-US" sz="1150" dirty="0"/>
          </a:p>
        </p:txBody>
      </p:sp>
      <p:sp>
        <p:nvSpPr>
          <p:cNvPr id="17" name="card"/>
          <p:cNvSpPr/>
          <p:nvPr/>
        </p:nvSpPr>
        <p:spPr>
          <a:xfrm>
            <a:off x="548640" y="310896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18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310128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98448" y="33649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DESIGN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749808" y="385876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only raises urgency; a tested engine decides; 108 always one tap away.</a:t>
            </a:r>
            <a:endParaRPr lang="en-US" sz="1150" dirty="0"/>
          </a:p>
        </p:txBody>
      </p:sp>
      <p:sp>
        <p:nvSpPr>
          <p:cNvPr id="21" name="card"/>
          <p:cNvSpPr/>
          <p:nvPr/>
        </p:nvSpPr>
        <p:spPr>
          <a:xfrm>
            <a:off x="4270248" y="310896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22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1416" y="3310128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020056" y="33649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4471416" y="385876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masked IDs, OTP and roles, audit log, deletion 24 h after hand-over.</a:t>
            </a:r>
            <a:endParaRPr lang="en-US" sz="1150" dirty="0"/>
          </a:p>
        </p:txBody>
      </p:sp>
      <p:sp>
        <p:nvSpPr>
          <p:cNvPr id="25" name="card"/>
          <p:cNvSpPr/>
          <p:nvPr/>
        </p:nvSpPr>
        <p:spPr>
          <a:xfrm>
            <a:off x="7991856" y="310896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1F5F9"/>
          </a:solidFill>
          <a:ln w="12700">
            <a:solidFill>
              <a:srgbClr val="D6DEE8"/>
            </a:solidFill>
            <a:prstDash val="solid"/>
          </a:ln>
        </p:spPr>
      </p:sp>
      <p:pic>
        <p:nvPicPr>
          <p:cNvPr id="26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3024" y="3310128"/>
            <a:ext cx="411480" cy="4114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741664" y="33649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SCALE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8193024" y="3858768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open stack; clear path to HFR, HMIS, 108 and ABDM.</a:t>
            </a:r>
            <a:endParaRPr lang="en-US" sz="1150" dirty="0"/>
          </a:p>
        </p:txBody>
      </p:sp>
      <p:sp>
        <p:nvSpPr>
          <p:cNvPr id="29" name="card"/>
          <p:cNvSpPr/>
          <p:nvPr/>
        </p:nvSpPr>
        <p:spPr>
          <a:xfrm>
            <a:off x="548640" y="48463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9050">
            <a:solidFill>
              <a:srgbClr val="0E7490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777240" y="48463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ASK</a:t>
            </a:r>
            <a:endParaRPr lang="en-US" sz="1500" dirty="0"/>
          </a:p>
        </p:txBody>
      </p:sp>
      <p:sp>
        <p:nvSpPr>
          <p:cNvPr id="31" name="Text 23"/>
          <p:cNvSpPr txBox="1"/>
          <p:nvPr/>
        </p:nvSpPr>
        <p:spPr>
          <a:xfrm>
            <a:off x="2103120" y="484632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us for a 3-month pilot with Bhopal hospitals, then statewide integration with the Health Facility Registry, hospital HMIS, the 108 control room and ABDM.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</a:t>
            </a:r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medreach-2.onrender.com</a:t>
            </a:r>
            <a:pPr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CODE  </a:t>
            </a:r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github.com/prakharporwal518-collab/Medreach</a:t>
            </a:r>
            <a:pPr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HOSPITAL LOGIN  </a:t>
            </a:r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Bansal Hospital · BANSAL-ED01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1908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dreach Day">
  <a:themeElements>
    <a:clrScheme name="Medreach Day">
      <a:dk1>
        <a:srgbClr val="0F172A"/>
      </a:dk1>
      <a:lt1>
        <a:srgbClr val="FFFFFF"/>
      </a:lt1>
      <a:dk2>
        <a:srgbClr val="1E293B"/>
      </a:dk2>
      <a:lt2>
        <a:srgbClr val="F1F5F9"/>
      </a:lt2>
      <a:accent1>
        <a:srgbClr val="0E7490"/>
      </a:accent1>
      <a:accent2>
        <a:srgbClr val="DC2626"/>
      </a:accent2>
      <a:accent3>
        <a:srgbClr val="2563EB"/>
      </a:accent3>
      <a:accent4>
        <a:srgbClr val="D97706"/>
      </a:accent4>
      <a:accent5>
        <a:srgbClr val="7C3AED"/>
      </a:accent5>
      <a:accent6>
        <a:srgbClr val="059669"/>
      </a:accent6>
      <a:hlink>
        <a:srgbClr val="0E7490"/>
      </a:hlink>
      <a:folHlink>
        <a:srgbClr val="7C3AED"/>
      </a:folHlink>
    </a:clrScheme>
    <a:fontScheme name="Medreach Da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Team Medreach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Medreach</dc:title>
  <dc:subject>PptxGenJS Presentation</dc:subject>
  <dc:creator>Team Medreach</dc:creator>
  <cp:lastModifiedBy>Team Medreach</cp:lastModifiedBy>
  <cp:revision>1</cp:revision>
  <dcterms:created xsi:type="dcterms:W3CDTF">2026-10-07T16:29:30Z</dcterms:created>
  <dcterms:modified xsi:type="dcterms:W3CDTF">2026-10-07T16:29:30Z</dcterms:modified>
</cp:coreProperties>
</file>