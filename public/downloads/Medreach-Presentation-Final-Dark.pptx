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is a working product: everything shown on the following slides is from the prototype that is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user sees a different, private view. Citizens never see other patients; hospitals only see referrals sent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rows. The family never has to guess, and the hospital is never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statistic from the MoRTH report before presenting. The six causes map one-to-one to the features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flowchart from our idea, implemented. Every phone screen is a real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 automated tests cover triage, matching, scoring, login, roles and privacy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Durations are planning estimates. Cost stays low: open-source stack, free maps, one web app for every phone, AI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proof: set a hospital’s ER to “Diverting” and it disappears from every family’s list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will be measured from our own audit log and case timestamps during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ask, then offer to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R_NIGH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MR_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Medreach  ·  MPOnline Idea &amp; Innovation Hackathon 2026  ·  Challenge 5, Healthcare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image" Target="../media/image-5-10.jpg"/><Relationship Id="rId11" Type="http://schemas.openxmlformats.org/officeDocument/2006/relationships/image" Target="../media/image-5-11.jp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621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Medreach: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hospital, right now,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before you leave home</a:t>
            </a:r>
            <a:endParaRPr lang="en-US" sz="2700" dirty="0"/>
          </a:p>
        </p:txBody>
      </p:sp>
      <p:sp>
        <p:nvSpPr>
          <p:cNvPr id="6" name="divider"/>
          <p:cNvSpPr/>
          <p:nvPr/>
        </p:nvSpPr>
        <p:spPr>
          <a:xfrm>
            <a:off x="548640" y="3584448"/>
            <a:ext cx="9144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coordination for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1700" dirty="0"/>
          </a:p>
        </p:txBody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315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4297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English, Hinglish</a:t>
            </a:r>
            <a:endParaRPr lang="en-US" sz="1400" dirty="0"/>
          </a:p>
        </p:txBody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0001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before you travel</a:t>
            </a:r>
            <a:endParaRPr lang="en-US" sz="1400" dirty="0"/>
          </a:p>
        </p:txBody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0840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60120" y="50657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tracking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0E1F3D">
              <a:alpha val="7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31520" y="560527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MPOnline Idea &amp; Innovation Hackathon 2026  ·  Challenge 5, Healthcare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medreach-2.onrender.com   |   github.com/prakharporwal518-collab/Medreach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Medreach</a:t>
            </a:r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coordination,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diagnosis app. It joins the family in panic, the hospital emergency desk and the health department on one live network.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578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&amp; FAMILIES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emergency, see only hospitals that can treat it, get a confirmed bed and a tracking link. No login. “I’m alone” mode.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548640" y="349300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7216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6027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8770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board of beds, ICU, ventilators and doctors on duty. Referrals arrive with an AI pre-arrival (SBAR) note; one tap to accept.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548640" y="45171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74573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6268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MP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4901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audited view of emergency capacity, and data on where patients are refused or delayed.</a:t>
            </a:r>
            <a:endParaRPr lang="en-US" sz="1150" dirty="0"/>
          </a:p>
        </p:txBody>
      </p:sp>
      <p:sp>
        <p:nvSpPr>
          <p:cNvPr id="17" name="home page frame"/>
          <p:cNvSpPr/>
          <p:nvPr/>
        </p:nvSpPr>
        <p:spPr>
          <a:xfrm>
            <a:off x="6409944" y="1426464"/>
            <a:ext cx="5239512" cy="3160052"/>
          </a:xfrm>
          <a:prstGeom prst="rect">
            <a:avLst/>
          </a:prstGeom>
          <a:solidFill>
            <a:srgbClr val="0E1F3D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18" name="home page" descr="/tmp/claude-0/-home-user-Sehat-Setu/b06e8423-ed6e-57c3-bbb1-ac94b2a1720d/scratchpad/ppt/crops/hom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5166360" cy="3086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46520" y="465966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live home page, with network figures (demo data labelled as simulated).</a:t>
            </a:r>
            <a:endParaRPr lang="en-US" sz="1050" dirty="0"/>
          </a:p>
        </p:txBody>
      </p:sp>
      <p:sp>
        <p:nvSpPr>
          <p:cNvPr id="20" name="card"/>
          <p:cNvSpPr/>
          <p:nvPr/>
        </p:nvSpPr>
        <p:spPr>
          <a:xfrm>
            <a:off x="6446520" y="507492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629400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891272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7891272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portals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9153144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26" name="Text 20"/>
          <p:cNvSpPr txBox="1"/>
          <p:nvPr/>
        </p:nvSpPr>
        <p:spPr>
          <a:xfrm>
            <a:off x="9153144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Bhopal-region hospitals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0415016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200" dirty="0"/>
          </a:p>
        </p:txBody>
      </p:sp>
      <p:sp>
        <p:nvSpPr>
          <p:cNvPr id="28" name="Text 22"/>
          <p:cNvSpPr txBox="1"/>
          <p:nvPr/>
        </p:nvSpPr>
        <p:spPr>
          <a:xfrm>
            <a:off x="10415016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879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medreach-2.onrender.com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SCENARIO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Chest Pain </a:t>
            </a:r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at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11 pm </a:t>
            </a:r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 Bhopal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62-year-old man has chest pain and is sweating. His son has a phone and a car.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1463040" cy="1783080"/>
          </a:xfrm>
          <a:prstGeom prst="roundRect">
            <a:avLst>
              <a:gd name="adj" fmla="val 5000"/>
            </a:avLst>
          </a:prstGeom>
          <a:solidFill>
            <a:srgbClr val="0E1F3D">
              <a:alpha val="85000"/>
            </a:srgbClr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journey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2148840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58568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 the nearest hospital, chosen by distance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3849624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9352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11:25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gate: no cardiologist, ICU full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04104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550408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0136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660136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trip across the city at night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7251192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Arrives; the ER was not expecting him</a:t>
            </a:r>
            <a:endParaRPr lang="en-US" sz="1150" dirty="0"/>
          </a:p>
        </p:txBody>
      </p:sp>
      <p:sp>
        <p:nvSpPr>
          <p:cNvPr id="23" name="spacer"/>
          <p:cNvSpPr/>
          <p:nvPr/>
        </p:nvSpPr>
        <p:spPr>
          <a:xfrm>
            <a:off x="8458200" y="1828800"/>
            <a:ext cx="91" cy="91"/>
          </a:xfrm>
          <a:prstGeom prst="roundRect">
            <a:avLst>
              <a:gd name="adj" fmla="val 8038681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card"/>
          <p:cNvSpPr/>
          <p:nvPr/>
        </p:nvSpPr>
        <p:spPr>
          <a:xfrm>
            <a:off x="548640" y="3840480"/>
            <a:ext cx="1463040" cy="1783080"/>
          </a:xfrm>
          <a:prstGeom prst="roundRect">
            <a:avLst>
              <a:gd name="adj" fmla="val 5000"/>
            </a:avLst>
          </a:prstGeom>
          <a:solidFill>
            <a:srgbClr val="0E1F3D">
              <a:alpha val="85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journey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2148840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58568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2258568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says “Papa ko seene mein dard hai…”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4526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card"/>
          <p:cNvSpPr/>
          <p:nvPr/>
        </p:nvSpPr>
        <p:spPr>
          <a:xfrm>
            <a:off x="3849624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59352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11:01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3959352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heart attack, CRITICAL; needs cardiologist + ICU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04104" y="4526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card"/>
          <p:cNvSpPr/>
          <p:nvPr/>
        </p:nvSpPr>
        <p:spPr>
          <a:xfrm>
            <a:off x="5550408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0136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11:03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660136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Hospital accepts, prepares bay Resus-02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04888" y="4526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9" name="card"/>
          <p:cNvSpPr/>
          <p:nvPr/>
        </p:nvSpPr>
        <p:spPr>
          <a:xfrm>
            <a:off x="7251192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60920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11:16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arrives (ETA 13 min); ER read the note</a:t>
            </a:r>
            <a:endParaRPr lang="en-US" sz="1150" dirty="0"/>
          </a:p>
        </p:txBody>
      </p:sp>
      <p:sp>
        <p:nvSpPr>
          <p:cNvPr id="42" name="spacer"/>
          <p:cNvSpPr/>
          <p:nvPr/>
        </p:nvSpPr>
        <p:spPr>
          <a:xfrm>
            <a:off x="8458200" y="3840480"/>
            <a:ext cx="91" cy="91"/>
          </a:xfrm>
          <a:prstGeom prst="roundRect">
            <a:avLst>
              <a:gd name="adj" fmla="val 8038681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are illustrative; the 13-minute ETA and bay come from our prototype run.</a:t>
            </a:r>
            <a:endParaRPr lang="en-US" sz="1050" dirty="0"/>
          </a:p>
        </p:txBody>
      </p:sp>
      <p:sp>
        <p:nvSpPr>
          <p:cNvPr id="44" name="AI result screen bezel"/>
          <p:cNvSpPr/>
          <p:nvPr/>
        </p:nvSpPr>
        <p:spPr>
          <a:xfrm>
            <a:off x="9217152" y="1307592"/>
            <a:ext cx="2148202" cy="4471416"/>
          </a:xfrm>
          <a:prstGeom prst="roundRect">
            <a:avLst>
              <a:gd name="adj" fmla="val 5959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45" name="AI result screen" descr="/tmp/claude-0/-home-user-Sehat-Setu/b06e8423-ed6e-57c3-bbb1-ac94b2a1720d/scratchpad/pdf/img/s/phone-2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371600"/>
            <a:ext cx="2020186" cy="4343400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8961120" y="5897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son sees a minute after speaking.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Patients Lose the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Golden Hour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E1F3D">
              <a:alpha val="85000"/>
            </a:srgbClr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1,68,491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died in road accidents in India in 2022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MoRTH, “Road Accidents in India 2022”. Heart attacks, strokes, burns and childbirth emergencies face the same delays.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709160" y="14630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7190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is not capable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1865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show distance, not whether the specialist is on duty or the ICU has a bed tonight.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8183880" y="14630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71907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6112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live status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961120" y="1865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figures are old, with no owner or time stamp.</a:t>
            </a:r>
            <a:endParaRPr lang="en-US" sz="1050" dirty="0"/>
          </a:p>
        </p:txBody>
      </p:sp>
      <p:sp>
        <p:nvSpPr>
          <p:cNvPr id="17" name="card"/>
          <p:cNvSpPr/>
          <p:nvPr/>
        </p:nvSpPr>
        <p:spPr>
          <a:xfrm>
            <a:off x="4709160" y="2587752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84378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acceptance first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0" y="2990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arrive unannounced; refusal happens at the gate.</a:t>
            </a:r>
            <a:endParaRPr lang="en-US" sz="1050" dirty="0"/>
          </a:p>
        </p:txBody>
      </p:sp>
      <p:sp>
        <p:nvSpPr>
          <p:cNvPr id="21" name="card"/>
          <p:cNvSpPr/>
          <p:nvPr/>
        </p:nvSpPr>
        <p:spPr>
          <a:xfrm>
            <a:off x="8183880" y="2587752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843784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112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and language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961120" y="2990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cannot fill forms in panic; many prefer to speak Hindi.</a:t>
            </a:r>
            <a:endParaRPr lang="en-US" sz="1050" dirty="0"/>
          </a:p>
        </p:txBody>
      </p:sp>
      <p:sp>
        <p:nvSpPr>
          <p:cNvPr id="25" name="card"/>
          <p:cNvSpPr/>
          <p:nvPr/>
        </p:nvSpPr>
        <p:spPr>
          <a:xfrm>
            <a:off x="4709160" y="3712464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68496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86400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alone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0" y="4114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call hospitals, arrange transport and inform family at once.</a:t>
            </a:r>
            <a:endParaRPr lang="en-US" sz="1050" dirty="0"/>
          </a:p>
        </p:txBody>
      </p:sp>
      <p:sp>
        <p:nvSpPr>
          <p:cNvPr id="29" name="card"/>
          <p:cNvSpPr/>
          <p:nvPr/>
        </p:nvSpPr>
        <p:spPr>
          <a:xfrm>
            <a:off x="8183880" y="3712464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968496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961120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lost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8961120" y="4114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 and Ayushman / ABHA details don’t reach the ER doctor.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</a:t>
            </a:r>
            <a:endParaRPr lang="en-US" sz="1100" dirty="0"/>
          </a:p>
        </p:txBody>
      </p:sp>
      <p:pic>
        <p:nvPicPr>
          <p:cNvPr id="34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13248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024128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families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trips, delayed treatment</a:t>
            </a:r>
            <a:endParaRPr lang="en-US" sz="1100" dirty="0"/>
          </a:p>
        </p:txBody>
      </p:sp>
      <p:pic>
        <p:nvPicPr>
          <p:cNvPr id="36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5413248"/>
            <a:ext cx="365760" cy="36576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831336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citizens &amp; ASHA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distances, costly wrong choice</a:t>
            </a:r>
            <a:endParaRPr lang="en-US" sz="1100" dirty="0"/>
          </a:p>
        </p:txBody>
      </p:sp>
      <p:pic>
        <p:nvPicPr>
          <p:cNvPr id="38" name="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3056" y="5413248"/>
            <a:ext cx="365760" cy="36576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6638544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ER teams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unannounced critical arrivals</a:t>
            </a:r>
            <a:endParaRPr lang="en-US" sz="1100" dirty="0"/>
          </a:p>
        </p:txBody>
      </p:sp>
      <p:pic>
        <p:nvPicPr>
          <p:cNvPr id="40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0264" y="5413248"/>
            <a:ext cx="365760" cy="36576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9445752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picture of capacity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Flow from Emergency to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Confirmed Bed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5727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input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speak, type, photo or health card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97510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2139696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12848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5727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85416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red flags, needs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3730752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803904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5727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776472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hospital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3803904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specialist, equipment, bed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157216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5321808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394960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5727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67528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freshness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394960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updated, and when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748272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card"/>
          <p:cNvSpPr/>
          <p:nvPr/>
        </p:nvSpPr>
        <p:spPr>
          <a:xfrm>
            <a:off x="6912864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986016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57276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58584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accepts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986016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officer assigns a bay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8339328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card"/>
          <p:cNvSpPr/>
          <p:nvPr/>
        </p:nvSpPr>
        <p:spPr>
          <a:xfrm>
            <a:off x="8503920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577072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3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696" y="1572768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549640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8577072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or own vehicle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993038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card"/>
          <p:cNvSpPr/>
          <p:nvPr/>
        </p:nvSpPr>
        <p:spPr>
          <a:xfrm>
            <a:off x="10094976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10168128" y="13533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42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2" y="1572768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140696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10168128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bed, family informed</a:t>
            </a:r>
            <a:endParaRPr lang="en-US" sz="1000" dirty="0"/>
          </a:p>
        </p:txBody>
      </p:sp>
      <p:sp>
        <p:nvSpPr>
          <p:cNvPr id="45" name="step screen 1 bezel"/>
          <p:cNvSpPr/>
          <p:nvPr/>
        </p:nvSpPr>
        <p:spPr>
          <a:xfrm>
            <a:off x="62179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46" name="step screen 1" descr="/tmp/claude-0/-home-user-Sehat-Setu/b06e8423-ed6e-57c3-bbb1-ac94b2a1720d/scratchpad/pdf/img/s/phone-1-start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291840"/>
            <a:ext cx="1105786" cy="237744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9436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pick a common emergency</a:t>
            </a:r>
            <a:endParaRPr lang="en-US" sz="1050" dirty="0"/>
          </a:p>
        </p:txBody>
      </p:sp>
      <p:sp>
        <p:nvSpPr>
          <p:cNvPr id="48" name="step screen 2 bezel"/>
          <p:cNvSpPr/>
          <p:nvPr/>
        </p:nvSpPr>
        <p:spPr>
          <a:xfrm>
            <a:off x="249631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49" name="step screen 2" descr="/tmp/claude-0/-home-user-Sehat-Setu/b06e8423-ed6e-57c3-bbb1-ac94b2a1720d/scratchpad/pdf/img/s/phone-3-hospital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291840"/>
            <a:ext cx="1105786" cy="237744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246888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hospitals that can treat it</a:t>
            </a:r>
            <a:endParaRPr lang="en-US" sz="1050" dirty="0"/>
          </a:p>
        </p:txBody>
      </p:sp>
      <p:sp>
        <p:nvSpPr>
          <p:cNvPr id="51" name="step screen 3 bezel"/>
          <p:cNvSpPr/>
          <p:nvPr/>
        </p:nvSpPr>
        <p:spPr>
          <a:xfrm>
            <a:off x="437083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52" name="step screen 3" descr="/tmp/claude-0/-home-user-Sehat-Setu/b06e8423-ed6e-57c3-bbb1-ac94b2a1720d/scratchpad/pdf/img/s/phone-4-score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3291840"/>
            <a:ext cx="1105786" cy="237744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434340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this hospital?” score parts</a:t>
            </a:r>
            <a:endParaRPr lang="en-US" sz="1050" dirty="0"/>
          </a:p>
        </p:txBody>
      </p:sp>
      <p:sp>
        <p:nvSpPr>
          <p:cNvPr id="54" name="step screen 4 bezel"/>
          <p:cNvSpPr/>
          <p:nvPr/>
        </p:nvSpPr>
        <p:spPr>
          <a:xfrm>
            <a:off x="624535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55" name="step screen 4" descr="/tmp/claude-0/-home-user-Sehat-Setu/b06e8423-ed6e-57c3-bbb1-ac94b2a1720d/scratchpad/pdf/img/s/phone-6-navigation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291840"/>
            <a:ext cx="1105786" cy="237744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621792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status and navigation</a:t>
            </a:r>
            <a:endParaRPr lang="en-US" sz="1050" dirty="0"/>
          </a:p>
        </p:txBody>
      </p:sp>
      <p:sp>
        <p:nvSpPr>
          <p:cNvPr id="57" name="card"/>
          <p:cNvSpPr/>
          <p:nvPr/>
        </p:nvSpPr>
        <p:spPr>
          <a:xfrm>
            <a:off x="8229600" y="324612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84124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WE NEVER BREAK</a:t>
            </a:r>
            <a:endParaRPr lang="en-US" sz="1200" dirty="0"/>
          </a:p>
        </p:txBody>
      </p:sp>
      <p:pic>
        <p:nvPicPr>
          <p:cNvPr id="59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0" y="3813048"/>
            <a:ext cx="274320" cy="274320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8796528" y="37947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accepts before anyone travels</a:t>
            </a:r>
            <a:endParaRPr lang="en-US" sz="1150" dirty="0"/>
          </a:p>
        </p:txBody>
      </p:sp>
      <p:pic>
        <p:nvPicPr>
          <p:cNvPr id="61" name="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4270248"/>
            <a:ext cx="274320" cy="274320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8796528" y="4251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hospitals that can treat the case</a:t>
            </a:r>
            <a:endParaRPr lang="en-US" sz="1150" dirty="0"/>
          </a:p>
        </p:txBody>
      </p:sp>
      <p:pic>
        <p:nvPicPr>
          <p:cNvPr id="63" name="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0" y="4727448"/>
            <a:ext cx="274320" cy="274320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796528" y="47091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without answer → next hospital</a:t>
            </a:r>
            <a:endParaRPr lang="en-US" sz="1150" dirty="0"/>
          </a:p>
        </p:txBody>
      </p:sp>
      <p:pic>
        <p:nvPicPr>
          <p:cNvPr id="65" name="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480" y="5184648"/>
            <a:ext cx="274320" cy="274320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8796528" y="5166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diagnoses: “may indicate”</a:t>
            </a:r>
            <a:endParaRPr lang="en-US" sz="1150" dirty="0"/>
          </a:p>
        </p:txBody>
      </p:sp>
      <p:pic>
        <p:nvPicPr>
          <p:cNvPr id="67" name="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2480" y="5641848"/>
            <a:ext cx="274320" cy="274320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8796528" y="56235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108 on every screen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TECHNICAL APPROACH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Technical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Approach</a:t>
            </a:r>
            <a:endParaRPr lang="en-US" sz="3400" dirty="0"/>
          </a:p>
        </p:txBody>
      </p:sp>
      <p:sp>
        <p:nvSpPr>
          <p:cNvPr id="4" name="CITIZEN PWA"/>
          <p:cNvSpPr/>
          <p:nvPr/>
        </p:nvSpPr>
        <p:spPr>
          <a:xfrm>
            <a:off x="548640" y="1417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904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PWA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647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photo · OCR · offline</a:t>
            </a:r>
            <a:endParaRPr lang="en-US" sz="1000" dirty="0"/>
          </a:p>
        </p:txBody>
      </p:sp>
      <p:sp>
        <p:nvSpPr>
          <p:cNvPr id="7" name="FAMILY LINK"/>
          <p:cNvSpPr/>
          <p:nvPr/>
        </p:nvSpPr>
        <p:spPr>
          <a:xfrm>
            <a:off x="2450592" y="1417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3744" y="14904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LINK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23744" y="17647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hospital · ETA only</a:t>
            </a:r>
            <a:endParaRPr lang="en-US" sz="1000" dirty="0"/>
          </a:p>
        </p:txBody>
      </p:sp>
      <p:sp>
        <p:nvSpPr>
          <p:cNvPr id="10" name="HOSPITAL DESK"/>
          <p:cNvSpPr/>
          <p:nvPr/>
        </p:nvSpPr>
        <p:spPr>
          <a:xfrm>
            <a:off x="4352544" y="1417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5696" y="14904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DESK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17647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· beds · live map</a:t>
            </a:r>
            <a:endParaRPr lang="en-US" sz="1000" dirty="0"/>
          </a:p>
        </p:txBody>
      </p:sp>
      <p:sp>
        <p:nvSpPr>
          <p:cNvPr id="13" name="arrow"/>
          <p:cNvSpPr/>
          <p:nvPr/>
        </p:nvSpPr>
        <p:spPr>
          <a:xfrm>
            <a:off x="3337560" y="2267712"/>
            <a:ext cx="0" cy="347472"/>
          </a:xfrm>
          <a:prstGeom prst="line">
            <a:avLst/>
          </a:prstGeom>
          <a:noFill/>
          <a:ln w="15875">
            <a:solidFill>
              <a:srgbClr val="38BDF8"/>
            </a:solidFill>
            <a:prstDash val="solid"/>
            <a:headEnd type="triangle"/>
            <a:tailEnd type="triangle"/>
          </a:ln>
        </p:spPr>
      </p:sp>
      <p:sp>
        <p:nvSpPr>
          <p:cNvPr id="14" name="MEDREACH SERVER  (Node.js + Express)"/>
          <p:cNvSpPr/>
          <p:nvPr/>
        </p:nvSpPr>
        <p:spPr>
          <a:xfrm>
            <a:off x="548640" y="2651760"/>
            <a:ext cx="5586984" cy="868680"/>
          </a:xfrm>
          <a:prstGeom prst="roundRect">
            <a:avLst>
              <a:gd name="adj" fmla="val 6316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7249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 SERVER  (Node.js + Express)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999232"/>
            <a:ext cx="5440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live updates (SSE) · OTP login with 4 roles · case store · audit log · consent · 24-hour deletion</a:t>
            </a:r>
            <a:endParaRPr lang="en-US" sz="1000" dirty="0"/>
          </a:p>
        </p:txBody>
      </p:sp>
      <p:sp>
        <p:nvSpPr>
          <p:cNvPr id="17" name="arrow"/>
          <p:cNvSpPr/>
          <p:nvPr/>
        </p:nvSpPr>
        <p:spPr>
          <a:xfrm>
            <a:off x="1463040" y="3547872"/>
            <a:ext cx="0" cy="347472"/>
          </a:xfrm>
          <a:prstGeom prst="line">
            <a:avLst/>
          </a:prstGeom>
          <a:noFill/>
          <a:ln w="15875">
            <a:solidFill>
              <a:srgbClr val="38BDF8"/>
            </a:solidFill>
            <a:prstDash val="solid"/>
            <a:headEnd type="triangle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3337560" y="3547872"/>
            <a:ext cx="0" cy="347472"/>
          </a:xfrm>
          <a:prstGeom prst="line">
            <a:avLst/>
          </a:prstGeom>
          <a:noFill/>
          <a:ln w="15875">
            <a:solidFill>
              <a:srgbClr val="38BDF8"/>
            </a:solidFill>
            <a:prstDash val="solid"/>
            <a:headEnd type="triangle"/>
            <a:tailEnd type="triangle"/>
          </a:ln>
        </p:spPr>
      </p:sp>
      <p:sp>
        <p:nvSpPr>
          <p:cNvPr id="19" name="arrow"/>
          <p:cNvSpPr/>
          <p:nvPr/>
        </p:nvSpPr>
        <p:spPr>
          <a:xfrm>
            <a:off x="5212080" y="3547872"/>
            <a:ext cx="0" cy="347472"/>
          </a:xfrm>
          <a:prstGeom prst="line">
            <a:avLst/>
          </a:prstGeom>
          <a:noFill/>
          <a:ln w="15875">
            <a:solidFill>
              <a:srgbClr val="38BDF8"/>
            </a:solidFill>
            <a:prstDash val="solid"/>
            <a:headEnd type="triangle"/>
            <a:tailEnd type="triangle"/>
          </a:ln>
        </p:spPr>
      </p:sp>
      <p:sp>
        <p:nvSpPr>
          <p:cNvPr id="20" name="TRIAGE ENGINE"/>
          <p:cNvSpPr/>
          <p:nvPr/>
        </p:nvSpPr>
        <p:spPr>
          <a:xfrm>
            <a:off x="548640" y="39319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005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279392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and classifies severity</a:t>
            </a:r>
            <a:endParaRPr lang="en-US" sz="1000" dirty="0"/>
          </a:p>
        </p:txBody>
      </p:sp>
      <p:sp>
        <p:nvSpPr>
          <p:cNvPr id="23" name="MATCHING ENGINE"/>
          <p:cNvSpPr/>
          <p:nvPr/>
        </p:nvSpPr>
        <p:spPr>
          <a:xfrm>
            <a:off x="2450592" y="39319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23744" y="4005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523744" y="4279392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hospitals that can treat it</a:t>
            </a:r>
            <a:endParaRPr lang="en-US" sz="1000" dirty="0"/>
          </a:p>
        </p:txBody>
      </p:sp>
      <p:sp>
        <p:nvSpPr>
          <p:cNvPr id="26" name="PREDICTION"/>
          <p:cNvSpPr/>
          <p:nvPr/>
        </p:nvSpPr>
        <p:spPr>
          <a:xfrm>
            <a:off x="4352544" y="39319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0E1F3D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25696" y="4005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425696" y="4279392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ETA, bed on arrival, ER forecast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74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run on the server and on the phone, so triage works offline. Claude (optional) adds understanding and writes the SBAR note.</a:t>
            </a:r>
            <a:endParaRPr lang="en-US" sz="1050" dirty="0"/>
          </a:p>
        </p:txBody>
      </p:sp>
      <p:graphicFrame>
        <p:nvGraphicFramePr>
          <p:cNvPr id="7" name="technolog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417320"/>
          <a:ext cx="51663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Medreach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spoken words into requirements; writes the ER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bots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/ English speech in; key steps read aloud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of an injury → visible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Ayushman / ABHA cards on the phone, with consent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ETA, chance a bed is free on arrival, ER 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follow-up question at a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Installable, bilingual PWA; works on weak networks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6446520" y="47091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· Express 5 · PWA · Leaflet + OpenStreetMap (no API keys) · Tesseract.js · Web Speech · Claude SDK</a:t>
            </a:r>
            <a:endParaRPr lang="en-US" sz="1050" dirty="0"/>
          </a:p>
        </p:txBody>
      </p:sp>
      <p:sp>
        <p:nvSpPr>
          <p:cNvPr id="32" name="card"/>
          <p:cNvSpPr/>
          <p:nvPr/>
        </p:nvSpPr>
        <p:spPr>
          <a:xfrm>
            <a:off x="548640" y="571500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0E1F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71500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max(AI, rules), so AI never lowers urgency.   </a:t>
            </a:r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care 55 + bed on arrival × freshness 25 + services 15 + level 5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From Prototype to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Statewide</a:t>
            </a:r>
            <a:endParaRPr lang="en-US" sz="3400" dirty="0"/>
          </a:p>
        </p:txBody>
      </p:sp>
      <p:sp>
        <p:nvSpPr>
          <p:cNvPr id="4" name="timeline"/>
          <p:cNvSpPr/>
          <p:nvPr/>
        </p:nvSpPr>
        <p:spPr>
          <a:xfrm>
            <a:off x="1005840" y="1783080"/>
            <a:ext cx="850392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5" name="phase icon circle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E1F3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 live, AI triage, matching, acceptance, live maps, 51 tests</a:t>
            </a:r>
            <a:endParaRPr lang="en-US" sz="1100" dirty="0"/>
          </a:p>
        </p:txBody>
      </p:sp>
      <p:sp>
        <p:nvSpPr>
          <p:cNvPr id="10" name="phase icon circle"/>
          <p:cNvSpPr/>
          <p:nvPr/>
        </p:nvSpPr>
        <p:spPr>
          <a:xfrm>
            <a:off x="3383280" y="1417320"/>
            <a:ext cx="731520" cy="731520"/>
          </a:xfrm>
          <a:prstGeom prst="ellipse">
            <a:avLst/>
          </a:prstGeom>
          <a:solidFill>
            <a:srgbClr val="0E1F3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5819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Bhopal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onboarding, nodal officers, ER training, clinical review, SMS OTP</a:t>
            </a:r>
            <a:endParaRPr lang="en-US" sz="1100" dirty="0"/>
          </a:p>
        </p:txBody>
      </p:sp>
      <p:sp>
        <p:nvSpPr>
          <p:cNvPr id="15" name="phase icon circle"/>
          <p:cNvSpPr/>
          <p:nvPr/>
        </p:nvSpPr>
        <p:spPr>
          <a:xfrm>
            <a:off x="6217920" y="1417320"/>
            <a:ext cx="731520" cy="731520"/>
          </a:xfrm>
          <a:prstGeom prst="ellipse">
            <a:avLst/>
          </a:prstGeom>
          <a:solidFill>
            <a:srgbClr val="0E1F3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819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~3–6 months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Facility Registry, HMIS, 108 control room, ABDM, encrypted DB</a:t>
            </a:r>
            <a:endParaRPr lang="en-US" sz="1100" dirty="0"/>
          </a:p>
        </p:txBody>
      </p:sp>
      <p:sp>
        <p:nvSpPr>
          <p:cNvPr id="20" name="phase icon circle"/>
          <p:cNvSpPr/>
          <p:nvPr/>
        </p:nvSpPr>
        <p:spPr>
          <a:xfrm>
            <a:off x="9052560" y="1417320"/>
            <a:ext cx="731520" cy="731520"/>
          </a:xfrm>
          <a:prstGeom prst="ellipse">
            <a:avLst/>
          </a:prstGeom>
          <a:solidFill>
            <a:srgbClr val="0E1F3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15819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5256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MP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~6–12 months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05256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rollouts, state command view, IVR for feature phones</a:t>
            </a:r>
            <a:endParaRPr lang="en-US" sz="1100" dirty="0"/>
          </a:p>
        </p:txBody>
      </p:sp>
      <p:sp>
        <p:nvSpPr>
          <p:cNvPr id="25" name="bed management frame"/>
          <p:cNvSpPr/>
          <p:nvPr/>
        </p:nvSpPr>
        <p:spPr>
          <a:xfrm>
            <a:off x="557784" y="3758184"/>
            <a:ext cx="5010912" cy="2130552"/>
          </a:xfrm>
          <a:prstGeom prst="rect">
            <a:avLst/>
          </a:prstGeom>
          <a:solidFill>
            <a:srgbClr val="0E1F3D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26" name="bed management" descr="/tmp/claude-0/-home-user-Sehat-Setu/b06e8423-ed6e-57c3-bbb1-ac94b2a1720d/scratchpad/ppt/crops/bed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4360" y="3794760"/>
            <a:ext cx="4937760" cy="20574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5943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hospitals keep current. One click re-confirms the figures.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59893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150" dirty="0"/>
          </a:p>
        </p:txBody>
      </p:sp>
      <p:graphicFrame>
        <p:nvGraphicFramePr>
          <p:cNvPr id="8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4005072"/>
          <a:ext cx="56235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 stop updating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on every figure; stale ranked lower; one-click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misreads a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only raises urgency; a deterministic engine decides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hospital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60 s the next suitable hospital is asked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PWA runs triage and matching on the 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INNOVATION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Makes Medreach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Different</a:t>
            </a:r>
            <a:endParaRPr lang="en-US" sz="34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77240"/>
                <a:gridCol w="960120"/>
                <a:gridCol w="9144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portals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a spoken emergency in Hindi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specialist and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who updated each figure, and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figure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accepts before 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bay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fallback to next hospital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Pre-arrival note for the ER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SBAR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for a person living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“I’m alone”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capacity, referral accepted and confirmed destination are always shown separately, so “2 ICU beds” is never mistaken for “admitted”.</a:t>
            </a:r>
            <a:endParaRPr lang="en-US" sz="1200" dirty="0"/>
          </a:p>
        </p:txBody>
      </p:sp>
      <p:sp>
        <p:nvSpPr>
          <p:cNvPr id="6" name="referral with SBAR note frame"/>
          <p:cNvSpPr/>
          <p:nvPr/>
        </p:nvSpPr>
        <p:spPr>
          <a:xfrm>
            <a:off x="7415784" y="1426464"/>
            <a:ext cx="4233672" cy="1290422"/>
          </a:xfrm>
          <a:prstGeom prst="rect">
            <a:avLst/>
          </a:prstGeom>
          <a:solidFill>
            <a:srgbClr val="0E1F3D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7" name="referral with SBAR note" descr="/tmp/claude-0/-home-user-Sehat-Setu/b06e8423-ed6e-57c3-bbb1-ac94b2a1720d/scratchpad/ppt/crops/sb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63040"/>
            <a:ext cx="4160520" cy="12172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86600" y="1949948"/>
            <a:ext cx="292608" cy="292608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7086600" y="2461201"/>
            <a:ext cx="292608" cy="292608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281747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SBAR note from what the son said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bay and accept in one tap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7452360" y="342900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35240" y="3429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8869680" y="34290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 reaches every citizen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7452360" y="429768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35240" y="42976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0" y="42976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hospital is asked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7452360" y="516636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51663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8869680" y="51663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 for maps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IMPACT AND BENEFITS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Impact and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Benefits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27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care, first time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865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 acceptance gets patients treated sooner.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2788920" y="141732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1527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3865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Hindi for rural, elderly and first-time users.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5029200" y="141732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93792" y="1527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23865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 trips; better use of ICU beds and specialists.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548640" y="320040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audited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169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capacity for planning beds and ambulances.</a:t>
            </a:r>
            <a:endParaRPr lang="en-US" sz="1050" dirty="0"/>
          </a:p>
        </p:txBody>
      </p:sp>
      <p:sp>
        <p:nvSpPr>
          <p:cNvPr id="20" name="card"/>
          <p:cNvSpPr/>
          <p:nvPr/>
        </p:nvSpPr>
        <p:spPr>
          <a:xfrm>
            <a:off x="2788920" y="320040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53512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2953512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citizens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953512" y="4169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first-aid steps; awareness of Ayushman, ABHA, 108.</a:t>
            </a:r>
            <a:endParaRPr lang="en-US" sz="1050" dirty="0"/>
          </a:p>
        </p:txBody>
      </p:sp>
      <p:sp>
        <p:nvSpPr>
          <p:cNvPr id="24" name="card"/>
          <p:cNvSpPr/>
          <p:nvPr/>
        </p:nvSpPr>
        <p:spPr>
          <a:xfrm>
            <a:off x="5029200" y="320040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3792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system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4169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surprise arrivals, less crowding, fewer transfers.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PILOT WILL MEASURE IT</a:t>
            </a:r>
            <a:endParaRPr lang="en-US" sz="1100" dirty="0"/>
          </a:p>
        </p:txBody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0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60120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definitive care</a:t>
            </a:r>
            <a:endParaRPr lang="en-US" sz="1050" dirty="0"/>
          </a:p>
        </p:txBody>
      </p:sp>
      <p:pic>
        <p:nvPicPr>
          <p:cNvPr id="3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5486400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642616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avoided</a:t>
            </a:r>
            <a:endParaRPr lang="en-US" sz="1050" dirty="0"/>
          </a:p>
        </p:txBody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5486400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4325112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time</a:t>
            </a:r>
            <a:endParaRPr lang="en-US" sz="1050" dirty="0"/>
          </a:p>
        </p:txBody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5486400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007608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</a:t>
            </a:r>
            <a:endParaRPr lang="en-US" sz="1050" dirty="0"/>
          </a:p>
        </p:txBody>
      </p:sp>
      <p:sp>
        <p:nvSpPr>
          <p:cNvPr id="37" name="I am alone screen bezel"/>
          <p:cNvSpPr/>
          <p:nvPr/>
        </p:nvSpPr>
        <p:spPr>
          <a:xfrm>
            <a:off x="7479792" y="1399032"/>
            <a:ext cx="1935551" cy="4014216"/>
          </a:xfrm>
          <a:prstGeom prst="roundRect">
            <a:avLst>
              <a:gd name="adj" fmla="val 6614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38" name="I am alone screen" descr="/tmp/claude-0/-home-user-Sehat-Setu/b06e8423-ed6e-57c3-bbb1-ac94b2a1720d/scratchpad/pdf/img/s/phone-8-alon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463040"/>
            <a:ext cx="1807535" cy="38862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406640" y="5486400"/>
            <a:ext cx="208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alone”: one tap does every step.</a:t>
            </a:r>
            <a:endParaRPr lang="en-US" sz="1050" dirty="0"/>
          </a:p>
        </p:txBody>
      </p:sp>
      <p:sp>
        <p:nvSpPr>
          <p:cNvPr id="40" name="family link screen bezel"/>
          <p:cNvSpPr/>
          <p:nvPr/>
        </p:nvSpPr>
        <p:spPr>
          <a:xfrm>
            <a:off x="9674352" y="1399032"/>
            <a:ext cx="1935551" cy="4014216"/>
          </a:xfrm>
          <a:prstGeom prst="roundRect">
            <a:avLst>
              <a:gd name="adj" fmla="val 6614"/>
            </a:avLst>
          </a:prstGeom>
          <a:solidFill>
            <a:srgbClr val="0206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50800" dir="5400000">
              <a:srgbClr val="38BDF8">
                <a:alpha val="35000"/>
              </a:srgbClr>
            </a:outerShdw>
          </a:effectLst>
        </p:spPr>
      </p:sp>
      <p:pic>
        <p:nvPicPr>
          <p:cNvPr id="41" name="family link screen" descr="/tmp/claude-0/-home-user-Sehat-Setu/b06e8423-ed6e-57c3-bbb1-ac94b2a1720d/scratchpad/pdf/img/s/phone-7-family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1463040"/>
            <a:ext cx="1807535" cy="38862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601200" y="5486400"/>
            <a:ext cx="208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link: status, hospital, ETA. No medical data.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WHY MEDREACH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Should Medreach </a:t>
            </a:r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Be Selected?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603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128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 life-or-death gap for citizens of Madhya Pradesh: a bed confirmed before travel.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4270248" y="1463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66420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0056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NOW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71416" y="22128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portals are live on the web today. Try the whole flow in about 3 minutes.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991856" y="1463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66420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41664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FULL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193024" y="22128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suggested technologies in working code, listed file by file.</a:t>
            </a:r>
            <a:endParaRPr lang="en-US" sz="1150" dirty="0"/>
          </a:p>
        </p:txBody>
      </p:sp>
      <p:sp>
        <p:nvSpPr>
          <p:cNvPr id="17" name="card"/>
          <p:cNvSpPr/>
          <p:nvPr/>
        </p:nvSpPr>
        <p:spPr>
          <a:xfrm>
            <a:off x="548640" y="31089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31012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98448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raises urgency; a tested engine decides; 108 always one tap away.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4270248" y="31089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31012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20056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471416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masked IDs, OTP and roles, audit log, deletion 24 h after hand-over.</a:t>
            </a:r>
            <a:endParaRPr lang="en-US" sz="1150" dirty="0"/>
          </a:p>
        </p:txBody>
      </p:sp>
      <p:sp>
        <p:nvSpPr>
          <p:cNvPr id="25" name="card"/>
          <p:cNvSpPr/>
          <p:nvPr/>
        </p:nvSpPr>
        <p:spPr>
          <a:xfrm>
            <a:off x="7991856" y="31089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E1F3D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331012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741664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193024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open stack; clear path to HFR, HMIS, 108 and ABDM.</a:t>
            </a:r>
            <a:endParaRPr lang="en-US" sz="1150" dirty="0"/>
          </a:p>
        </p:txBody>
      </p:sp>
      <p:sp>
        <p:nvSpPr>
          <p:cNvPr id="29" name="card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1F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77240" y="48463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2103120" y="48463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 for a 3-month pilot with Bhopal hospitals, then statewide integration with the Health Facility Registry, hospital HMIS, the 108 control room and ABDM.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medreach-2.onrender.com</a:t>
            </a:r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CODE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github.com/prakharporwal518-collab/Medreach</a:t>
            </a:r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HOSPITAL LOGIN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Hospital · BANSAL-ED01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reach Night">
  <a:themeElements>
    <a:clrScheme name="Medreach Night">
      <a:dk1>
        <a:srgbClr val="07122A"/>
      </a:dk1>
      <a:lt1>
        <a:srgbClr val="FFFFFF"/>
      </a:lt1>
      <a:dk2>
        <a:srgbClr val="0F2440"/>
      </a:dk2>
      <a:lt2>
        <a:srgbClr val="CBD5E1"/>
      </a:lt2>
      <a:accent1>
        <a:srgbClr val="38BDF8"/>
      </a:accent1>
      <a:accent2>
        <a:srgbClr val="F87171"/>
      </a:accent2>
      <a:accent3>
        <a:srgbClr val="60A5FA"/>
      </a:accent3>
      <a:accent4>
        <a:srgbClr val="FBBF24"/>
      </a:accent4>
      <a:accent5>
        <a:srgbClr val="A78BFA"/>
      </a:accent5>
      <a:accent6>
        <a:srgbClr val="34D399"/>
      </a:accent6>
      <a:hlink>
        <a:srgbClr val="38BDF8"/>
      </a:hlink>
      <a:folHlink>
        <a:srgbClr val="A78BFA"/>
      </a:folHlink>
    </a:clrScheme>
    <a:fontScheme name="Medreach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Medreach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Medreach</dc:title>
  <dc:subject>PptxGenJS Presentation</dc:subject>
  <dc:creator>Team Medreach</dc:creator>
  <cp:lastModifiedBy>Team Medreach</cp:lastModifiedBy>
  <cp:revision>1</cp:revision>
  <dcterms:created xsi:type="dcterms:W3CDTF">2026-10-07T14:23:22Z</dcterms:created>
  <dcterms:modified xsi:type="dcterms:W3CDTF">2026-10-07T14:23:22Z</dcterms:modified>
</cp:coreProperties>
</file>