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44ae304-46c0-3ebb-293f-b4979cd24bd6}">
          <p14:sldIdLst>
            <p14:sldId id="256"/>
          </p14:sldIdLst>
        </p14:section>
        <p14:section name="Scenario" id="{60f51464-c16d-e847-6312-89919ec5abe1}">
          <p14:sldIdLst>
            <p14:sldId id="257"/>
          </p14:sldIdLst>
        </p14:section>
        <p14:section name="Overview" id="{6b315ee9-fdf5-fd7f-1995-602f82fbef7e}">
          <p14:sldIdLst>
            <p14:sldId id="258"/>
          </p14:sldIdLst>
        </p14:section>
        <p14:section name="Solution" id="{8c94a56b-6a67-dfc9-5820-5a870e05e574}">
          <p14:sldIdLst>
            <p14:sldId id="259"/>
          </p14:sldIdLst>
        </p14:section>
        <p14:section name="Technical approach" id="{cad440bc-13e7-753f-d8f7-1ea7dc7cc62f}">
          <p14:sldIdLst>
            <p14:sldId id="260"/>
          </p14:sldIdLst>
        </p14:section>
        <p14:section name="Implementation" id="{d7c8362e-a079-c4c8-bff1-c6bcd4898876}">
          <p14:sldIdLst>
            <p14:sldId id="261"/>
          </p14:sldIdLst>
        </p14:section>
        <p14:section name="Innovation" id="{9ae01e90-62bf-8b3c-6866-bf0fe0610cd0}">
          <p14:sldIdLst>
            <p14:sldId id="262"/>
          </p14:sldIdLst>
        </p14:section>
        <p14:section name="Impact" id="{29a787fc-35b7-c52f-799a-b796e43bba0c}">
          <p14:sldIdLst>
            <p14:sldId id="263"/>
          </p14:sldIdLst>
        </p14:section>
        <p14:section name="Why us" id="{4584de40-2ae7-3112-f849-3b99671ff798}">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page. Medreach finds the right hospital for an emergency, gets the hospital to accept before the family travels, and hands the case to 108. Everything shown is from the live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scenario. Left: what happens today. Centre: each step of the emergency, today versus with Medreach. Bottom-left: the real hospital dashboard and citizen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the problem, its causes and who suffers. Middle: the four-step promise. Bottom: the three connected portals. Verify the MoRTH figure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six-step flow with the output of each step. Below, the real phone screens: numbers match the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Channels on the left feed the Medreach core; integrations on the right have defined contracts. AI is optional: rule-based triage keeps working without it. The security layer applies to every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built, the main risks and how each is handled, and the rollout from today’s prototype to a district pilot and statewide / national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exists today versus Medreach. Right: the five ideas nobody else combines. Bottom: each idea as a real screen from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benefits and how. The 60-second answer rule and the 108-minute freshness cycle are built into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live demo: scan the QR code, report an emergency in Hindi, accept it on the hospital dashboard and watch the 108 control room dispatch the ambulance.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R_PANELS">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148840" y="201168"/>
            <a:ext cx="7863840" cy="777240"/>
          </a:xfrm>
          <a:prstGeom prst="rect">
            <a:avLst/>
          </a:prstGeom>
          <a:noFill/>
          <a:ln/>
        </p:spPr>
        <p:txBody>
          <a:bodyPr wrap="square" rtlCol="0"/>
          <a:lstStyle>
            <a:lvl1pPr algn="ctr" indent="0" marL="0">
              <a:buNone/>
              <a:defRPr lang="en-US" sz="3400" b="1" dirty="0">
                <a:solidFill>
                  <a:schemeClr val="tx1"/>
                </a:solidFill>
              </a:defRPr>
            </a:lvl1pPr>
          </a:lstStyle>
          <a:p>
            <a:pPr algn="ctr" indent="0" marL="0">
              <a:buNone/>
            </a:pPr>
            <a:endParaRPr lang="en-US" sz="3400" dirty="0"/>
          </a:p>
        </p:txBody>
      </p:sp>
      <p:sp>
        <p:nvSpPr>
          <p:cNvPr id="25" name="Slide Number Placeholder 0"/>
          <p:cNvSpPr>
            <a:spLocks noGrp="1"/>
          </p:cNvSpPr>
          <p:nvPr>
            <p:ph type="sldNum" sz="quarter" idx="4294967295"/>
          </p:nvPr>
        </p:nvSpPr>
        <p:spPr>
          <a:xfrm>
            <a:off x="11475720" y="651052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R_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1052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3.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slideLayout" Target="../slideLayouts/slideLayout2.xml"/><Relationship Id="rId1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slideLayout" Target="../slideLayouts/slideLayout2.xml"/><Relationship Id="rId2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image" Target="../media/image-7-5.jpeg"/><Relationship Id="rId6" Type="http://schemas.openxmlformats.org/officeDocument/2006/relationships/image" Target="../media/image-7-6.jpeg"/><Relationship Id="rId7" Type="http://schemas.openxmlformats.org/officeDocument/2006/relationships/image" Target="../media/image-7-7.jpe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jpeg"/><Relationship Id="rId11" Type="http://schemas.openxmlformats.org/officeDocument/2006/relationships/image" Target="../media/image-8-11.jpeg"/><Relationship Id="rId12" Type="http://schemas.openxmlformats.org/officeDocument/2006/relationships/image" Target="../media/image-8-12.jpeg"/><Relationship Id="rId13" Type="http://schemas.openxmlformats.org/officeDocument/2006/relationships/image" Target="../media/image-8-13.jpeg"/><Relationship Id="rId14" Type="http://schemas.openxmlformats.org/officeDocument/2006/relationships/slideLayout" Target="../slideLayouts/slideLayout2.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2.xml"/><Relationship Id="rId10"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384048"/>
            <a:ext cx="9418320" cy="548640"/>
          </a:xfrm>
          <a:prstGeom prst="rect">
            <a:avLst/>
          </a:prstGeom>
          <a:noFill/>
          <a:ln/>
        </p:spPr>
        <p:txBody>
          <a:bodyPr wrap="square" lIns="0" tIns="0" rIns="0" bIns="0" rtlCol="0" anchor="t"/>
          <a:lstStyle/>
          <a:p>
            <a:pPr indent="0" marL="0">
              <a:buNone/>
            </a:pPr>
            <a:r>
              <a:rPr lang="en-US" sz="2300" b="1" dirty="0">
                <a:solidFill>
                  <a:srgbClr val="14325C"/>
                </a:solidFill>
                <a:latin typeface="Cambria" pitchFamily="34" charset="0"/>
                <a:ea typeface="Cambria" pitchFamily="34" charset="-122"/>
                <a:cs typeface="Cambria" pitchFamily="34" charset="-120"/>
              </a:rPr>
              <a:t>MPONLINE IDEA &amp; INNOVATION HACKATHON 2026</a:t>
            </a:r>
            <a:endParaRPr lang="en-US" sz="2300" dirty="0"/>
          </a:p>
        </p:txBody>
      </p:sp>
      <p:pic>
        <p:nvPicPr>
          <p:cNvPr id="3" name="Medreach logo" descr="preencoded.png">    </p:cNvPr>
          <p:cNvPicPr>
            <a:picLocks noChangeAspect="1"/>
          </p:cNvPicPr>
          <p:nvPr/>
        </p:nvPicPr>
        <p:blipFill>
          <a:blip r:embed="rId1"/>
          <a:stretch>
            <a:fillRect/>
          </a:stretch>
        </p:blipFill>
        <p:spPr>
          <a:xfrm>
            <a:off x="10058400" y="292608"/>
            <a:ext cx="713232" cy="713232"/>
          </a:xfrm>
          <a:prstGeom prst="rect">
            <a:avLst/>
          </a:prstGeom>
        </p:spPr>
      </p:pic>
      <p:sp>
        <p:nvSpPr>
          <p:cNvPr id="4" name="Text 1"/>
          <p:cNvSpPr txBox="1"/>
          <p:nvPr/>
        </p:nvSpPr>
        <p:spPr>
          <a:xfrm>
            <a:off x="10863072" y="347472"/>
            <a:ext cx="1280160" cy="640080"/>
          </a:xfrm>
          <a:prstGeom prst="rect">
            <a:avLst/>
          </a:prstGeom>
          <a:noFill/>
          <a:ln/>
        </p:spPr>
        <p:txBody>
          <a:bodyPr wrap="square" lIns="0" tIns="0" rIns="0" bIns="0" rtlCol="0" anchor="ctr"/>
          <a:lstStyle/>
          <a:p>
            <a:pPr indent="0" marL="0">
              <a:buNone/>
            </a:pPr>
            <a:r>
              <a:rPr lang="en-US" sz="1600" b="1" dirty="0">
                <a:solidFill>
                  <a:srgbClr val="0F8B8D"/>
                </a:solidFill>
                <a:latin typeface="Calibri" pitchFamily="34" charset="0"/>
                <a:ea typeface="Calibri" pitchFamily="34" charset="-122"/>
                <a:cs typeface="Calibri" pitchFamily="34" charset="-120"/>
              </a:rPr>
              <a:t>MEDREACH</a:t>
            </a:r>
            <a:endParaRPr lang="en-US" sz="1600" dirty="0"/>
          </a:p>
          <a:p>
            <a:pPr indent="0" marL="0">
              <a:buNone/>
            </a:pPr>
            <a:r>
              <a:rPr lang="en-US" sz="1050" dirty="0">
                <a:solidFill>
                  <a:srgbClr val="64748B"/>
                </a:solidFill>
                <a:latin typeface="Calibri" pitchFamily="34" charset="0"/>
                <a:ea typeface="Calibri" pitchFamily="34" charset="-122"/>
                <a:cs typeface="Calibri" pitchFamily="34" charset="-120"/>
              </a:rPr>
              <a:t>Emergency care</a:t>
            </a:r>
            <a:endParaRPr lang="en-US" sz="1600" dirty="0"/>
          </a:p>
        </p:txBody>
      </p:sp>
      <p:sp>
        <p:nvSpPr>
          <p:cNvPr id="5" name="Text 2"/>
          <p:cNvSpPr txBox="1"/>
          <p:nvPr/>
        </p:nvSpPr>
        <p:spPr>
          <a:xfrm>
            <a:off x="457200" y="1005840"/>
            <a:ext cx="6766560" cy="365760"/>
          </a:xfrm>
          <a:prstGeom prst="rect">
            <a:avLst/>
          </a:prstGeom>
          <a:noFill/>
          <a:ln/>
        </p:spPr>
        <p:txBody>
          <a:bodyPr wrap="square" lIns="0" tIns="0" rIns="0" bIns="0" rtlCol="0" anchor="t"/>
          <a:lstStyle/>
          <a:p>
            <a:pPr indent="0" marL="0">
              <a:buNone/>
            </a:pPr>
            <a:r>
              <a:rPr lang="en-US" sz="1700" b="1" dirty="0">
                <a:solidFill>
                  <a:srgbClr val="14325C"/>
                </a:solidFill>
                <a:latin typeface="Cambria" pitchFamily="34" charset="0"/>
                <a:ea typeface="Cambria" pitchFamily="34" charset="-122"/>
                <a:cs typeface="Cambria" pitchFamily="34" charset="-120"/>
              </a:rPr>
              <a:t>TITLE PAGE  ·  INTRODUCTION</a:t>
            </a:r>
            <a:endParaRPr lang="en-US" sz="1700" dirty="0"/>
          </a:p>
        </p:txBody>
      </p:sp>
      <p:sp>
        <p:nvSpPr>
          <p:cNvPr id="6" name="Text 3"/>
          <p:cNvSpPr txBox="1"/>
          <p:nvPr/>
        </p:nvSpPr>
        <p:spPr>
          <a:xfrm>
            <a:off x="548640" y="1600200"/>
            <a:ext cx="6492240" cy="3291840"/>
          </a:xfrm>
          <a:prstGeom prst="rect">
            <a:avLst/>
          </a:prstGeom>
          <a:noFill/>
          <a:ln/>
        </p:spPr>
        <p:txBody>
          <a:bodyPr wrap="square" lIns="0" tIns="0" rIns="0" bIns="0" rtlCol="0" anchor="t"/>
          <a:lstStyle/>
          <a:p>
            <a:pPr indent="0" marL="0">
              <a:spcAft>
                <a:spcPts val="900"/>
              </a:spcAft>
              <a:buNone/>
            </a:pPr>
            <a:r>
              <a:rPr lang="en-US" sz="1400" b="1" dirty="0">
                <a:solidFill>
                  <a:srgbClr val="0F172A"/>
                </a:solidFill>
                <a:latin typeface="Calibri" pitchFamily="34" charset="0"/>
                <a:ea typeface="Calibri" pitchFamily="34" charset="-122"/>
                <a:cs typeface="Calibri" pitchFamily="34" charset="-120"/>
              </a:rPr>
              <a:t>Challenge – </a:t>
            </a:r>
            <a:pPr indent="0" marL="0">
              <a:spcAft>
                <a:spcPts val="900"/>
              </a:spcAft>
              <a:buNone/>
            </a:pPr>
            <a:r>
              <a:rPr lang="en-US" sz="1400" dirty="0">
                <a:solidFill>
                  <a:srgbClr val="334155"/>
                </a:solidFill>
                <a:latin typeface="Calibri" pitchFamily="34" charset="0"/>
                <a:ea typeface="Calibri" pitchFamily="34" charset="-122"/>
                <a:cs typeface="Calibri" pitchFamily="34" charset="-120"/>
              </a:rPr>
              <a:t>5: Healthcare</a:t>
            </a:r>
            <a:endParaRPr lang="en-US" sz="1400" dirty="0"/>
          </a:p>
          <a:p>
            <a:pPr indent="0" marL="0">
              <a:spcAft>
                <a:spcPts val="900"/>
              </a:spcAft>
              <a:buNone/>
            </a:pPr>
            <a:r>
              <a:rPr lang="en-US" sz="1400" b="1" dirty="0">
                <a:solidFill>
                  <a:srgbClr val="0F172A"/>
                </a:solidFill>
                <a:latin typeface="Calibri" pitchFamily="34" charset="0"/>
                <a:ea typeface="Calibri" pitchFamily="34" charset="-122"/>
                <a:cs typeface="Calibri" pitchFamily="34" charset="-120"/>
              </a:rPr>
              <a:t>Problem Statement – </a:t>
            </a:r>
            <a:pPr indent="0" marL="0">
              <a:spcAft>
                <a:spcPts val="900"/>
              </a:spcAft>
              <a:buNone/>
            </a:pPr>
            <a:r>
              <a:rPr lang="en-US" sz="1400" dirty="0">
                <a:solidFill>
                  <a:srgbClr val="334155"/>
                </a:solidFill>
                <a:latin typeface="Calibri" pitchFamily="34" charset="0"/>
                <a:ea typeface="Calibri" pitchFamily="34" charset="-122"/>
                <a:cs typeface="Calibri" pitchFamily="34" charset="-120"/>
              </a:rPr>
              <a:t>Emergency patients lose the golden hour – families cannot see which hospital can treat them right now, and citizens, hospitals and 108 are not connected.</a:t>
            </a:r>
            <a:endParaRPr lang="en-US" sz="1400" dirty="0"/>
          </a:p>
          <a:p>
            <a:pPr indent="0" marL="0">
              <a:spcAft>
                <a:spcPts val="900"/>
              </a:spcAft>
              <a:buNone/>
            </a:pPr>
            <a:r>
              <a:rPr lang="en-US" sz="1400" b="1" dirty="0">
                <a:solidFill>
                  <a:srgbClr val="0F172A"/>
                </a:solidFill>
                <a:latin typeface="Calibri" pitchFamily="34" charset="0"/>
                <a:ea typeface="Calibri" pitchFamily="34" charset="-122"/>
                <a:cs typeface="Calibri" pitchFamily="34" charset="-120"/>
              </a:rPr>
              <a:t>Solution Title – </a:t>
            </a:r>
            <a:pPr indent="0" marL="0">
              <a:spcAft>
                <a:spcPts val="900"/>
              </a:spcAft>
              <a:buNone/>
            </a:pPr>
            <a:r>
              <a:rPr lang="en-US" sz="1400" dirty="0">
                <a:solidFill>
                  <a:srgbClr val="334155"/>
                </a:solidFill>
                <a:latin typeface="Calibri" pitchFamily="34" charset="0"/>
                <a:ea typeface="Calibri" pitchFamily="34" charset="-122"/>
                <a:cs typeface="Calibri" pitchFamily="34" charset="-120"/>
              </a:rPr>
              <a:t>MEDREACH – AI-powered emergency coordination for Madhya Pradesh, integrated with the 108 / 102 national ambulance services</a:t>
            </a:r>
            <a:endParaRPr lang="en-US" sz="1400" dirty="0"/>
          </a:p>
          <a:p>
            <a:pPr indent="0" marL="0">
              <a:spcAft>
                <a:spcPts val="900"/>
              </a:spcAft>
              <a:buNone/>
            </a:pPr>
            <a:r>
              <a:rPr lang="en-US" sz="1400" b="1" dirty="0">
                <a:solidFill>
                  <a:srgbClr val="0F172A"/>
                </a:solidFill>
                <a:latin typeface="Calibri" pitchFamily="34" charset="0"/>
                <a:ea typeface="Calibri" pitchFamily="34" charset="-122"/>
                <a:cs typeface="Calibri" pitchFamily="34" charset="-120"/>
              </a:rPr>
              <a:t>Theme – </a:t>
            </a:r>
            <a:pPr indent="0" marL="0">
              <a:spcAft>
                <a:spcPts val="900"/>
              </a:spcAft>
              <a:buNone/>
            </a:pPr>
            <a:r>
              <a:rPr lang="en-US" sz="1400" dirty="0">
                <a:solidFill>
                  <a:srgbClr val="334155"/>
                </a:solidFill>
                <a:latin typeface="Calibri" pitchFamily="34" charset="0"/>
                <a:ea typeface="Calibri" pitchFamily="34" charset="-122"/>
                <a:cs typeface="Calibri" pitchFamily="34" charset="-120"/>
              </a:rPr>
              <a:t>Healthcare · Emergency response</a:t>
            </a:r>
            <a:endParaRPr lang="en-US" sz="1400" dirty="0"/>
          </a:p>
          <a:p>
            <a:pPr indent="0" marL="0">
              <a:spcAft>
                <a:spcPts val="900"/>
              </a:spcAft>
              <a:buNone/>
            </a:pPr>
            <a:r>
              <a:rPr lang="en-US" sz="1400" b="1" dirty="0">
                <a:solidFill>
                  <a:srgbClr val="0F172A"/>
                </a:solidFill>
                <a:latin typeface="Calibri" pitchFamily="34" charset="0"/>
                <a:ea typeface="Calibri" pitchFamily="34" charset="-122"/>
                <a:cs typeface="Calibri" pitchFamily="34" charset="-120"/>
              </a:rPr>
              <a:t>Category – </a:t>
            </a:r>
            <a:pPr indent="0" marL="0">
              <a:spcAft>
                <a:spcPts val="900"/>
              </a:spcAft>
              <a:buNone/>
            </a:pPr>
            <a:r>
              <a:rPr lang="en-US" sz="1400" dirty="0">
                <a:solidFill>
                  <a:srgbClr val="334155"/>
                </a:solidFill>
                <a:latin typeface="Calibri" pitchFamily="34" charset="0"/>
                <a:ea typeface="Calibri" pitchFamily="34" charset="-122"/>
                <a:cs typeface="Calibri" pitchFamily="34" charset="-120"/>
              </a:rPr>
              <a:t>Software (web app + integrations)</a:t>
            </a:r>
            <a:endParaRPr lang="en-US" sz="1400" dirty="0"/>
          </a:p>
          <a:p>
            <a:pPr indent="0" marL="0">
              <a:spcAft>
                <a:spcPts val="900"/>
              </a:spcAft>
              <a:buNone/>
            </a:pPr>
            <a:r>
              <a:rPr lang="en-US" sz="1400" b="1" dirty="0">
                <a:solidFill>
                  <a:srgbClr val="0F172A"/>
                </a:solidFill>
                <a:latin typeface="Calibri" pitchFamily="34" charset="0"/>
                <a:ea typeface="Calibri" pitchFamily="34" charset="-122"/>
                <a:cs typeface="Calibri" pitchFamily="34" charset="-120"/>
              </a:rPr>
              <a:t>Team Name – </a:t>
            </a:r>
            <a:pPr indent="0" marL="0">
              <a:spcAft>
                <a:spcPts val="900"/>
              </a:spcAft>
              <a:buNone/>
            </a:pPr>
            <a:r>
              <a:rPr lang="en-US" sz="1400" dirty="0">
                <a:solidFill>
                  <a:srgbClr val="334155"/>
                </a:solidFill>
                <a:latin typeface="Calibri" pitchFamily="34" charset="0"/>
                <a:ea typeface="Calibri" pitchFamily="34" charset="-122"/>
                <a:cs typeface="Calibri" pitchFamily="34" charset="-120"/>
              </a:rPr>
              <a:t>[ TEAM MEDREACH ]</a:t>
            </a:r>
            <a:endParaRPr lang="en-US" sz="1400" dirty="0"/>
          </a:p>
          <a:p>
            <a:pPr indent="0" marL="0">
              <a:spcAft>
                <a:spcPts val="900"/>
              </a:spcAft>
              <a:buNone/>
            </a:pPr>
            <a:r>
              <a:rPr lang="en-US" sz="1400" b="1" dirty="0">
                <a:solidFill>
                  <a:srgbClr val="0F172A"/>
                </a:solidFill>
                <a:latin typeface="Calibri" pitchFamily="34" charset="0"/>
                <a:ea typeface="Calibri" pitchFamily="34" charset="-122"/>
                <a:cs typeface="Calibri" pitchFamily="34" charset="-120"/>
              </a:rPr>
              <a:t>Live Prototype – </a:t>
            </a:r>
            <a:pPr indent="0" marL="0">
              <a:spcAft>
                <a:spcPts val="900"/>
              </a:spcAft>
              <a:buNone/>
            </a:pPr>
            <a:r>
              <a:rPr lang="en-US" sz="1400" dirty="0">
                <a:solidFill>
                  <a:srgbClr val="334155"/>
                </a:solidFill>
                <a:latin typeface="Calibri" pitchFamily="34" charset="0"/>
                <a:ea typeface="Calibri" pitchFamily="34" charset="-122"/>
                <a:cs typeface="Calibri" pitchFamily="34" charset="-120"/>
              </a:rPr>
              <a:t>medreach-2.onrender.com</a:t>
            </a:r>
            <a:endParaRPr lang="en-US" sz="1400" dirty="0"/>
          </a:p>
        </p:txBody>
      </p:sp>
      <p:sp>
        <p:nvSpPr>
          <p:cNvPr id="7" name="box"/>
          <p:cNvSpPr/>
          <p:nvPr/>
        </p:nvSpPr>
        <p:spPr>
          <a:xfrm>
            <a:off x="548640" y="5029200"/>
            <a:ext cx="1536192" cy="713232"/>
          </a:xfrm>
          <a:prstGeom prst="roundRect">
            <a:avLst>
              <a:gd name="adj" fmla="val 12821"/>
            </a:avLst>
          </a:prstGeom>
          <a:solidFill>
            <a:srgbClr val="1F64B4"/>
          </a:solidFill>
          <a:ln w="12700">
            <a:solidFill>
              <a:srgbClr val="1F64B4"/>
            </a:solidFill>
            <a:prstDash val="solid"/>
          </a:ln>
          <a:effectLst>
            <a:outerShdw sx="100000" sy="100000" kx="0" ky="0" algn="bl" rotWithShape="0" blurRad="101600" dist="25400" dir="5400000">
              <a:srgbClr val="0F172A">
                <a:alpha val="13000"/>
              </a:srgbClr>
            </a:outerShdw>
          </a:effectLst>
        </p:spPr>
      </p:sp>
      <p:pic>
        <p:nvPicPr>
          <p:cNvPr id="8" name="icon" descr="preencoded.png">    </p:cNvPr>
          <p:cNvPicPr>
            <a:picLocks noChangeAspect="1"/>
          </p:cNvPicPr>
          <p:nvPr/>
        </p:nvPicPr>
        <p:blipFill>
          <a:blip r:embed="rId2"/>
          <a:stretch>
            <a:fillRect/>
          </a:stretch>
        </p:blipFill>
        <p:spPr>
          <a:xfrm>
            <a:off x="658368" y="5212080"/>
            <a:ext cx="347472" cy="347472"/>
          </a:xfrm>
          <a:prstGeom prst="rect">
            <a:avLst/>
          </a:prstGeom>
        </p:spPr>
      </p:pic>
      <p:sp>
        <p:nvSpPr>
          <p:cNvPr id="9" name="Text 5"/>
          <p:cNvSpPr txBox="1"/>
          <p:nvPr/>
        </p:nvSpPr>
        <p:spPr>
          <a:xfrm>
            <a:off x="1060704" y="5029200"/>
            <a:ext cx="969264"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Hindi voice AI</a:t>
            </a:r>
            <a:endParaRPr lang="en-US" sz="1200" dirty="0"/>
          </a:p>
        </p:txBody>
      </p:sp>
      <p:sp>
        <p:nvSpPr>
          <p:cNvPr id="10" name="box"/>
          <p:cNvSpPr/>
          <p:nvPr/>
        </p:nvSpPr>
        <p:spPr>
          <a:xfrm>
            <a:off x="2194560" y="5029200"/>
            <a:ext cx="1536192" cy="713232"/>
          </a:xfrm>
          <a:prstGeom prst="roundRect">
            <a:avLst>
              <a:gd name="adj" fmla="val 12821"/>
            </a:avLst>
          </a:prstGeom>
          <a:solidFill>
            <a:srgbClr val="2E7D32"/>
          </a:solidFill>
          <a:ln w="12700">
            <a:solidFill>
              <a:srgbClr val="2E7D32"/>
            </a:solidFill>
            <a:prstDash val="solid"/>
          </a:ln>
          <a:effectLst>
            <a:outerShdw sx="100000" sy="100000" kx="0" ky="0" algn="bl" rotWithShape="0" blurRad="101600" dist="25400" dir="5400000">
              <a:srgbClr val="0F172A">
                <a:alpha val="13000"/>
              </a:srgbClr>
            </a:outerShdw>
          </a:effectLst>
        </p:spPr>
      </p:sp>
      <p:pic>
        <p:nvPicPr>
          <p:cNvPr id="11" name="icon" descr="preencoded.png">    </p:cNvPr>
          <p:cNvPicPr>
            <a:picLocks noChangeAspect="1"/>
          </p:cNvPicPr>
          <p:nvPr/>
        </p:nvPicPr>
        <p:blipFill>
          <a:blip r:embed="rId3"/>
          <a:stretch>
            <a:fillRect/>
          </a:stretch>
        </p:blipFill>
        <p:spPr>
          <a:xfrm>
            <a:off x="2304288" y="5212080"/>
            <a:ext cx="347472" cy="347472"/>
          </a:xfrm>
          <a:prstGeom prst="rect">
            <a:avLst/>
          </a:prstGeom>
        </p:spPr>
      </p:pic>
      <p:sp>
        <p:nvSpPr>
          <p:cNvPr id="12" name="Text 7"/>
          <p:cNvSpPr txBox="1"/>
          <p:nvPr/>
        </p:nvSpPr>
        <p:spPr>
          <a:xfrm>
            <a:off x="2706624" y="5029200"/>
            <a:ext cx="969264"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Accept before travel</a:t>
            </a:r>
            <a:endParaRPr lang="en-US" sz="1200" dirty="0"/>
          </a:p>
        </p:txBody>
      </p:sp>
      <p:sp>
        <p:nvSpPr>
          <p:cNvPr id="13" name="box"/>
          <p:cNvSpPr/>
          <p:nvPr/>
        </p:nvSpPr>
        <p:spPr>
          <a:xfrm>
            <a:off x="3840480" y="5029200"/>
            <a:ext cx="1536192" cy="713232"/>
          </a:xfrm>
          <a:prstGeom prst="roundRect">
            <a:avLst>
              <a:gd name="adj" fmla="val 12821"/>
            </a:avLst>
          </a:prstGeom>
          <a:solidFill>
            <a:srgbClr val="C62828"/>
          </a:solidFill>
          <a:ln w="12700">
            <a:solidFill>
              <a:srgbClr val="C62828"/>
            </a:solidFill>
            <a:prstDash val="solid"/>
          </a:ln>
          <a:effectLst>
            <a:outerShdw sx="100000" sy="100000" kx="0" ky="0" algn="bl" rotWithShape="0" blurRad="101600" dist="25400" dir="5400000">
              <a:srgbClr val="0F172A">
                <a:alpha val="13000"/>
              </a:srgbClr>
            </a:outerShdw>
          </a:effectLst>
        </p:spPr>
      </p:sp>
      <p:pic>
        <p:nvPicPr>
          <p:cNvPr id="14" name="icon" descr="preencoded.png">    </p:cNvPr>
          <p:cNvPicPr>
            <a:picLocks noChangeAspect="1"/>
          </p:cNvPicPr>
          <p:nvPr/>
        </p:nvPicPr>
        <p:blipFill>
          <a:blip r:embed="rId4"/>
          <a:stretch>
            <a:fillRect/>
          </a:stretch>
        </p:blipFill>
        <p:spPr>
          <a:xfrm>
            <a:off x="3950208" y="5212080"/>
            <a:ext cx="347472" cy="347472"/>
          </a:xfrm>
          <a:prstGeom prst="rect">
            <a:avLst/>
          </a:prstGeom>
        </p:spPr>
      </p:pic>
      <p:sp>
        <p:nvSpPr>
          <p:cNvPr id="15" name="Text 9"/>
          <p:cNvSpPr txBox="1"/>
          <p:nvPr/>
        </p:nvSpPr>
        <p:spPr>
          <a:xfrm>
            <a:off x="4352544" y="5029200"/>
            <a:ext cx="969264"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108 / 102 linked</a:t>
            </a:r>
            <a:endParaRPr lang="en-US" sz="1200" dirty="0"/>
          </a:p>
        </p:txBody>
      </p:sp>
      <p:sp>
        <p:nvSpPr>
          <p:cNvPr id="16" name="box"/>
          <p:cNvSpPr/>
          <p:nvPr/>
        </p:nvSpPr>
        <p:spPr>
          <a:xfrm>
            <a:off x="5486400" y="5029200"/>
            <a:ext cx="1536192" cy="713232"/>
          </a:xfrm>
          <a:prstGeom prst="roundRect">
            <a:avLst>
              <a:gd name="adj" fmla="val 12821"/>
            </a:avLst>
          </a:prstGeom>
          <a:solidFill>
            <a:srgbClr val="E8711C"/>
          </a:solidFill>
          <a:ln w="12700">
            <a:solidFill>
              <a:srgbClr val="E8711C"/>
            </a:solidFill>
            <a:prstDash val="solid"/>
          </a:ln>
          <a:effectLst>
            <a:outerShdw sx="100000" sy="100000" kx="0" ky="0" algn="bl" rotWithShape="0" blurRad="101600" dist="25400" dir="5400000">
              <a:srgbClr val="0F172A">
                <a:alpha val="13000"/>
              </a:srgbClr>
            </a:outerShdw>
          </a:effectLst>
        </p:spPr>
      </p:sp>
      <p:pic>
        <p:nvPicPr>
          <p:cNvPr id="17" name="icon" descr="preencoded.png">    </p:cNvPr>
          <p:cNvPicPr>
            <a:picLocks noChangeAspect="1"/>
          </p:cNvPicPr>
          <p:nvPr/>
        </p:nvPicPr>
        <p:blipFill>
          <a:blip r:embed="rId5"/>
          <a:stretch>
            <a:fillRect/>
          </a:stretch>
        </p:blipFill>
        <p:spPr>
          <a:xfrm>
            <a:off x="5596128" y="5212080"/>
            <a:ext cx="347472" cy="347472"/>
          </a:xfrm>
          <a:prstGeom prst="rect">
            <a:avLst/>
          </a:prstGeom>
        </p:spPr>
      </p:pic>
      <p:sp>
        <p:nvSpPr>
          <p:cNvPr id="18" name="Text 11"/>
          <p:cNvSpPr txBox="1"/>
          <p:nvPr/>
        </p:nvSpPr>
        <p:spPr>
          <a:xfrm>
            <a:off x="5998464" y="5029200"/>
            <a:ext cx="969264"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2G · SMS · offline</a:t>
            </a:r>
            <a:endParaRPr lang="en-US" sz="1200" dirty="0"/>
          </a:p>
        </p:txBody>
      </p:sp>
      <p:sp>
        <p:nvSpPr>
          <p:cNvPr id="19" name="Text 12"/>
          <p:cNvSpPr txBox="1"/>
          <p:nvPr/>
        </p:nvSpPr>
        <p:spPr>
          <a:xfrm>
            <a:off x="548640" y="5943600"/>
            <a:ext cx="6583680" cy="365760"/>
          </a:xfrm>
          <a:prstGeom prst="rect">
            <a:avLst/>
          </a:prstGeom>
          <a:noFill/>
          <a:ln/>
        </p:spPr>
        <p:txBody>
          <a:bodyPr wrap="square" lIns="0" tIns="0" rIns="0" bIns="0" rtlCol="0" anchor="t"/>
          <a:lstStyle/>
          <a:p>
            <a:pPr indent="0" marL="0">
              <a:buNone/>
            </a:pPr>
            <a:r>
              <a:rPr lang="en-US" sz="1600" b="1" i="1" dirty="0">
                <a:solidFill>
                  <a:srgbClr val="0F8B8D"/>
                </a:solidFill>
                <a:latin typeface="Calibri" pitchFamily="34" charset="0"/>
                <a:ea typeface="Calibri" pitchFamily="34" charset="-122"/>
                <a:cs typeface="Calibri" pitchFamily="34" charset="-120"/>
              </a:rPr>
              <a:t>The right hospital, right now – confirmed before you leave home.</a:t>
            </a:r>
            <a:endParaRPr lang="en-US" sz="1600" dirty="0"/>
          </a:p>
        </p:txBody>
      </p:sp>
      <p:sp>
        <p:nvSpPr>
          <p:cNvPr id="20" name="Text 13"/>
          <p:cNvSpPr txBox="1"/>
          <p:nvPr/>
        </p:nvSpPr>
        <p:spPr>
          <a:xfrm>
            <a:off x="457200" y="6473952"/>
            <a:ext cx="2743200" cy="228600"/>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Team Medreach</a:t>
            </a:r>
            <a:endParaRPr lang="en-US" sz="950" dirty="0"/>
          </a:p>
        </p:txBody>
      </p:sp>
      <p:pic>
        <p:nvPicPr>
          <p:cNvPr id="21" name="title artwork: live tracking phone" descr="/tmp/claude-0/-home-user-Sehat-Setu/b06e8423-ed6e-57c3-bbb1-ac94b2a1720d/scratchpad/ppt10/art/title-art.png">    </p:cNvPr>
          <p:cNvPicPr>
            <a:picLocks noChangeAspect="1"/>
          </p:cNvPicPr>
          <p:nvPr/>
        </p:nvPicPr>
        <p:blipFill>
          <a:blip r:embed="rId6"/>
          <a:stretch>
            <a:fillRect/>
          </a:stretch>
        </p:blipFill>
        <p:spPr>
          <a:xfrm>
            <a:off x="7452360" y="1188720"/>
            <a:ext cx="4635610" cy="4846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am badge"/>
          <p:cNvSpPr/>
          <p:nvPr/>
        </p:nvSpPr>
        <p:spPr>
          <a:xfrm>
            <a:off x="320040" y="201168"/>
            <a:ext cx="1645920" cy="777240"/>
          </a:xfrm>
          <a:prstGeom prst="ellipse">
            <a:avLst/>
          </a:prstGeom>
          <a:solidFill>
            <a:srgbClr val="FFFFFF"/>
          </a:solidFill>
          <a:ln w="19050">
            <a:solidFill>
              <a:srgbClr val="6B46C1"/>
            </a:solidFill>
            <a:prstDash val="solid"/>
          </a:ln>
        </p:spPr>
      </p:sp>
      <p:sp>
        <p:nvSpPr>
          <p:cNvPr id="3" name="Text 1"/>
          <p:cNvSpPr txBox="1"/>
          <p:nvPr/>
        </p:nvSpPr>
        <p:spPr>
          <a:xfrm>
            <a:off x="320040" y="201168"/>
            <a:ext cx="1645920" cy="777240"/>
          </a:xfrm>
          <a:prstGeom prst="rect">
            <a:avLst/>
          </a:prstGeom>
          <a:noFill/>
          <a:ln/>
        </p:spPr>
        <p:txBody>
          <a:bodyPr wrap="square" lIns="0" tIns="0" rIns="0" bIns="0" rtlCol="0" anchor="ctr"/>
          <a:lstStyle/>
          <a:p>
            <a:pPr algn="ctr" indent="0" marL="0">
              <a:buNone/>
            </a:pPr>
            <a:r>
              <a:rPr lang="en-US" sz="1250" dirty="0">
                <a:solidFill>
                  <a:srgbClr val="0F172A"/>
                </a:solidFill>
                <a:latin typeface="Calibri" pitchFamily="34" charset="0"/>
                <a:ea typeface="Calibri" pitchFamily="34" charset="-122"/>
                <a:cs typeface="Calibri" pitchFamily="34" charset="-120"/>
              </a:rPr>
              <a:t>TEAM</a:t>
            </a:r>
            <a:endParaRPr lang="en-US" sz="1250" dirty="0"/>
          </a:p>
          <a:p>
            <a:pPr algn="ctr" indent="0" marL="0">
              <a:buNone/>
            </a:pPr>
            <a:r>
              <a:rPr lang="en-US" sz="1250" dirty="0">
                <a:solidFill>
                  <a:srgbClr val="0F172A"/>
                </a:solidFill>
                <a:latin typeface="Calibri" pitchFamily="34" charset="0"/>
                <a:ea typeface="Calibri" pitchFamily="34" charset="-122"/>
                <a:cs typeface="Calibri" pitchFamily="34" charset="-120"/>
              </a:rPr>
              <a:t>MEDREACH</a:t>
            </a:r>
            <a:endParaRPr lang="en-US" sz="1250" dirty="0"/>
          </a:p>
        </p:txBody>
      </p:sp>
      <p:sp>
        <p:nvSpPr>
          <p:cNvPr id="4" name="Text 0"/>
          <p:cNvSpPr/>
          <p:nvPr>
            <p:ph idx="100" type="title" hasCustomPrompt="1"/>
          </p:nvPr>
        </p:nvSpPr>
        <p:spPr>
          <a:xfrm>
            <a:off x="2148840" y="201168"/>
            <a:ext cx="7863840" cy="777240"/>
          </a:xfrm>
          <a:prstGeom prst="rect">
            <a:avLst/>
          </a:prstGeom>
          <a:noFill/>
          <a:ln/>
        </p:spPr>
        <p:txBody>
          <a:bodyPr wrap="square" lIns="0" tIns="0" rIns="0" bIns="0" rtlCol="0" anchor="ctr"/>
          <a:lstStyle/>
          <a:p>
            <a:pPr algn="ctr" indent="0" marL="0">
              <a:buNone/>
            </a:pPr>
            <a:r>
              <a:rPr lang="en-US" sz="3400" b="1" dirty="0">
                <a:solidFill>
                  <a:schemeClr val="tx1"/>
                </a:solidFill>
              </a:rPr>
              <a:t>SCENARIO</a:t>
            </a:r>
            <a:endParaRPr lang="en-US" sz="3400" dirty="0"/>
          </a:p>
        </p:txBody>
      </p:sp>
      <p:pic>
        <p:nvPicPr>
          <p:cNvPr id="5" name="Medreach logo" descr="preencoded.png">    </p:cNvPr>
          <p:cNvPicPr>
            <a:picLocks noChangeAspect="1"/>
          </p:cNvPicPr>
          <p:nvPr/>
        </p:nvPicPr>
        <p:blipFill>
          <a:blip r:embed="rId1"/>
          <a:stretch>
            <a:fillRect/>
          </a:stretch>
        </p:blipFill>
        <p:spPr>
          <a:xfrm>
            <a:off x="10195560" y="274320"/>
            <a:ext cx="603504" cy="603504"/>
          </a:xfrm>
          <a:prstGeom prst="rect">
            <a:avLst/>
          </a:prstGeom>
        </p:spPr>
      </p:pic>
      <p:sp>
        <p:nvSpPr>
          <p:cNvPr id="6" name="Text 3"/>
          <p:cNvSpPr txBox="1"/>
          <p:nvPr/>
        </p:nvSpPr>
        <p:spPr>
          <a:xfrm>
            <a:off x="10881360" y="246888"/>
            <a:ext cx="1097280" cy="658368"/>
          </a:xfrm>
          <a:prstGeom prst="rect">
            <a:avLst/>
          </a:prstGeom>
          <a:noFill/>
          <a:ln/>
        </p:spPr>
        <p:txBody>
          <a:bodyPr wrap="square" lIns="0" tIns="0" rIns="0" bIns="0" rtlCol="0" anchor="ctr"/>
          <a:lstStyle/>
          <a:p>
            <a:pPr indent="0" marL="0">
              <a:lnSpc>
                <a:spcPct val="95000"/>
              </a:lnSpc>
              <a:buNone/>
            </a:pPr>
            <a:r>
              <a:rPr lang="en-US" sz="1150" b="1" dirty="0">
                <a:solidFill>
                  <a:srgbClr val="475569"/>
                </a:solidFill>
                <a:latin typeface="Arial" pitchFamily="34" charset="0"/>
                <a:ea typeface="Arial" pitchFamily="34" charset="-122"/>
                <a:cs typeface="Arial" pitchFamily="34" charset="-120"/>
              </a:rPr>
              <a:t>MPONLINE</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HACKATHON</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2026</a:t>
            </a:r>
            <a:endParaRPr lang="en-US" sz="1150" dirty="0"/>
          </a:p>
        </p:txBody>
      </p:sp>
      <p:sp>
        <p:nvSpPr>
          <p:cNvPr id="7" name="box"/>
          <p:cNvSpPr/>
          <p:nvPr/>
        </p:nvSpPr>
        <p:spPr>
          <a:xfrm>
            <a:off x="365760" y="1143000"/>
            <a:ext cx="3794760" cy="3017520"/>
          </a:xfrm>
          <a:prstGeom prst="roundRect">
            <a:avLst>
              <a:gd name="adj" fmla="val 5455"/>
            </a:avLst>
          </a:prstGeom>
          <a:solidFill>
            <a:srgbClr val="E8711C"/>
          </a:solidFill>
          <a:ln w="12700">
            <a:solidFill>
              <a:srgbClr val="E8711C"/>
            </a:solidFill>
            <a:prstDash val="solid"/>
          </a:ln>
          <a:effectLst>
            <a:outerShdw sx="100000" sy="100000" kx="0" ky="0" algn="bl" rotWithShape="0" blurRad="101600" dist="25400" dir="5400000">
              <a:srgbClr val="0F172A">
                <a:alpha val="13000"/>
              </a:srgbClr>
            </a:outerShdw>
          </a:effectLst>
        </p:spPr>
      </p:sp>
      <p:sp>
        <p:nvSpPr>
          <p:cNvPr id="8" name="Text 5"/>
          <p:cNvSpPr txBox="1"/>
          <p:nvPr/>
        </p:nvSpPr>
        <p:spPr>
          <a:xfrm>
            <a:off x="365760" y="1261872"/>
            <a:ext cx="3794760" cy="384048"/>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THE EMERGENCY</a:t>
            </a:r>
            <a:endParaRPr lang="en-US" sz="2000" dirty="0"/>
          </a:p>
        </p:txBody>
      </p:sp>
      <p:sp>
        <p:nvSpPr>
          <p:cNvPr id="9" name="Text 6"/>
          <p:cNvSpPr txBox="1"/>
          <p:nvPr/>
        </p:nvSpPr>
        <p:spPr>
          <a:xfrm>
            <a:off x="594360" y="1737360"/>
            <a:ext cx="3383280" cy="2331720"/>
          </a:xfrm>
          <a:prstGeom prst="rect">
            <a:avLst/>
          </a:prstGeom>
          <a:noFill/>
          <a:ln/>
        </p:spPr>
        <p:txBody>
          <a:bodyPr wrap="square" lIns="0" tIns="0" rIns="0" bIns="0" rtlCol="0" anchor="t"/>
          <a:lstStyle/>
          <a:p>
            <a:pPr indent="0" marL="0">
              <a:spcAft>
                <a:spcPts val="600"/>
              </a:spcAft>
              <a:buNone/>
            </a:pPr>
            <a:r>
              <a:rPr lang="en-US" sz="1350" dirty="0">
                <a:solidFill>
                  <a:srgbClr val="FFFFFF"/>
                </a:solidFill>
                <a:latin typeface="Calibri" pitchFamily="34" charset="0"/>
                <a:ea typeface="Calibri" pitchFamily="34" charset="-122"/>
                <a:cs typeface="Calibri" pitchFamily="34" charset="-120"/>
              </a:rPr>
              <a:t>✦  9:40 PM, a village near Berasia: Ramesh’s father (58) has chest pain and sweating.</a:t>
            </a:r>
            <a:endParaRPr lang="en-US" sz="1350" dirty="0"/>
          </a:p>
          <a:p>
            <a:pPr indent="0" marL="0">
              <a:spcAft>
                <a:spcPts val="600"/>
              </a:spcAft>
              <a:buNone/>
            </a:pPr>
            <a:r>
              <a:rPr lang="en-US" sz="1350" dirty="0">
                <a:solidFill>
                  <a:srgbClr val="FFFFFF"/>
                </a:solidFill>
                <a:latin typeface="Calibri" pitchFamily="34" charset="0"/>
                <a:ea typeface="Calibri" pitchFamily="34" charset="-122"/>
                <a:cs typeface="Calibri" pitchFamily="34" charset="-120"/>
              </a:rPr>
              <a:t>✦  Only 2G works; the town hospital is 25 km away.</a:t>
            </a:r>
            <a:endParaRPr lang="en-US" sz="1350" dirty="0"/>
          </a:p>
          <a:p>
            <a:pPr indent="0" marL="0">
              <a:spcAft>
                <a:spcPts val="600"/>
              </a:spcAft>
              <a:buNone/>
            </a:pPr>
            <a:r>
              <a:rPr lang="en-US" sz="1350" dirty="0">
                <a:solidFill>
                  <a:srgbClr val="FFFFFF"/>
                </a:solidFill>
                <a:latin typeface="Calibri" pitchFamily="34" charset="0"/>
                <a:ea typeface="Calibri" pitchFamily="34" charset="-122"/>
                <a:cs typeface="Calibri" pitchFamily="34" charset="-120"/>
              </a:rPr>
              <a:t>✦  Nobody knows which hospital has a cardiologist and a free ICU bed tonight.</a:t>
            </a:r>
            <a:endParaRPr lang="en-US" sz="1350" dirty="0"/>
          </a:p>
          <a:p>
            <a:pPr indent="0" marL="0">
              <a:spcAft>
                <a:spcPts val="600"/>
              </a:spcAft>
              <a:buNone/>
            </a:pPr>
            <a:r>
              <a:rPr lang="en-US" sz="1350" dirty="0">
                <a:solidFill>
                  <a:srgbClr val="FFFFFF"/>
                </a:solidFill>
                <a:latin typeface="Calibri" pitchFamily="34" charset="0"/>
                <a:ea typeface="Calibri" pitchFamily="34" charset="-122"/>
                <a:cs typeface="Calibri" pitchFamily="34" charset="-120"/>
              </a:rPr>
              <a:t>✦  Calling 108 means repeating the address on a weak line.</a:t>
            </a:r>
            <a:endParaRPr lang="en-US" sz="1350" dirty="0"/>
          </a:p>
        </p:txBody>
      </p:sp>
      <p:sp>
        <p:nvSpPr>
          <p:cNvPr id="10" name="box"/>
          <p:cNvSpPr/>
          <p:nvPr/>
        </p:nvSpPr>
        <p:spPr>
          <a:xfrm>
            <a:off x="4343400" y="1143000"/>
            <a:ext cx="3520440" cy="5440680"/>
          </a:xfrm>
          <a:prstGeom prst="roundRect">
            <a:avLst>
              <a:gd name="adj" fmla="val 3117"/>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11" name="Text 8"/>
          <p:cNvSpPr txBox="1"/>
          <p:nvPr/>
        </p:nvSpPr>
        <p:spPr>
          <a:xfrm>
            <a:off x="4343400" y="1207008"/>
            <a:ext cx="3520440" cy="292608"/>
          </a:xfrm>
          <a:prstGeom prst="rect">
            <a:avLst/>
          </a:prstGeom>
          <a:noFill/>
          <a:ln/>
        </p:spPr>
        <p:txBody>
          <a:bodyPr wrap="square" lIns="0" tIns="0" rIns="0" bIns="0" rtlCol="0" anchor="t"/>
          <a:lstStyle/>
          <a:p>
            <a:pPr algn="ctr" indent="0" marL="0">
              <a:buNone/>
            </a:pPr>
            <a:r>
              <a:rPr lang="en-US" sz="1500" b="1" dirty="0">
                <a:solidFill>
                  <a:srgbClr val="14325C"/>
                </a:solidFill>
                <a:latin typeface="Arial" pitchFamily="34" charset="0"/>
                <a:ea typeface="Arial" pitchFamily="34" charset="-122"/>
                <a:cs typeface="Arial" pitchFamily="34" charset="-120"/>
              </a:rPr>
              <a:t>From Guesswork to Guaranteed Care</a:t>
            </a:r>
            <a:endParaRPr lang="en-US" sz="1500" dirty="0"/>
          </a:p>
        </p:txBody>
      </p:sp>
      <p:sp>
        <p:nvSpPr>
          <p:cNvPr id="12" name="Text 9"/>
          <p:cNvSpPr txBox="1"/>
          <p:nvPr/>
        </p:nvSpPr>
        <p:spPr>
          <a:xfrm>
            <a:off x="4343400" y="1490472"/>
            <a:ext cx="3520440" cy="201168"/>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Right hospital  |  Confirmed bed  |  108 linked</a:t>
            </a:r>
            <a:endParaRPr lang="en-US" sz="1000" dirty="0"/>
          </a:p>
        </p:txBody>
      </p:sp>
      <p:pic>
        <p:nvPicPr>
          <p:cNvPr id="13" name="village to hospital illustration" descr="/tmp/claude-0/-home-user-Sehat-Setu/b06e8423-ed6e-57c3-bbb1-ac94b2a1720d/scratchpad/ppt10/art/scenario-banner.png">    </p:cNvPr>
          <p:cNvPicPr>
            <a:picLocks noChangeAspect="1"/>
          </p:cNvPicPr>
          <p:nvPr/>
        </p:nvPicPr>
        <p:blipFill>
          <a:blip r:embed="rId2"/>
          <a:stretch>
            <a:fillRect/>
          </a:stretch>
        </p:blipFill>
        <p:spPr>
          <a:xfrm>
            <a:off x="4389120" y="1737360"/>
            <a:ext cx="3429000" cy="942975"/>
          </a:xfrm>
          <a:prstGeom prst="rect">
            <a:avLst/>
          </a:prstGeom>
        </p:spPr>
      </p:pic>
      <p:sp>
        <p:nvSpPr>
          <p:cNvPr id="14" name="Text 10"/>
          <p:cNvSpPr txBox="1"/>
          <p:nvPr/>
        </p:nvSpPr>
        <p:spPr>
          <a:xfrm>
            <a:off x="4462272" y="2743200"/>
            <a:ext cx="1481328" cy="274320"/>
          </a:xfrm>
          <a:prstGeom prst="roundRect">
            <a:avLst>
              <a:gd name="adj" fmla="val 26667"/>
            </a:avLst>
          </a:prstGeom>
          <a:solidFill>
            <a:srgbClr val="64748B"/>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Today</a:t>
            </a:r>
            <a:endParaRPr lang="en-US" sz="1050" dirty="0"/>
          </a:p>
        </p:txBody>
      </p:sp>
      <p:sp>
        <p:nvSpPr>
          <p:cNvPr id="15" name="Text 11"/>
          <p:cNvSpPr txBox="1"/>
          <p:nvPr/>
        </p:nvSpPr>
        <p:spPr>
          <a:xfrm>
            <a:off x="6263640" y="2743200"/>
            <a:ext cx="1481328" cy="274320"/>
          </a:xfrm>
          <a:prstGeom prst="roundRect">
            <a:avLst>
              <a:gd name="adj" fmla="val 26667"/>
            </a:avLst>
          </a:prstGeom>
          <a:solidFill>
            <a:srgbClr val="0F8B8D"/>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With Medreach</a:t>
            </a:r>
            <a:endParaRPr lang="en-US" sz="1050" dirty="0"/>
          </a:p>
        </p:txBody>
      </p:sp>
      <p:sp>
        <p:nvSpPr>
          <p:cNvPr id="16" name="Text 12"/>
          <p:cNvSpPr txBox="1"/>
          <p:nvPr/>
        </p:nvSpPr>
        <p:spPr>
          <a:xfrm>
            <a:off x="4462272" y="3090672"/>
            <a:ext cx="182880" cy="182880"/>
          </a:xfrm>
          <a:prstGeom prst="ellipse">
            <a:avLst/>
          </a:prstGeom>
          <a:solidFill>
            <a:srgbClr val="E8711C"/>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7" name="Text 13"/>
          <p:cNvSpPr txBox="1"/>
          <p:nvPr/>
        </p:nvSpPr>
        <p:spPr>
          <a:xfrm>
            <a:off x="4700016" y="3081528"/>
            <a:ext cx="3017520" cy="201168"/>
          </a:xfrm>
          <a:prstGeom prst="rect">
            <a:avLst/>
          </a:prstGeom>
          <a:noFill/>
          <a:ln/>
        </p:spPr>
        <p:txBody>
          <a:bodyPr wrap="square" lIns="0" tIns="0" rIns="0" bIns="0" rtlCol="0" anchor="t"/>
          <a:lstStyle/>
          <a:p>
            <a:pPr indent="0" marL="0">
              <a:buNone/>
            </a:pPr>
            <a:r>
              <a:rPr lang="en-US" sz="1000" b="1" spc="100" kern="0" dirty="0">
                <a:solidFill>
                  <a:srgbClr val="14325C"/>
                </a:solidFill>
                <a:latin typeface="Calibri" pitchFamily="34" charset="0"/>
                <a:ea typeface="Calibri" pitchFamily="34" charset="-122"/>
                <a:cs typeface="Calibri" pitchFamily="34" charset="-120"/>
              </a:rPr>
              <a:t>FINDING A HOSPITAL</a:t>
            </a:r>
            <a:endParaRPr lang="en-US" sz="1000" dirty="0"/>
          </a:p>
        </p:txBody>
      </p:sp>
      <p:sp>
        <p:nvSpPr>
          <p:cNvPr id="18" name="Text 14"/>
          <p:cNvSpPr txBox="1"/>
          <p:nvPr/>
        </p:nvSpPr>
        <p:spPr>
          <a:xfrm>
            <a:off x="4462272" y="3300984"/>
            <a:ext cx="1481328" cy="347472"/>
          </a:xfrm>
          <a:prstGeom prst="roundRect">
            <a:avLst>
              <a:gd name="adj" fmla="val 15789"/>
            </a:avLst>
          </a:prstGeom>
          <a:solidFill>
            <a:srgbClr val="F4F6F9"/>
          </a:solidFill>
          <a:ln w="9525">
            <a:solidFill>
              <a:srgbClr val="DCE3EC"/>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Drive to the nearest one</a:t>
            </a:r>
            <a:endParaRPr lang="en-US" sz="1000" dirty="0"/>
          </a:p>
        </p:txBody>
      </p:sp>
      <p:sp>
        <p:nvSpPr>
          <p:cNvPr id="19" name="flow arrow"/>
          <p:cNvSpPr/>
          <p:nvPr/>
        </p:nvSpPr>
        <p:spPr>
          <a:xfrm>
            <a:off x="6035040" y="3374136"/>
            <a:ext cx="109728" cy="182880"/>
          </a:xfrm>
          <a:prstGeom prst="chevron">
            <a:avLst/>
          </a:prstGeom>
          <a:solidFill>
            <a:srgbClr val="E8711C"/>
          </a:solidFill>
          <a:ln w="6350">
            <a:solidFill>
              <a:srgbClr val="E8711C"/>
            </a:solidFill>
            <a:prstDash val="solid"/>
          </a:ln>
        </p:spPr>
      </p:sp>
      <p:sp>
        <p:nvSpPr>
          <p:cNvPr id="20" name="Text 16"/>
          <p:cNvSpPr txBox="1"/>
          <p:nvPr/>
        </p:nvSpPr>
        <p:spPr>
          <a:xfrm>
            <a:off x="6263640" y="3300984"/>
            <a:ext cx="1481328" cy="347472"/>
          </a:xfrm>
          <a:prstGeom prst="roundRect">
            <a:avLst>
              <a:gd name="adj" fmla="val 15789"/>
            </a:avLst>
          </a:prstGeom>
          <a:solidFill>
            <a:srgbClr val="E6F5F5"/>
          </a:solidFill>
          <a:ln w="9525">
            <a:solidFill>
              <a:srgbClr val="B5E0E0"/>
            </a:solidFill>
          </a:ln>
        </p:spPr>
        <p:txBody>
          <a:bodyPr wrap="square" lIns="0" tIns="0" rIns="0" bIns="0" rtlCol="0" anchor="ctr"/>
          <a:lstStyle/>
          <a:p>
            <a:pPr algn="ctr" indent="0" marL="0">
              <a:buNone/>
            </a:pPr>
            <a:r>
              <a:rPr lang="en-US" sz="1000" b="1" dirty="0">
                <a:solidFill>
                  <a:srgbClr val="0F8B8D"/>
                </a:solidFill>
                <a:latin typeface="Calibri" pitchFamily="34" charset="0"/>
                <a:ea typeface="Calibri" pitchFamily="34" charset="-122"/>
                <a:cs typeface="Calibri" pitchFamily="34" charset="-120"/>
              </a:rPr>
              <a:t>Only hospitals that can treat it</a:t>
            </a:r>
            <a:endParaRPr lang="en-US" sz="1000" dirty="0"/>
          </a:p>
        </p:txBody>
      </p:sp>
      <p:sp>
        <p:nvSpPr>
          <p:cNvPr id="21" name="Text 17"/>
          <p:cNvSpPr txBox="1"/>
          <p:nvPr/>
        </p:nvSpPr>
        <p:spPr>
          <a:xfrm>
            <a:off x="4462272" y="3694176"/>
            <a:ext cx="182880" cy="182880"/>
          </a:xfrm>
          <a:prstGeom prst="ellipse">
            <a:avLst/>
          </a:prstGeom>
          <a:solidFill>
            <a:srgbClr val="E8711C"/>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2" name="Text 18"/>
          <p:cNvSpPr txBox="1"/>
          <p:nvPr/>
        </p:nvSpPr>
        <p:spPr>
          <a:xfrm>
            <a:off x="4700016" y="3685032"/>
            <a:ext cx="3017520" cy="201168"/>
          </a:xfrm>
          <a:prstGeom prst="rect">
            <a:avLst/>
          </a:prstGeom>
          <a:noFill/>
          <a:ln/>
        </p:spPr>
        <p:txBody>
          <a:bodyPr wrap="square" lIns="0" tIns="0" rIns="0" bIns="0" rtlCol="0" anchor="t"/>
          <a:lstStyle/>
          <a:p>
            <a:pPr indent="0" marL="0">
              <a:buNone/>
            </a:pPr>
            <a:r>
              <a:rPr lang="en-US" sz="1000" b="1" spc="100" kern="0" dirty="0">
                <a:solidFill>
                  <a:srgbClr val="14325C"/>
                </a:solidFill>
                <a:latin typeface="Calibri" pitchFamily="34" charset="0"/>
                <a:ea typeface="Calibri" pitchFamily="34" charset="-122"/>
                <a:cs typeface="Calibri" pitchFamily="34" charset="-120"/>
              </a:rPr>
              <a:t>CONFIRMING A BED</a:t>
            </a:r>
            <a:endParaRPr lang="en-US" sz="1000" dirty="0"/>
          </a:p>
        </p:txBody>
      </p:sp>
      <p:sp>
        <p:nvSpPr>
          <p:cNvPr id="23" name="Text 19"/>
          <p:cNvSpPr txBox="1"/>
          <p:nvPr/>
        </p:nvSpPr>
        <p:spPr>
          <a:xfrm>
            <a:off x="4462272" y="3904488"/>
            <a:ext cx="1481328" cy="347472"/>
          </a:xfrm>
          <a:prstGeom prst="roundRect">
            <a:avLst>
              <a:gd name="adj" fmla="val 15789"/>
            </a:avLst>
          </a:prstGeom>
          <a:solidFill>
            <a:srgbClr val="F4F6F9"/>
          </a:solidFill>
          <a:ln w="9525">
            <a:solidFill>
              <a:srgbClr val="DCE3EC"/>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Refused at the gate</a:t>
            </a:r>
            <a:endParaRPr lang="en-US" sz="1000" dirty="0"/>
          </a:p>
        </p:txBody>
      </p:sp>
      <p:sp>
        <p:nvSpPr>
          <p:cNvPr id="24" name="flow arrow"/>
          <p:cNvSpPr/>
          <p:nvPr/>
        </p:nvSpPr>
        <p:spPr>
          <a:xfrm>
            <a:off x="6035040" y="3977640"/>
            <a:ext cx="109728" cy="182880"/>
          </a:xfrm>
          <a:prstGeom prst="chevron">
            <a:avLst/>
          </a:prstGeom>
          <a:solidFill>
            <a:srgbClr val="E8711C"/>
          </a:solidFill>
          <a:ln w="6350">
            <a:solidFill>
              <a:srgbClr val="E8711C"/>
            </a:solidFill>
            <a:prstDash val="solid"/>
          </a:ln>
        </p:spPr>
      </p:sp>
      <p:sp>
        <p:nvSpPr>
          <p:cNvPr id="25" name="Text 21"/>
          <p:cNvSpPr txBox="1"/>
          <p:nvPr/>
        </p:nvSpPr>
        <p:spPr>
          <a:xfrm>
            <a:off x="6263640" y="3904488"/>
            <a:ext cx="1481328" cy="347472"/>
          </a:xfrm>
          <a:prstGeom prst="roundRect">
            <a:avLst>
              <a:gd name="adj" fmla="val 15789"/>
            </a:avLst>
          </a:prstGeom>
          <a:solidFill>
            <a:srgbClr val="E6F5F5"/>
          </a:solidFill>
          <a:ln w="9525">
            <a:solidFill>
              <a:srgbClr val="B5E0E0"/>
            </a:solidFill>
          </a:ln>
        </p:spPr>
        <p:txBody>
          <a:bodyPr wrap="square" lIns="0" tIns="0" rIns="0" bIns="0" rtlCol="0" anchor="ctr"/>
          <a:lstStyle/>
          <a:p>
            <a:pPr algn="ctr" indent="0" marL="0">
              <a:buNone/>
            </a:pPr>
            <a:r>
              <a:rPr lang="en-US" sz="1000" b="1" dirty="0">
                <a:solidFill>
                  <a:srgbClr val="0F8B8D"/>
                </a:solidFill>
                <a:latin typeface="Calibri" pitchFamily="34" charset="0"/>
                <a:ea typeface="Calibri" pitchFamily="34" charset="-122"/>
                <a:cs typeface="Calibri" pitchFamily="34" charset="-120"/>
              </a:rPr>
              <a:t>Hospital accepts first</a:t>
            </a:r>
            <a:endParaRPr lang="en-US" sz="1000" dirty="0"/>
          </a:p>
        </p:txBody>
      </p:sp>
      <p:sp>
        <p:nvSpPr>
          <p:cNvPr id="26" name="Text 22"/>
          <p:cNvSpPr txBox="1"/>
          <p:nvPr/>
        </p:nvSpPr>
        <p:spPr>
          <a:xfrm>
            <a:off x="4462272" y="4297680"/>
            <a:ext cx="182880" cy="182880"/>
          </a:xfrm>
          <a:prstGeom prst="ellipse">
            <a:avLst/>
          </a:prstGeom>
          <a:solidFill>
            <a:srgbClr val="E8711C"/>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7" name="Text 23"/>
          <p:cNvSpPr txBox="1"/>
          <p:nvPr/>
        </p:nvSpPr>
        <p:spPr>
          <a:xfrm>
            <a:off x="4700016" y="4288536"/>
            <a:ext cx="3017520" cy="201168"/>
          </a:xfrm>
          <a:prstGeom prst="rect">
            <a:avLst/>
          </a:prstGeom>
          <a:noFill/>
          <a:ln/>
        </p:spPr>
        <p:txBody>
          <a:bodyPr wrap="square" lIns="0" tIns="0" rIns="0" bIns="0" rtlCol="0" anchor="t"/>
          <a:lstStyle/>
          <a:p>
            <a:pPr indent="0" marL="0">
              <a:buNone/>
            </a:pPr>
            <a:r>
              <a:rPr lang="en-US" sz="1000" b="1" spc="100" kern="0" dirty="0">
                <a:solidFill>
                  <a:srgbClr val="14325C"/>
                </a:solidFill>
                <a:latin typeface="Calibri" pitchFamily="34" charset="0"/>
                <a:ea typeface="Calibri" pitchFamily="34" charset="-122"/>
                <a:cs typeface="Calibri" pitchFamily="34" charset="-120"/>
              </a:rPr>
              <a:t>CALLING 108</a:t>
            </a:r>
            <a:endParaRPr lang="en-US" sz="1000" dirty="0"/>
          </a:p>
        </p:txBody>
      </p:sp>
      <p:sp>
        <p:nvSpPr>
          <p:cNvPr id="28" name="Text 24"/>
          <p:cNvSpPr txBox="1"/>
          <p:nvPr/>
        </p:nvSpPr>
        <p:spPr>
          <a:xfrm>
            <a:off x="4462272" y="4507992"/>
            <a:ext cx="1481328" cy="347472"/>
          </a:xfrm>
          <a:prstGeom prst="roundRect">
            <a:avLst>
              <a:gd name="adj" fmla="val 15789"/>
            </a:avLst>
          </a:prstGeom>
          <a:solidFill>
            <a:srgbClr val="F4F6F9"/>
          </a:solidFill>
          <a:ln w="9525">
            <a:solidFill>
              <a:srgbClr val="DCE3EC"/>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Repeat address, call drops</a:t>
            </a:r>
            <a:endParaRPr lang="en-US" sz="1000" dirty="0"/>
          </a:p>
        </p:txBody>
      </p:sp>
      <p:sp>
        <p:nvSpPr>
          <p:cNvPr id="29" name="flow arrow"/>
          <p:cNvSpPr/>
          <p:nvPr/>
        </p:nvSpPr>
        <p:spPr>
          <a:xfrm>
            <a:off x="6035040" y="4581144"/>
            <a:ext cx="109728" cy="182880"/>
          </a:xfrm>
          <a:prstGeom prst="chevron">
            <a:avLst/>
          </a:prstGeom>
          <a:solidFill>
            <a:srgbClr val="E8711C"/>
          </a:solidFill>
          <a:ln w="6350">
            <a:solidFill>
              <a:srgbClr val="E8711C"/>
            </a:solidFill>
            <a:prstDash val="solid"/>
          </a:ln>
        </p:spPr>
      </p:sp>
      <p:sp>
        <p:nvSpPr>
          <p:cNvPr id="30" name="Text 26"/>
          <p:cNvSpPr txBox="1"/>
          <p:nvPr/>
        </p:nvSpPr>
        <p:spPr>
          <a:xfrm>
            <a:off x="6263640" y="4507992"/>
            <a:ext cx="1481328" cy="347472"/>
          </a:xfrm>
          <a:prstGeom prst="roundRect">
            <a:avLst>
              <a:gd name="adj" fmla="val 15789"/>
            </a:avLst>
          </a:prstGeom>
          <a:solidFill>
            <a:srgbClr val="E6F5F5"/>
          </a:solidFill>
          <a:ln w="9525">
            <a:solidFill>
              <a:srgbClr val="B5E0E0"/>
            </a:solidFill>
          </a:ln>
        </p:spPr>
        <p:txBody>
          <a:bodyPr wrap="square" lIns="0" tIns="0" rIns="0" bIns="0" rtlCol="0" anchor="ctr"/>
          <a:lstStyle/>
          <a:p>
            <a:pPr algn="ctr" indent="0" marL="0">
              <a:buNone/>
            </a:pPr>
            <a:r>
              <a:rPr lang="en-US" sz="1000" b="1" dirty="0">
                <a:solidFill>
                  <a:srgbClr val="0F8B8D"/>
                </a:solidFill>
                <a:latin typeface="Calibri" pitchFamily="34" charset="0"/>
                <a:ea typeface="Calibri" pitchFamily="34" charset="-122"/>
                <a:cs typeface="Calibri" pitchFamily="34" charset="-120"/>
              </a:rPr>
              <a:t>Signed incident sent</a:t>
            </a:r>
            <a:endParaRPr lang="en-US" sz="1000" dirty="0"/>
          </a:p>
        </p:txBody>
      </p:sp>
      <p:sp>
        <p:nvSpPr>
          <p:cNvPr id="31" name="Text 27"/>
          <p:cNvSpPr txBox="1"/>
          <p:nvPr/>
        </p:nvSpPr>
        <p:spPr>
          <a:xfrm>
            <a:off x="4462272" y="4901184"/>
            <a:ext cx="182880" cy="182880"/>
          </a:xfrm>
          <a:prstGeom prst="ellipse">
            <a:avLst/>
          </a:prstGeom>
          <a:solidFill>
            <a:srgbClr val="E8711C"/>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28"/>
          <p:cNvSpPr txBox="1"/>
          <p:nvPr/>
        </p:nvSpPr>
        <p:spPr>
          <a:xfrm>
            <a:off x="4700016" y="4892040"/>
            <a:ext cx="3017520" cy="201168"/>
          </a:xfrm>
          <a:prstGeom prst="rect">
            <a:avLst/>
          </a:prstGeom>
          <a:noFill/>
          <a:ln/>
        </p:spPr>
        <p:txBody>
          <a:bodyPr wrap="square" lIns="0" tIns="0" rIns="0" bIns="0" rtlCol="0" anchor="t"/>
          <a:lstStyle/>
          <a:p>
            <a:pPr indent="0" marL="0">
              <a:buNone/>
            </a:pPr>
            <a:r>
              <a:rPr lang="en-US" sz="1000" b="1" spc="100" kern="0" dirty="0">
                <a:solidFill>
                  <a:srgbClr val="14325C"/>
                </a:solidFill>
                <a:latin typeface="Calibri" pitchFamily="34" charset="0"/>
                <a:ea typeface="Calibri" pitchFamily="34" charset="-122"/>
                <a:cs typeface="Calibri" pitchFamily="34" charset="-120"/>
              </a:rPr>
              <a:t>INFORMING THE ER</a:t>
            </a:r>
            <a:endParaRPr lang="en-US" sz="1000" dirty="0"/>
          </a:p>
        </p:txBody>
      </p:sp>
      <p:sp>
        <p:nvSpPr>
          <p:cNvPr id="33" name="Text 29"/>
          <p:cNvSpPr txBox="1"/>
          <p:nvPr/>
        </p:nvSpPr>
        <p:spPr>
          <a:xfrm>
            <a:off x="4462272" y="5111496"/>
            <a:ext cx="1481328" cy="347472"/>
          </a:xfrm>
          <a:prstGeom prst="roundRect">
            <a:avLst>
              <a:gd name="adj" fmla="val 15789"/>
            </a:avLst>
          </a:prstGeom>
          <a:solidFill>
            <a:srgbClr val="F4F6F9"/>
          </a:solidFill>
          <a:ln w="9525">
            <a:solidFill>
              <a:srgbClr val="DCE3EC"/>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Arrives unannounced</a:t>
            </a:r>
            <a:endParaRPr lang="en-US" sz="1000" dirty="0"/>
          </a:p>
        </p:txBody>
      </p:sp>
      <p:sp>
        <p:nvSpPr>
          <p:cNvPr id="34" name="flow arrow"/>
          <p:cNvSpPr/>
          <p:nvPr/>
        </p:nvSpPr>
        <p:spPr>
          <a:xfrm>
            <a:off x="6035040" y="5184648"/>
            <a:ext cx="109728" cy="182880"/>
          </a:xfrm>
          <a:prstGeom prst="chevron">
            <a:avLst/>
          </a:prstGeom>
          <a:solidFill>
            <a:srgbClr val="E8711C"/>
          </a:solidFill>
          <a:ln w="6350">
            <a:solidFill>
              <a:srgbClr val="E8711C"/>
            </a:solidFill>
            <a:prstDash val="solid"/>
          </a:ln>
        </p:spPr>
      </p:sp>
      <p:sp>
        <p:nvSpPr>
          <p:cNvPr id="35" name="Text 31"/>
          <p:cNvSpPr txBox="1"/>
          <p:nvPr/>
        </p:nvSpPr>
        <p:spPr>
          <a:xfrm>
            <a:off x="6263640" y="5111496"/>
            <a:ext cx="1481328" cy="347472"/>
          </a:xfrm>
          <a:prstGeom prst="roundRect">
            <a:avLst>
              <a:gd name="adj" fmla="val 15789"/>
            </a:avLst>
          </a:prstGeom>
          <a:solidFill>
            <a:srgbClr val="E6F5F5"/>
          </a:solidFill>
          <a:ln w="9525">
            <a:solidFill>
              <a:srgbClr val="B5E0E0"/>
            </a:solidFill>
          </a:ln>
        </p:spPr>
        <p:txBody>
          <a:bodyPr wrap="square" lIns="0" tIns="0" rIns="0" bIns="0" rtlCol="0" anchor="ctr"/>
          <a:lstStyle/>
          <a:p>
            <a:pPr algn="ctr" indent="0" marL="0">
              <a:buNone/>
            </a:pPr>
            <a:r>
              <a:rPr lang="en-US" sz="1000" b="1" dirty="0">
                <a:solidFill>
                  <a:srgbClr val="0F8B8D"/>
                </a:solidFill>
                <a:latin typeface="Calibri" pitchFamily="34" charset="0"/>
                <a:ea typeface="Calibri" pitchFamily="34" charset="-122"/>
                <a:cs typeface="Calibri" pitchFamily="34" charset="-120"/>
              </a:rPr>
              <a:t>AI pre-arrival note</a:t>
            </a:r>
            <a:endParaRPr lang="en-US" sz="1000" dirty="0"/>
          </a:p>
        </p:txBody>
      </p:sp>
      <p:sp>
        <p:nvSpPr>
          <p:cNvPr id="36" name="Text 32"/>
          <p:cNvSpPr txBox="1"/>
          <p:nvPr/>
        </p:nvSpPr>
        <p:spPr>
          <a:xfrm>
            <a:off x="4462272" y="5504688"/>
            <a:ext cx="182880" cy="182880"/>
          </a:xfrm>
          <a:prstGeom prst="ellipse">
            <a:avLst/>
          </a:prstGeom>
          <a:solidFill>
            <a:srgbClr val="E8711C"/>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7" name="Text 33"/>
          <p:cNvSpPr txBox="1"/>
          <p:nvPr/>
        </p:nvSpPr>
        <p:spPr>
          <a:xfrm>
            <a:off x="4700016" y="5495544"/>
            <a:ext cx="3017520" cy="201168"/>
          </a:xfrm>
          <a:prstGeom prst="rect">
            <a:avLst/>
          </a:prstGeom>
          <a:noFill/>
          <a:ln/>
        </p:spPr>
        <p:txBody>
          <a:bodyPr wrap="square" lIns="0" tIns="0" rIns="0" bIns="0" rtlCol="0" anchor="t"/>
          <a:lstStyle/>
          <a:p>
            <a:pPr indent="0" marL="0">
              <a:buNone/>
            </a:pPr>
            <a:r>
              <a:rPr lang="en-US" sz="1000" b="1" spc="100" kern="0" dirty="0">
                <a:solidFill>
                  <a:srgbClr val="14325C"/>
                </a:solidFill>
                <a:latin typeface="Calibri" pitchFamily="34" charset="0"/>
                <a:ea typeface="Calibri" pitchFamily="34" charset="-122"/>
                <a:cs typeface="Calibri" pitchFamily="34" charset="-120"/>
              </a:rPr>
              <a:t>TRACKING</a:t>
            </a:r>
            <a:endParaRPr lang="en-US" sz="1000" dirty="0"/>
          </a:p>
        </p:txBody>
      </p:sp>
      <p:sp>
        <p:nvSpPr>
          <p:cNvPr id="38" name="Text 34"/>
          <p:cNvSpPr txBox="1"/>
          <p:nvPr/>
        </p:nvSpPr>
        <p:spPr>
          <a:xfrm>
            <a:off x="4462272" y="5715000"/>
            <a:ext cx="1481328" cy="347472"/>
          </a:xfrm>
          <a:prstGeom prst="roundRect">
            <a:avLst>
              <a:gd name="adj" fmla="val 15789"/>
            </a:avLst>
          </a:prstGeom>
          <a:solidFill>
            <a:srgbClr val="F4F6F9"/>
          </a:solidFill>
          <a:ln w="9525">
            <a:solidFill>
              <a:srgbClr val="DCE3EC"/>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No idea where it is</a:t>
            </a:r>
            <a:endParaRPr lang="en-US" sz="1000" dirty="0"/>
          </a:p>
        </p:txBody>
      </p:sp>
      <p:sp>
        <p:nvSpPr>
          <p:cNvPr id="39" name="flow arrow"/>
          <p:cNvSpPr/>
          <p:nvPr/>
        </p:nvSpPr>
        <p:spPr>
          <a:xfrm>
            <a:off x="6035040" y="5788152"/>
            <a:ext cx="109728" cy="182880"/>
          </a:xfrm>
          <a:prstGeom prst="chevron">
            <a:avLst/>
          </a:prstGeom>
          <a:solidFill>
            <a:srgbClr val="E8711C"/>
          </a:solidFill>
          <a:ln w="6350">
            <a:solidFill>
              <a:srgbClr val="E8711C"/>
            </a:solidFill>
            <a:prstDash val="solid"/>
          </a:ln>
        </p:spPr>
      </p:sp>
      <p:sp>
        <p:nvSpPr>
          <p:cNvPr id="40" name="Text 36"/>
          <p:cNvSpPr txBox="1"/>
          <p:nvPr/>
        </p:nvSpPr>
        <p:spPr>
          <a:xfrm>
            <a:off x="6263640" y="5715000"/>
            <a:ext cx="1481328" cy="347472"/>
          </a:xfrm>
          <a:prstGeom prst="roundRect">
            <a:avLst>
              <a:gd name="adj" fmla="val 15789"/>
            </a:avLst>
          </a:prstGeom>
          <a:solidFill>
            <a:srgbClr val="E6F5F5"/>
          </a:solidFill>
          <a:ln w="9525">
            <a:solidFill>
              <a:srgbClr val="B5E0E0"/>
            </a:solidFill>
          </a:ln>
        </p:spPr>
        <p:txBody>
          <a:bodyPr wrap="square" lIns="0" tIns="0" rIns="0" bIns="0" rtlCol="0" anchor="ctr"/>
          <a:lstStyle/>
          <a:p>
            <a:pPr algn="ctr" indent="0" marL="0">
              <a:buNone/>
            </a:pPr>
            <a:r>
              <a:rPr lang="en-US" sz="1000" b="1" dirty="0">
                <a:solidFill>
                  <a:srgbClr val="0F8B8D"/>
                </a:solidFill>
                <a:latin typeface="Calibri" pitchFamily="34" charset="0"/>
                <a:ea typeface="Calibri" pitchFamily="34" charset="-122"/>
                <a:cs typeface="Calibri" pitchFamily="34" charset="-120"/>
              </a:rPr>
              <a:t>Live map + ETA</a:t>
            </a:r>
            <a:endParaRPr lang="en-US" sz="1000" dirty="0"/>
          </a:p>
        </p:txBody>
      </p:sp>
      <p:sp>
        <p:nvSpPr>
          <p:cNvPr id="41" name="box"/>
          <p:cNvSpPr/>
          <p:nvPr/>
        </p:nvSpPr>
        <p:spPr>
          <a:xfrm>
            <a:off x="4462272" y="6126480"/>
            <a:ext cx="3291840" cy="384048"/>
          </a:xfrm>
          <a:prstGeom prst="roundRect">
            <a:avLst>
              <a:gd name="adj" fmla="val 19048"/>
            </a:avLst>
          </a:prstGeom>
          <a:solidFill>
            <a:srgbClr val="14325C"/>
          </a:solidFill>
          <a:ln w="12700">
            <a:solidFill>
              <a:srgbClr val="14325C"/>
            </a:solidFill>
            <a:prstDash val="solid"/>
          </a:ln>
        </p:spPr>
      </p:sp>
      <p:sp>
        <p:nvSpPr>
          <p:cNvPr id="42" name="Text 38"/>
          <p:cNvSpPr txBox="1"/>
          <p:nvPr/>
        </p:nvSpPr>
        <p:spPr>
          <a:xfrm>
            <a:off x="4526280" y="6126480"/>
            <a:ext cx="315468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The Result  </a:t>
            </a:r>
            <a:pPr algn="ctr" indent="0" marL="0">
              <a:buNone/>
            </a:pPr>
            <a:r>
              <a:rPr lang="en-US" sz="1250" b="1" dirty="0">
                <a:solidFill>
                  <a:srgbClr val="FDBA74"/>
                </a:solidFill>
                <a:latin typeface="Calibri" pitchFamily="34" charset="0"/>
                <a:ea typeface="Calibri" pitchFamily="34" charset="-122"/>
                <a:cs typeface="Calibri" pitchFamily="34" charset="-120"/>
              </a:rPr>
              <a:t>Guesswork → Confirmed bed</a:t>
            </a:r>
            <a:endParaRPr lang="en-US" sz="1250" dirty="0"/>
          </a:p>
        </p:txBody>
      </p:sp>
      <p:sp>
        <p:nvSpPr>
          <p:cNvPr id="43" name="box"/>
          <p:cNvSpPr/>
          <p:nvPr/>
        </p:nvSpPr>
        <p:spPr>
          <a:xfrm>
            <a:off x="8046720" y="1143000"/>
            <a:ext cx="3794760" cy="3017520"/>
          </a:xfrm>
          <a:prstGeom prst="roundRect">
            <a:avLst>
              <a:gd name="adj" fmla="val 5455"/>
            </a:avLst>
          </a:prstGeom>
          <a:solidFill>
            <a:srgbClr val="2E7D32"/>
          </a:solidFill>
          <a:ln w="12700">
            <a:solidFill>
              <a:srgbClr val="2E7D32"/>
            </a:solidFill>
            <a:prstDash val="solid"/>
          </a:ln>
          <a:effectLst>
            <a:outerShdw sx="100000" sy="100000" kx="0" ky="0" algn="bl" rotWithShape="0" blurRad="101600" dist="25400" dir="5400000">
              <a:srgbClr val="0F172A">
                <a:alpha val="13000"/>
              </a:srgbClr>
            </a:outerShdw>
          </a:effectLst>
        </p:spPr>
      </p:sp>
      <p:sp>
        <p:nvSpPr>
          <p:cNvPr id="44" name="Text 40"/>
          <p:cNvSpPr txBox="1"/>
          <p:nvPr/>
        </p:nvSpPr>
        <p:spPr>
          <a:xfrm>
            <a:off x="8046720" y="1261872"/>
            <a:ext cx="3794760" cy="384048"/>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WHAT MEDREACH DOES</a:t>
            </a:r>
            <a:endParaRPr lang="en-US" sz="2000" dirty="0"/>
          </a:p>
        </p:txBody>
      </p:sp>
      <p:sp>
        <p:nvSpPr>
          <p:cNvPr id="45" name="Text 41"/>
          <p:cNvSpPr txBox="1"/>
          <p:nvPr/>
        </p:nvSpPr>
        <p:spPr>
          <a:xfrm>
            <a:off x="8275320" y="1737360"/>
            <a:ext cx="3383280" cy="2331720"/>
          </a:xfrm>
          <a:prstGeom prst="rect">
            <a:avLst/>
          </a:prstGeom>
          <a:noFill/>
          <a:ln/>
        </p:spPr>
        <p:txBody>
          <a:bodyPr wrap="square" lIns="0" tIns="0" rIns="0" bIns="0" rtlCol="0" anchor="t"/>
          <a:lstStyle/>
          <a:p>
            <a:pPr indent="0" marL="0">
              <a:spcAft>
                <a:spcPts val="600"/>
              </a:spcAft>
              <a:buNone/>
            </a:pPr>
            <a:r>
              <a:rPr lang="en-US" sz="1350" dirty="0">
                <a:solidFill>
                  <a:srgbClr val="FFFFFF"/>
                </a:solidFill>
                <a:latin typeface="Calibri" pitchFamily="34" charset="0"/>
                <a:ea typeface="Calibri" pitchFamily="34" charset="-122"/>
                <a:cs typeface="Calibri" pitchFamily="34" charset="-120"/>
              </a:rPr>
              <a:t>✦  Understands Hindi or English voice in seconds.</a:t>
            </a:r>
            <a:endParaRPr lang="en-US" sz="1350" dirty="0"/>
          </a:p>
          <a:p>
            <a:pPr indent="0" marL="0">
              <a:spcAft>
                <a:spcPts val="600"/>
              </a:spcAft>
              <a:buNone/>
            </a:pPr>
            <a:r>
              <a:rPr lang="en-US" sz="1350" dirty="0">
                <a:solidFill>
                  <a:srgbClr val="FFFFFF"/>
                </a:solidFill>
                <a:latin typeface="Calibri" pitchFamily="34" charset="0"/>
                <a:ea typeface="Calibri" pitchFamily="34" charset="-122"/>
                <a:cs typeface="Calibri" pitchFamily="34" charset="-120"/>
              </a:rPr>
              <a:t>✦  Shows only hospitals with the right specialist, bed and blood – live.</a:t>
            </a:r>
            <a:endParaRPr lang="en-US" sz="1350" dirty="0"/>
          </a:p>
          <a:p>
            <a:pPr indent="0" marL="0">
              <a:spcAft>
                <a:spcPts val="600"/>
              </a:spcAft>
              <a:buNone/>
            </a:pPr>
            <a:r>
              <a:rPr lang="en-US" sz="1350" dirty="0">
                <a:solidFill>
                  <a:srgbClr val="FFFFFF"/>
                </a:solidFill>
                <a:latin typeface="Calibri" pitchFamily="34" charset="0"/>
                <a:ea typeface="Calibri" pitchFamily="34" charset="-122"/>
                <a:cs typeface="Calibri" pitchFamily="34" charset="-120"/>
              </a:rPr>
              <a:t>✦  Hospital accepts and reserves a bay before the family leaves.</a:t>
            </a:r>
            <a:endParaRPr lang="en-US" sz="1350" dirty="0"/>
          </a:p>
          <a:p>
            <a:pPr indent="0" marL="0">
              <a:spcAft>
                <a:spcPts val="600"/>
              </a:spcAft>
              <a:buNone/>
            </a:pPr>
            <a:r>
              <a:rPr lang="en-US" sz="1350" dirty="0">
                <a:solidFill>
                  <a:srgbClr val="FFFFFF"/>
                </a:solidFill>
                <a:latin typeface="Calibri" pitchFamily="34" charset="0"/>
                <a:ea typeface="Calibri" pitchFamily="34" charset="-122"/>
                <a:cs typeface="Calibri" pitchFamily="34" charset="-120"/>
              </a:rPr>
              <a:t>✦  Hands the case to 108 / 102 and tracks the ambulance.</a:t>
            </a:r>
            <a:endParaRPr lang="en-US" sz="1350" dirty="0"/>
          </a:p>
        </p:txBody>
      </p:sp>
      <p:sp>
        <p:nvSpPr>
          <p:cNvPr id="46" name="box"/>
          <p:cNvSpPr/>
          <p:nvPr/>
        </p:nvSpPr>
        <p:spPr>
          <a:xfrm>
            <a:off x="365760" y="4343400"/>
            <a:ext cx="3794760" cy="2240280"/>
          </a:xfrm>
          <a:prstGeom prst="roundRect">
            <a:avLst>
              <a:gd name="adj" fmla="val 4898"/>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pic>
        <p:nvPicPr>
          <p:cNvPr id="47" name="hospital dashboard and citizen phone" descr="/tmp/claude-0/-home-user-Sehat-Setu/b06e8423-ed6e-57c3-bbb1-ac94b2a1720d/scratchpad/ppt10/art/tablet-phone.png">    </p:cNvPr>
          <p:cNvPicPr>
            <a:picLocks noChangeAspect="1"/>
          </p:cNvPicPr>
          <p:nvPr/>
        </p:nvPicPr>
        <p:blipFill>
          <a:blip r:embed="rId3"/>
          <a:stretch>
            <a:fillRect/>
          </a:stretch>
        </p:blipFill>
        <p:spPr>
          <a:xfrm>
            <a:off x="475488" y="4416552"/>
            <a:ext cx="3584448" cy="2150669"/>
          </a:xfrm>
          <a:prstGeom prst="rect">
            <a:avLst/>
          </a:prstGeom>
        </p:spPr>
      </p:pic>
      <p:sp>
        <p:nvSpPr>
          <p:cNvPr id="48" name="box"/>
          <p:cNvSpPr/>
          <p:nvPr/>
        </p:nvSpPr>
        <p:spPr>
          <a:xfrm>
            <a:off x="8046720" y="4343400"/>
            <a:ext cx="3794760" cy="2240280"/>
          </a:xfrm>
          <a:prstGeom prst="roundRect">
            <a:avLst>
              <a:gd name="adj" fmla="val 4898"/>
            </a:avLst>
          </a:prstGeom>
          <a:solidFill>
            <a:srgbClr val="F1F5FB"/>
          </a:solidFill>
          <a:ln w="12700">
            <a:solidFill>
              <a:srgbClr val="C5D3E6"/>
            </a:solidFill>
            <a:prstDash val="solid"/>
          </a:ln>
          <a:effectLst>
            <a:outerShdw sx="100000" sy="100000" kx="0" ky="0" algn="bl" rotWithShape="0" blurRad="101600" dist="25400" dir="5400000">
              <a:srgbClr val="0F172A">
                <a:alpha val="13000"/>
              </a:srgbClr>
            </a:outerShdw>
          </a:effectLst>
        </p:spPr>
      </p:sp>
      <p:sp>
        <p:nvSpPr>
          <p:cNvPr id="49" name="Text 44"/>
          <p:cNvSpPr txBox="1"/>
          <p:nvPr/>
        </p:nvSpPr>
        <p:spPr>
          <a:xfrm>
            <a:off x="8046720" y="4434840"/>
            <a:ext cx="3794760" cy="320040"/>
          </a:xfrm>
          <a:prstGeom prst="rect">
            <a:avLst/>
          </a:prstGeom>
          <a:noFill/>
          <a:ln/>
        </p:spPr>
        <p:txBody>
          <a:bodyPr wrap="square" lIns="0" tIns="0" rIns="0" bIns="0" rtlCol="0" anchor="t"/>
          <a:lstStyle/>
          <a:p>
            <a:pPr algn="ctr" indent="0" marL="0">
              <a:buNone/>
            </a:pPr>
            <a:r>
              <a:rPr lang="en-US" sz="1600" b="1" dirty="0">
                <a:solidFill>
                  <a:srgbClr val="14325C"/>
                </a:solidFill>
                <a:latin typeface="Arial" pitchFamily="34" charset="0"/>
                <a:ea typeface="Arial" pitchFamily="34" charset="-122"/>
                <a:cs typeface="Arial" pitchFamily="34" charset="-120"/>
              </a:rPr>
              <a:t>Why Medreach?</a:t>
            </a:r>
            <a:endParaRPr lang="en-US" sz="1600" dirty="0"/>
          </a:p>
        </p:txBody>
      </p:sp>
      <p:sp>
        <p:nvSpPr>
          <p:cNvPr id="50" name="icon circle"/>
          <p:cNvSpPr/>
          <p:nvPr/>
        </p:nvSpPr>
        <p:spPr>
          <a:xfrm>
            <a:off x="8257032" y="4846320"/>
            <a:ext cx="548640" cy="548640"/>
          </a:xfrm>
          <a:prstGeom prst="ellipse">
            <a:avLst/>
          </a:prstGeom>
          <a:solidFill>
            <a:srgbClr val="14325C"/>
          </a:solidFill>
          <a:ln w="6350">
            <a:solidFill>
              <a:srgbClr val="14325C"/>
            </a:solidFill>
            <a:prstDash val="solid"/>
          </a:ln>
        </p:spPr>
      </p:sp>
      <p:pic>
        <p:nvPicPr>
          <p:cNvPr id="51" name="icon" descr="preencoded.png">    </p:cNvPr>
          <p:cNvPicPr>
            <a:picLocks noChangeAspect="1"/>
          </p:cNvPicPr>
          <p:nvPr/>
        </p:nvPicPr>
        <p:blipFill>
          <a:blip r:embed="rId4"/>
          <a:stretch>
            <a:fillRect/>
          </a:stretch>
        </p:blipFill>
        <p:spPr>
          <a:xfrm>
            <a:off x="8377733" y="4967021"/>
            <a:ext cx="307238" cy="307238"/>
          </a:xfrm>
          <a:prstGeom prst="rect">
            <a:avLst/>
          </a:prstGeom>
        </p:spPr>
      </p:pic>
      <p:sp>
        <p:nvSpPr>
          <p:cNvPr id="52" name="Text 46"/>
          <p:cNvSpPr txBox="1"/>
          <p:nvPr/>
        </p:nvSpPr>
        <p:spPr>
          <a:xfrm>
            <a:off x="8156448" y="5440680"/>
            <a:ext cx="749808" cy="384048"/>
          </a:xfrm>
          <a:prstGeom prst="rect">
            <a:avLst/>
          </a:prstGeom>
          <a:noFill/>
          <a:ln/>
        </p:spPr>
        <p:txBody>
          <a:bodyPr wrap="square" lIns="0" tIns="0" rIns="0" bIns="0" rtlCol="0" anchor="t"/>
          <a:lstStyle/>
          <a:p>
            <a:pPr algn="ctr" indent="0" marL="0">
              <a:buNone/>
            </a:pPr>
            <a:r>
              <a:rPr lang="en-US" sz="1000" b="1" dirty="0">
                <a:solidFill>
                  <a:srgbClr val="0F172A"/>
                </a:solidFill>
                <a:latin typeface="Calibri" pitchFamily="34" charset="0"/>
                <a:ea typeface="Calibri" pitchFamily="34" charset="-122"/>
                <a:cs typeface="Calibri" pitchFamily="34" charset="-120"/>
              </a:rPr>
              <a:t>Right hospital</a:t>
            </a:r>
            <a:endParaRPr lang="en-US" sz="1000" dirty="0"/>
          </a:p>
        </p:txBody>
      </p:sp>
      <p:sp>
        <p:nvSpPr>
          <p:cNvPr id="53" name="icon circle"/>
          <p:cNvSpPr/>
          <p:nvPr/>
        </p:nvSpPr>
        <p:spPr>
          <a:xfrm>
            <a:off x="8979408" y="4846320"/>
            <a:ext cx="548640" cy="548640"/>
          </a:xfrm>
          <a:prstGeom prst="ellipse">
            <a:avLst/>
          </a:prstGeom>
          <a:solidFill>
            <a:srgbClr val="0F8B8D"/>
          </a:solidFill>
          <a:ln w="6350">
            <a:solidFill>
              <a:srgbClr val="0F8B8D"/>
            </a:solidFill>
            <a:prstDash val="solid"/>
          </a:ln>
        </p:spPr>
      </p:sp>
      <p:pic>
        <p:nvPicPr>
          <p:cNvPr id="54" name="icon" descr="preencoded.png">    </p:cNvPr>
          <p:cNvPicPr>
            <a:picLocks noChangeAspect="1"/>
          </p:cNvPicPr>
          <p:nvPr/>
        </p:nvPicPr>
        <p:blipFill>
          <a:blip r:embed="rId5"/>
          <a:stretch>
            <a:fillRect/>
          </a:stretch>
        </p:blipFill>
        <p:spPr>
          <a:xfrm>
            <a:off x="9100109" y="4967021"/>
            <a:ext cx="307238" cy="307238"/>
          </a:xfrm>
          <a:prstGeom prst="rect">
            <a:avLst/>
          </a:prstGeom>
        </p:spPr>
      </p:pic>
      <p:sp>
        <p:nvSpPr>
          <p:cNvPr id="55" name="Text 48"/>
          <p:cNvSpPr txBox="1"/>
          <p:nvPr/>
        </p:nvSpPr>
        <p:spPr>
          <a:xfrm>
            <a:off x="8878824" y="5440680"/>
            <a:ext cx="749808" cy="384048"/>
          </a:xfrm>
          <a:prstGeom prst="rect">
            <a:avLst/>
          </a:prstGeom>
          <a:noFill/>
          <a:ln/>
        </p:spPr>
        <p:txBody>
          <a:bodyPr wrap="square" lIns="0" tIns="0" rIns="0" bIns="0" rtlCol="0" anchor="t"/>
          <a:lstStyle/>
          <a:p>
            <a:pPr algn="ctr" indent="0" marL="0">
              <a:buNone/>
            </a:pPr>
            <a:r>
              <a:rPr lang="en-US" sz="1000" b="1" dirty="0">
                <a:solidFill>
                  <a:srgbClr val="0F172A"/>
                </a:solidFill>
                <a:latin typeface="Calibri" pitchFamily="34" charset="0"/>
                <a:ea typeface="Calibri" pitchFamily="34" charset="-122"/>
                <a:cs typeface="Calibri" pitchFamily="34" charset="-120"/>
              </a:rPr>
              <a:t>Accept first</a:t>
            </a:r>
            <a:endParaRPr lang="en-US" sz="1000" dirty="0"/>
          </a:p>
        </p:txBody>
      </p:sp>
      <p:sp>
        <p:nvSpPr>
          <p:cNvPr id="56" name="icon circle"/>
          <p:cNvSpPr/>
          <p:nvPr/>
        </p:nvSpPr>
        <p:spPr>
          <a:xfrm>
            <a:off x="9701784" y="4846320"/>
            <a:ext cx="548640" cy="548640"/>
          </a:xfrm>
          <a:prstGeom prst="ellipse">
            <a:avLst/>
          </a:prstGeom>
          <a:solidFill>
            <a:srgbClr val="E8711C"/>
          </a:solidFill>
          <a:ln w="6350">
            <a:solidFill>
              <a:srgbClr val="E8711C"/>
            </a:solidFill>
            <a:prstDash val="solid"/>
          </a:ln>
        </p:spPr>
      </p:sp>
      <p:pic>
        <p:nvPicPr>
          <p:cNvPr id="57" name="icon" descr="preencoded.png">    </p:cNvPr>
          <p:cNvPicPr>
            <a:picLocks noChangeAspect="1"/>
          </p:cNvPicPr>
          <p:nvPr/>
        </p:nvPicPr>
        <p:blipFill>
          <a:blip r:embed="rId6"/>
          <a:stretch>
            <a:fillRect/>
          </a:stretch>
        </p:blipFill>
        <p:spPr>
          <a:xfrm>
            <a:off x="9822485" y="4967021"/>
            <a:ext cx="307238" cy="307238"/>
          </a:xfrm>
          <a:prstGeom prst="rect">
            <a:avLst/>
          </a:prstGeom>
        </p:spPr>
      </p:pic>
      <p:sp>
        <p:nvSpPr>
          <p:cNvPr id="58" name="Text 50"/>
          <p:cNvSpPr txBox="1"/>
          <p:nvPr/>
        </p:nvSpPr>
        <p:spPr>
          <a:xfrm>
            <a:off x="9601200" y="5440680"/>
            <a:ext cx="749808" cy="384048"/>
          </a:xfrm>
          <a:prstGeom prst="rect">
            <a:avLst/>
          </a:prstGeom>
          <a:noFill/>
          <a:ln/>
        </p:spPr>
        <p:txBody>
          <a:bodyPr wrap="square" lIns="0" tIns="0" rIns="0" bIns="0" rtlCol="0" anchor="t"/>
          <a:lstStyle/>
          <a:p>
            <a:pPr algn="ctr" indent="0" marL="0">
              <a:buNone/>
            </a:pPr>
            <a:r>
              <a:rPr lang="en-US" sz="1000" b="1" dirty="0">
                <a:solidFill>
                  <a:srgbClr val="0F172A"/>
                </a:solidFill>
                <a:latin typeface="Calibri" pitchFamily="34" charset="0"/>
                <a:ea typeface="Calibri" pitchFamily="34" charset="-122"/>
                <a:cs typeface="Calibri" pitchFamily="34" charset="-120"/>
              </a:rPr>
              <a:t>108 linked</a:t>
            </a:r>
            <a:endParaRPr lang="en-US" sz="1000" dirty="0"/>
          </a:p>
        </p:txBody>
      </p:sp>
      <p:sp>
        <p:nvSpPr>
          <p:cNvPr id="59" name="icon circle"/>
          <p:cNvSpPr/>
          <p:nvPr/>
        </p:nvSpPr>
        <p:spPr>
          <a:xfrm>
            <a:off x="10424160" y="4846320"/>
            <a:ext cx="548640" cy="548640"/>
          </a:xfrm>
          <a:prstGeom prst="ellipse">
            <a:avLst/>
          </a:prstGeom>
          <a:solidFill>
            <a:srgbClr val="6B46C1"/>
          </a:solidFill>
          <a:ln w="6350">
            <a:solidFill>
              <a:srgbClr val="6B46C1"/>
            </a:solidFill>
            <a:prstDash val="solid"/>
          </a:ln>
        </p:spPr>
      </p:sp>
      <p:pic>
        <p:nvPicPr>
          <p:cNvPr id="60" name="icon" descr="preencoded.png">    </p:cNvPr>
          <p:cNvPicPr>
            <a:picLocks noChangeAspect="1"/>
          </p:cNvPicPr>
          <p:nvPr/>
        </p:nvPicPr>
        <p:blipFill>
          <a:blip r:embed="rId7"/>
          <a:stretch>
            <a:fillRect/>
          </a:stretch>
        </p:blipFill>
        <p:spPr>
          <a:xfrm>
            <a:off x="10544861" y="4967021"/>
            <a:ext cx="307238" cy="307238"/>
          </a:xfrm>
          <a:prstGeom prst="rect">
            <a:avLst/>
          </a:prstGeom>
        </p:spPr>
      </p:pic>
      <p:sp>
        <p:nvSpPr>
          <p:cNvPr id="61" name="Text 52"/>
          <p:cNvSpPr txBox="1"/>
          <p:nvPr/>
        </p:nvSpPr>
        <p:spPr>
          <a:xfrm>
            <a:off x="10323576" y="5440680"/>
            <a:ext cx="749808" cy="384048"/>
          </a:xfrm>
          <a:prstGeom prst="rect">
            <a:avLst/>
          </a:prstGeom>
          <a:noFill/>
          <a:ln/>
        </p:spPr>
        <p:txBody>
          <a:bodyPr wrap="square" lIns="0" tIns="0" rIns="0" bIns="0" rtlCol="0" anchor="t"/>
          <a:lstStyle/>
          <a:p>
            <a:pPr algn="ctr" indent="0" marL="0">
              <a:buNone/>
            </a:pPr>
            <a:r>
              <a:rPr lang="en-US" sz="1000" b="1" dirty="0">
                <a:solidFill>
                  <a:srgbClr val="0F172A"/>
                </a:solidFill>
                <a:latin typeface="Calibri" pitchFamily="34" charset="0"/>
                <a:ea typeface="Calibri" pitchFamily="34" charset="-122"/>
                <a:cs typeface="Calibri" pitchFamily="34" charset="-120"/>
              </a:rPr>
              <a:t>Works on 2G</a:t>
            </a:r>
            <a:endParaRPr lang="en-US" sz="1000" dirty="0"/>
          </a:p>
        </p:txBody>
      </p:sp>
      <p:sp>
        <p:nvSpPr>
          <p:cNvPr id="62" name="icon circle"/>
          <p:cNvSpPr/>
          <p:nvPr/>
        </p:nvSpPr>
        <p:spPr>
          <a:xfrm>
            <a:off x="11146536" y="4846320"/>
            <a:ext cx="548640" cy="548640"/>
          </a:xfrm>
          <a:prstGeom prst="ellipse">
            <a:avLst/>
          </a:prstGeom>
          <a:solidFill>
            <a:srgbClr val="2E7D32"/>
          </a:solidFill>
          <a:ln w="6350">
            <a:solidFill>
              <a:srgbClr val="2E7D32"/>
            </a:solidFill>
            <a:prstDash val="solid"/>
          </a:ln>
        </p:spPr>
      </p:sp>
      <p:pic>
        <p:nvPicPr>
          <p:cNvPr id="63" name="icon" descr="preencoded.png">    </p:cNvPr>
          <p:cNvPicPr>
            <a:picLocks noChangeAspect="1"/>
          </p:cNvPicPr>
          <p:nvPr/>
        </p:nvPicPr>
        <p:blipFill>
          <a:blip r:embed="rId8"/>
          <a:stretch>
            <a:fillRect/>
          </a:stretch>
        </p:blipFill>
        <p:spPr>
          <a:xfrm>
            <a:off x="11267237" y="4967021"/>
            <a:ext cx="307238" cy="307238"/>
          </a:xfrm>
          <a:prstGeom prst="rect">
            <a:avLst/>
          </a:prstGeom>
        </p:spPr>
      </p:pic>
      <p:sp>
        <p:nvSpPr>
          <p:cNvPr id="64" name="Text 54"/>
          <p:cNvSpPr txBox="1"/>
          <p:nvPr/>
        </p:nvSpPr>
        <p:spPr>
          <a:xfrm>
            <a:off x="11045952" y="5440680"/>
            <a:ext cx="749808" cy="384048"/>
          </a:xfrm>
          <a:prstGeom prst="rect">
            <a:avLst/>
          </a:prstGeom>
          <a:noFill/>
          <a:ln/>
        </p:spPr>
        <p:txBody>
          <a:bodyPr wrap="square" lIns="0" tIns="0" rIns="0" bIns="0" rtlCol="0" anchor="t"/>
          <a:lstStyle/>
          <a:p>
            <a:pPr algn="ctr" indent="0" marL="0">
              <a:buNone/>
            </a:pPr>
            <a:r>
              <a:rPr lang="en-US" sz="1000" b="1" dirty="0">
                <a:solidFill>
                  <a:srgbClr val="0F172A"/>
                </a:solidFill>
                <a:latin typeface="Calibri" pitchFamily="34" charset="0"/>
                <a:ea typeface="Calibri" pitchFamily="34" charset="-122"/>
                <a:cs typeface="Calibri" pitchFamily="34" charset="-120"/>
              </a:rPr>
              <a:t>Secure data</a:t>
            </a:r>
            <a:endParaRPr lang="en-US" sz="1000" dirty="0"/>
          </a:p>
        </p:txBody>
      </p:sp>
      <p:sp>
        <p:nvSpPr>
          <p:cNvPr id="65" name="box"/>
          <p:cNvSpPr/>
          <p:nvPr/>
        </p:nvSpPr>
        <p:spPr>
          <a:xfrm>
            <a:off x="8183880" y="6016752"/>
            <a:ext cx="3520440" cy="411480"/>
          </a:xfrm>
          <a:prstGeom prst="roundRect">
            <a:avLst>
              <a:gd name="adj" fmla="val 17778"/>
            </a:avLst>
          </a:prstGeom>
          <a:solidFill>
            <a:srgbClr val="14325C"/>
          </a:solidFill>
          <a:ln w="12700">
            <a:solidFill>
              <a:srgbClr val="14325C"/>
            </a:solidFill>
            <a:prstDash val="solid"/>
          </a:ln>
        </p:spPr>
      </p:sp>
      <p:sp>
        <p:nvSpPr>
          <p:cNvPr id="66" name="Text 56"/>
          <p:cNvSpPr txBox="1"/>
          <p:nvPr/>
        </p:nvSpPr>
        <p:spPr>
          <a:xfrm>
            <a:off x="8183880" y="6016752"/>
            <a:ext cx="3520440" cy="4114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Every emergency, a confirmed bed</a:t>
            </a:r>
            <a:endParaRPr lang="en-US" sz="1250" dirty="0"/>
          </a:p>
        </p:txBody>
      </p:sp>
      <p:sp>
        <p:nvSpPr>
          <p:cNvPr id="25" name="Slide Number Placeholder 0"/>
          <p:cNvSpPr>
            <a:spLocks noGrp="1"/>
          </p:cNvSpPr>
          <p:nvPr>
            <p:ph type="sldNum" sz="quarter" idx="4294967295"/>
          </p:nvPr>
        </p:nvSpPr>
        <p:spPr>
          <a:xfrm>
            <a:off x="11475720" y="651052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am badge"/>
          <p:cNvSpPr/>
          <p:nvPr/>
        </p:nvSpPr>
        <p:spPr>
          <a:xfrm>
            <a:off x="320040" y="201168"/>
            <a:ext cx="1645920" cy="777240"/>
          </a:xfrm>
          <a:prstGeom prst="ellipse">
            <a:avLst/>
          </a:prstGeom>
          <a:solidFill>
            <a:srgbClr val="FFFFFF"/>
          </a:solidFill>
          <a:ln w="19050">
            <a:solidFill>
              <a:srgbClr val="6B46C1"/>
            </a:solidFill>
            <a:prstDash val="solid"/>
          </a:ln>
        </p:spPr>
      </p:sp>
      <p:sp>
        <p:nvSpPr>
          <p:cNvPr id="3" name="Text 1"/>
          <p:cNvSpPr txBox="1"/>
          <p:nvPr/>
        </p:nvSpPr>
        <p:spPr>
          <a:xfrm>
            <a:off x="320040" y="201168"/>
            <a:ext cx="1645920" cy="777240"/>
          </a:xfrm>
          <a:prstGeom prst="rect">
            <a:avLst/>
          </a:prstGeom>
          <a:noFill/>
          <a:ln/>
        </p:spPr>
        <p:txBody>
          <a:bodyPr wrap="square" lIns="0" tIns="0" rIns="0" bIns="0" rtlCol="0" anchor="ctr"/>
          <a:lstStyle/>
          <a:p>
            <a:pPr algn="ctr" indent="0" marL="0">
              <a:buNone/>
            </a:pPr>
            <a:r>
              <a:rPr lang="en-US" sz="1250" dirty="0">
                <a:solidFill>
                  <a:srgbClr val="0F172A"/>
                </a:solidFill>
                <a:latin typeface="Calibri" pitchFamily="34" charset="0"/>
                <a:ea typeface="Calibri" pitchFamily="34" charset="-122"/>
                <a:cs typeface="Calibri" pitchFamily="34" charset="-120"/>
              </a:rPr>
              <a:t>TEAM</a:t>
            </a:r>
            <a:endParaRPr lang="en-US" sz="1250" dirty="0"/>
          </a:p>
          <a:p>
            <a:pPr algn="ctr" indent="0" marL="0">
              <a:buNone/>
            </a:pPr>
            <a:r>
              <a:rPr lang="en-US" sz="1250" dirty="0">
                <a:solidFill>
                  <a:srgbClr val="0F172A"/>
                </a:solidFill>
                <a:latin typeface="Calibri" pitchFamily="34" charset="0"/>
                <a:ea typeface="Calibri" pitchFamily="34" charset="-122"/>
                <a:cs typeface="Calibri" pitchFamily="34" charset="-120"/>
              </a:rPr>
              <a:t>MEDREACH</a:t>
            </a:r>
            <a:endParaRPr lang="en-US" sz="1250" dirty="0"/>
          </a:p>
        </p:txBody>
      </p:sp>
      <p:sp>
        <p:nvSpPr>
          <p:cNvPr id="4" name="Text 0"/>
          <p:cNvSpPr/>
          <p:nvPr>
            <p:ph idx="100" type="title" hasCustomPrompt="1"/>
          </p:nvPr>
        </p:nvSpPr>
        <p:spPr>
          <a:xfrm>
            <a:off x="2148840" y="201168"/>
            <a:ext cx="7863840" cy="777240"/>
          </a:xfrm>
          <a:prstGeom prst="rect">
            <a:avLst/>
          </a:prstGeom>
          <a:noFill/>
          <a:ln/>
        </p:spPr>
        <p:txBody>
          <a:bodyPr wrap="square" lIns="0" tIns="0" rIns="0" bIns="0" rtlCol="0" anchor="ctr"/>
          <a:lstStyle/>
          <a:p>
            <a:pPr algn="ctr" indent="0" marL="0">
              <a:buNone/>
            </a:pPr>
            <a:r>
              <a:rPr lang="en-US" sz="3400" b="1" dirty="0">
                <a:solidFill>
                  <a:schemeClr val="tx1"/>
                </a:solidFill>
              </a:rPr>
              <a:t>PROBLEM &amp; OVERVIEW</a:t>
            </a:r>
            <a:endParaRPr lang="en-US" sz="3400" dirty="0"/>
          </a:p>
        </p:txBody>
      </p:sp>
      <p:pic>
        <p:nvPicPr>
          <p:cNvPr id="5" name="Medreach logo" descr="preencoded.png">    </p:cNvPr>
          <p:cNvPicPr>
            <a:picLocks noChangeAspect="1"/>
          </p:cNvPicPr>
          <p:nvPr/>
        </p:nvPicPr>
        <p:blipFill>
          <a:blip r:embed="rId1"/>
          <a:stretch>
            <a:fillRect/>
          </a:stretch>
        </p:blipFill>
        <p:spPr>
          <a:xfrm>
            <a:off x="10195560" y="274320"/>
            <a:ext cx="603504" cy="603504"/>
          </a:xfrm>
          <a:prstGeom prst="rect">
            <a:avLst/>
          </a:prstGeom>
        </p:spPr>
      </p:pic>
      <p:sp>
        <p:nvSpPr>
          <p:cNvPr id="6" name="Text 3"/>
          <p:cNvSpPr txBox="1"/>
          <p:nvPr/>
        </p:nvSpPr>
        <p:spPr>
          <a:xfrm>
            <a:off x="10881360" y="246888"/>
            <a:ext cx="1097280" cy="658368"/>
          </a:xfrm>
          <a:prstGeom prst="rect">
            <a:avLst/>
          </a:prstGeom>
          <a:noFill/>
          <a:ln/>
        </p:spPr>
        <p:txBody>
          <a:bodyPr wrap="square" lIns="0" tIns="0" rIns="0" bIns="0" rtlCol="0" anchor="ctr"/>
          <a:lstStyle/>
          <a:p>
            <a:pPr indent="0" marL="0">
              <a:lnSpc>
                <a:spcPct val="95000"/>
              </a:lnSpc>
              <a:buNone/>
            </a:pPr>
            <a:r>
              <a:rPr lang="en-US" sz="1150" b="1" dirty="0">
                <a:solidFill>
                  <a:srgbClr val="475569"/>
                </a:solidFill>
                <a:latin typeface="Arial" pitchFamily="34" charset="0"/>
                <a:ea typeface="Arial" pitchFamily="34" charset="-122"/>
                <a:cs typeface="Arial" pitchFamily="34" charset="-120"/>
              </a:rPr>
              <a:t>MPONLINE</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HACKATHON</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2026</a:t>
            </a:r>
            <a:endParaRPr lang="en-US" sz="1150" dirty="0"/>
          </a:p>
        </p:txBody>
      </p:sp>
      <p:sp>
        <p:nvSpPr>
          <p:cNvPr id="7" name="box"/>
          <p:cNvSpPr/>
          <p:nvPr/>
        </p:nvSpPr>
        <p:spPr>
          <a:xfrm>
            <a:off x="365760" y="1143000"/>
            <a:ext cx="3703320" cy="2286000"/>
          </a:xfrm>
          <a:prstGeom prst="roundRect">
            <a:avLst>
              <a:gd name="adj" fmla="val 6400"/>
            </a:avLst>
          </a:prstGeom>
          <a:solidFill>
            <a:srgbClr val="FDECEC"/>
          </a:solidFill>
          <a:ln w="12700">
            <a:solidFill>
              <a:srgbClr val="F3BDBD"/>
            </a:solidFill>
            <a:prstDash val="solid"/>
          </a:ln>
          <a:effectLst>
            <a:outerShdw sx="100000" sy="100000" kx="0" ky="0" algn="bl" rotWithShape="0" blurRad="101600" dist="25400" dir="5400000">
              <a:srgbClr val="0F172A">
                <a:alpha val="13000"/>
              </a:srgbClr>
            </a:outerShdw>
          </a:effectLst>
        </p:spPr>
      </p:sp>
      <p:sp>
        <p:nvSpPr>
          <p:cNvPr id="8" name="Text 5"/>
          <p:cNvSpPr txBox="1"/>
          <p:nvPr/>
        </p:nvSpPr>
        <p:spPr>
          <a:xfrm>
            <a:off x="365760" y="1243584"/>
            <a:ext cx="3703320" cy="347472"/>
          </a:xfrm>
          <a:prstGeom prst="rect">
            <a:avLst/>
          </a:prstGeom>
          <a:noFill/>
          <a:ln/>
        </p:spPr>
        <p:txBody>
          <a:bodyPr wrap="square" lIns="0" tIns="0" rIns="0" bIns="0" rtlCol="0" anchor="t"/>
          <a:lstStyle/>
          <a:p>
            <a:pPr algn="ctr" indent="0" marL="0">
              <a:buNone/>
            </a:pPr>
            <a:r>
              <a:rPr lang="en-US" sz="1800" b="1" dirty="0">
                <a:solidFill>
                  <a:srgbClr val="C62828"/>
                </a:solidFill>
                <a:latin typeface="Arial" pitchFamily="34" charset="0"/>
                <a:ea typeface="Arial" pitchFamily="34" charset="-122"/>
                <a:cs typeface="Arial" pitchFamily="34" charset="-120"/>
              </a:rPr>
              <a:t>THE PROBLEM</a:t>
            </a:r>
            <a:endParaRPr lang="en-US" sz="1800" dirty="0"/>
          </a:p>
        </p:txBody>
      </p:sp>
      <p:sp>
        <p:nvSpPr>
          <p:cNvPr id="9" name="box"/>
          <p:cNvSpPr/>
          <p:nvPr/>
        </p:nvSpPr>
        <p:spPr>
          <a:xfrm>
            <a:off x="4242816" y="1143000"/>
            <a:ext cx="3703320" cy="2286000"/>
          </a:xfrm>
          <a:prstGeom prst="roundRect">
            <a:avLst>
              <a:gd name="adj" fmla="val 6400"/>
            </a:avLst>
          </a:prstGeom>
          <a:solidFill>
            <a:srgbClr val="FFF1E6"/>
          </a:solidFill>
          <a:ln w="12700">
            <a:solidFill>
              <a:srgbClr val="F8CFAE"/>
            </a:solidFill>
            <a:prstDash val="solid"/>
          </a:ln>
          <a:effectLst>
            <a:outerShdw sx="100000" sy="100000" kx="0" ky="0" algn="bl" rotWithShape="0" blurRad="101600" dist="25400" dir="5400000">
              <a:srgbClr val="0F172A">
                <a:alpha val="13000"/>
              </a:srgbClr>
            </a:outerShdw>
          </a:effectLst>
        </p:spPr>
      </p:sp>
      <p:sp>
        <p:nvSpPr>
          <p:cNvPr id="10" name="Text 7"/>
          <p:cNvSpPr txBox="1"/>
          <p:nvPr/>
        </p:nvSpPr>
        <p:spPr>
          <a:xfrm>
            <a:off x="4242816" y="1243584"/>
            <a:ext cx="3703320" cy="347472"/>
          </a:xfrm>
          <a:prstGeom prst="rect">
            <a:avLst/>
          </a:prstGeom>
          <a:noFill/>
          <a:ln/>
        </p:spPr>
        <p:txBody>
          <a:bodyPr wrap="square" lIns="0" tIns="0" rIns="0" bIns="0" rtlCol="0" anchor="t"/>
          <a:lstStyle/>
          <a:p>
            <a:pPr algn="ctr" indent="0" marL="0">
              <a:buNone/>
            </a:pPr>
            <a:r>
              <a:rPr lang="en-US" sz="1800" b="1" dirty="0">
                <a:solidFill>
                  <a:srgbClr val="E8711C"/>
                </a:solidFill>
                <a:latin typeface="Arial" pitchFamily="34" charset="0"/>
                <a:ea typeface="Arial" pitchFamily="34" charset="-122"/>
                <a:cs typeface="Arial" pitchFamily="34" charset="-120"/>
              </a:rPr>
              <a:t>ROOT CAUSES</a:t>
            </a:r>
            <a:endParaRPr lang="en-US" sz="1800" dirty="0"/>
          </a:p>
        </p:txBody>
      </p:sp>
      <p:sp>
        <p:nvSpPr>
          <p:cNvPr id="11" name="box"/>
          <p:cNvSpPr/>
          <p:nvPr/>
        </p:nvSpPr>
        <p:spPr>
          <a:xfrm>
            <a:off x="8119872" y="1143000"/>
            <a:ext cx="3703320" cy="2286000"/>
          </a:xfrm>
          <a:prstGeom prst="roundRect">
            <a:avLst>
              <a:gd name="adj" fmla="val 6400"/>
            </a:avLst>
          </a:prstGeom>
          <a:solidFill>
            <a:srgbClr val="EAF2FB"/>
          </a:solidFill>
          <a:ln w="12700">
            <a:solidFill>
              <a:srgbClr val="BFD5F0"/>
            </a:solidFill>
            <a:prstDash val="solid"/>
          </a:ln>
          <a:effectLst>
            <a:outerShdw sx="100000" sy="100000" kx="0" ky="0" algn="bl" rotWithShape="0" blurRad="101600" dist="25400" dir="5400000">
              <a:srgbClr val="0F172A">
                <a:alpha val="13000"/>
              </a:srgbClr>
            </a:outerShdw>
          </a:effectLst>
        </p:spPr>
      </p:sp>
      <p:sp>
        <p:nvSpPr>
          <p:cNvPr id="12" name="Text 9"/>
          <p:cNvSpPr txBox="1"/>
          <p:nvPr/>
        </p:nvSpPr>
        <p:spPr>
          <a:xfrm>
            <a:off x="8119872" y="1243584"/>
            <a:ext cx="3703320" cy="347472"/>
          </a:xfrm>
          <a:prstGeom prst="rect">
            <a:avLst/>
          </a:prstGeom>
          <a:noFill/>
          <a:ln/>
        </p:spPr>
        <p:txBody>
          <a:bodyPr wrap="square" lIns="0" tIns="0" rIns="0" bIns="0" rtlCol="0" anchor="t"/>
          <a:lstStyle/>
          <a:p>
            <a:pPr algn="ctr" indent="0" marL="0">
              <a:buNone/>
            </a:pPr>
            <a:r>
              <a:rPr lang="en-US" sz="1800" b="1" dirty="0">
                <a:solidFill>
                  <a:srgbClr val="1F64B4"/>
                </a:solidFill>
                <a:latin typeface="Arial" pitchFamily="34" charset="0"/>
                <a:ea typeface="Arial" pitchFamily="34" charset="-122"/>
                <a:cs typeface="Arial" pitchFamily="34" charset="-120"/>
              </a:rPr>
              <a:t>WHO IS AFFECTED</a:t>
            </a:r>
            <a:endParaRPr lang="en-US" sz="1800" dirty="0"/>
          </a:p>
        </p:txBody>
      </p:sp>
      <p:sp>
        <p:nvSpPr>
          <p:cNvPr id="13" name="Text 10"/>
          <p:cNvSpPr txBox="1"/>
          <p:nvPr/>
        </p:nvSpPr>
        <p:spPr>
          <a:xfrm>
            <a:off x="365760" y="1627632"/>
            <a:ext cx="3703320" cy="566928"/>
          </a:xfrm>
          <a:prstGeom prst="rect">
            <a:avLst/>
          </a:prstGeom>
          <a:noFill/>
          <a:ln/>
        </p:spPr>
        <p:txBody>
          <a:bodyPr wrap="square" lIns="0" tIns="0" rIns="0" bIns="0" rtlCol="0" anchor="t"/>
          <a:lstStyle/>
          <a:p>
            <a:pPr algn="ctr" indent="0" marL="0">
              <a:buNone/>
            </a:pPr>
            <a:r>
              <a:rPr lang="en-US" sz="3800" b="1" dirty="0">
                <a:solidFill>
                  <a:srgbClr val="C62828"/>
                </a:solidFill>
                <a:latin typeface="Arial" pitchFamily="34" charset="0"/>
                <a:ea typeface="Arial" pitchFamily="34" charset="-122"/>
                <a:cs typeface="Arial" pitchFamily="34" charset="-120"/>
              </a:rPr>
              <a:t>1,68,491</a:t>
            </a:r>
            <a:endParaRPr lang="en-US" sz="3800" dirty="0"/>
          </a:p>
        </p:txBody>
      </p:sp>
      <p:sp>
        <p:nvSpPr>
          <p:cNvPr id="14" name="Text 11"/>
          <p:cNvSpPr txBox="1"/>
          <p:nvPr/>
        </p:nvSpPr>
        <p:spPr>
          <a:xfrm>
            <a:off x="548640" y="2240280"/>
            <a:ext cx="3337560" cy="1143000"/>
          </a:xfrm>
          <a:prstGeom prst="rect">
            <a:avLst/>
          </a:prstGeom>
          <a:noFill/>
          <a:ln/>
        </p:spPr>
        <p:txBody>
          <a:bodyPr wrap="square" lIns="0" tIns="0" rIns="0" bIns="0" rtlCol="0" anchor="t"/>
          <a:lstStyle/>
          <a:p>
            <a:pPr algn="ctr" indent="0" marL="0">
              <a:spcAft>
                <a:spcPts val="300"/>
              </a:spcAft>
              <a:buNone/>
            </a:pPr>
            <a:r>
              <a:rPr lang="en-US" sz="1300" b="1" dirty="0">
                <a:solidFill>
                  <a:srgbClr val="0F172A"/>
                </a:solidFill>
                <a:latin typeface="Calibri" pitchFamily="34" charset="0"/>
                <a:ea typeface="Calibri" pitchFamily="34" charset="-122"/>
                <a:cs typeface="Calibri" pitchFamily="34" charset="-120"/>
              </a:rPr>
              <a:t>road-accident deaths in India in 2022</a:t>
            </a:r>
            <a:endParaRPr lang="en-US" sz="1300" dirty="0"/>
          </a:p>
          <a:p>
            <a:pPr algn="ctr" indent="0" marL="0">
              <a:spcAft>
                <a:spcPts val="300"/>
              </a:spcAft>
              <a:buNone/>
            </a:pPr>
            <a:r>
              <a:rPr lang="en-US" sz="1000" dirty="0">
                <a:solidFill>
                  <a:srgbClr val="64748B"/>
                </a:solidFill>
                <a:latin typeface="Calibri" pitchFamily="34" charset="0"/>
                <a:ea typeface="Calibri" pitchFamily="34" charset="-122"/>
                <a:cs typeface="Calibri" pitchFamily="34" charset="-120"/>
              </a:rPr>
              <a:t>Source: MoRTH, Road Accidents in India 2022</a:t>
            </a:r>
            <a:endParaRPr lang="en-US" sz="1300" dirty="0"/>
          </a:p>
          <a:p>
            <a:pPr algn="ctr" indent="0" marL="0">
              <a:spcAft>
                <a:spcPts val="300"/>
              </a:spcAft>
              <a:buNone/>
            </a:pPr>
            <a:r>
              <a:rPr lang="en-US" sz="1150" dirty="0">
                <a:solidFill>
                  <a:srgbClr val="334155"/>
                </a:solidFill>
                <a:latin typeface="Calibri" pitchFamily="34" charset="0"/>
                <a:ea typeface="Calibri" pitchFamily="34" charset="-122"/>
                <a:cs typeface="Calibri" pitchFamily="34" charset="-120"/>
              </a:rPr>
              <a:t>Heart attacks, strokes, burns and childbirth emergencies face the same delays.</a:t>
            </a:r>
            <a:endParaRPr lang="en-US" sz="1300" dirty="0"/>
          </a:p>
        </p:txBody>
      </p:sp>
      <p:sp>
        <p:nvSpPr>
          <p:cNvPr id="15" name="Text 12"/>
          <p:cNvSpPr txBox="1"/>
          <p:nvPr/>
        </p:nvSpPr>
        <p:spPr>
          <a:xfrm>
            <a:off x="4434840" y="1737360"/>
            <a:ext cx="3383280" cy="1645920"/>
          </a:xfrm>
          <a:prstGeom prst="rect">
            <a:avLst/>
          </a:prstGeom>
          <a:noFill/>
          <a:ln/>
        </p:spPr>
        <p:txBody>
          <a:bodyPr wrap="square" lIns="0" tIns="0" rIns="0" bIns="0" rtlCol="0" anchor="t"/>
          <a:lstStyle/>
          <a:p>
            <a:pPr marL="139700" indent="-1397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Nearest hospital ≠ capable hospital</a:t>
            </a:r>
            <a:endParaRPr lang="en-US" sz="1400" dirty="0"/>
          </a:p>
          <a:p>
            <a:pPr marL="139700" indent="-1397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Bed and doctor data is old – nobody owns it</a:t>
            </a:r>
            <a:endParaRPr lang="en-US" sz="1400" dirty="0"/>
          </a:p>
          <a:p>
            <a:pPr marL="139700" indent="-1397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No acceptance before the patient arrives</a:t>
            </a:r>
            <a:endParaRPr lang="en-US" sz="1400" dirty="0"/>
          </a:p>
          <a:p>
            <a:pPr marL="139700" indent="-1397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Villages have only 2G or no data</a:t>
            </a:r>
            <a:endParaRPr lang="en-US" sz="1400" dirty="0"/>
          </a:p>
        </p:txBody>
      </p:sp>
      <p:sp>
        <p:nvSpPr>
          <p:cNvPr id="16" name="Text 13"/>
          <p:cNvSpPr txBox="1"/>
          <p:nvPr/>
        </p:nvSpPr>
        <p:spPr>
          <a:xfrm>
            <a:off x="8311896" y="1737360"/>
            <a:ext cx="3383280" cy="1645920"/>
          </a:xfrm>
          <a:prstGeom prst="rect">
            <a:avLst/>
          </a:prstGeom>
          <a:noFill/>
          <a:ln/>
        </p:spPr>
        <p:txBody>
          <a:bodyPr wrap="square" lIns="0" tIns="0" rIns="0" bIns="0" rtlCol="0" anchor="t"/>
          <a:lstStyle/>
          <a:p>
            <a:pPr marL="139700" indent="-1397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Patients and families in panic</a:t>
            </a:r>
            <a:endParaRPr lang="en-US" sz="1400" dirty="0"/>
          </a:p>
          <a:p>
            <a:pPr marL="139700" indent="-1397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Rural citizens and ASHA workers</a:t>
            </a:r>
            <a:endParaRPr lang="en-US" sz="1400" dirty="0"/>
          </a:p>
          <a:p>
            <a:pPr marL="139700" indent="-1397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ER teams facing surprise arrivals</a:t>
            </a:r>
            <a:endParaRPr lang="en-US" sz="1400" dirty="0"/>
          </a:p>
          <a:p>
            <a:pPr marL="139700" indent="-139700">
              <a:spcAft>
                <a:spcPts val="1000"/>
              </a:spcAft>
              <a:buSzPct val="100000"/>
              <a:buChar char="•"/>
            </a:pPr>
            <a:r>
              <a:rPr lang="en-US" sz="1400" dirty="0">
                <a:solidFill>
                  <a:srgbClr val="0F172A"/>
                </a:solidFill>
                <a:latin typeface="Calibri" pitchFamily="34" charset="0"/>
                <a:ea typeface="Calibri" pitchFamily="34" charset="-122"/>
                <a:cs typeface="Calibri" pitchFamily="34" charset="-120"/>
              </a:rPr>
              <a:t>108 call-takers re-asking details</a:t>
            </a:r>
            <a:endParaRPr lang="en-US" sz="1400" dirty="0"/>
          </a:p>
        </p:txBody>
      </p:sp>
      <p:sp>
        <p:nvSpPr>
          <p:cNvPr id="17" name="flow line"/>
          <p:cNvSpPr/>
          <p:nvPr/>
        </p:nvSpPr>
        <p:spPr>
          <a:xfrm>
            <a:off x="1097280" y="3822192"/>
            <a:ext cx="10058400" cy="0"/>
          </a:xfrm>
          <a:prstGeom prst="line">
            <a:avLst/>
          </a:prstGeom>
          <a:noFill/>
          <a:ln w="19050">
            <a:solidFill>
              <a:srgbClr val="14325C"/>
            </a:solidFill>
            <a:prstDash val="solid"/>
          </a:ln>
        </p:spPr>
      </p:sp>
      <p:sp>
        <p:nvSpPr>
          <p:cNvPr id="18" name="Text 15"/>
          <p:cNvSpPr txBox="1"/>
          <p:nvPr/>
        </p:nvSpPr>
        <p:spPr>
          <a:xfrm>
            <a:off x="685800" y="3602736"/>
            <a:ext cx="2514600" cy="438912"/>
          </a:xfrm>
          <a:prstGeom prst="roundRect">
            <a:avLst>
              <a:gd name="adj" fmla="val 16667"/>
            </a:avLst>
          </a:prstGeom>
          <a:solidFill>
            <a:srgbClr val="1F64B4"/>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  CITIZEN SPEAKS</a:t>
            </a:r>
            <a:endParaRPr lang="en-US" sz="1300" dirty="0"/>
          </a:p>
        </p:txBody>
      </p:sp>
      <p:sp>
        <p:nvSpPr>
          <p:cNvPr id="19" name="Text 16"/>
          <p:cNvSpPr txBox="1"/>
          <p:nvPr/>
        </p:nvSpPr>
        <p:spPr>
          <a:xfrm>
            <a:off x="3538728" y="3602736"/>
            <a:ext cx="2514600" cy="438912"/>
          </a:xfrm>
          <a:prstGeom prst="roundRect">
            <a:avLst>
              <a:gd name="adj" fmla="val 16667"/>
            </a:avLst>
          </a:prstGeom>
          <a:solidFill>
            <a:srgbClr val="0F8B8D"/>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  MEDREACH MATCHES</a:t>
            </a:r>
            <a:endParaRPr lang="en-US" sz="1300" dirty="0"/>
          </a:p>
        </p:txBody>
      </p:sp>
      <p:sp>
        <p:nvSpPr>
          <p:cNvPr id="20" name="Text 17"/>
          <p:cNvSpPr txBox="1"/>
          <p:nvPr/>
        </p:nvSpPr>
        <p:spPr>
          <a:xfrm>
            <a:off x="6391656" y="3602736"/>
            <a:ext cx="2514600" cy="438912"/>
          </a:xfrm>
          <a:prstGeom prst="roundRect">
            <a:avLst>
              <a:gd name="adj" fmla="val 16667"/>
            </a:avLst>
          </a:prstGeom>
          <a:solidFill>
            <a:srgbClr val="2E7D32"/>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  HOSPITAL ACCEPTS</a:t>
            </a:r>
            <a:endParaRPr lang="en-US" sz="1300" dirty="0"/>
          </a:p>
        </p:txBody>
      </p:sp>
      <p:sp>
        <p:nvSpPr>
          <p:cNvPr id="21" name="Text 18"/>
          <p:cNvSpPr txBox="1"/>
          <p:nvPr/>
        </p:nvSpPr>
        <p:spPr>
          <a:xfrm>
            <a:off x="9244584" y="3602736"/>
            <a:ext cx="2514600" cy="438912"/>
          </a:xfrm>
          <a:prstGeom prst="roundRect">
            <a:avLst>
              <a:gd name="adj" fmla="val 16667"/>
            </a:avLst>
          </a:prstGeom>
          <a:solidFill>
            <a:srgbClr val="C62828"/>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  108 DISPATCHES</a:t>
            </a:r>
            <a:endParaRPr lang="en-US" sz="1300" dirty="0"/>
          </a:p>
        </p:txBody>
      </p:sp>
      <p:sp>
        <p:nvSpPr>
          <p:cNvPr id="22" name="box"/>
          <p:cNvSpPr/>
          <p:nvPr/>
        </p:nvSpPr>
        <p:spPr>
          <a:xfrm>
            <a:off x="365760" y="4251960"/>
            <a:ext cx="2697480" cy="1874520"/>
          </a:xfrm>
          <a:prstGeom prst="roundRect">
            <a:avLst>
              <a:gd name="adj" fmla="val 5854"/>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23" name="icon circle"/>
          <p:cNvSpPr/>
          <p:nvPr/>
        </p:nvSpPr>
        <p:spPr>
          <a:xfrm>
            <a:off x="530352" y="4389120"/>
            <a:ext cx="502920" cy="502920"/>
          </a:xfrm>
          <a:prstGeom prst="ellipse">
            <a:avLst/>
          </a:prstGeom>
          <a:solidFill>
            <a:srgbClr val="1F64B4"/>
          </a:solidFill>
          <a:ln w="6350">
            <a:solidFill>
              <a:srgbClr val="1F64B4"/>
            </a:solidFill>
            <a:prstDash val="solid"/>
          </a:ln>
        </p:spPr>
      </p:sp>
      <p:pic>
        <p:nvPicPr>
          <p:cNvPr id="24" name="icon" descr="preencoded.png">    </p:cNvPr>
          <p:cNvPicPr>
            <a:picLocks noChangeAspect="1"/>
          </p:cNvPicPr>
          <p:nvPr/>
        </p:nvPicPr>
        <p:blipFill>
          <a:blip r:embed="rId2"/>
          <a:stretch>
            <a:fillRect/>
          </a:stretch>
        </p:blipFill>
        <p:spPr>
          <a:xfrm>
            <a:off x="640994" y="4499762"/>
            <a:ext cx="281635" cy="281635"/>
          </a:xfrm>
          <a:prstGeom prst="rect">
            <a:avLst/>
          </a:prstGeom>
        </p:spPr>
      </p:pic>
      <p:sp>
        <p:nvSpPr>
          <p:cNvPr id="25" name="Text 21"/>
          <p:cNvSpPr txBox="1"/>
          <p:nvPr/>
        </p:nvSpPr>
        <p:spPr>
          <a:xfrm>
            <a:off x="1143000" y="4389120"/>
            <a:ext cx="1874520" cy="502920"/>
          </a:xfrm>
          <a:prstGeom prst="rect">
            <a:avLst/>
          </a:prstGeom>
          <a:noFill/>
          <a:ln/>
        </p:spPr>
        <p:txBody>
          <a:bodyPr wrap="square" lIns="0" tIns="0" rIns="0" bIns="0" rtlCol="0" anchor="ctr"/>
          <a:lstStyle/>
          <a:p>
            <a:pPr indent="0" marL="0">
              <a:buNone/>
            </a:pPr>
            <a:r>
              <a:rPr lang="en-US" sz="1350" b="1" dirty="0">
                <a:solidFill>
                  <a:srgbClr val="1F64B4"/>
                </a:solidFill>
                <a:latin typeface="Arial" pitchFamily="34" charset="0"/>
                <a:ea typeface="Arial" pitchFamily="34" charset="-122"/>
                <a:cs typeface="Arial" pitchFamily="34" charset="-120"/>
              </a:rPr>
              <a:t>CITIZEN APP</a:t>
            </a:r>
            <a:endParaRPr lang="en-US" sz="1350" dirty="0"/>
          </a:p>
        </p:txBody>
      </p:sp>
      <p:sp>
        <p:nvSpPr>
          <p:cNvPr id="26" name="Text 22"/>
          <p:cNvSpPr txBox="1"/>
          <p:nvPr/>
        </p:nvSpPr>
        <p:spPr>
          <a:xfrm>
            <a:off x="566928" y="5029200"/>
            <a:ext cx="2395728" cy="1051560"/>
          </a:xfrm>
          <a:prstGeom prst="rect">
            <a:avLst/>
          </a:prstGeom>
          <a:noFill/>
          <a:ln/>
        </p:spPr>
        <p:txBody>
          <a:bodyPr wrap="square" lIns="0" tIns="0" rIns="0" bIns="0" rtlCol="0" anchor="t"/>
          <a:lstStyle/>
          <a:p>
            <a:pPr marL="139700" indent="-1397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Voice in Hindi / English</a:t>
            </a:r>
            <a:endParaRPr lang="en-US" sz="1200" dirty="0"/>
          </a:p>
          <a:p>
            <a:pPr marL="139700" indent="-1397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Aadhaar + OTP sign-in</a:t>
            </a:r>
            <a:endParaRPr lang="en-US" sz="1200" dirty="0"/>
          </a:p>
          <a:p>
            <a:pPr marL="139700" indent="-1397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Live beds, doctors, blood</a:t>
            </a:r>
            <a:endParaRPr lang="en-US" sz="1200" dirty="0"/>
          </a:p>
        </p:txBody>
      </p:sp>
      <p:sp>
        <p:nvSpPr>
          <p:cNvPr id="27" name="box"/>
          <p:cNvSpPr/>
          <p:nvPr/>
        </p:nvSpPr>
        <p:spPr>
          <a:xfrm>
            <a:off x="3200400" y="4251960"/>
            <a:ext cx="2697480" cy="1874520"/>
          </a:xfrm>
          <a:prstGeom prst="roundRect">
            <a:avLst>
              <a:gd name="adj" fmla="val 5854"/>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28" name="icon circle"/>
          <p:cNvSpPr/>
          <p:nvPr/>
        </p:nvSpPr>
        <p:spPr>
          <a:xfrm>
            <a:off x="3364992" y="4389120"/>
            <a:ext cx="502920" cy="502920"/>
          </a:xfrm>
          <a:prstGeom prst="ellipse">
            <a:avLst/>
          </a:prstGeom>
          <a:solidFill>
            <a:srgbClr val="2E7D32"/>
          </a:solidFill>
          <a:ln w="6350">
            <a:solidFill>
              <a:srgbClr val="2E7D32"/>
            </a:solidFill>
            <a:prstDash val="solid"/>
          </a:ln>
        </p:spPr>
      </p:sp>
      <p:pic>
        <p:nvPicPr>
          <p:cNvPr id="29" name="icon" descr="preencoded.png">    </p:cNvPr>
          <p:cNvPicPr>
            <a:picLocks noChangeAspect="1"/>
          </p:cNvPicPr>
          <p:nvPr/>
        </p:nvPicPr>
        <p:blipFill>
          <a:blip r:embed="rId3"/>
          <a:stretch>
            <a:fillRect/>
          </a:stretch>
        </p:blipFill>
        <p:spPr>
          <a:xfrm>
            <a:off x="3475634" y="4499762"/>
            <a:ext cx="281635" cy="281635"/>
          </a:xfrm>
          <a:prstGeom prst="rect">
            <a:avLst/>
          </a:prstGeom>
        </p:spPr>
      </p:pic>
      <p:sp>
        <p:nvSpPr>
          <p:cNvPr id="30" name="Text 25"/>
          <p:cNvSpPr txBox="1"/>
          <p:nvPr/>
        </p:nvSpPr>
        <p:spPr>
          <a:xfrm>
            <a:off x="3977640" y="4389120"/>
            <a:ext cx="1874520" cy="502920"/>
          </a:xfrm>
          <a:prstGeom prst="rect">
            <a:avLst/>
          </a:prstGeom>
          <a:noFill/>
          <a:ln/>
        </p:spPr>
        <p:txBody>
          <a:bodyPr wrap="square" lIns="0" tIns="0" rIns="0" bIns="0" rtlCol="0" anchor="ctr"/>
          <a:lstStyle/>
          <a:p>
            <a:pPr indent="0" marL="0">
              <a:buNone/>
            </a:pPr>
            <a:r>
              <a:rPr lang="en-US" sz="1350" b="1" dirty="0">
                <a:solidFill>
                  <a:srgbClr val="2E7D32"/>
                </a:solidFill>
                <a:latin typeface="Arial" pitchFamily="34" charset="0"/>
                <a:ea typeface="Arial" pitchFamily="34" charset="-122"/>
                <a:cs typeface="Arial" pitchFamily="34" charset="-120"/>
              </a:rPr>
              <a:t>HOSPITAL DASHBOARD</a:t>
            </a:r>
            <a:endParaRPr lang="en-US" sz="1350" dirty="0"/>
          </a:p>
        </p:txBody>
      </p:sp>
      <p:sp>
        <p:nvSpPr>
          <p:cNvPr id="31" name="Text 26"/>
          <p:cNvSpPr txBox="1"/>
          <p:nvPr/>
        </p:nvSpPr>
        <p:spPr>
          <a:xfrm>
            <a:off x="3401568" y="5029200"/>
            <a:ext cx="2395728" cy="1051560"/>
          </a:xfrm>
          <a:prstGeom prst="rect">
            <a:avLst/>
          </a:prstGeom>
          <a:noFill/>
          <a:ln/>
        </p:spPr>
        <p:txBody>
          <a:bodyPr wrap="square" lIns="0" tIns="0" rIns="0" bIns="0" rtlCol="0" anchor="t"/>
          <a:lstStyle/>
          <a:p>
            <a:pPr marL="139700" indent="-1397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Accept &amp; reserve a bay</a:t>
            </a:r>
            <a:endParaRPr lang="en-US" sz="1200" dirty="0"/>
          </a:p>
          <a:p>
            <a:pPr marL="139700" indent="-1397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AI pre-arrival (SBAR) note</a:t>
            </a:r>
            <a:endParaRPr lang="en-US" sz="1200" dirty="0"/>
          </a:p>
          <a:p>
            <a:pPr marL="139700" indent="-1397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108-minute data updates</a:t>
            </a:r>
            <a:endParaRPr lang="en-US" sz="1200" dirty="0"/>
          </a:p>
        </p:txBody>
      </p:sp>
      <p:sp>
        <p:nvSpPr>
          <p:cNvPr id="32" name="box"/>
          <p:cNvSpPr/>
          <p:nvPr/>
        </p:nvSpPr>
        <p:spPr>
          <a:xfrm>
            <a:off x="6035040" y="4251960"/>
            <a:ext cx="2697480" cy="1874520"/>
          </a:xfrm>
          <a:prstGeom prst="roundRect">
            <a:avLst>
              <a:gd name="adj" fmla="val 5854"/>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33" name="icon circle"/>
          <p:cNvSpPr/>
          <p:nvPr/>
        </p:nvSpPr>
        <p:spPr>
          <a:xfrm>
            <a:off x="6199632" y="4389120"/>
            <a:ext cx="502920" cy="502920"/>
          </a:xfrm>
          <a:prstGeom prst="ellipse">
            <a:avLst/>
          </a:prstGeom>
          <a:solidFill>
            <a:srgbClr val="C62828"/>
          </a:solidFill>
          <a:ln w="6350">
            <a:solidFill>
              <a:srgbClr val="C62828"/>
            </a:solidFill>
            <a:prstDash val="solid"/>
          </a:ln>
        </p:spPr>
      </p:sp>
      <p:pic>
        <p:nvPicPr>
          <p:cNvPr id="34" name="icon" descr="preencoded.png">    </p:cNvPr>
          <p:cNvPicPr>
            <a:picLocks noChangeAspect="1"/>
          </p:cNvPicPr>
          <p:nvPr/>
        </p:nvPicPr>
        <p:blipFill>
          <a:blip r:embed="rId4"/>
          <a:stretch>
            <a:fillRect/>
          </a:stretch>
        </p:blipFill>
        <p:spPr>
          <a:xfrm>
            <a:off x="6310274" y="4499762"/>
            <a:ext cx="281635" cy="281635"/>
          </a:xfrm>
          <a:prstGeom prst="rect">
            <a:avLst/>
          </a:prstGeom>
        </p:spPr>
      </p:pic>
      <p:sp>
        <p:nvSpPr>
          <p:cNvPr id="35" name="Text 29"/>
          <p:cNvSpPr txBox="1"/>
          <p:nvPr/>
        </p:nvSpPr>
        <p:spPr>
          <a:xfrm>
            <a:off x="6812280" y="4389120"/>
            <a:ext cx="1874520" cy="502920"/>
          </a:xfrm>
          <a:prstGeom prst="rect">
            <a:avLst/>
          </a:prstGeom>
          <a:noFill/>
          <a:ln/>
        </p:spPr>
        <p:txBody>
          <a:bodyPr wrap="square" lIns="0" tIns="0" rIns="0" bIns="0" rtlCol="0" anchor="ctr"/>
          <a:lstStyle/>
          <a:p>
            <a:pPr indent="0" marL="0">
              <a:buNone/>
            </a:pPr>
            <a:r>
              <a:rPr lang="en-US" sz="1350" b="1" dirty="0">
                <a:solidFill>
                  <a:srgbClr val="C62828"/>
                </a:solidFill>
                <a:latin typeface="Arial" pitchFamily="34" charset="0"/>
                <a:ea typeface="Arial" pitchFamily="34" charset="-122"/>
                <a:cs typeface="Arial" pitchFamily="34" charset="-120"/>
              </a:rPr>
              <a:t>108 CONTROL ROOM</a:t>
            </a:r>
            <a:endParaRPr lang="en-US" sz="1350" dirty="0"/>
          </a:p>
        </p:txBody>
      </p:sp>
      <p:sp>
        <p:nvSpPr>
          <p:cNvPr id="36" name="Text 30"/>
          <p:cNvSpPr txBox="1"/>
          <p:nvPr/>
        </p:nvSpPr>
        <p:spPr>
          <a:xfrm>
            <a:off x="6236208" y="5029200"/>
            <a:ext cx="2395728" cy="1051560"/>
          </a:xfrm>
          <a:prstGeom prst="rect">
            <a:avLst/>
          </a:prstGeom>
          <a:noFill/>
          <a:ln/>
        </p:spPr>
        <p:txBody>
          <a:bodyPr wrap="square" lIns="0" tIns="0" rIns="0" bIns="0" rtlCol="0" anchor="t"/>
          <a:lstStyle/>
          <a:p>
            <a:pPr marL="139700" indent="-1397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Signed incident, no re-asking</a:t>
            </a:r>
            <a:endParaRPr lang="en-US" sz="1200" dirty="0"/>
          </a:p>
          <a:p>
            <a:pPr marL="139700" indent="-1397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Nearest suitable unit</a:t>
            </a:r>
            <a:endParaRPr lang="en-US" sz="1200" dirty="0"/>
          </a:p>
          <a:p>
            <a:pPr marL="139700" indent="-1397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Live status to the family</a:t>
            </a:r>
            <a:endParaRPr lang="en-US" sz="1200" dirty="0"/>
          </a:p>
        </p:txBody>
      </p:sp>
      <p:pic>
        <p:nvPicPr>
          <p:cNvPr id="37" name="laptop showing the Medreach home page" descr="/tmp/claude-0/-home-user-Sehat-Setu/b06e8423-ed6e-57c3-bbb1-ac94b2a1720d/scratchpad/ppt10/art/laptop-home.png">    </p:cNvPr>
          <p:cNvPicPr>
            <a:picLocks noChangeAspect="1"/>
          </p:cNvPicPr>
          <p:nvPr/>
        </p:nvPicPr>
        <p:blipFill>
          <a:blip r:embed="rId5"/>
          <a:stretch>
            <a:fillRect/>
          </a:stretch>
        </p:blipFill>
        <p:spPr>
          <a:xfrm>
            <a:off x="8915400" y="4206240"/>
            <a:ext cx="2926080" cy="1872691"/>
          </a:xfrm>
          <a:prstGeom prst="rect">
            <a:avLst/>
          </a:prstGeom>
        </p:spPr>
      </p:pic>
      <p:sp>
        <p:nvSpPr>
          <p:cNvPr id="38" name="Text 31"/>
          <p:cNvSpPr txBox="1"/>
          <p:nvPr/>
        </p:nvSpPr>
        <p:spPr>
          <a:xfrm>
            <a:off x="8915400" y="6108192"/>
            <a:ext cx="2926080" cy="201168"/>
          </a:xfrm>
          <a:prstGeom prst="rect">
            <a:avLst/>
          </a:prstGeom>
          <a:noFill/>
          <a:ln/>
        </p:spPr>
        <p:txBody>
          <a:bodyPr wrap="square" lIns="0" tIns="0" rIns="0" bIns="0" rtlCol="0" anchor="t"/>
          <a:lstStyle/>
          <a:p>
            <a:pPr algn="ctr" indent="0" marL="0">
              <a:buNone/>
            </a:pPr>
            <a:r>
              <a:rPr lang="en-US" sz="1000" i="1" dirty="0">
                <a:solidFill>
                  <a:srgbClr val="64748B"/>
                </a:solidFill>
                <a:latin typeface="Calibri" pitchFamily="34" charset="0"/>
                <a:ea typeface="Calibri" pitchFamily="34" charset="-122"/>
                <a:cs typeface="Calibri" pitchFamily="34" charset="-120"/>
              </a:rPr>
              <a:t>Live home page</a:t>
            </a:r>
            <a:endParaRPr lang="en-US" sz="1000" dirty="0"/>
          </a:p>
        </p:txBody>
      </p:sp>
      <p:sp>
        <p:nvSpPr>
          <p:cNvPr id="39" name="box"/>
          <p:cNvSpPr/>
          <p:nvPr/>
        </p:nvSpPr>
        <p:spPr>
          <a:xfrm>
            <a:off x="1463040" y="6327648"/>
            <a:ext cx="6949440" cy="365760"/>
          </a:xfrm>
          <a:prstGeom prst="roundRect">
            <a:avLst>
              <a:gd name="adj" fmla="val 20000"/>
            </a:avLst>
          </a:prstGeom>
          <a:solidFill>
            <a:srgbClr val="14325C"/>
          </a:solidFill>
          <a:ln w="12700">
            <a:solidFill>
              <a:srgbClr val="14325C"/>
            </a:solidFill>
            <a:prstDash val="solid"/>
          </a:ln>
        </p:spPr>
      </p:sp>
      <p:sp>
        <p:nvSpPr>
          <p:cNvPr id="40" name="Text 33"/>
          <p:cNvSpPr txBox="1"/>
          <p:nvPr/>
        </p:nvSpPr>
        <p:spPr>
          <a:xfrm>
            <a:off x="1463040" y="6327648"/>
            <a:ext cx="694944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MEDREACH = ONE LIVE LINK BETWEEN CITIZEN, HOSPITAL AND 108</a:t>
            </a:r>
            <a:endParaRPr lang="en-US" sz="1250" dirty="0"/>
          </a:p>
        </p:txBody>
      </p:sp>
      <p:sp>
        <p:nvSpPr>
          <p:cNvPr id="25" name="Slide Number Placeholder 0"/>
          <p:cNvSpPr>
            <a:spLocks noGrp="1"/>
          </p:cNvSpPr>
          <p:nvPr>
            <p:ph type="sldNum" sz="quarter" idx="4294967295"/>
          </p:nvPr>
        </p:nvSpPr>
        <p:spPr>
          <a:xfrm>
            <a:off x="11475720" y="651052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am badge"/>
          <p:cNvSpPr/>
          <p:nvPr/>
        </p:nvSpPr>
        <p:spPr>
          <a:xfrm>
            <a:off x="320040" y="201168"/>
            <a:ext cx="1645920" cy="777240"/>
          </a:xfrm>
          <a:prstGeom prst="ellipse">
            <a:avLst/>
          </a:prstGeom>
          <a:solidFill>
            <a:srgbClr val="FFFFFF"/>
          </a:solidFill>
          <a:ln w="19050">
            <a:solidFill>
              <a:srgbClr val="6B46C1"/>
            </a:solidFill>
            <a:prstDash val="solid"/>
          </a:ln>
        </p:spPr>
      </p:sp>
      <p:sp>
        <p:nvSpPr>
          <p:cNvPr id="3" name="Text 1"/>
          <p:cNvSpPr txBox="1"/>
          <p:nvPr/>
        </p:nvSpPr>
        <p:spPr>
          <a:xfrm>
            <a:off x="320040" y="201168"/>
            <a:ext cx="1645920" cy="777240"/>
          </a:xfrm>
          <a:prstGeom prst="rect">
            <a:avLst/>
          </a:prstGeom>
          <a:noFill/>
          <a:ln/>
        </p:spPr>
        <p:txBody>
          <a:bodyPr wrap="square" lIns="0" tIns="0" rIns="0" bIns="0" rtlCol="0" anchor="ctr"/>
          <a:lstStyle/>
          <a:p>
            <a:pPr algn="ctr" indent="0" marL="0">
              <a:buNone/>
            </a:pPr>
            <a:r>
              <a:rPr lang="en-US" sz="1250" dirty="0">
                <a:solidFill>
                  <a:srgbClr val="0F172A"/>
                </a:solidFill>
                <a:latin typeface="Calibri" pitchFamily="34" charset="0"/>
                <a:ea typeface="Calibri" pitchFamily="34" charset="-122"/>
                <a:cs typeface="Calibri" pitchFamily="34" charset="-120"/>
              </a:rPr>
              <a:t>TEAM</a:t>
            </a:r>
            <a:endParaRPr lang="en-US" sz="1250" dirty="0"/>
          </a:p>
          <a:p>
            <a:pPr algn="ctr" indent="0" marL="0">
              <a:buNone/>
            </a:pPr>
            <a:r>
              <a:rPr lang="en-US" sz="1250" dirty="0">
                <a:solidFill>
                  <a:srgbClr val="0F172A"/>
                </a:solidFill>
                <a:latin typeface="Calibri" pitchFamily="34" charset="0"/>
                <a:ea typeface="Calibri" pitchFamily="34" charset="-122"/>
                <a:cs typeface="Calibri" pitchFamily="34" charset="-120"/>
              </a:rPr>
              <a:t>MEDREACH</a:t>
            </a:r>
            <a:endParaRPr lang="en-US" sz="1250" dirty="0"/>
          </a:p>
        </p:txBody>
      </p:sp>
      <p:sp>
        <p:nvSpPr>
          <p:cNvPr id="4" name="Text 0"/>
          <p:cNvSpPr/>
          <p:nvPr>
            <p:ph idx="100" type="title" hasCustomPrompt="1"/>
          </p:nvPr>
        </p:nvSpPr>
        <p:spPr>
          <a:xfrm>
            <a:off x="2148840" y="201168"/>
            <a:ext cx="7863840" cy="777240"/>
          </a:xfrm>
          <a:prstGeom prst="rect">
            <a:avLst/>
          </a:prstGeom>
          <a:noFill/>
          <a:ln/>
        </p:spPr>
        <p:txBody>
          <a:bodyPr wrap="square" lIns="0" tIns="0" rIns="0" bIns="0" rtlCol="0" anchor="ctr"/>
          <a:lstStyle/>
          <a:p>
            <a:pPr algn="ctr" indent="0" marL="0">
              <a:buNone/>
            </a:pPr>
            <a:r>
              <a:rPr lang="en-US" sz="3400" b="1" dirty="0">
                <a:solidFill>
                  <a:schemeClr val="tx1"/>
                </a:solidFill>
              </a:rPr>
              <a:t>PROPOSED SOLUTION</a:t>
            </a:r>
            <a:endParaRPr lang="en-US" sz="3400" dirty="0"/>
          </a:p>
        </p:txBody>
      </p:sp>
      <p:pic>
        <p:nvPicPr>
          <p:cNvPr id="5" name="Medreach logo" descr="preencoded.png">    </p:cNvPr>
          <p:cNvPicPr>
            <a:picLocks noChangeAspect="1"/>
          </p:cNvPicPr>
          <p:nvPr/>
        </p:nvPicPr>
        <p:blipFill>
          <a:blip r:embed="rId1"/>
          <a:stretch>
            <a:fillRect/>
          </a:stretch>
        </p:blipFill>
        <p:spPr>
          <a:xfrm>
            <a:off x="10195560" y="274320"/>
            <a:ext cx="603504" cy="603504"/>
          </a:xfrm>
          <a:prstGeom prst="rect">
            <a:avLst/>
          </a:prstGeom>
        </p:spPr>
      </p:pic>
      <p:sp>
        <p:nvSpPr>
          <p:cNvPr id="6" name="Text 3"/>
          <p:cNvSpPr txBox="1"/>
          <p:nvPr/>
        </p:nvSpPr>
        <p:spPr>
          <a:xfrm>
            <a:off x="10881360" y="246888"/>
            <a:ext cx="1097280" cy="658368"/>
          </a:xfrm>
          <a:prstGeom prst="rect">
            <a:avLst/>
          </a:prstGeom>
          <a:noFill/>
          <a:ln/>
        </p:spPr>
        <p:txBody>
          <a:bodyPr wrap="square" lIns="0" tIns="0" rIns="0" bIns="0" rtlCol="0" anchor="ctr"/>
          <a:lstStyle/>
          <a:p>
            <a:pPr indent="0" marL="0">
              <a:lnSpc>
                <a:spcPct val="95000"/>
              </a:lnSpc>
              <a:buNone/>
            </a:pPr>
            <a:r>
              <a:rPr lang="en-US" sz="1150" b="1" dirty="0">
                <a:solidFill>
                  <a:srgbClr val="475569"/>
                </a:solidFill>
                <a:latin typeface="Arial" pitchFamily="34" charset="0"/>
                <a:ea typeface="Arial" pitchFamily="34" charset="-122"/>
                <a:cs typeface="Arial" pitchFamily="34" charset="-120"/>
              </a:rPr>
              <a:t>MPONLINE</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HACKATHON</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2026</a:t>
            </a:r>
            <a:endParaRPr lang="en-US" sz="1150" dirty="0"/>
          </a:p>
        </p:txBody>
      </p:sp>
      <p:sp>
        <p:nvSpPr>
          <p:cNvPr id="7" name="box"/>
          <p:cNvSpPr/>
          <p:nvPr/>
        </p:nvSpPr>
        <p:spPr>
          <a:xfrm>
            <a:off x="365760" y="1097280"/>
            <a:ext cx="11457432" cy="2450592"/>
          </a:xfrm>
          <a:prstGeom prst="roundRect">
            <a:avLst>
              <a:gd name="adj" fmla="val 3731"/>
            </a:avLst>
          </a:prstGeom>
          <a:solidFill>
            <a:srgbClr val="FFFFFF"/>
          </a:solidFill>
          <a:ln w="12700">
            <a:solidFill>
              <a:srgbClr val="D6DEE8"/>
            </a:solidFill>
            <a:prstDash val="solid"/>
          </a:ln>
        </p:spPr>
      </p:sp>
      <p:sp>
        <p:nvSpPr>
          <p:cNvPr id="8" name="box"/>
          <p:cNvSpPr/>
          <p:nvPr/>
        </p:nvSpPr>
        <p:spPr>
          <a:xfrm>
            <a:off x="365760" y="1097280"/>
            <a:ext cx="11457432" cy="411480"/>
          </a:xfrm>
          <a:prstGeom prst="roundRect">
            <a:avLst>
              <a:gd name="adj" fmla="val 22222"/>
            </a:avLst>
          </a:prstGeom>
          <a:solidFill>
            <a:srgbClr val="14325C"/>
          </a:solidFill>
          <a:ln w="12700">
            <a:solidFill>
              <a:srgbClr val="14325C"/>
            </a:solidFill>
            <a:prstDash val="solid"/>
          </a:ln>
        </p:spPr>
      </p:sp>
      <p:sp>
        <p:nvSpPr>
          <p:cNvPr id="9" name="Text 6"/>
          <p:cNvSpPr txBox="1"/>
          <p:nvPr/>
        </p:nvSpPr>
        <p:spPr>
          <a:xfrm>
            <a:off x="365760" y="1097280"/>
            <a:ext cx="11457432"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THE COMPLETE FLOW:  </a:t>
            </a:r>
            <a:pPr algn="ctr" indent="0" marL="0">
              <a:buNone/>
            </a:pPr>
            <a:r>
              <a:rPr lang="en-US" sz="1500" dirty="0">
                <a:solidFill>
                  <a:srgbClr val="FFFFFF"/>
                </a:solidFill>
                <a:latin typeface="Arial" pitchFamily="34" charset="0"/>
                <a:ea typeface="Arial" pitchFamily="34" charset="-122"/>
                <a:cs typeface="Arial" pitchFamily="34" charset="-120"/>
              </a:rPr>
              <a:t>From First Words to a Confirmed Bed</a:t>
            </a:r>
            <a:endParaRPr lang="en-US" sz="1500" dirty="0"/>
          </a:p>
        </p:txBody>
      </p:sp>
      <p:sp>
        <p:nvSpPr>
          <p:cNvPr id="10" name="box"/>
          <p:cNvSpPr/>
          <p:nvPr/>
        </p:nvSpPr>
        <p:spPr>
          <a:xfrm>
            <a:off x="475488" y="1618488"/>
            <a:ext cx="1755648" cy="1828800"/>
          </a:xfrm>
          <a:prstGeom prst="roundRect">
            <a:avLst>
              <a:gd name="adj" fmla="val 4167"/>
            </a:avLst>
          </a:prstGeom>
          <a:solidFill>
            <a:srgbClr val="EAF2FB"/>
          </a:solidFill>
          <a:ln w="12700">
            <a:solidFill>
              <a:srgbClr val="BFD5F0"/>
            </a:solidFill>
            <a:prstDash val="solid"/>
          </a:ln>
        </p:spPr>
      </p:sp>
      <p:sp>
        <p:nvSpPr>
          <p:cNvPr id="11" name="Text 8"/>
          <p:cNvSpPr txBox="1"/>
          <p:nvPr/>
        </p:nvSpPr>
        <p:spPr>
          <a:xfrm>
            <a:off x="566928" y="1700784"/>
            <a:ext cx="256032" cy="256032"/>
          </a:xfrm>
          <a:prstGeom prst="ellipse">
            <a:avLst/>
          </a:prstGeom>
          <a:solidFill>
            <a:srgbClr val="1F64B4"/>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9"/>
          <p:cNvSpPr txBox="1"/>
          <p:nvPr/>
        </p:nvSpPr>
        <p:spPr>
          <a:xfrm>
            <a:off x="877824" y="1691640"/>
            <a:ext cx="132588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Speak</a:t>
            </a:r>
            <a:endParaRPr lang="en-US" sz="1300" dirty="0"/>
          </a:p>
        </p:txBody>
      </p:sp>
      <p:sp>
        <p:nvSpPr>
          <p:cNvPr id="13" name="icon ring"/>
          <p:cNvSpPr/>
          <p:nvPr/>
        </p:nvSpPr>
        <p:spPr>
          <a:xfrm>
            <a:off x="566928" y="2103120"/>
            <a:ext cx="512064" cy="512064"/>
          </a:xfrm>
          <a:prstGeom prst="ellipse">
            <a:avLst/>
          </a:prstGeom>
          <a:solidFill>
            <a:srgbClr val="FFFFFF"/>
          </a:solidFill>
          <a:ln w="22225">
            <a:solidFill>
              <a:srgbClr val="1F64B4"/>
            </a:solidFill>
            <a:prstDash val="solid"/>
          </a:ln>
        </p:spPr>
      </p:sp>
      <p:pic>
        <p:nvPicPr>
          <p:cNvPr id="14" name="icon" descr="preencoded.png">    </p:cNvPr>
          <p:cNvPicPr>
            <a:picLocks noChangeAspect="1"/>
          </p:cNvPicPr>
          <p:nvPr/>
        </p:nvPicPr>
        <p:blipFill>
          <a:blip r:embed="rId2"/>
          <a:stretch>
            <a:fillRect/>
          </a:stretch>
        </p:blipFill>
        <p:spPr>
          <a:xfrm>
            <a:off x="689823" y="2226015"/>
            <a:ext cx="266273" cy="266273"/>
          </a:xfrm>
          <a:prstGeom prst="rect">
            <a:avLst/>
          </a:prstGeom>
        </p:spPr>
      </p:pic>
      <p:sp>
        <p:nvSpPr>
          <p:cNvPr id="15" name="Text 11"/>
          <p:cNvSpPr txBox="1"/>
          <p:nvPr/>
        </p:nvSpPr>
        <p:spPr>
          <a:xfrm>
            <a:off x="1152144" y="2048256"/>
            <a:ext cx="1033272" cy="65836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Voice, text, photo or health card</a:t>
            </a:r>
            <a:endParaRPr lang="en-US" sz="1050" dirty="0"/>
          </a:p>
        </p:txBody>
      </p:sp>
      <p:sp>
        <p:nvSpPr>
          <p:cNvPr id="16" name="box"/>
          <p:cNvSpPr/>
          <p:nvPr/>
        </p:nvSpPr>
        <p:spPr>
          <a:xfrm>
            <a:off x="566928" y="2816352"/>
            <a:ext cx="1572768" cy="530352"/>
          </a:xfrm>
          <a:prstGeom prst="roundRect">
            <a:avLst>
              <a:gd name="adj" fmla="val 10345"/>
            </a:avLst>
          </a:prstGeom>
          <a:solidFill>
            <a:srgbClr val="FFFFFF"/>
          </a:solidFill>
          <a:ln w="12700">
            <a:solidFill>
              <a:srgbClr val="BFD5F0"/>
            </a:solidFill>
            <a:prstDash val="solid"/>
          </a:ln>
        </p:spPr>
      </p:sp>
      <p:sp>
        <p:nvSpPr>
          <p:cNvPr id="17" name="Text 13"/>
          <p:cNvSpPr txBox="1"/>
          <p:nvPr/>
        </p:nvSpPr>
        <p:spPr>
          <a:xfrm>
            <a:off x="566928" y="2816352"/>
            <a:ext cx="1572768" cy="530352"/>
          </a:xfrm>
          <a:prstGeom prst="rect">
            <a:avLst/>
          </a:prstGeom>
          <a:noFill/>
          <a:ln/>
        </p:spPr>
        <p:txBody>
          <a:bodyPr wrap="square" lIns="0" tIns="0" rIns="0" bIns="0" rtlCol="0" anchor="ctr"/>
          <a:lstStyle/>
          <a:p>
            <a:pPr algn="ctr" indent="0" marL="0">
              <a:buNone/>
            </a:pPr>
            <a:r>
              <a:rPr lang="en-US" sz="1050" b="1" dirty="0">
                <a:solidFill>
                  <a:srgbClr val="1F64B4"/>
                </a:solidFill>
                <a:latin typeface="Calibri" pitchFamily="34" charset="0"/>
                <a:ea typeface="Calibri" pitchFamily="34" charset="-122"/>
                <a:cs typeface="Calibri" pitchFamily="34" charset="-120"/>
              </a:rPr>
              <a:t>Output</a:t>
            </a:r>
            <a:endParaRPr lang="en-US" sz="1050" dirty="0"/>
          </a:p>
          <a:p>
            <a:pPr algn="ctr" indent="0" marL="0">
              <a:buNone/>
            </a:pPr>
            <a:r>
              <a:rPr lang="en-US" sz="1050" dirty="0">
                <a:solidFill>
                  <a:srgbClr val="334155"/>
                </a:solidFill>
                <a:latin typeface="Calibri" pitchFamily="34" charset="0"/>
                <a:ea typeface="Calibri" pitchFamily="34" charset="-122"/>
                <a:cs typeface="Calibri" pitchFamily="34" charset="-120"/>
              </a:rPr>
              <a:t>Emergency details</a:t>
            </a:r>
            <a:endParaRPr lang="en-US" sz="1050" dirty="0"/>
          </a:p>
        </p:txBody>
      </p:sp>
      <p:sp>
        <p:nvSpPr>
          <p:cNvPr id="18" name="flow arrow"/>
          <p:cNvSpPr/>
          <p:nvPr/>
        </p:nvSpPr>
        <p:spPr>
          <a:xfrm>
            <a:off x="2258568" y="2377440"/>
            <a:ext cx="118872" cy="201168"/>
          </a:xfrm>
          <a:prstGeom prst="chevron">
            <a:avLst/>
          </a:prstGeom>
          <a:solidFill>
            <a:srgbClr val="E8711C"/>
          </a:solidFill>
          <a:ln w="6350">
            <a:solidFill>
              <a:srgbClr val="E8711C"/>
            </a:solidFill>
            <a:prstDash val="solid"/>
          </a:ln>
        </p:spPr>
      </p:sp>
      <p:sp>
        <p:nvSpPr>
          <p:cNvPr id="19" name="box"/>
          <p:cNvSpPr/>
          <p:nvPr/>
        </p:nvSpPr>
        <p:spPr>
          <a:xfrm>
            <a:off x="2368296" y="1618488"/>
            <a:ext cx="1755648" cy="1828800"/>
          </a:xfrm>
          <a:prstGeom prst="roundRect">
            <a:avLst>
              <a:gd name="adj" fmla="val 4167"/>
            </a:avLst>
          </a:prstGeom>
          <a:solidFill>
            <a:srgbClr val="EAF5EA"/>
          </a:solidFill>
          <a:ln w="12700">
            <a:solidFill>
              <a:srgbClr val="BFE0C1"/>
            </a:solidFill>
            <a:prstDash val="solid"/>
          </a:ln>
        </p:spPr>
      </p:sp>
      <p:sp>
        <p:nvSpPr>
          <p:cNvPr id="20" name="Text 16"/>
          <p:cNvSpPr txBox="1"/>
          <p:nvPr/>
        </p:nvSpPr>
        <p:spPr>
          <a:xfrm>
            <a:off x="2459736" y="1700784"/>
            <a:ext cx="256032" cy="256032"/>
          </a:xfrm>
          <a:prstGeom prst="ellipse">
            <a:avLst/>
          </a:prstGeom>
          <a:solidFill>
            <a:srgbClr val="2E7D32"/>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1" name="Text 17"/>
          <p:cNvSpPr txBox="1"/>
          <p:nvPr/>
        </p:nvSpPr>
        <p:spPr>
          <a:xfrm>
            <a:off x="2770632" y="1691640"/>
            <a:ext cx="132588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AI Triage</a:t>
            </a:r>
            <a:endParaRPr lang="en-US" sz="1300" dirty="0"/>
          </a:p>
        </p:txBody>
      </p:sp>
      <p:sp>
        <p:nvSpPr>
          <p:cNvPr id="22" name="icon ring"/>
          <p:cNvSpPr/>
          <p:nvPr/>
        </p:nvSpPr>
        <p:spPr>
          <a:xfrm>
            <a:off x="2459736" y="2103120"/>
            <a:ext cx="512064" cy="512064"/>
          </a:xfrm>
          <a:prstGeom prst="ellipse">
            <a:avLst/>
          </a:prstGeom>
          <a:solidFill>
            <a:srgbClr val="FFFFFF"/>
          </a:solidFill>
          <a:ln w="22225">
            <a:solidFill>
              <a:srgbClr val="2E7D32"/>
            </a:solidFill>
            <a:prstDash val="solid"/>
          </a:ln>
        </p:spPr>
      </p:sp>
      <p:pic>
        <p:nvPicPr>
          <p:cNvPr id="23" name="icon" descr="preencoded.png">    </p:cNvPr>
          <p:cNvPicPr>
            <a:picLocks noChangeAspect="1"/>
          </p:cNvPicPr>
          <p:nvPr/>
        </p:nvPicPr>
        <p:blipFill>
          <a:blip r:embed="rId3"/>
          <a:stretch>
            <a:fillRect/>
          </a:stretch>
        </p:blipFill>
        <p:spPr>
          <a:xfrm>
            <a:off x="2582631" y="2226015"/>
            <a:ext cx="266273" cy="266273"/>
          </a:xfrm>
          <a:prstGeom prst="rect">
            <a:avLst/>
          </a:prstGeom>
        </p:spPr>
      </p:pic>
      <p:sp>
        <p:nvSpPr>
          <p:cNvPr id="24" name="Text 19"/>
          <p:cNvSpPr txBox="1"/>
          <p:nvPr/>
        </p:nvSpPr>
        <p:spPr>
          <a:xfrm>
            <a:off x="3044952" y="2048256"/>
            <a:ext cx="1033272" cy="65836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Hindi / English understood, red flags found</a:t>
            </a:r>
            <a:endParaRPr lang="en-US" sz="1050" dirty="0"/>
          </a:p>
        </p:txBody>
      </p:sp>
      <p:sp>
        <p:nvSpPr>
          <p:cNvPr id="25" name="box"/>
          <p:cNvSpPr/>
          <p:nvPr/>
        </p:nvSpPr>
        <p:spPr>
          <a:xfrm>
            <a:off x="2459736" y="2816352"/>
            <a:ext cx="1572768" cy="530352"/>
          </a:xfrm>
          <a:prstGeom prst="roundRect">
            <a:avLst>
              <a:gd name="adj" fmla="val 10345"/>
            </a:avLst>
          </a:prstGeom>
          <a:solidFill>
            <a:srgbClr val="FFFFFF"/>
          </a:solidFill>
          <a:ln w="12700">
            <a:solidFill>
              <a:srgbClr val="BFE0C1"/>
            </a:solidFill>
            <a:prstDash val="solid"/>
          </a:ln>
        </p:spPr>
      </p:sp>
      <p:sp>
        <p:nvSpPr>
          <p:cNvPr id="26" name="Text 21"/>
          <p:cNvSpPr txBox="1"/>
          <p:nvPr/>
        </p:nvSpPr>
        <p:spPr>
          <a:xfrm>
            <a:off x="2459736" y="2816352"/>
            <a:ext cx="1572768" cy="530352"/>
          </a:xfrm>
          <a:prstGeom prst="rect">
            <a:avLst/>
          </a:prstGeom>
          <a:noFill/>
          <a:ln/>
        </p:spPr>
        <p:txBody>
          <a:bodyPr wrap="square" lIns="0" tIns="0" rIns="0" bIns="0" rtlCol="0" anchor="ctr"/>
          <a:lstStyle/>
          <a:p>
            <a:pPr algn="ctr" indent="0" marL="0">
              <a:buNone/>
            </a:pPr>
            <a:r>
              <a:rPr lang="en-US" sz="1050" b="1" dirty="0">
                <a:solidFill>
                  <a:srgbClr val="2E7D32"/>
                </a:solidFill>
                <a:latin typeface="Calibri" pitchFamily="34" charset="0"/>
                <a:ea typeface="Calibri" pitchFamily="34" charset="-122"/>
                <a:cs typeface="Calibri" pitchFamily="34" charset="-120"/>
              </a:rPr>
              <a:t>Output</a:t>
            </a:r>
            <a:endParaRPr lang="en-US" sz="1050" dirty="0"/>
          </a:p>
          <a:p>
            <a:pPr algn="ctr" indent="0" marL="0">
              <a:buNone/>
            </a:pPr>
            <a:r>
              <a:rPr lang="en-US" sz="1050" dirty="0">
                <a:solidFill>
                  <a:srgbClr val="334155"/>
                </a:solidFill>
                <a:latin typeface="Calibri" pitchFamily="34" charset="0"/>
                <a:ea typeface="Calibri" pitchFamily="34" charset="-122"/>
                <a:cs typeface="Calibri" pitchFamily="34" charset="-120"/>
              </a:rPr>
              <a:t>Severity + needs</a:t>
            </a:r>
            <a:endParaRPr lang="en-US" sz="1050" dirty="0"/>
          </a:p>
        </p:txBody>
      </p:sp>
      <p:sp>
        <p:nvSpPr>
          <p:cNvPr id="27" name="flow arrow"/>
          <p:cNvSpPr/>
          <p:nvPr/>
        </p:nvSpPr>
        <p:spPr>
          <a:xfrm>
            <a:off x="4151376" y="2377440"/>
            <a:ext cx="118872" cy="201168"/>
          </a:xfrm>
          <a:prstGeom prst="chevron">
            <a:avLst/>
          </a:prstGeom>
          <a:solidFill>
            <a:srgbClr val="E8711C"/>
          </a:solidFill>
          <a:ln w="6350">
            <a:solidFill>
              <a:srgbClr val="E8711C"/>
            </a:solidFill>
            <a:prstDash val="solid"/>
          </a:ln>
        </p:spPr>
      </p:sp>
      <p:sp>
        <p:nvSpPr>
          <p:cNvPr id="28" name="box"/>
          <p:cNvSpPr/>
          <p:nvPr/>
        </p:nvSpPr>
        <p:spPr>
          <a:xfrm>
            <a:off x="4261104" y="1618488"/>
            <a:ext cx="1755648" cy="1828800"/>
          </a:xfrm>
          <a:prstGeom prst="roundRect">
            <a:avLst>
              <a:gd name="adj" fmla="val 4167"/>
            </a:avLst>
          </a:prstGeom>
          <a:solidFill>
            <a:srgbClr val="FFF1E6"/>
          </a:solidFill>
          <a:ln w="12700">
            <a:solidFill>
              <a:srgbClr val="F8CFAE"/>
            </a:solidFill>
            <a:prstDash val="solid"/>
          </a:ln>
        </p:spPr>
      </p:sp>
      <p:sp>
        <p:nvSpPr>
          <p:cNvPr id="29" name="Text 24"/>
          <p:cNvSpPr txBox="1"/>
          <p:nvPr/>
        </p:nvSpPr>
        <p:spPr>
          <a:xfrm>
            <a:off x="4352544" y="1700784"/>
            <a:ext cx="256032" cy="256032"/>
          </a:xfrm>
          <a:prstGeom prst="ellipse">
            <a:avLst/>
          </a:prstGeom>
          <a:solidFill>
            <a:srgbClr val="E8711C"/>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0" name="Text 25"/>
          <p:cNvSpPr txBox="1"/>
          <p:nvPr/>
        </p:nvSpPr>
        <p:spPr>
          <a:xfrm>
            <a:off x="4663440" y="1691640"/>
            <a:ext cx="132588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Match</a:t>
            </a:r>
            <a:endParaRPr lang="en-US" sz="1300" dirty="0"/>
          </a:p>
        </p:txBody>
      </p:sp>
      <p:sp>
        <p:nvSpPr>
          <p:cNvPr id="31" name="icon ring"/>
          <p:cNvSpPr/>
          <p:nvPr/>
        </p:nvSpPr>
        <p:spPr>
          <a:xfrm>
            <a:off x="4352544" y="2103120"/>
            <a:ext cx="512064" cy="512064"/>
          </a:xfrm>
          <a:prstGeom prst="ellipse">
            <a:avLst/>
          </a:prstGeom>
          <a:solidFill>
            <a:srgbClr val="FFFFFF"/>
          </a:solidFill>
          <a:ln w="22225">
            <a:solidFill>
              <a:srgbClr val="E8711C"/>
            </a:solidFill>
            <a:prstDash val="solid"/>
          </a:ln>
        </p:spPr>
      </p:sp>
      <p:pic>
        <p:nvPicPr>
          <p:cNvPr id="32" name="icon" descr="preencoded.png">    </p:cNvPr>
          <p:cNvPicPr>
            <a:picLocks noChangeAspect="1"/>
          </p:cNvPicPr>
          <p:nvPr/>
        </p:nvPicPr>
        <p:blipFill>
          <a:blip r:embed="rId4"/>
          <a:stretch>
            <a:fillRect/>
          </a:stretch>
        </p:blipFill>
        <p:spPr>
          <a:xfrm>
            <a:off x="4475439" y="2226015"/>
            <a:ext cx="266273" cy="266273"/>
          </a:xfrm>
          <a:prstGeom prst="rect">
            <a:avLst/>
          </a:prstGeom>
        </p:spPr>
      </p:pic>
      <p:sp>
        <p:nvSpPr>
          <p:cNvPr id="33" name="Text 27"/>
          <p:cNvSpPr txBox="1"/>
          <p:nvPr/>
        </p:nvSpPr>
        <p:spPr>
          <a:xfrm>
            <a:off x="4937760" y="2048256"/>
            <a:ext cx="1033272" cy="65836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Specialist, bed, distance, data freshness</a:t>
            </a:r>
            <a:endParaRPr lang="en-US" sz="1050" dirty="0"/>
          </a:p>
        </p:txBody>
      </p:sp>
      <p:sp>
        <p:nvSpPr>
          <p:cNvPr id="34" name="box"/>
          <p:cNvSpPr/>
          <p:nvPr/>
        </p:nvSpPr>
        <p:spPr>
          <a:xfrm>
            <a:off x="4352544" y="2816352"/>
            <a:ext cx="1572768" cy="530352"/>
          </a:xfrm>
          <a:prstGeom prst="roundRect">
            <a:avLst>
              <a:gd name="adj" fmla="val 10345"/>
            </a:avLst>
          </a:prstGeom>
          <a:solidFill>
            <a:srgbClr val="FFFFFF"/>
          </a:solidFill>
          <a:ln w="12700">
            <a:solidFill>
              <a:srgbClr val="F8CFAE"/>
            </a:solidFill>
            <a:prstDash val="solid"/>
          </a:ln>
        </p:spPr>
      </p:sp>
      <p:sp>
        <p:nvSpPr>
          <p:cNvPr id="35" name="Text 29"/>
          <p:cNvSpPr txBox="1"/>
          <p:nvPr/>
        </p:nvSpPr>
        <p:spPr>
          <a:xfrm>
            <a:off x="4352544" y="2816352"/>
            <a:ext cx="1572768" cy="530352"/>
          </a:xfrm>
          <a:prstGeom prst="rect">
            <a:avLst/>
          </a:prstGeom>
          <a:noFill/>
          <a:ln/>
        </p:spPr>
        <p:txBody>
          <a:bodyPr wrap="square" lIns="0" tIns="0" rIns="0" bIns="0" rtlCol="0" anchor="ctr"/>
          <a:lstStyle/>
          <a:p>
            <a:pPr algn="ctr" indent="0" marL="0">
              <a:buNone/>
            </a:pPr>
            <a:r>
              <a:rPr lang="en-US" sz="1050" b="1" dirty="0">
                <a:solidFill>
                  <a:srgbClr val="E8711C"/>
                </a:solidFill>
                <a:latin typeface="Calibri" pitchFamily="34" charset="0"/>
                <a:ea typeface="Calibri" pitchFamily="34" charset="-122"/>
                <a:cs typeface="Calibri" pitchFamily="34" charset="-120"/>
              </a:rPr>
              <a:t>Output</a:t>
            </a:r>
            <a:endParaRPr lang="en-US" sz="1050" dirty="0"/>
          </a:p>
          <a:p>
            <a:pPr algn="ctr" indent="0" marL="0">
              <a:buNone/>
            </a:pPr>
            <a:r>
              <a:rPr lang="en-US" sz="1050" dirty="0">
                <a:solidFill>
                  <a:srgbClr val="334155"/>
                </a:solidFill>
                <a:latin typeface="Calibri" pitchFamily="34" charset="0"/>
                <a:ea typeface="Calibri" pitchFamily="34" charset="-122"/>
                <a:cs typeface="Calibri" pitchFamily="34" charset="-120"/>
              </a:rPr>
              <a:t>Ranked list /100</a:t>
            </a:r>
            <a:endParaRPr lang="en-US" sz="1050" dirty="0"/>
          </a:p>
        </p:txBody>
      </p:sp>
      <p:sp>
        <p:nvSpPr>
          <p:cNvPr id="36" name="flow arrow"/>
          <p:cNvSpPr/>
          <p:nvPr/>
        </p:nvSpPr>
        <p:spPr>
          <a:xfrm>
            <a:off x="6044184" y="2377440"/>
            <a:ext cx="118872" cy="201168"/>
          </a:xfrm>
          <a:prstGeom prst="chevron">
            <a:avLst/>
          </a:prstGeom>
          <a:solidFill>
            <a:srgbClr val="E8711C"/>
          </a:solidFill>
          <a:ln w="6350">
            <a:solidFill>
              <a:srgbClr val="E8711C"/>
            </a:solidFill>
            <a:prstDash val="solid"/>
          </a:ln>
        </p:spPr>
      </p:sp>
      <p:sp>
        <p:nvSpPr>
          <p:cNvPr id="37" name="box"/>
          <p:cNvSpPr/>
          <p:nvPr/>
        </p:nvSpPr>
        <p:spPr>
          <a:xfrm>
            <a:off x="6153912" y="1618488"/>
            <a:ext cx="1755648" cy="1828800"/>
          </a:xfrm>
          <a:prstGeom prst="roundRect">
            <a:avLst>
              <a:gd name="adj" fmla="val 4167"/>
            </a:avLst>
          </a:prstGeom>
          <a:solidFill>
            <a:srgbClr val="F1ECFB"/>
          </a:solidFill>
          <a:ln w="12700">
            <a:solidFill>
              <a:srgbClr val="D6CBF2"/>
            </a:solidFill>
            <a:prstDash val="solid"/>
          </a:ln>
        </p:spPr>
      </p:sp>
      <p:sp>
        <p:nvSpPr>
          <p:cNvPr id="38" name="Text 32"/>
          <p:cNvSpPr txBox="1"/>
          <p:nvPr/>
        </p:nvSpPr>
        <p:spPr>
          <a:xfrm>
            <a:off x="6245352" y="1700784"/>
            <a:ext cx="256032" cy="256032"/>
          </a:xfrm>
          <a:prstGeom prst="ellipse">
            <a:avLst/>
          </a:prstGeom>
          <a:solidFill>
            <a:srgbClr val="6B46C1"/>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3"/>
          <p:cNvSpPr txBox="1"/>
          <p:nvPr/>
        </p:nvSpPr>
        <p:spPr>
          <a:xfrm>
            <a:off x="6556248" y="1691640"/>
            <a:ext cx="132588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Accept</a:t>
            </a:r>
            <a:endParaRPr lang="en-US" sz="1300" dirty="0"/>
          </a:p>
        </p:txBody>
      </p:sp>
      <p:sp>
        <p:nvSpPr>
          <p:cNvPr id="40" name="icon ring"/>
          <p:cNvSpPr/>
          <p:nvPr/>
        </p:nvSpPr>
        <p:spPr>
          <a:xfrm>
            <a:off x="6245352" y="2103120"/>
            <a:ext cx="512064" cy="512064"/>
          </a:xfrm>
          <a:prstGeom prst="ellipse">
            <a:avLst/>
          </a:prstGeom>
          <a:solidFill>
            <a:srgbClr val="FFFFFF"/>
          </a:solidFill>
          <a:ln w="22225">
            <a:solidFill>
              <a:srgbClr val="6B46C1"/>
            </a:solidFill>
            <a:prstDash val="solid"/>
          </a:ln>
        </p:spPr>
      </p:sp>
      <p:pic>
        <p:nvPicPr>
          <p:cNvPr id="41" name="icon" descr="preencoded.png">    </p:cNvPr>
          <p:cNvPicPr>
            <a:picLocks noChangeAspect="1"/>
          </p:cNvPicPr>
          <p:nvPr/>
        </p:nvPicPr>
        <p:blipFill>
          <a:blip r:embed="rId5"/>
          <a:stretch>
            <a:fillRect/>
          </a:stretch>
        </p:blipFill>
        <p:spPr>
          <a:xfrm>
            <a:off x="6368247" y="2226015"/>
            <a:ext cx="266273" cy="266273"/>
          </a:xfrm>
          <a:prstGeom prst="rect">
            <a:avLst/>
          </a:prstGeom>
        </p:spPr>
      </p:pic>
      <p:sp>
        <p:nvSpPr>
          <p:cNvPr id="42" name="Text 35"/>
          <p:cNvSpPr txBox="1"/>
          <p:nvPr/>
        </p:nvSpPr>
        <p:spPr>
          <a:xfrm>
            <a:off x="6830568" y="2048256"/>
            <a:ext cx="1033272" cy="65836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Named officer reserves a bay</a:t>
            </a:r>
            <a:endParaRPr lang="en-US" sz="1050" dirty="0"/>
          </a:p>
        </p:txBody>
      </p:sp>
      <p:sp>
        <p:nvSpPr>
          <p:cNvPr id="43" name="box"/>
          <p:cNvSpPr/>
          <p:nvPr/>
        </p:nvSpPr>
        <p:spPr>
          <a:xfrm>
            <a:off x="6245352" y="2816352"/>
            <a:ext cx="1572768" cy="530352"/>
          </a:xfrm>
          <a:prstGeom prst="roundRect">
            <a:avLst>
              <a:gd name="adj" fmla="val 10345"/>
            </a:avLst>
          </a:prstGeom>
          <a:solidFill>
            <a:srgbClr val="FFFFFF"/>
          </a:solidFill>
          <a:ln w="12700">
            <a:solidFill>
              <a:srgbClr val="D6CBF2"/>
            </a:solidFill>
            <a:prstDash val="solid"/>
          </a:ln>
        </p:spPr>
      </p:sp>
      <p:sp>
        <p:nvSpPr>
          <p:cNvPr id="44" name="Text 37"/>
          <p:cNvSpPr txBox="1"/>
          <p:nvPr/>
        </p:nvSpPr>
        <p:spPr>
          <a:xfrm>
            <a:off x="6245352" y="2816352"/>
            <a:ext cx="1572768" cy="530352"/>
          </a:xfrm>
          <a:prstGeom prst="rect">
            <a:avLst/>
          </a:prstGeom>
          <a:noFill/>
          <a:ln/>
        </p:spPr>
        <p:txBody>
          <a:bodyPr wrap="square" lIns="0" tIns="0" rIns="0" bIns="0" rtlCol="0" anchor="ctr"/>
          <a:lstStyle/>
          <a:p>
            <a:pPr algn="ctr" indent="0" marL="0">
              <a:buNone/>
            </a:pPr>
            <a:r>
              <a:rPr lang="en-US" sz="1050" b="1" dirty="0">
                <a:solidFill>
                  <a:srgbClr val="6B46C1"/>
                </a:solidFill>
                <a:latin typeface="Calibri" pitchFamily="34" charset="0"/>
                <a:ea typeface="Calibri" pitchFamily="34" charset="-122"/>
                <a:cs typeface="Calibri" pitchFamily="34" charset="-120"/>
              </a:rPr>
              <a:t>Output</a:t>
            </a:r>
            <a:endParaRPr lang="en-US" sz="1050" dirty="0"/>
          </a:p>
          <a:p>
            <a:pPr algn="ctr" indent="0" marL="0">
              <a:buNone/>
            </a:pPr>
            <a:r>
              <a:rPr lang="en-US" sz="1050" dirty="0">
                <a:solidFill>
                  <a:srgbClr val="334155"/>
                </a:solidFill>
                <a:latin typeface="Calibri" pitchFamily="34" charset="0"/>
                <a:ea typeface="Calibri" pitchFamily="34" charset="-122"/>
                <a:cs typeface="Calibri" pitchFamily="34" charset="-120"/>
              </a:rPr>
              <a:t>Confirmed bed</a:t>
            </a:r>
            <a:endParaRPr lang="en-US" sz="1050" dirty="0"/>
          </a:p>
        </p:txBody>
      </p:sp>
      <p:sp>
        <p:nvSpPr>
          <p:cNvPr id="45" name="flow arrow"/>
          <p:cNvSpPr/>
          <p:nvPr/>
        </p:nvSpPr>
        <p:spPr>
          <a:xfrm>
            <a:off x="7936992" y="2377440"/>
            <a:ext cx="118872" cy="201168"/>
          </a:xfrm>
          <a:prstGeom prst="chevron">
            <a:avLst/>
          </a:prstGeom>
          <a:solidFill>
            <a:srgbClr val="E8711C"/>
          </a:solidFill>
          <a:ln w="6350">
            <a:solidFill>
              <a:srgbClr val="E8711C"/>
            </a:solidFill>
            <a:prstDash val="solid"/>
          </a:ln>
        </p:spPr>
      </p:sp>
      <p:sp>
        <p:nvSpPr>
          <p:cNvPr id="46" name="box"/>
          <p:cNvSpPr/>
          <p:nvPr/>
        </p:nvSpPr>
        <p:spPr>
          <a:xfrm>
            <a:off x="8046720" y="1618488"/>
            <a:ext cx="1755648" cy="1828800"/>
          </a:xfrm>
          <a:prstGeom prst="roundRect">
            <a:avLst>
              <a:gd name="adj" fmla="val 4167"/>
            </a:avLst>
          </a:prstGeom>
          <a:solidFill>
            <a:srgbClr val="FDECEC"/>
          </a:solidFill>
          <a:ln w="12700">
            <a:solidFill>
              <a:srgbClr val="F3BDBD"/>
            </a:solidFill>
            <a:prstDash val="solid"/>
          </a:ln>
        </p:spPr>
      </p:sp>
      <p:sp>
        <p:nvSpPr>
          <p:cNvPr id="47" name="Text 40"/>
          <p:cNvSpPr txBox="1"/>
          <p:nvPr/>
        </p:nvSpPr>
        <p:spPr>
          <a:xfrm>
            <a:off x="8138160" y="1700784"/>
            <a:ext cx="256032" cy="256032"/>
          </a:xfrm>
          <a:prstGeom prst="ellipse">
            <a:avLst/>
          </a:prstGeom>
          <a:solidFill>
            <a:srgbClr val="C628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8" name="Text 41"/>
          <p:cNvSpPr txBox="1"/>
          <p:nvPr/>
        </p:nvSpPr>
        <p:spPr>
          <a:xfrm>
            <a:off x="8449056" y="1691640"/>
            <a:ext cx="132588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108 / 102</a:t>
            </a:r>
            <a:endParaRPr lang="en-US" sz="1300" dirty="0"/>
          </a:p>
        </p:txBody>
      </p:sp>
      <p:sp>
        <p:nvSpPr>
          <p:cNvPr id="49" name="icon ring"/>
          <p:cNvSpPr/>
          <p:nvPr/>
        </p:nvSpPr>
        <p:spPr>
          <a:xfrm>
            <a:off x="8138160" y="2103120"/>
            <a:ext cx="512064" cy="512064"/>
          </a:xfrm>
          <a:prstGeom prst="ellipse">
            <a:avLst/>
          </a:prstGeom>
          <a:solidFill>
            <a:srgbClr val="FFFFFF"/>
          </a:solidFill>
          <a:ln w="22225">
            <a:solidFill>
              <a:srgbClr val="C62828"/>
            </a:solidFill>
            <a:prstDash val="solid"/>
          </a:ln>
        </p:spPr>
      </p:sp>
      <p:pic>
        <p:nvPicPr>
          <p:cNvPr id="50" name="icon" descr="preencoded.png">    </p:cNvPr>
          <p:cNvPicPr>
            <a:picLocks noChangeAspect="1"/>
          </p:cNvPicPr>
          <p:nvPr/>
        </p:nvPicPr>
        <p:blipFill>
          <a:blip r:embed="rId6"/>
          <a:stretch>
            <a:fillRect/>
          </a:stretch>
        </p:blipFill>
        <p:spPr>
          <a:xfrm>
            <a:off x="8261055" y="2226015"/>
            <a:ext cx="266273" cy="266273"/>
          </a:xfrm>
          <a:prstGeom prst="rect">
            <a:avLst/>
          </a:prstGeom>
        </p:spPr>
      </p:pic>
      <p:sp>
        <p:nvSpPr>
          <p:cNvPr id="51" name="Text 43"/>
          <p:cNvSpPr txBox="1"/>
          <p:nvPr/>
        </p:nvSpPr>
        <p:spPr>
          <a:xfrm>
            <a:off x="8723376" y="2048256"/>
            <a:ext cx="1033272" cy="65836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Signed incident to the control room</a:t>
            </a:r>
            <a:endParaRPr lang="en-US" sz="1050" dirty="0"/>
          </a:p>
        </p:txBody>
      </p:sp>
      <p:sp>
        <p:nvSpPr>
          <p:cNvPr id="52" name="box"/>
          <p:cNvSpPr/>
          <p:nvPr/>
        </p:nvSpPr>
        <p:spPr>
          <a:xfrm>
            <a:off x="8138160" y="2816352"/>
            <a:ext cx="1572768" cy="530352"/>
          </a:xfrm>
          <a:prstGeom prst="roundRect">
            <a:avLst>
              <a:gd name="adj" fmla="val 10345"/>
            </a:avLst>
          </a:prstGeom>
          <a:solidFill>
            <a:srgbClr val="FFFFFF"/>
          </a:solidFill>
          <a:ln w="12700">
            <a:solidFill>
              <a:srgbClr val="F3BDBD"/>
            </a:solidFill>
            <a:prstDash val="solid"/>
          </a:ln>
        </p:spPr>
      </p:sp>
      <p:sp>
        <p:nvSpPr>
          <p:cNvPr id="53" name="Text 45"/>
          <p:cNvSpPr txBox="1"/>
          <p:nvPr/>
        </p:nvSpPr>
        <p:spPr>
          <a:xfrm>
            <a:off x="8138160" y="2816352"/>
            <a:ext cx="1572768" cy="530352"/>
          </a:xfrm>
          <a:prstGeom prst="rect">
            <a:avLst/>
          </a:prstGeom>
          <a:noFill/>
          <a:ln/>
        </p:spPr>
        <p:txBody>
          <a:bodyPr wrap="square" lIns="0" tIns="0" rIns="0" bIns="0" rtlCol="0" anchor="ctr"/>
          <a:lstStyle/>
          <a:p>
            <a:pPr algn="ctr" indent="0" marL="0">
              <a:buNone/>
            </a:pPr>
            <a:r>
              <a:rPr lang="en-US" sz="1050" b="1" dirty="0">
                <a:solidFill>
                  <a:srgbClr val="C62828"/>
                </a:solidFill>
                <a:latin typeface="Calibri" pitchFamily="34" charset="0"/>
                <a:ea typeface="Calibri" pitchFamily="34" charset="-122"/>
                <a:cs typeface="Calibri" pitchFamily="34" charset="-120"/>
              </a:rPr>
              <a:t>Output</a:t>
            </a:r>
            <a:endParaRPr lang="en-US" sz="1050" dirty="0"/>
          </a:p>
          <a:p>
            <a:pPr algn="ctr" indent="0" marL="0">
              <a:buNone/>
            </a:pPr>
            <a:r>
              <a:rPr lang="en-US" sz="1050" dirty="0">
                <a:solidFill>
                  <a:srgbClr val="334155"/>
                </a:solidFill>
                <a:latin typeface="Calibri" pitchFamily="34" charset="0"/>
                <a:ea typeface="Calibri" pitchFamily="34" charset="-122"/>
                <a:cs typeface="Calibri" pitchFamily="34" charset="-120"/>
              </a:rPr>
              <a:t>Unit + incident no.</a:t>
            </a:r>
            <a:endParaRPr lang="en-US" sz="1050" dirty="0"/>
          </a:p>
        </p:txBody>
      </p:sp>
      <p:sp>
        <p:nvSpPr>
          <p:cNvPr id="54" name="flow arrow"/>
          <p:cNvSpPr/>
          <p:nvPr/>
        </p:nvSpPr>
        <p:spPr>
          <a:xfrm>
            <a:off x="9829800" y="2377440"/>
            <a:ext cx="118872" cy="201168"/>
          </a:xfrm>
          <a:prstGeom prst="chevron">
            <a:avLst/>
          </a:prstGeom>
          <a:solidFill>
            <a:srgbClr val="E8711C"/>
          </a:solidFill>
          <a:ln w="6350">
            <a:solidFill>
              <a:srgbClr val="E8711C"/>
            </a:solidFill>
            <a:prstDash val="solid"/>
          </a:ln>
        </p:spPr>
      </p:sp>
      <p:sp>
        <p:nvSpPr>
          <p:cNvPr id="55" name="box"/>
          <p:cNvSpPr/>
          <p:nvPr/>
        </p:nvSpPr>
        <p:spPr>
          <a:xfrm>
            <a:off x="9939528" y="1618488"/>
            <a:ext cx="1755648" cy="1828800"/>
          </a:xfrm>
          <a:prstGeom prst="roundRect">
            <a:avLst>
              <a:gd name="adj" fmla="val 4167"/>
            </a:avLst>
          </a:prstGeom>
          <a:solidFill>
            <a:srgbClr val="E6F5F5"/>
          </a:solidFill>
          <a:ln w="12700">
            <a:solidFill>
              <a:srgbClr val="B5E0E0"/>
            </a:solidFill>
            <a:prstDash val="solid"/>
          </a:ln>
        </p:spPr>
      </p:sp>
      <p:sp>
        <p:nvSpPr>
          <p:cNvPr id="56" name="Text 48"/>
          <p:cNvSpPr txBox="1"/>
          <p:nvPr/>
        </p:nvSpPr>
        <p:spPr>
          <a:xfrm>
            <a:off x="10030968" y="1700784"/>
            <a:ext cx="256032" cy="256032"/>
          </a:xfrm>
          <a:prstGeom prst="ellipse">
            <a:avLst/>
          </a:prstGeom>
          <a:solidFill>
            <a:srgbClr val="0F8B8D"/>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57" name="Text 49"/>
          <p:cNvSpPr txBox="1"/>
          <p:nvPr/>
        </p:nvSpPr>
        <p:spPr>
          <a:xfrm>
            <a:off x="10341864" y="1691640"/>
            <a:ext cx="132588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Track &amp; Arrive</a:t>
            </a:r>
            <a:endParaRPr lang="en-US" sz="1300" dirty="0"/>
          </a:p>
        </p:txBody>
      </p:sp>
      <p:sp>
        <p:nvSpPr>
          <p:cNvPr id="58" name="icon ring"/>
          <p:cNvSpPr/>
          <p:nvPr/>
        </p:nvSpPr>
        <p:spPr>
          <a:xfrm>
            <a:off x="10030968" y="2103120"/>
            <a:ext cx="512064" cy="512064"/>
          </a:xfrm>
          <a:prstGeom prst="ellipse">
            <a:avLst/>
          </a:prstGeom>
          <a:solidFill>
            <a:srgbClr val="FFFFFF"/>
          </a:solidFill>
          <a:ln w="22225">
            <a:solidFill>
              <a:srgbClr val="0F8B8D"/>
            </a:solidFill>
            <a:prstDash val="solid"/>
          </a:ln>
        </p:spPr>
      </p:sp>
      <p:pic>
        <p:nvPicPr>
          <p:cNvPr id="59" name="icon" descr="preencoded.png">    </p:cNvPr>
          <p:cNvPicPr>
            <a:picLocks noChangeAspect="1"/>
          </p:cNvPicPr>
          <p:nvPr/>
        </p:nvPicPr>
        <p:blipFill>
          <a:blip r:embed="rId7"/>
          <a:stretch>
            <a:fillRect/>
          </a:stretch>
        </p:blipFill>
        <p:spPr>
          <a:xfrm>
            <a:off x="10153863" y="2226015"/>
            <a:ext cx="266273" cy="266273"/>
          </a:xfrm>
          <a:prstGeom prst="rect">
            <a:avLst/>
          </a:prstGeom>
        </p:spPr>
      </p:pic>
      <p:sp>
        <p:nvSpPr>
          <p:cNvPr id="60" name="Text 51"/>
          <p:cNvSpPr txBox="1"/>
          <p:nvPr/>
        </p:nvSpPr>
        <p:spPr>
          <a:xfrm>
            <a:off x="10616184" y="2048256"/>
            <a:ext cx="1033272" cy="658368"/>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Family and ER see the live ETA</a:t>
            </a:r>
            <a:endParaRPr lang="en-US" sz="1050" dirty="0"/>
          </a:p>
        </p:txBody>
      </p:sp>
      <p:sp>
        <p:nvSpPr>
          <p:cNvPr id="61" name="box"/>
          <p:cNvSpPr/>
          <p:nvPr/>
        </p:nvSpPr>
        <p:spPr>
          <a:xfrm>
            <a:off x="10030968" y="2816352"/>
            <a:ext cx="1572768" cy="530352"/>
          </a:xfrm>
          <a:prstGeom prst="roundRect">
            <a:avLst>
              <a:gd name="adj" fmla="val 10345"/>
            </a:avLst>
          </a:prstGeom>
          <a:solidFill>
            <a:srgbClr val="FFFFFF"/>
          </a:solidFill>
          <a:ln w="12700">
            <a:solidFill>
              <a:srgbClr val="B5E0E0"/>
            </a:solidFill>
            <a:prstDash val="solid"/>
          </a:ln>
        </p:spPr>
      </p:sp>
      <p:sp>
        <p:nvSpPr>
          <p:cNvPr id="62" name="Text 53"/>
          <p:cNvSpPr txBox="1"/>
          <p:nvPr/>
        </p:nvSpPr>
        <p:spPr>
          <a:xfrm>
            <a:off x="10030968" y="2816352"/>
            <a:ext cx="1572768" cy="530352"/>
          </a:xfrm>
          <a:prstGeom prst="rect">
            <a:avLst/>
          </a:prstGeom>
          <a:noFill/>
          <a:ln/>
        </p:spPr>
        <p:txBody>
          <a:bodyPr wrap="square" lIns="0" tIns="0" rIns="0" bIns="0" rtlCol="0" anchor="ctr"/>
          <a:lstStyle/>
          <a:p>
            <a:pPr algn="ctr" indent="0" marL="0">
              <a:buNone/>
            </a:pPr>
            <a:r>
              <a:rPr lang="en-US" sz="1050" b="1" dirty="0">
                <a:solidFill>
                  <a:srgbClr val="0F8B8D"/>
                </a:solidFill>
                <a:latin typeface="Calibri" pitchFamily="34" charset="0"/>
                <a:ea typeface="Calibri" pitchFamily="34" charset="-122"/>
                <a:cs typeface="Calibri" pitchFamily="34" charset="-120"/>
              </a:rPr>
              <a:t>Output</a:t>
            </a:r>
            <a:endParaRPr lang="en-US" sz="1050" dirty="0"/>
          </a:p>
          <a:p>
            <a:pPr algn="ctr" indent="0" marL="0">
              <a:buNone/>
            </a:pPr>
            <a:r>
              <a:rPr lang="en-US" sz="1050" dirty="0">
                <a:solidFill>
                  <a:srgbClr val="334155"/>
                </a:solidFill>
                <a:latin typeface="Calibri" pitchFamily="34" charset="0"/>
                <a:ea typeface="Calibri" pitchFamily="34" charset="-122"/>
                <a:cs typeface="Calibri" pitchFamily="34" charset="-120"/>
              </a:rPr>
              <a:t>ER ready on arrival</a:t>
            </a:r>
            <a:endParaRPr lang="en-US" sz="1050" dirty="0"/>
          </a:p>
        </p:txBody>
      </p:sp>
      <p:sp>
        <p:nvSpPr>
          <p:cNvPr id="63" name="Text 54"/>
          <p:cNvSpPr txBox="1"/>
          <p:nvPr/>
        </p:nvSpPr>
        <p:spPr>
          <a:xfrm>
            <a:off x="365760" y="3675888"/>
            <a:ext cx="5486400" cy="256032"/>
          </a:xfrm>
          <a:prstGeom prst="rect">
            <a:avLst/>
          </a:prstGeom>
          <a:noFill/>
          <a:ln/>
        </p:spPr>
        <p:txBody>
          <a:bodyPr wrap="square" lIns="0" tIns="0" rIns="0" bIns="0" rtlCol="0" anchor="t"/>
          <a:lstStyle/>
          <a:p>
            <a:pPr indent="0" marL="0">
              <a:buNone/>
            </a:pPr>
            <a:r>
              <a:rPr lang="en-US" sz="1150" b="1" spc="150" kern="0" dirty="0">
                <a:solidFill>
                  <a:srgbClr val="0F8B8D"/>
                </a:solidFill>
                <a:latin typeface="Calibri" pitchFamily="34" charset="0"/>
                <a:ea typeface="Calibri" pitchFamily="34" charset="-122"/>
                <a:cs typeface="Calibri" pitchFamily="34" charset="-120"/>
              </a:rPr>
              <a:t>REAL SCREENS FROM THE LIVE PROTOTYPE</a:t>
            </a:r>
            <a:endParaRPr lang="en-US" sz="1150" dirty="0"/>
          </a:p>
        </p:txBody>
      </p:sp>
      <p:pic>
        <p:nvPicPr>
          <p:cNvPr id="64" name="Speak screen" descr="/tmp/claude-0/-home-user-Sehat-Setu/b06e8423-ed6e-57c3-bbb1-ac94b2a1720d/scratchpad/ppt10/art/phone-rep-1-describe.png">    </p:cNvPr>
          <p:cNvPicPr>
            <a:picLocks noChangeAspect="1"/>
          </p:cNvPicPr>
          <p:nvPr/>
        </p:nvPicPr>
        <p:blipFill>
          <a:blip r:embed="rId8"/>
          <a:stretch>
            <a:fillRect/>
          </a:stretch>
        </p:blipFill>
        <p:spPr>
          <a:xfrm>
            <a:off x="365760" y="3931920"/>
            <a:ext cx="1192086" cy="2331720"/>
          </a:xfrm>
          <a:prstGeom prst="rect">
            <a:avLst/>
          </a:prstGeom>
        </p:spPr>
      </p:pic>
      <p:sp>
        <p:nvSpPr>
          <p:cNvPr id="65" name="Text 55"/>
          <p:cNvSpPr txBox="1"/>
          <p:nvPr/>
        </p:nvSpPr>
        <p:spPr>
          <a:xfrm>
            <a:off x="384048" y="3950208"/>
            <a:ext cx="274320" cy="274320"/>
          </a:xfrm>
          <a:prstGeom prst="ellipse">
            <a:avLst/>
          </a:prstGeom>
          <a:solidFill>
            <a:srgbClr val="1F64B4"/>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6" name="Text 56"/>
          <p:cNvSpPr txBox="1"/>
          <p:nvPr/>
        </p:nvSpPr>
        <p:spPr>
          <a:xfrm>
            <a:off x="320040" y="6272784"/>
            <a:ext cx="1280160" cy="237744"/>
          </a:xfrm>
          <a:prstGeom prst="rect">
            <a:avLst/>
          </a:prstGeom>
          <a:noFill/>
          <a:ln/>
        </p:spPr>
        <p:txBody>
          <a:bodyPr wrap="square" lIns="0" tIns="0" rIns="0" bIns="0" rtlCol="0" anchor="t"/>
          <a:lstStyle/>
          <a:p>
            <a:pPr algn="ctr" indent="0" marL="0">
              <a:buNone/>
            </a:pPr>
            <a:r>
              <a:rPr lang="en-US" sz="1050" b="1" dirty="0">
                <a:solidFill>
                  <a:srgbClr val="0F172A"/>
                </a:solidFill>
                <a:latin typeface="Calibri" pitchFamily="34" charset="0"/>
                <a:ea typeface="Calibri" pitchFamily="34" charset="-122"/>
                <a:cs typeface="Calibri" pitchFamily="34" charset="-120"/>
              </a:rPr>
              <a:t>Speak</a:t>
            </a:r>
            <a:endParaRPr lang="en-US" sz="1050" dirty="0"/>
          </a:p>
        </p:txBody>
      </p:sp>
      <p:pic>
        <p:nvPicPr>
          <p:cNvPr id="67" name="AI triage screen" descr="/tmp/claude-0/-home-user-Sehat-Setu/b06e8423-ed6e-57c3-bbb1-ac94b2a1720d/scratchpad/ppt10/art/phone-rep-2-ai.png">    </p:cNvPr>
          <p:cNvPicPr>
            <a:picLocks noChangeAspect="1"/>
          </p:cNvPicPr>
          <p:nvPr/>
        </p:nvPicPr>
        <p:blipFill>
          <a:blip r:embed="rId9"/>
          <a:stretch>
            <a:fillRect/>
          </a:stretch>
        </p:blipFill>
        <p:spPr>
          <a:xfrm>
            <a:off x="1847088" y="3931920"/>
            <a:ext cx="1192086" cy="2331720"/>
          </a:xfrm>
          <a:prstGeom prst="rect">
            <a:avLst/>
          </a:prstGeom>
        </p:spPr>
      </p:pic>
      <p:sp>
        <p:nvSpPr>
          <p:cNvPr id="68" name="Text 57"/>
          <p:cNvSpPr txBox="1"/>
          <p:nvPr/>
        </p:nvSpPr>
        <p:spPr>
          <a:xfrm>
            <a:off x="1865376" y="3950208"/>
            <a:ext cx="274320" cy="274320"/>
          </a:xfrm>
          <a:prstGeom prst="ellipse">
            <a:avLst/>
          </a:prstGeom>
          <a:solidFill>
            <a:srgbClr val="2E7D32"/>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9" name="Text 58"/>
          <p:cNvSpPr txBox="1"/>
          <p:nvPr/>
        </p:nvSpPr>
        <p:spPr>
          <a:xfrm>
            <a:off x="1801368" y="6272784"/>
            <a:ext cx="1280160" cy="237744"/>
          </a:xfrm>
          <a:prstGeom prst="rect">
            <a:avLst/>
          </a:prstGeom>
          <a:noFill/>
          <a:ln/>
        </p:spPr>
        <p:txBody>
          <a:bodyPr wrap="square" lIns="0" tIns="0" rIns="0" bIns="0" rtlCol="0" anchor="t"/>
          <a:lstStyle/>
          <a:p>
            <a:pPr algn="ctr" indent="0" marL="0">
              <a:buNone/>
            </a:pPr>
            <a:r>
              <a:rPr lang="en-US" sz="1050" b="1" dirty="0">
                <a:solidFill>
                  <a:srgbClr val="0F172A"/>
                </a:solidFill>
                <a:latin typeface="Calibri" pitchFamily="34" charset="0"/>
                <a:ea typeface="Calibri" pitchFamily="34" charset="-122"/>
                <a:cs typeface="Calibri" pitchFamily="34" charset="-120"/>
              </a:rPr>
              <a:t>AI triage</a:t>
            </a:r>
            <a:endParaRPr lang="en-US" sz="1050" dirty="0"/>
          </a:p>
        </p:txBody>
      </p:sp>
      <p:pic>
        <p:nvPicPr>
          <p:cNvPr id="70" name="Match 92/100 screen" descr="/tmp/claude-0/-home-user-Sehat-Setu/b06e8423-ed6e-57c3-bbb1-ac94b2a1720d/scratchpad/ppt10/art/phone-rep-3b-match.png">    </p:cNvPr>
          <p:cNvPicPr>
            <a:picLocks noChangeAspect="1"/>
          </p:cNvPicPr>
          <p:nvPr/>
        </p:nvPicPr>
        <p:blipFill>
          <a:blip r:embed="rId10"/>
          <a:stretch>
            <a:fillRect/>
          </a:stretch>
        </p:blipFill>
        <p:spPr>
          <a:xfrm>
            <a:off x="3328416" y="3931920"/>
            <a:ext cx="1192086" cy="2331720"/>
          </a:xfrm>
          <a:prstGeom prst="rect">
            <a:avLst/>
          </a:prstGeom>
        </p:spPr>
      </p:pic>
      <p:sp>
        <p:nvSpPr>
          <p:cNvPr id="71" name="Text 59"/>
          <p:cNvSpPr txBox="1"/>
          <p:nvPr/>
        </p:nvSpPr>
        <p:spPr>
          <a:xfrm>
            <a:off x="3346704" y="3950208"/>
            <a:ext cx="274320" cy="274320"/>
          </a:xfrm>
          <a:prstGeom prst="ellipse">
            <a:avLst/>
          </a:prstGeom>
          <a:solidFill>
            <a:srgbClr val="E8711C"/>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72" name="Text 60"/>
          <p:cNvSpPr txBox="1"/>
          <p:nvPr/>
        </p:nvSpPr>
        <p:spPr>
          <a:xfrm>
            <a:off x="3282696" y="6272784"/>
            <a:ext cx="1280160" cy="237744"/>
          </a:xfrm>
          <a:prstGeom prst="rect">
            <a:avLst/>
          </a:prstGeom>
          <a:noFill/>
          <a:ln/>
        </p:spPr>
        <p:txBody>
          <a:bodyPr wrap="square" lIns="0" tIns="0" rIns="0" bIns="0" rtlCol="0" anchor="t"/>
          <a:lstStyle/>
          <a:p>
            <a:pPr algn="ctr" indent="0" marL="0">
              <a:buNone/>
            </a:pPr>
            <a:r>
              <a:rPr lang="en-US" sz="1050" b="1" dirty="0">
                <a:solidFill>
                  <a:srgbClr val="0F172A"/>
                </a:solidFill>
                <a:latin typeface="Calibri" pitchFamily="34" charset="0"/>
                <a:ea typeface="Calibri" pitchFamily="34" charset="-122"/>
                <a:cs typeface="Calibri" pitchFamily="34" charset="-120"/>
              </a:rPr>
              <a:t>Match 92/100</a:t>
            </a:r>
            <a:endParaRPr lang="en-US" sz="1050" dirty="0"/>
          </a:p>
        </p:txBody>
      </p:sp>
      <p:pic>
        <p:nvPicPr>
          <p:cNvPr id="73" name="Accepted → 108 screen" descr="/tmp/claude-0/-home-user-Sehat-Setu/b06e8423-ed6e-57c3-bbb1-ac94b2a1720d/scratchpad/ppt10/art/phone-rep-4-accepted.png">    </p:cNvPr>
          <p:cNvPicPr>
            <a:picLocks noChangeAspect="1"/>
          </p:cNvPicPr>
          <p:nvPr/>
        </p:nvPicPr>
        <p:blipFill>
          <a:blip r:embed="rId11"/>
          <a:stretch>
            <a:fillRect/>
          </a:stretch>
        </p:blipFill>
        <p:spPr>
          <a:xfrm>
            <a:off x="4809744" y="3931920"/>
            <a:ext cx="1192086" cy="2331720"/>
          </a:xfrm>
          <a:prstGeom prst="rect">
            <a:avLst/>
          </a:prstGeom>
        </p:spPr>
      </p:pic>
      <p:sp>
        <p:nvSpPr>
          <p:cNvPr id="74" name="Text 61"/>
          <p:cNvSpPr txBox="1"/>
          <p:nvPr/>
        </p:nvSpPr>
        <p:spPr>
          <a:xfrm>
            <a:off x="4828032" y="3950208"/>
            <a:ext cx="274320" cy="274320"/>
          </a:xfrm>
          <a:prstGeom prst="ellipse">
            <a:avLst/>
          </a:prstGeom>
          <a:solidFill>
            <a:srgbClr val="C628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75" name="Text 62"/>
          <p:cNvSpPr txBox="1"/>
          <p:nvPr/>
        </p:nvSpPr>
        <p:spPr>
          <a:xfrm>
            <a:off x="4764024" y="6272784"/>
            <a:ext cx="1280160" cy="237744"/>
          </a:xfrm>
          <a:prstGeom prst="rect">
            <a:avLst/>
          </a:prstGeom>
          <a:noFill/>
          <a:ln/>
        </p:spPr>
        <p:txBody>
          <a:bodyPr wrap="square" lIns="0" tIns="0" rIns="0" bIns="0" rtlCol="0" anchor="t"/>
          <a:lstStyle/>
          <a:p>
            <a:pPr algn="ctr" indent="0" marL="0">
              <a:buNone/>
            </a:pPr>
            <a:r>
              <a:rPr lang="en-US" sz="1050" b="1" dirty="0">
                <a:solidFill>
                  <a:srgbClr val="0F172A"/>
                </a:solidFill>
                <a:latin typeface="Calibri" pitchFamily="34" charset="0"/>
                <a:ea typeface="Calibri" pitchFamily="34" charset="-122"/>
                <a:cs typeface="Calibri" pitchFamily="34" charset="-120"/>
              </a:rPr>
              <a:t>Accepted → 108</a:t>
            </a:r>
            <a:endParaRPr lang="en-US" sz="1050" dirty="0"/>
          </a:p>
        </p:txBody>
      </p:sp>
      <p:pic>
        <p:nvPicPr>
          <p:cNvPr id="76" name="Live tracking screen" descr="/tmp/claude-0/-home-user-Sehat-Setu/b06e8423-ed6e-57c3-bbb1-ac94b2a1720d/scratchpad/ppt10/art/phone-rep-5-tracking.png">    </p:cNvPr>
          <p:cNvPicPr>
            <a:picLocks noChangeAspect="1"/>
          </p:cNvPicPr>
          <p:nvPr/>
        </p:nvPicPr>
        <p:blipFill>
          <a:blip r:embed="rId12"/>
          <a:stretch>
            <a:fillRect/>
          </a:stretch>
        </p:blipFill>
        <p:spPr>
          <a:xfrm>
            <a:off x="6291072" y="3931920"/>
            <a:ext cx="1192086" cy="2331720"/>
          </a:xfrm>
          <a:prstGeom prst="rect">
            <a:avLst/>
          </a:prstGeom>
        </p:spPr>
      </p:pic>
      <p:sp>
        <p:nvSpPr>
          <p:cNvPr id="77" name="Text 63"/>
          <p:cNvSpPr txBox="1"/>
          <p:nvPr/>
        </p:nvSpPr>
        <p:spPr>
          <a:xfrm>
            <a:off x="6309360" y="3950208"/>
            <a:ext cx="274320" cy="274320"/>
          </a:xfrm>
          <a:prstGeom prst="ellipse">
            <a:avLst/>
          </a:prstGeom>
          <a:solidFill>
            <a:srgbClr val="0F8B8D"/>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78" name="Text 64"/>
          <p:cNvSpPr txBox="1"/>
          <p:nvPr/>
        </p:nvSpPr>
        <p:spPr>
          <a:xfrm>
            <a:off x="6245352" y="6272784"/>
            <a:ext cx="1280160" cy="237744"/>
          </a:xfrm>
          <a:prstGeom prst="rect">
            <a:avLst/>
          </a:prstGeom>
          <a:noFill/>
          <a:ln/>
        </p:spPr>
        <p:txBody>
          <a:bodyPr wrap="square" lIns="0" tIns="0" rIns="0" bIns="0" rtlCol="0" anchor="t"/>
          <a:lstStyle/>
          <a:p>
            <a:pPr algn="ctr" indent="0" marL="0">
              <a:buNone/>
            </a:pPr>
            <a:r>
              <a:rPr lang="en-US" sz="1050" b="1" dirty="0">
                <a:solidFill>
                  <a:srgbClr val="0F172A"/>
                </a:solidFill>
                <a:latin typeface="Calibri" pitchFamily="34" charset="0"/>
                <a:ea typeface="Calibri" pitchFamily="34" charset="-122"/>
                <a:cs typeface="Calibri" pitchFamily="34" charset="-120"/>
              </a:rPr>
              <a:t>Live tracking</a:t>
            </a:r>
            <a:endParaRPr lang="en-US" sz="1050" dirty="0"/>
          </a:p>
        </p:txBody>
      </p:sp>
      <p:sp>
        <p:nvSpPr>
          <p:cNvPr id="79" name="box"/>
          <p:cNvSpPr/>
          <p:nvPr/>
        </p:nvSpPr>
        <p:spPr>
          <a:xfrm>
            <a:off x="7909560" y="3703320"/>
            <a:ext cx="3913632" cy="2834640"/>
          </a:xfrm>
          <a:prstGeom prst="roundRect">
            <a:avLst>
              <a:gd name="adj" fmla="val 4516"/>
            </a:avLst>
          </a:prstGeom>
          <a:solidFill>
            <a:srgbClr val="FFF1E6"/>
          </a:solidFill>
          <a:ln w="12700">
            <a:solidFill>
              <a:srgbClr val="F8CFAE"/>
            </a:solidFill>
            <a:prstDash val="solid"/>
          </a:ln>
          <a:effectLst>
            <a:outerShdw sx="100000" sy="100000" kx="0" ky="0" algn="bl" rotWithShape="0" blurRad="101600" dist="25400" dir="5400000">
              <a:srgbClr val="0F172A">
                <a:alpha val="13000"/>
              </a:srgbClr>
            </a:outerShdw>
          </a:effectLst>
        </p:spPr>
      </p:sp>
      <p:sp>
        <p:nvSpPr>
          <p:cNvPr id="80" name="Text 66"/>
          <p:cNvSpPr txBox="1"/>
          <p:nvPr/>
        </p:nvSpPr>
        <p:spPr>
          <a:xfrm>
            <a:off x="7909560" y="3794760"/>
            <a:ext cx="3913632" cy="320040"/>
          </a:xfrm>
          <a:prstGeom prst="rect">
            <a:avLst/>
          </a:prstGeom>
          <a:noFill/>
          <a:ln/>
        </p:spPr>
        <p:txBody>
          <a:bodyPr wrap="square" lIns="0" tIns="0" rIns="0" bIns="0" rtlCol="0" anchor="t"/>
          <a:lstStyle/>
          <a:p>
            <a:pPr algn="ctr" indent="0" marL="0">
              <a:buNone/>
            </a:pPr>
            <a:r>
              <a:rPr lang="en-US" sz="1500" b="1" dirty="0">
                <a:solidFill>
                  <a:srgbClr val="E8711C"/>
                </a:solidFill>
                <a:latin typeface="Arial" pitchFamily="34" charset="0"/>
                <a:ea typeface="Arial" pitchFamily="34" charset="-122"/>
                <a:cs typeface="Arial" pitchFamily="34" charset="-120"/>
              </a:rPr>
              <a:t>RULES WE NEVER BREAK</a:t>
            </a:r>
            <a:endParaRPr lang="en-US" sz="1500" dirty="0"/>
          </a:p>
        </p:txBody>
      </p:sp>
      <p:sp>
        <p:nvSpPr>
          <p:cNvPr id="81" name="icon circle"/>
          <p:cNvSpPr/>
          <p:nvPr/>
        </p:nvSpPr>
        <p:spPr>
          <a:xfrm>
            <a:off x="8092440" y="4206240"/>
            <a:ext cx="347472" cy="347472"/>
          </a:xfrm>
          <a:prstGeom prst="ellipse">
            <a:avLst/>
          </a:prstGeom>
          <a:solidFill>
            <a:srgbClr val="E8711C"/>
          </a:solidFill>
          <a:ln w="6350">
            <a:solidFill>
              <a:srgbClr val="E8711C"/>
            </a:solidFill>
            <a:prstDash val="solid"/>
          </a:ln>
        </p:spPr>
      </p:sp>
      <p:pic>
        <p:nvPicPr>
          <p:cNvPr id="82" name="icon" descr="preencoded.png">    </p:cNvPr>
          <p:cNvPicPr>
            <a:picLocks noChangeAspect="1"/>
          </p:cNvPicPr>
          <p:nvPr/>
        </p:nvPicPr>
        <p:blipFill>
          <a:blip r:embed="rId13"/>
          <a:stretch>
            <a:fillRect/>
          </a:stretch>
        </p:blipFill>
        <p:spPr>
          <a:xfrm>
            <a:off x="8168884" y="4282684"/>
            <a:ext cx="194584" cy="194584"/>
          </a:xfrm>
          <a:prstGeom prst="rect">
            <a:avLst/>
          </a:prstGeom>
        </p:spPr>
      </p:pic>
      <p:sp>
        <p:nvSpPr>
          <p:cNvPr id="83" name="Text 68"/>
          <p:cNvSpPr txBox="1"/>
          <p:nvPr/>
        </p:nvSpPr>
        <p:spPr>
          <a:xfrm>
            <a:off x="8549640" y="4206240"/>
            <a:ext cx="3154680" cy="347472"/>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Hospital accepts before anyone travels</a:t>
            </a:r>
            <a:endParaRPr lang="en-US" sz="1250" dirty="0"/>
          </a:p>
        </p:txBody>
      </p:sp>
      <p:sp>
        <p:nvSpPr>
          <p:cNvPr id="84" name="icon circle"/>
          <p:cNvSpPr/>
          <p:nvPr/>
        </p:nvSpPr>
        <p:spPr>
          <a:xfrm>
            <a:off x="8092440" y="4663440"/>
            <a:ext cx="347472" cy="347472"/>
          </a:xfrm>
          <a:prstGeom prst="ellipse">
            <a:avLst/>
          </a:prstGeom>
          <a:solidFill>
            <a:srgbClr val="E8711C"/>
          </a:solidFill>
          <a:ln w="6350">
            <a:solidFill>
              <a:srgbClr val="E8711C"/>
            </a:solidFill>
            <a:prstDash val="solid"/>
          </a:ln>
        </p:spPr>
      </p:sp>
      <p:pic>
        <p:nvPicPr>
          <p:cNvPr id="85" name="icon" descr="preencoded.png">    </p:cNvPr>
          <p:cNvPicPr>
            <a:picLocks noChangeAspect="1"/>
          </p:cNvPicPr>
          <p:nvPr/>
        </p:nvPicPr>
        <p:blipFill>
          <a:blip r:embed="rId14"/>
          <a:stretch>
            <a:fillRect/>
          </a:stretch>
        </p:blipFill>
        <p:spPr>
          <a:xfrm>
            <a:off x="8168884" y="4739884"/>
            <a:ext cx="194584" cy="194584"/>
          </a:xfrm>
          <a:prstGeom prst="rect">
            <a:avLst/>
          </a:prstGeom>
        </p:spPr>
      </p:pic>
      <p:sp>
        <p:nvSpPr>
          <p:cNvPr id="86" name="Text 70"/>
          <p:cNvSpPr txBox="1"/>
          <p:nvPr/>
        </p:nvSpPr>
        <p:spPr>
          <a:xfrm>
            <a:off x="8549640" y="4663440"/>
            <a:ext cx="3154680" cy="347472"/>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Only hospitals that can treat the case</a:t>
            </a:r>
            <a:endParaRPr lang="en-US" sz="1250" dirty="0"/>
          </a:p>
        </p:txBody>
      </p:sp>
      <p:sp>
        <p:nvSpPr>
          <p:cNvPr id="87" name="icon circle"/>
          <p:cNvSpPr/>
          <p:nvPr/>
        </p:nvSpPr>
        <p:spPr>
          <a:xfrm>
            <a:off x="8092440" y="5120640"/>
            <a:ext cx="347472" cy="347472"/>
          </a:xfrm>
          <a:prstGeom prst="ellipse">
            <a:avLst/>
          </a:prstGeom>
          <a:solidFill>
            <a:srgbClr val="E8711C"/>
          </a:solidFill>
          <a:ln w="6350">
            <a:solidFill>
              <a:srgbClr val="E8711C"/>
            </a:solidFill>
            <a:prstDash val="solid"/>
          </a:ln>
        </p:spPr>
      </p:sp>
      <p:pic>
        <p:nvPicPr>
          <p:cNvPr id="88" name="icon" descr="preencoded.png">    </p:cNvPr>
          <p:cNvPicPr>
            <a:picLocks noChangeAspect="1"/>
          </p:cNvPicPr>
          <p:nvPr/>
        </p:nvPicPr>
        <p:blipFill>
          <a:blip r:embed="rId15"/>
          <a:stretch>
            <a:fillRect/>
          </a:stretch>
        </p:blipFill>
        <p:spPr>
          <a:xfrm>
            <a:off x="8168884" y="5197084"/>
            <a:ext cx="194584" cy="194584"/>
          </a:xfrm>
          <a:prstGeom prst="rect">
            <a:avLst/>
          </a:prstGeom>
        </p:spPr>
      </p:pic>
      <p:sp>
        <p:nvSpPr>
          <p:cNvPr id="89" name="Text 72"/>
          <p:cNvSpPr txBox="1"/>
          <p:nvPr/>
        </p:nvSpPr>
        <p:spPr>
          <a:xfrm>
            <a:off x="8549640" y="5120640"/>
            <a:ext cx="3154680" cy="347472"/>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60 s without an answer → next hospital</a:t>
            </a:r>
            <a:endParaRPr lang="en-US" sz="1250" dirty="0"/>
          </a:p>
        </p:txBody>
      </p:sp>
      <p:sp>
        <p:nvSpPr>
          <p:cNvPr id="90" name="icon circle"/>
          <p:cNvSpPr/>
          <p:nvPr/>
        </p:nvSpPr>
        <p:spPr>
          <a:xfrm>
            <a:off x="8092440" y="5577840"/>
            <a:ext cx="347472" cy="347472"/>
          </a:xfrm>
          <a:prstGeom prst="ellipse">
            <a:avLst/>
          </a:prstGeom>
          <a:solidFill>
            <a:srgbClr val="E8711C"/>
          </a:solidFill>
          <a:ln w="6350">
            <a:solidFill>
              <a:srgbClr val="E8711C"/>
            </a:solidFill>
            <a:prstDash val="solid"/>
          </a:ln>
        </p:spPr>
      </p:sp>
      <p:pic>
        <p:nvPicPr>
          <p:cNvPr id="91" name="icon" descr="preencoded.png">    </p:cNvPr>
          <p:cNvPicPr>
            <a:picLocks noChangeAspect="1"/>
          </p:cNvPicPr>
          <p:nvPr/>
        </p:nvPicPr>
        <p:blipFill>
          <a:blip r:embed="rId16"/>
          <a:stretch>
            <a:fillRect/>
          </a:stretch>
        </p:blipFill>
        <p:spPr>
          <a:xfrm>
            <a:off x="8168884" y="5654284"/>
            <a:ext cx="194584" cy="194584"/>
          </a:xfrm>
          <a:prstGeom prst="rect">
            <a:avLst/>
          </a:prstGeom>
        </p:spPr>
      </p:pic>
      <p:sp>
        <p:nvSpPr>
          <p:cNvPr id="92" name="Text 74"/>
          <p:cNvSpPr txBox="1"/>
          <p:nvPr/>
        </p:nvSpPr>
        <p:spPr>
          <a:xfrm>
            <a:off x="8549640" y="5577840"/>
            <a:ext cx="3154680" cy="347472"/>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Never diagnoses – says “may indicate”</a:t>
            </a:r>
            <a:endParaRPr lang="en-US" sz="1250" dirty="0"/>
          </a:p>
        </p:txBody>
      </p:sp>
      <p:sp>
        <p:nvSpPr>
          <p:cNvPr id="93" name="icon circle"/>
          <p:cNvSpPr/>
          <p:nvPr/>
        </p:nvSpPr>
        <p:spPr>
          <a:xfrm>
            <a:off x="8092440" y="6035040"/>
            <a:ext cx="347472" cy="347472"/>
          </a:xfrm>
          <a:prstGeom prst="ellipse">
            <a:avLst/>
          </a:prstGeom>
          <a:solidFill>
            <a:srgbClr val="E8711C"/>
          </a:solidFill>
          <a:ln w="6350">
            <a:solidFill>
              <a:srgbClr val="E8711C"/>
            </a:solidFill>
            <a:prstDash val="solid"/>
          </a:ln>
        </p:spPr>
      </p:sp>
      <p:pic>
        <p:nvPicPr>
          <p:cNvPr id="94" name="icon" descr="preencoded.png">    </p:cNvPr>
          <p:cNvPicPr>
            <a:picLocks noChangeAspect="1"/>
          </p:cNvPicPr>
          <p:nvPr/>
        </p:nvPicPr>
        <p:blipFill>
          <a:blip r:embed="rId17"/>
          <a:stretch>
            <a:fillRect/>
          </a:stretch>
        </p:blipFill>
        <p:spPr>
          <a:xfrm>
            <a:off x="8168884" y="6111484"/>
            <a:ext cx="194584" cy="194584"/>
          </a:xfrm>
          <a:prstGeom prst="rect">
            <a:avLst/>
          </a:prstGeom>
        </p:spPr>
      </p:pic>
      <p:sp>
        <p:nvSpPr>
          <p:cNvPr id="95" name="Text 76"/>
          <p:cNvSpPr txBox="1"/>
          <p:nvPr/>
        </p:nvSpPr>
        <p:spPr>
          <a:xfrm>
            <a:off x="8549640" y="6035040"/>
            <a:ext cx="3154680" cy="347472"/>
          </a:xfrm>
          <a:prstGeom prst="rect">
            <a:avLst/>
          </a:prstGeom>
          <a:noFill/>
          <a:ln/>
        </p:spPr>
        <p:txBody>
          <a:bodyPr wrap="square" lIns="0" tIns="0" rIns="0" bIns="0" rtlCol="0" anchor="ctr"/>
          <a:lstStyle/>
          <a:p>
            <a:pPr indent="0" marL="0">
              <a:buNone/>
            </a:pPr>
            <a:r>
              <a:rPr lang="en-US" sz="1250" dirty="0">
                <a:solidFill>
                  <a:srgbClr val="0F172A"/>
                </a:solidFill>
                <a:latin typeface="Calibri" pitchFamily="34" charset="0"/>
                <a:ea typeface="Calibri" pitchFamily="34" charset="-122"/>
                <a:cs typeface="Calibri" pitchFamily="34" charset="-120"/>
              </a:rPr>
              <a:t>Call 108 is visible on every screen</a:t>
            </a:r>
            <a:endParaRPr lang="en-US" sz="1250" dirty="0"/>
          </a:p>
        </p:txBody>
      </p:sp>
      <p:sp>
        <p:nvSpPr>
          <p:cNvPr id="25" name="Slide Number Placeholder 0"/>
          <p:cNvSpPr>
            <a:spLocks noGrp="1"/>
          </p:cNvSpPr>
          <p:nvPr>
            <p:ph type="sldNum" sz="quarter" idx="4294967295"/>
          </p:nvPr>
        </p:nvSpPr>
        <p:spPr>
          <a:xfrm>
            <a:off x="11475720" y="651052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am badge"/>
          <p:cNvSpPr/>
          <p:nvPr/>
        </p:nvSpPr>
        <p:spPr>
          <a:xfrm>
            <a:off x="320040" y="201168"/>
            <a:ext cx="1645920" cy="777240"/>
          </a:xfrm>
          <a:prstGeom prst="ellipse">
            <a:avLst/>
          </a:prstGeom>
          <a:solidFill>
            <a:srgbClr val="FFFFFF"/>
          </a:solidFill>
          <a:ln w="19050">
            <a:solidFill>
              <a:srgbClr val="6B46C1"/>
            </a:solidFill>
            <a:prstDash val="solid"/>
          </a:ln>
        </p:spPr>
      </p:sp>
      <p:sp>
        <p:nvSpPr>
          <p:cNvPr id="3" name="Text 1"/>
          <p:cNvSpPr txBox="1"/>
          <p:nvPr/>
        </p:nvSpPr>
        <p:spPr>
          <a:xfrm>
            <a:off x="320040" y="201168"/>
            <a:ext cx="1645920" cy="777240"/>
          </a:xfrm>
          <a:prstGeom prst="rect">
            <a:avLst/>
          </a:prstGeom>
          <a:noFill/>
          <a:ln/>
        </p:spPr>
        <p:txBody>
          <a:bodyPr wrap="square" lIns="0" tIns="0" rIns="0" bIns="0" rtlCol="0" anchor="ctr"/>
          <a:lstStyle/>
          <a:p>
            <a:pPr algn="ctr" indent="0" marL="0">
              <a:buNone/>
            </a:pPr>
            <a:r>
              <a:rPr lang="en-US" sz="1250" dirty="0">
                <a:solidFill>
                  <a:srgbClr val="0F172A"/>
                </a:solidFill>
                <a:latin typeface="Calibri" pitchFamily="34" charset="0"/>
                <a:ea typeface="Calibri" pitchFamily="34" charset="-122"/>
                <a:cs typeface="Calibri" pitchFamily="34" charset="-120"/>
              </a:rPr>
              <a:t>TEAM</a:t>
            </a:r>
            <a:endParaRPr lang="en-US" sz="1250" dirty="0"/>
          </a:p>
          <a:p>
            <a:pPr algn="ctr" indent="0" marL="0">
              <a:buNone/>
            </a:pPr>
            <a:r>
              <a:rPr lang="en-US" sz="1250" dirty="0">
                <a:solidFill>
                  <a:srgbClr val="0F172A"/>
                </a:solidFill>
                <a:latin typeface="Calibri" pitchFamily="34" charset="0"/>
                <a:ea typeface="Calibri" pitchFamily="34" charset="-122"/>
                <a:cs typeface="Calibri" pitchFamily="34" charset="-120"/>
              </a:rPr>
              <a:t>MEDREACH</a:t>
            </a:r>
            <a:endParaRPr lang="en-US" sz="1250" dirty="0"/>
          </a:p>
        </p:txBody>
      </p:sp>
      <p:sp>
        <p:nvSpPr>
          <p:cNvPr id="4" name="Text 0"/>
          <p:cNvSpPr/>
          <p:nvPr>
            <p:ph idx="100" type="title" hasCustomPrompt="1"/>
          </p:nvPr>
        </p:nvSpPr>
        <p:spPr>
          <a:xfrm>
            <a:off x="2148840" y="201168"/>
            <a:ext cx="7863840" cy="777240"/>
          </a:xfrm>
          <a:prstGeom prst="rect">
            <a:avLst/>
          </a:prstGeom>
          <a:noFill/>
          <a:ln/>
        </p:spPr>
        <p:txBody>
          <a:bodyPr wrap="square" lIns="0" tIns="0" rIns="0" bIns="0" rtlCol="0" anchor="ctr"/>
          <a:lstStyle/>
          <a:p>
            <a:pPr algn="ctr" indent="0" marL="0">
              <a:buNone/>
            </a:pPr>
            <a:r>
              <a:rPr lang="en-US" sz="3400" b="1" dirty="0">
                <a:solidFill>
                  <a:schemeClr val="tx1"/>
                </a:solidFill>
              </a:rPr>
              <a:t>TECHNICAL APPROACH</a:t>
            </a:r>
            <a:endParaRPr lang="en-US" sz="3400" dirty="0"/>
          </a:p>
        </p:txBody>
      </p:sp>
      <p:pic>
        <p:nvPicPr>
          <p:cNvPr id="5" name="Medreach logo" descr="preencoded.png">    </p:cNvPr>
          <p:cNvPicPr>
            <a:picLocks noChangeAspect="1"/>
          </p:cNvPicPr>
          <p:nvPr/>
        </p:nvPicPr>
        <p:blipFill>
          <a:blip r:embed="rId1"/>
          <a:stretch>
            <a:fillRect/>
          </a:stretch>
        </p:blipFill>
        <p:spPr>
          <a:xfrm>
            <a:off x="10195560" y="274320"/>
            <a:ext cx="603504" cy="603504"/>
          </a:xfrm>
          <a:prstGeom prst="rect">
            <a:avLst/>
          </a:prstGeom>
        </p:spPr>
      </p:pic>
      <p:sp>
        <p:nvSpPr>
          <p:cNvPr id="6" name="Text 3"/>
          <p:cNvSpPr txBox="1"/>
          <p:nvPr/>
        </p:nvSpPr>
        <p:spPr>
          <a:xfrm>
            <a:off x="10881360" y="246888"/>
            <a:ext cx="1097280" cy="658368"/>
          </a:xfrm>
          <a:prstGeom prst="rect">
            <a:avLst/>
          </a:prstGeom>
          <a:noFill/>
          <a:ln/>
        </p:spPr>
        <p:txBody>
          <a:bodyPr wrap="square" lIns="0" tIns="0" rIns="0" bIns="0" rtlCol="0" anchor="ctr"/>
          <a:lstStyle/>
          <a:p>
            <a:pPr indent="0" marL="0">
              <a:lnSpc>
                <a:spcPct val="95000"/>
              </a:lnSpc>
              <a:buNone/>
            </a:pPr>
            <a:r>
              <a:rPr lang="en-US" sz="1150" b="1" dirty="0">
                <a:solidFill>
                  <a:srgbClr val="475569"/>
                </a:solidFill>
                <a:latin typeface="Arial" pitchFamily="34" charset="0"/>
                <a:ea typeface="Arial" pitchFamily="34" charset="-122"/>
                <a:cs typeface="Arial" pitchFamily="34" charset="-120"/>
              </a:rPr>
              <a:t>MPONLINE</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HACKATHON</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2026</a:t>
            </a:r>
            <a:endParaRPr lang="en-US" sz="1150" dirty="0"/>
          </a:p>
        </p:txBody>
      </p:sp>
      <p:sp>
        <p:nvSpPr>
          <p:cNvPr id="7" name="Text 4"/>
          <p:cNvSpPr txBox="1"/>
          <p:nvPr/>
        </p:nvSpPr>
        <p:spPr>
          <a:xfrm>
            <a:off x="365760" y="1097280"/>
            <a:ext cx="2514600" cy="310896"/>
          </a:xfrm>
          <a:prstGeom prst="roundRect">
            <a:avLst>
              <a:gd name="adj" fmla="val 23529"/>
            </a:avLst>
          </a:prstGeom>
          <a:solidFill>
            <a:srgbClr val="1F64B4"/>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CHANNELS</a:t>
            </a:r>
            <a:endParaRPr lang="en-US" sz="1200" dirty="0"/>
          </a:p>
        </p:txBody>
      </p:sp>
      <p:sp>
        <p:nvSpPr>
          <p:cNvPr id="8" name="Text 5"/>
          <p:cNvSpPr txBox="1"/>
          <p:nvPr/>
        </p:nvSpPr>
        <p:spPr>
          <a:xfrm>
            <a:off x="9308592" y="1097280"/>
            <a:ext cx="2514600" cy="310896"/>
          </a:xfrm>
          <a:prstGeom prst="roundRect">
            <a:avLst>
              <a:gd name="adj" fmla="val 23529"/>
            </a:avLst>
          </a:prstGeom>
          <a:solidFill>
            <a:srgbClr val="C62828"/>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INTEGRATIONS</a:t>
            </a:r>
            <a:endParaRPr lang="en-US" sz="1200" dirty="0"/>
          </a:p>
        </p:txBody>
      </p:sp>
      <p:sp>
        <p:nvSpPr>
          <p:cNvPr id="9" name="box"/>
          <p:cNvSpPr/>
          <p:nvPr/>
        </p:nvSpPr>
        <p:spPr>
          <a:xfrm>
            <a:off x="365760" y="1517904"/>
            <a:ext cx="2514600" cy="429768"/>
          </a:xfrm>
          <a:prstGeom prst="roundRect">
            <a:avLst>
              <a:gd name="adj" fmla="val 17021"/>
            </a:avLst>
          </a:prstGeom>
          <a:solidFill>
            <a:srgbClr val="EAF2FB"/>
          </a:solidFill>
          <a:ln w="12700">
            <a:solidFill>
              <a:srgbClr val="BFD5F0"/>
            </a:solidFill>
            <a:prstDash val="solid"/>
          </a:ln>
        </p:spPr>
      </p:sp>
      <p:pic>
        <p:nvPicPr>
          <p:cNvPr id="10" name="icon" descr="preencoded.png">    </p:cNvPr>
          <p:cNvPicPr>
            <a:picLocks noChangeAspect="1"/>
          </p:cNvPicPr>
          <p:nvPr/>
        </p:nvPicPr>
        <p:blipFill>
          <a:blip r:embed="rId2"/>
          <a:stretch>
            <a:fillRect/>
          </a:stretch>
        </p:blipFill>
        <p:spPr>
          <a:xfrm>
            <a:off x="475488" y="1600200"/>
            <a:ext cx="265176" cy="265176"/>
          </a:xfrm>
          <a:prstGeom prst="rect">
            <a:avLst/>
          </a:prstGeom>
        </p:spPr>
      </p:pic>
      <p:sp>
        <p:nvSpPr>
          <p:cNvPr id="11" name="Text 7"/>
          <p:cNvSpPr txBox="1"/>
          <p:nvPr/>
        </p:nvSpPr>
        <p:spPr>
          <a:xfrm>
            <a:off x="822960" y="1517904"/>
            <a:ext cx="2011680" cy="42976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Citizen web app (PWA)</a:t>
            </a:r>
            <a:endParaRPr lang="en-US" sz="1150" dirty="0"/>
          </a:p>
        </p:txBody>
      </p:sp>
      <p:sp>
        <p:nvSpPr>
          <p:cNvPr id="12" name="arrow"/>
          <p:cNvSpPr/>
          <p:nvPr/>
        </p:nvSpPr>
        <p:spPr>
          <a:xfrm>
            <a:off x="2898648" y="1732788"/>
            <a:ext cx="301752" cy="0"/>
          </a:xfrm>
          <a:prstGeom prst="line">
            <a:avLst/>
          </a:prstGeom>
          <a:noFill/>
          <a:ln w="22225">
            <a:solidFill>
              <a:srgbClr val="1F64B4"/>
            </a:solidFill>
            <a:prstDash val="solid"/>
            <a:tailEnd type="triangle"/>
          </a:ln>
        </p:spPr>
      </p:sp>
      <p:sp>
        <p:nvSpPr>
          <p:cNvPr id="13" name="box"/>
          <p:cNvSpPr/>
          <p:nvPr/>
        </p:nvSpPr>
        <p:spPr>
          <a:xfrm>
            <a:off x="9308592" y="1517904"/>
            <a:ext cx="2514600" cy="429768"/>
          </a:xfrm>
          <a:prstGeom prst="roundRect">
            <a:avLst>
              <a:gd name="adj" fmla="val 17021"/>
            </a:avLst>
          </a:prstGeom>
          <a:solidFill>
            <a:srgbClr val="FDECEC"/>
          </a:solidFill>
          <a:ln w="12700">
            <a:solidFill>
              <a:srgbClr val="F3BDBD"/>
            </a:solidFill>
            <a:prstDash val="solid"/>
          </a:ln>
        </p:spPr>
      </p:sp>
      <p:pic>
        <p:nvPicPr>
          <p:cNvPr id="14" name="icon" descr="preencoded.png">    </p:cNvPr>
          <p:cNvPicPr>
            <a:picLocks noChangeAspect="1"/>
          </p:cNvPicPr>
          <p:nvPr/>
        </p:nvPicPr>
        <p:blipFill>
          <a:blip r:embed="rId3"/>
          <a:stretch>
            <a:fillRect/>
          </a:stretch>
        </p:blipFill>
        <p:spPr>
          <a:xfrm>
            <a:off x="9418320" y="1600200"/>
            <a:ext cx="265176" cy="265176"/>
          </a:xfrm>
          <a:prstGeom prst="rect">
            <a:avLst/>
          </a:prstGeom>
        </p:spPr>
      </p:pic>
      <p:sp>
        <p:nvSpPr>
          <p:cNvPr id="15" name="Text 10"/>
          <p:cNvSpPr txBox="1"/>
          <p:nvPr/>
        </p:nvSpPr>
        <p:spPr>
          <a:xfrm>
            <a:off x="9765792" y="1517904"/>
            <a:ext cx="2011680" cy="42976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108 / 102 dispatch (CAD)</a:t>
            </a:r>
            <a:endParaRPr lang="en-US" sz="1150" dirty="0"/>
          </a:p>
        </p:txBody>
      </p:sp>
      <p:sp>
        <p:nvSpPr>
          <p:cNvPr id="16" name="arrow"/>
          <p:cNvSpPr/>
          <p:nvPr/>
        </p:nvSpPr>
        <p:spPr>
          <a:xfrm>
            <a:off x="8988552" y="1732788"/>
            <a:ext cx="301752" cy="0"/>
          </a:xfrm>
          <a:prstGeom prst="line">
            <a:avLst/>
          </a:prstGeom>
          <a:noFill/>
          <a:ln w="22225">
            <a:solidFill>
              <a:srgbClr val="C62828"/>
            </a:solidFill>
            <a:prstDash val="solid"/>
            <a:headEnd type="triangle"/>
            <a:tailEnd type="triangle"/>
          </a:ln>
        </p:spPr>
      </p:sp>
      <p:sp>
        <p:nvSpPr>
          <p:cNvPr id="17" name="box"/>
          <p:cNvSpPr/>
          <p:nvPr/>
        </p:nvSpPr>
        <p:spPr>
          <a:xfrm>
            <a:off x="365760" y="2029968"/>
            <a:ext cx="2514600" cy="429768"/>
          </a:xfrm>
          <a:prstGeom prst="roundRect">
            <a:avLst>
              <a:gd name="adj" fmla="val 17021"/>
            </a:avLst>
          </a:prstGeom>
          <a:solidFill>
            <a:srgbClr val="EAF2FB"/>
          </a:solidFill>
          <a:ln w="12700">
            <a:solidFill>
              <a:srgbClr val="BFD5F0"/>
            </a:solidFill>
            <a:prstDash val="solid"/>
          </a:ln>
        </p:spPr>
      </p:sp>
      <p:pic>
        <p:nvPicPr>
          <p:cNvPr id="18" name="icon" descr="preencoded.png">    </p:cNvPr>
          <p:cNvPicPr>
            <a:picLocks noChangeAspect="1"/>
          </p:cNvPicPr>
          <p:nvPr/>
        </p:nvPicPr>
        <p:blipFill>
          <a:blip r:embed="rId4"/>
          <a:stretch>
            <a:fillRect/>
          </a:stretch>
        </p:blipFill>
        <p:spPr>
          <a:xfrm>
            <a:off x="475488" y="2112264"/>
            <a:ext cx="265176" cy="265176"/>
          </a:xfrm>
          <a:prstGeom prst="rect">
            <a:avLst/>
          </a:prstGeom>
        </p:spPr>
      </p:pic>
      <p:sp>
        <p:nvSpPr>
          <p:cNvPr id="19" name="Text 13"/>
          <p:cNvSpPr txBox="1"/>
          <p:nvPr/>
        </p:nvSpPr>
        <p:spPr>
          <a:xfrm>
            <a:off x="822960" y="2029968"/>
            <a:ext cx="2011680" cy="42976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Hospital dashboard</a:t>
            </a:r>
            <a:endParaRPr lang="en-US" sz="1150" dirty="0"/>
          </a:p>
        </p:txBody>
      </p:sp>
      <p:sp>
        <p:nvSpPr>
          <p:cNvPr id="20" name="arrow"/>
          <p:cNvSpPr/>
          <p:nvPr/>
        </p:nvSpPr>
        <p:spPr>
          <a:xfrm>
            <a:off x="2898648" y="2244852"/>
            <a:ext cx="301752" cy="0"/>
          </a:xfrm>
          <a:prstGeom prst="line">
            <a:avLst/>
          </a:prstGeom>
          <a:noFill/>
          <a:ln w="22225">
            <a:solidFill>
              <a:srgbClr val="1F64B4"/>
            </a:solidFill>
            <a:prstDash val="solid"/>
            <a:tailEnd type="triangle"/>
          </a:ln>
        </p:spPr>
      </p:sp>
      <p:sp>
        <p:nvSpPr>
          <p:cNvPr id="21" name="box"/>
          <p:cNvSpPr/>
          <p:nvPr/>
        </p:nvSpPr>
        <p:spPr>
          <a:xfrm>
            <a:off x="9308592" y="2029968"/>
            <a:ext cx="2514600" cy="429768"/>
          </a:xfrm>
          <a:prstGeom prst="roundRect">
            <a:avLst>
              <a:gd name="adj" fmla="val 17021"/>
            </a:avLst>
          </a:prstGeom>
          <a:solidFill>
            <a:srgbClr val="FDECEC"/>
          </a:solidFill>
          <a:ln w="12700">
            <a:solidFill>
              <a:srgbClr val="F3BDBD"/>
            </a:solidFill>
            <a:prstDash val="solid"/>
          </a:ln>
        </p:spPr>
      </p:sp>
      <p:pic>
        <p:nvPicPr>
          <p:cNvPr id="22" name="icon" descr="preencoded.png">    </p:cNvPr>
          <p:cNvPicPr>
            <a:picLocks noChangeAspect="1"/>
          </p:cNvPicPr>
          <p:nvPr/>
        </p:nvPicPr>
        <p:blipFill>
          <a:blip r:embed="rId5"/>
          <a:stretch>
            <a:fillRect/>
          </a:stretch>
        </p:blipFill>
        <p:spPr>
          <a:xfrm>
            <a:off x="9418320" y="2112264"/>
            <a:ext cx="265176" cy="265176"/>
          </a:xfrm>
          <a:prstGeom prst="rect">
            <a:avLst/>
          </a:prstGeom>
        </p:spPr>
      </p:pic>
      <p:sp>
        <p:nvSpPr>
          <p:cNvPr id="23" name="Text 16"/>
          <p:cNvSpPr txBox="1"/>
          <p:nvPr/>
        </p:nvSpPr>
        <p:spPr>
          <a:xfrm>
            <a:off x="9765792" y="2029968"/>
            <a:ext cx="2011680" cy="42976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Aadhaar OTP via AUA / KUA</a:t>
            </a:r>
            <a:endParaRPr lang="en-US" sz="1150" dirty="0"/>
          </a:p>
        </p:txBody>
      </p:sp>
      <p:sp>
        <p:nvSpPr>
          <p:cNvPr id="24" name="arrow"/>
          <p:cNvSpPr/>
          <p:nvPr/>
        </p:nvSpPr>
        <p:spPr>
          <a:xfrm>
            <a:off x="8988552" y="2244852"/>
            <a:ext cx="301752" cy="0"/>
          </a:xfrm>
          <a:prstGeom prst="line">
            <a:avLst/>
          </a:prstGeom>
          <a:noFill/>
          <a:ln w="22225">
            <a:solidFill>
              <a:srgbClr val="C62828"/>
            </a:solidFill>
            <a:prstDash val="solid"/>
            <a:headEnd type="triangle"/>
            <a:tailEnd type="triangle"/>
          </a:ln>
        </p:spPr>
      </p:sp>
      <p:sp>
        <p:nvSpPr>
          <p:cNvPr id="25" name="box"/>
          <p:cNvSpPr/>
          <p:nvPr/>
        </p:nvSpPr>
        <p:spPr>
          <a:xfrm>
            <a:off x="365760" y="2542032"/>
            <a:ext cx="2514600" cy="429768"/>
          </a:xfrm>
          <a:prstGeom prst="roundRect">
            <a:avLst>
              <a:gd name="adj" fmla="val 17021"/>
            </a:avLst>
          </a:prstGeom>
          <a:solidFill>
            <a:srgbClr val="EAF2FB"/>
          </a:solidFill>
          <a:ln w="12700">
            <a:solidFill>
              <a:srgbClr val="BFD5F0"/>
            </a:solidFill>
            <a:prstDash val="solid"/>
          </a:ln>
        </p:spPr>
      </p:sp>
      <p:pic>
        <p:nvPicPr>
          <p:cNvPr id="26" name="icon" descr="preencoded.png">    </p:cNvPr>
          <p:cNvPicPr>
            <a:picLocks noChangeAspect="1"/>
          </p:cNvPicPr>
          <p:nvPr/>
        </p:nvPicPr>
        <p:blipFill>
          <a:blip r:embed="rId6"/>
          <a:stretch>
            <a:fillRect/>
          </a:stretch>
        </p:blipFill>
        <p:spPr>
          <a:xfrm>
            <a:off x="475488" y="2624328"/>
            <a:ext cx="265176" cy="265176"/>
          </a:xfrm>
          <a:prstGeom prst="rect">
            <a:avLst/>
          </a:prstGeom>
        </p:spPr>
      </p:pic>
      <p:sp>
        <p:nvSpPr>
          <p:cNvPr id="27" name="Text 19"/>
          <p:cNvSpPr txBox="1"/>
          <p:nvPr/>
        </p:nvSpPr>
        <p:spPr>
          <a:xfrm>
            <a:off x="822960" y="2542032"/>
            <a:ext cx="2011680" cy="42976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108 control-room console</a:t>
            </a:r>
            <a:endParaRPr lang="en-US" sz="1150" dirty="0"/>
          </a:p>
        </p:txBody>
      </p:sp>
      <p:sp>
        <p:nvSpPr>
          <p:cNvPr id="28" name="arrow"/>
          <p:cNvSpPr/>
          <p:nvPr/>
        </p:nvSpPr>
        <p:spPr>
          <a:xfrm>
            <a:off x="2898648" y="2756916"/>
            <a:ext cx="301752" cy="0"/>
          </a:xfrm>
          <a:prstGeom prst="line">
            <a:avLst/>
          </a:prstGeom>
          <a:noFill/>
          <a:ln w="22225">
            <a:solidFill>
              <a:srgbClr val="1F64B4"/>
            </a:solidFill>
            <a:prstDash val="solid"/>
            <a:tailEnd type="triangle"/>
          </a:ln>
        </p:spPr>
      </p:sp>
      <p:sp>
        <p:nvSpPr>
          <p:cNvPr id="29" name="box"/>
          <p:cNvSpPr/>
          <p:nvPr/>
        </p:nvSpPr>
        <p:spPr>
          <a:xfrm>
            <a:off x="9308592" y="2542032"/>
            <a:ext cx="2514600" cy="429768"/>
          </a:xfrm>
          <a:prstGeom prst="roundRect">
            <a:avLst>
              <a:gd name="adj" fmla="val 17021"/>
            </a:avLst>
          </a:prstGeom>
          <a:solidFill>
            <a:srgbClr val="FDECEC"/>
          </a:solidFill>
          <a:ln w="12700">
            <a:solidFill>
              <a:srgbClr val="F3BDBD"/>
            </a:solidFill>
            <a:prstDash val="solid"/>
          </a:ln>
        </p:spPr>
      </p:sp>
      <p:pic>
        <p:nvPicPr>
          <p:cNvPr id="30" name="icon" descr="preencoded.png">    </p:cNvPr>
          <p:cNvPicPr>
            <a:picLocks noChangeAspect="1"/>
          </p:cNvPicPr>
          <p:nvPr/>
        </p:nvPicPr>
        <p:blipFill>
          <a:blip r:embed="rId7"/>
          <a:stretch>
            <a:fillRect/>
          </a:stretch>
        </p:blipFill>
        <p:spPr>
          <a:xfrm>
            <a:off x="9418320" y="2624328"/>
            <a:ext cx="265176" cy="265176"/>
          </a:xfrm>
          <a:prstGeom prst="rect">
            <a:avLst/>
          </a:prstGeom>
        </p:spPr>
      </p:pic>
      <p:sp>
        <p:nvSpPr>
          <p:cNvPr id="31" name="Text 22"/>
          <p:cNvSpPr txBox="1"/>
          <p:nvPr/>
        </p:nvSpPr>
        <p:spPr>
          <a:xfrm>
            <a:off x="9765792" y="2542032"/>
            <a:ext cx="2011680" cy="42976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SMS gateway (DLT)</a:t>
            </a:r>
            <a:endParaRPr lang="en-US" sz="1150" dirty="0"/>
          </a:p>
        </p:txBody>
      </p:sp>
      <p:sp>
        <p:nvSpPr>
          <p:cNvPr id="32" name="arrow"/>
          <p:cNvSpPr/>
          <p:nvPr/>
        </p:nvSpPr>
        <p:spPr>
          <a:xfrm>
            <a:off x="8988552" y="2756916"/>
            <a:ext cx="301752" cy="0"/>
          </a:xfrm>
          <a:prstGeom prst="line">
            <a:avLst/>
          </a:prstGeom>
          <a:noFill/>
          <a:ln w="22225">
            <a:solidFill>
              <a:srgbClr val="C62828"/>
            </a:solidFill>
            <a:prstDash val="solid"/>
            <a:headEnd type="triangle"/>
            <a:tailEnd type="triangle"/>
          </a:ln>
        </p:spPr>
      </p:sp>
      <p:sp>
        <p:nvSpPr>
          <p:cNvPr id="33" name="box"/>
          <p:cNvSpPr/>
          <p:nvPr/>
        </p:nvSpPr>
        <p:spPr>
          <a:xfrm>
            <a:off x="365760" y="3054096"/>
            <a:ext cx="2514600" cy="429768"/>
          </a:xfrm>
          <a:prstGeom prst="roundRect">
            <a:avLst>
              <a:gd name="adj" fmla="val 17021"/>
            </a:avLst>
          </a:prstGeom>
          <a:solidFill>
            <a:srgbClr val="EAF2FB"/>
          </a:solidFill>
          <a:ln w="12700">
            <a:solidFill>
              <a:srgbClr val="BFD5F0"/>
            </a:solidFill>
            <a:prstDash val="solid"/>
          </a:ln>
        </p:spPr>
      </p:sp>
      <p:pic>
        <p:nvPicPr>
          <p:cNvPr id="34" name="icon" descr="preencoded.png">    </p:cNvPr>
          <p:cNvPicPr>
            <a:picLocks noChangeAspect="1"/>
          </p:cNvPicPr>
          <p:nvPr/>
        </p:nvPicPr>
        <p:blipFill>
          <a:blip r:embed="rId8"/>
          <a:stretch>
            <a:fillRect/>
          </a:stretch>
        </p:blipFill>
        <p:spPr>
          <a:xfrm>
            <a:off x="475488" y="3136392"/>
            <a:ext cx="265176" cy="265176"/>
          </a:xfrm>
          <a:prstGeom prst="rect">
            <a:avLst/>
          </a:prstGeom>
        </p:spPr>
      </p:pic>
      <p:sp>
        <p:nvSpPr>
          <p:cNvPr id="35" name="Text 25"/>
          <p:cNvSpPr txBox="1"/>
          <p:nvPr/>
        </p:nvSpPr>
        <p:spPr>
          <a:xfrm>
            <a:off x="822960" y="3054096"/>
            <a:ext cx="2011680" cy="42976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SMS #MR1 code (no internet)</a:t>
            </a:r>
            <a:endParaRPr lang="en-US" sz="1150" dirty="0"/>
          </a:p>
        </p:txBody>
      </p:sp>
      <p:sp>
        <p:nvSpPr>
          <p:cNvPr id="36" name="arrow"/>
          <p:cNvSpPr/>
          <p:nvPr/>
        </p:nvSpPr>
        <p:spPr>
          <a:xfrm>
            <a:off x="2898648" y="3268980"/>
            <a:ext cx="301752" cy="0"/>
          </a:xfrm>
          <a:prstGeom prst="line">
            <a:avLst/>
          </a:prstGeom>
          <a:noFill/>
          <a:ln w="22225">
            <a:solidFill>
              <a:srgbClr val="1F64B4"/>
            </a:solidFill>
            <a:prstDash val="solid"/>
            <a:tailEnd type="triangle"/>
          </a:ln>
        </p:spPr>
      </p:sp>
      <p:sp>
        <p:nvSpPr>
          <p:cNvPr id="37" name="box"/>
          <p:cNvSpPr/>
          <p:nvPr/>
        </p:nvSpPr>
        <p:spPr>
          <a:xfrm>
            <a:off x="9308592" y="3054096"/>
            <a:ext cx="2514600" cy="429768"/>
          </a:xfrm>
          <a:prstGeom prst="roundRect">
            <a:avLst>
              <a:gd name="adj" fmla="val 17021"/>
            </a:avLst>
          </a:prstGeom>
          <a:solidFill>
            <a:srgbClr val="FDECEC"/>
          </a:solidFill>
          <a:ln w="12700">
            <a:solidFill>
              <a:srgbClr val="F3BDBD"/>
            </a:solidFill>
            <a:prstDash val="solid"/>
          </a:ln>
        </p:spPr>
      </p:sp>
      <p:pic>
        <p:nvPicPr>
          <p:cNvPr id="38" name="icon" descr="preencoded.png">    </p:cNvPr>
          <p:cNvPicPr>
            <a:picLocks noChangeAspect="1"/>
          </p:cNvPicPr>
          <p:nvPr/>
        </p:nvPicPr>
        <p:blipFill>
          <a:blip r:embed="rId9"/>
          <a:stretch>
            <a:fillRect/>
          </a:stretch>
        </p:blipFill>
        <p:spPr>
          <a:xfrm>
            <a:off x="9418320" y="3136392"/>
            <a:ext cx="265176" cy="265176"/>
          </a:xfrm>
          <a:prstGeom prst="rect">
            <a:avLst/>
          </a:prstGeom>
        </p:spPr>
      </p:pic>
      <p:sp>
        <p:nvSpPr>
          <p:cNvPr id="39" name="Text 28"/>
          <p:cNvSpPr txBox="1"/>
          <p:nvPr/>
        </p:nvSpPr>
        <p:spPr>
          <a:xfrm>
            <a:off x="9765792" y="3054096"/>
            <a:ext cx="2011680" cy="42976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OpenStreetMap + OSRM</a:t>
            </a:r>
            <a:endParaRPr lang="en-US" sz="1150" dirty="0"/>
          </a:p>
        </p:txBody>
      </p:sp>
      <p:sp>
        <p:nvSpPr>
          <p:cNvPr id="40" name="arrow"/>
          <p:cNvSpPr/>
          <p:nvPr/>
        </p:nvSpPr>
        <p:spPr>
          <a:xfrm>
            <a:off x="8988552" y="3268980"/>
            <a:ext cx="301752" cy="0"/>
          </a:xfrm>
          <a:prstGeom prst="line">
            <a:avLst/>
          </a:prstGeom>
          <a:noFill/>
          <a:ln w="22225">
            <a:solidFill>
              <a:srgbClr val="C62828"/>
            </a:solidFill>
            <a:prstDash val="solid"/>
            <a:headEnd type="triangle"/>
            <a:tailEnd type="triangle"/>
          </a:ln>
        </p:spPr>
      </p:sp>
      <p:sp>
        <p:nvSpPr>
          <p:cNvPr id="41" name="box"/>
          <p:cNvSpPr/>
          <p:nvPr/>
        </p:nvSpPr>
        <p:spPr>
          <a:xfrm>
            <a:off x="3246120" y="1097280"/>
            <a:ext cx="5715000" cy="2395728"/>
          </a:xfrm>
          <a:prstGeom prst="roundRect">
            <a:avLst>
              <a:gd name="adj" fmla="val 4580"/>
            </a:avLst>
          </a:prstGeom>
          <a:solidFill>
            <a:srgbClr val="14325C"/>
          </a:solidFill>
          <a:ln w="12700">
            <a:solidFill>
              <a:srgbClr val="14325C"/>
            </a:solidFill>
            <a:prstDash val="solid"/>
          </a:ln>
          <a:effectLst>
            <a:outerShdw sx="100000" sy="100000" kx="0" ky="0" algn="bl" rotWithShape="0" blurRad="101600" dist="25400" dir="5400000">
              <a:srgbClr val="0F172A">
                <a:alpha val="13000"/>
              </a:srgbClr>
            </a:outerShdw>
          </a:effectLst>
        </p:spPr>
      </p:sp>
      <p:sp>
        <p:nvSpPr>
          <p:cNvPr id="42" name="Text 31"/>
          <p:cNvSpPr txBox="1"/>
          <p:nvPr/>
        </p:nvSpPr>
        <p:spPr>
          <a:xfrm>
            <a:off x="3246120" y="1143000"/>
            <a:ext cx="5715000"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MEDREACH CORE  </a:t>
            </a:r>
            <a:pPr algn="ctr" indent="0" marL="0">
              <a:buNone/>
            </a:pPr>
            <a:r>
              <a:rPr lang="en-US" sz="1250" dirty="0">
                <a:solidFill>
                  <a:srgbClr val="CBD5E1"/>
                </a:solidFill>
                <a:latin typeface="Calibri" pitchFamily="34" charset="0"/>
                <a:ea typeface="Calibri" pitchFamily="34" charset="-122"/>
                <a:cs typeface="Calibri" pitchFamily="34" charset="-120"/>
              </a:rPr>
              <a:t>·  Node.js 22 + Express 5  ·  live push (SSE)</a:t>
            </a:r>
            <a:endParaRPr lang="en-US" sz="1250" dirty="0"/>
          </a:p>
        </p:txBody>
      </p:sp>
      <p:sp>
        <p:nvSpPr>
          <p:cNvPr id="43" name="box"/>
          <p:cNvSpPr/>
          <p:nvPr/>
        </p:nvSpPr>
        <p:spPr>
          <a:xfrm>
            <a:off x="3364992" y="1554480"/>
            <a:ext cx="1783080" cy="850392"/>
          </a:xfrm>
          <a:prstGeom prst="roundRect">
            <a:avLst>
              <a:gd name="adj" fmla="val 8602"/>
            </a:avLst>
          </a:prstGeom>
          <a:solidFill>
            <a:srgbClr val="23466F"/>
          </a:solidFill>
          <a:ln w="12700">
            <a:solidFill>
              <a:srgbClr val="2F5A86"/>
            </a:solidFill>
            <a:prstDash val="solid"/>
          </a:ln>
        </p:spPr>
      </p:sp>
      <p:sp>
        <p:nvSpPr>
          <p:cNvPr id="44" name="icon circle"/>
          <p:cNvSpPr/>
          <p:nvPr/>
        </p:nvSpPr>
        <p:spPr>
          <a:xfrm>
            <a:off x="3456432" y="1737360"/>
            <a:ext cx="457200" cy="457200"/>
          </a:xfrm>
          <a:prstGeom prst="ellipse">
            <a:avLst/>
          </a:prstGeom>
          <a:solidFill>
            <a:srgbClr val="2E7D32"/>
          </a:solidFill>
          <a:ln w="6350">
            <a:solidFill>
              <a:srgbClr val="2E7D32"/>
            </a:solidFill>
            <a:prstDash val="solid"/>
          </a:ln>
        </p:spPr>
      </p:sp>
      <p:pic>
        <p:nvPicPr>
          <p:cNvPr id="45" name="icon" descr="preencoded.png">    </p:cNvPr>
          <p:cNvPicPr>
            <a:picLocks noChangeAspect="1"/>
          </p:cNvPicPr>
          <p:nvPr/>
        </p:nvPicPr>
        <p:blipFill>
          <a:blip r:embed="rId10"/>
          <a:stretch>
            <a:fillRect/>
          </a:stretch>
        </p:blipFill>
        <p:spPr>
          <a:xfrm>
            <a:off x="3557016" y="1837944"/>
            <a:ext cx="256032" cy="256032"/>
          </a:xfrm>
          <a:prstGeom prst="rect">
            <a:avLst/>
          </a:prstGeom>
        </p:spPr>
      </p:pic>
      <p:sp>
        <p:nvSpPr>
          <p:cNvPr id="46" name="Text 34"/>
          <p:cNvSpPr txBox="1"/>
          <p:nvPr/>
        </p:nvSpPr>
        <p:spPr>
          <a:xfrm>
            <a:off x="3968496" y="1627632"/>
            <a:ext cx="1152144"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triage</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Gemini 2.5 Flash + rules</a:t>
            </a:r>
            <a:endParaRPr lang="en-US" sz="1000" dirty="0"/>
          </a:p>
        </p:txBody>
      </p:sp>
      <p:sp>
        <p:nvSpPr>
          <p:cNvPr id="47" name="box"/>
          <p:cNvSpPr/>
          <p:nvPr/>
        </p:nvSpPr>
        <p:spPr>
          <a:xfrm>
            <a:off x="5221224" y="1554480"/>
            <a:ext cx="1783080" cy="850392"/>
          </a:xfrm>
          <a:prstGeom prst="roundRect">
            <a:avLst>
              <a:gd name="adj" fmla="val 8602"/>
            </a:avLst>
          </a:prstGeom>
          <a:solidFill>
            <a:srgbClr val="23466F"/>
          </a:solidFill>
          <a:ln w="12700">
            <a:solidFill>
              <a:srgbClr val="2F5A86"/>
            </a:solidFill>
            <a:prstDash val="solid"/>
          </a:ln>
        </p:spPr>
      </p:sp>
      <p:sp>
        <p:nvSpPr>
          <p:cNvPr id="48" name="icon circle"/>
          <p:cNvSpPr/>
          <p:nvPr/>
        </p:nvSpPr>
        <p:spPr>
          <a:xfrm>
            <a:off x="5312664" y="1737360"/>
            <a:ext cx="457200" cy="457200"/>
          </a:xfrm>
          <a:prstGeom prst="ellipse">
            <a:avLst/>
          </a:prstGeom>
          <a:solidFill>
            <a:srgbClr val="E8711C"/>
          </a:solidFill>
          <a:ln w="6350">
            <a:solidFill>
              <a:srgbClr val="E8711C"/>
            </a:solidFill>
            <a:prstDash val="solid"/>
          </a:ln>
        </p:spPr>
      </p:sp>
      <p:pic>
        <p:nvPicPr>
          <p:cNvPr id="49" name="icon" descr="preencoded.png">    </p:cNvPr>
          <p:cNvPicPr>
            <a:picLocks noChangeAspect="1"/>
          </p:cNvPicPr>
          <p:nvPr/>
        </p:nvPicPr>
        <p:blipFill>
          <a:blip r:embed="rId11"/>
          <a:stretch>
            <a:fillRect/>
          </a:stretch>
        </p:blipFill>
        <p:spPr>
          <a:xfrm>
            <a:off x="5413248" y="1837944"/>
            <a:ext cx="256032" cy="256032"/>
          </a:xfrm>
          <a:prstGeom prst="rect">
            <a:avLst/>
          </a:prstGeom>
        </p:spPr>
      </p:pic>
      <p:sp>
        <p:nvSpPr>
          <p:cNvPr id="50" name="Text 37"/>
          <p:cNvSpPr txBox="1"/>
          <p:nvPr/>
        </p:nvSpPr>
        <p:spPr>
          <a:xfrm>
            <a:off x="5824728" y="1627632"/>
            <a:ext cx="1152144"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Match score</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explainable, out of 100</a:t>
            </a:r>
            <a:endParaRPr lang="en-US" sz="1000" dirty="0"/>
          </a:p>
        </p:txBody>
      </p:sp>
      <p:sp>
        <p:nvSpPr>
          <p:cNvPr id="51" name="box"/>
          <p:cNvSpPr/>
          <p:nvPr/>
        </p:nvSpPr>
        <p:spPr>
          <a:xfrm>
            <a:off x="7077456" y="1554480"/>
            <a:ext cx="1783080" cy="850392"/>
          </a:xfrm>
          <a:prstGeom prst="roundRect">
            <a:avLst>
              <a:gd name="adj" fmla="val 8602"/>
            </a:avLst>
          </a:prstGeom>
          <a:solidFill>
            <a:srgbClr val="23466F"/>
          </a:solidFill>
          <a:ln w="12700">
            <a:solidFill>
              <a:srgbClr val="2F5A86"/>
            </a:solidFill>
            <a:prstDash val="solid"/>
          </a:ln>
        </p:spPr>
      </p:sp>
      <p:sp>
        <p:nvSpPr>
          <p:cNvPr id="52" name="icon circle"/>
          <p:cNvSpPr/>
          <p:nvPr/>
        </p:nvSpPr>
        <p:spPr>
          <a:xfrm>
            <a:off x="7168896" y="1737360"/>
            <a:ext cx="457200" cy="457200"/>
          </a:xfrm>
          <a:prstGeom prst="ellipse">
            <a:avLst/>
          </a:prstGeom>
          <a:solidFill>
            <a:srgbClr val="0F8B8D"/>
          </a:solidFill>
          <a:ln w="6350">
            <a:solidFill>
              <a:srgbClr val="0F8B8D"/>
            </a:solidFill>
            <a:prstDash val="solid"/>
          </a:ln>
        </p:spPr>
      </p:sp>
      <p:pic>
        <p:nvPicPr>
          <p:cNvPr id="53" name="icon" descr="preencoded.png">    </p:cNvPr>
          <p:cNvPicPr>
            <a:picLocks noChangeAspect="1"/>
          </p:cNvPicPr>
          <p:nvPr/>
        </p:nvPicPr>
        <p:blipFill>
          <a:blip r:embed="rId12"/>
          <a:stretch>
            <a:fillRect/>
          </a:stretch>
        </p:blipFill>
        <p:spPr>
          <a:xfrm>
            <a:off x="7269480" y="1837944"/>
            <a:ext cx="256032" cy="256032"/>
          </a:xfrm>
          <a:prstGeom prst="rect">
            <a:avLst/>
          </a:prstGeom>
        </p:spPr>
      </p:pic>
      <p:sp>
        <p:nvSpPr>
          <p:cNvPr id="54" name="Text 40"/>
          <p:cNvSpPr txBox="1"/>
          <p:nvPr/>
        </p:nvSpPr>
        <p:spPr>
          <a:xfrm>
            <a:off x="7680960" y="1627632"/>
            <a:ext cx="1152144"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Live capacity</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108-minute update cycle</a:t>
            </a:r>
            <a:endParaRPr lang="en-US" sz="1000" dirty="0"/>
          </a:p>
        </p:txBody>
      </p:sp>
      <p:sp>
        <p:nvSpPr>
          <p:cNvPr id="55" name="box"/>
          <p:cNvSpPr/>
          <p:nvPr/>
        </p:nvSpPr>
        <p:spPr>
          <a:xfrm>
            <a:off x="3364992" y="2496312"/>
            <a:ext cx="1783080" cy="850392"/>
          </a:xfrm>
          <a:prstGeom prst="roundRect">
            <a:avLst>
              <a:gd name="adj" fmla="val 8602"/>
            </a:avLst>
          </a:prstGeom>
          <a:solidFill>
            <a:srgbClr val="23466F"/>
          </a:solidFill>
          <a:ln w="12700">
            <a:solidFill>
              <a:srgbClr val="2F5A86"/>
            </a:solidFill>
            <a:prstDash val="solid"/>
          </a:ln>
        </p:spPr>
      </p:sp>
      <p:sp>
        <p:nvSpPr>
          <p:cNvPr id="56" name="icon circle"/>
          <p:cNvSpPr/>
          <p:nvPr/>
        </p:nvSpPr>
        <p:spPr>
          <a:xfrm>
            <a:off x="3456432" y="2679192"/>
            <a:ext cx="457200" cy="457200"/>
          </a:xfrm>
          <a:prstGeom prst="ellipse">
            <a:avLst/>
          </a:prstGeom>
          <a:solidFill>
            <a:srgbClr val="1F64B4"/>
          </a:solidFill>
          <a:ln w="6350">
            <a:solidFill>
              <a:srgbClr val="1F64B4"/>
            </a:solidFill>
            <a:prstDash val="solid"/>
          </a:ln>
        </p:spPr>
      </p:sp>
      <p:pic>
        <p:nvPicPr>
          <p:cNvPr id="57" name="icon" descr="preencoded.png">    </p:cNvPr>
          <p:cNvPicPr>
            <a:picLocks noChangeAspect="1"/>
          </p:cNvPicPr>
          <p:nvPr/>
        </p:nvPicPr>
        <p:blipFill>
          <a:blip r:embed="rId13"/>
          <a:stretch>
            <a:fillRect/>
          </a:stretch>
        </p:blipFill>
        <p:spPr>
          <a:xfrm>
            <a:off x="3557016" y="2779776"/>
            <a:ext cx="256032" cy="256032"/>
          </a:xfrm>
          <a:prstGeom prst="rect">
            <a:avLst/>
          </a:prstGeom>
        </p:spPr>
      </p:pic>
      <p:sp>
        <p:nvSpPr>
          <p:cNvPr id="58" name="Text 43"/>
          <p:cNvSpPr txBox="1"/>
          <p:nvPr/>
        </p:nvSpPr>
        <p:spPr>
          <a:xfrm>
            <a:off x="3968496" y="2569464"/>
            <a:ext cx="1152144"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Routing &amp; ETA</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road distance (OSRM)</a:t>
            </a:r>
            <a:endParaRPr lang="en-US" sz="1000" dirty="0"/>
          </a:p>
        </p:txBody>
      </p:sp>
      <p:sp>
        <p:nvSpPr>
          <p:cNvPr id="59" name="box"/>
          <p:cNvSpPr/>
          <p:nvPr/>
        </p:nvSpPr>
        <p:spPr>
          <a:xfrm>
            <a:off x="5221224" y="2496312"/>
            <a:ext cx="1783080" cy="850392"/>
          </a:xfrm>
          <a:prstGeom prst="roundRect">
            <a:avLst>
              <a:gd name="adj" fmla="val 8602"/>
            </a:avLst>
          </a:prstGeom>
          <a:solidFill>
            <a:srgbClr val="23466F"/>
          </a:solidFill>
          <a:ln w="12700">
            <a:solidFill>
              <a:srgbClr val="2F5A86"/>
            </a:solidFill>
            <a:prstDash val="solid"/>
          </a:ln>
        </p:spPr>
      </p:sp>
      <p:sp>
        <p:nvSpPr>
          <p:cNvPr id="60" name="icon circle"/>
          <p:cNvSpPr/>
          <p:nvPr/>
        </p:nvSpPr>
        <p:spPr>
          <a:xfrm>
            <a:off x="5312664" y="2679192"/>
            <a:ext cx="457200" cy="457200"/>
          </a:xfrm>
          <a:prstGeom prst="ellipse">
            <a:avLst/>
          </a:prstGeom>
          <a:solidFill>
            <a:srgbClr val="6B46C1"/>
          </a:solidFill>
          <a:ln w="6350">
            <a:solidFill>
              <a:srgbClr val="6B46C1"/>
            </a:solidFill>
            <a:prstDash val="solid"/>
          </a:ln>
        </p:spPr>
      </p:sp>
      <p:pic>
        <p:nvPicPr>
          <p:cNvPr id="61" name="icon" descr="preencoded.png">    </p:cNvPr>
          <p:cNvPicPr>
            <a:picLocks noChangeAspect="1"/>
          </p:cNvPicPr>
          <p:nvPr/>
        </p:nvPicPr>
        <p:blipFill>
          <a:blip r:embed="rId14"/>
          <a:stretch>
            <a:fillRect/>
          </a:stretch>
        </p:blipFill>
        <p:spPr>
          <a:xfrm>
            <a:off x="5413248" y="2779776"/>
            <a:ext cx="256032" cy="256032"/>
          </a:xfrm>
          <a:prstGeom prst="rect">
            <a:avLst/>
          </a:prstGeom>
        </p:spPr>
      </p:pic>
      <p:sp>
        <p:nvSpPr>
          <p:cNvPr id="62" name="Text 46"/>
          <p:cNvSpPr txBox="1"/>
          <p:nvPr/>
        </p:nvSpPr>
        <p:spPr>
          <a:xfrm>
            <a:off x="5824728" y="2569464"/>
            <a:ext cx="1152144"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Case store</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AES-256-GCM fields</a:t>
            </a:r>
            <a:endParaRPr lang="en-US" sz="1000" dirty="0"/>
          </a:p>
        </p:txBody>
      </p:sp>
      <p:sp>
        <p:nvSpPr>
          <p:cNvPr id="63" name="box"/>
          <p:cNvSpPr/>
          <p:nvPr/>
        </p:nvSpPr>
        <p:spPr>
          <a:xfrm>
            <a:off x="7077456" y="2496312"/>
            <a:ext cx="1783080" cy="850392"/>
          </a:xfrm>
          <a:prstGeom prst="roundRect">
            <a:avLst>
              <a:gd name="adj" fmla="val 8602"/>
            </a:avLst>
          </a:prstGeom>
          <a:solidFill>
            <a:srgbClr val="23466F"/>
          </a:solidFill>
          <a:ln w="12700">
            <a:solidFill>
              <a:srgbClr val="2F5A86"/>
            </a:solidFill>
            <a:prstDash val="solid"/>
          </a:ln>
        </p:spPr>
      </p:sp>
      <p:sp>
        <p:nvSpPr>
          <p:cNvPr id="64" name="icon circle"/>
          <p:cNvSpPr/>
          <p:nvPr/>
        </p:nvSpPr>
        <p:spPr>
          <a:xfrm>
            <a:off x="7168896" y="2679192"/>
            <a:ext cx="457200" cy="457200"/>
          </a:xfrm>
          <a:prstGeom prst="ellipse">
            <a:avLst/>
          </a:prstGeom>
          <a:solidFill>
            <a:srgbClr val="C62828"/>
          </a:solidFill>
          <a:ln w="6350">
            <a:solidFill>
              <a:srgbClr val="C62828"/>
            </a:solidFill>
            <a:prstDash val="solid"/>
          </a:ln>
        </p:spPr>
      </p:sp>
      <p:pic>
        <p:nvPicPr>
          <p:cNvPr id="65" name="icon" descr="preencoded.png">    </p:cNvPr>
          <p:cNvPicPr>
            <a:picLocks noChangeAspect="1"/>
          </p:cNvPicPr>
          <p:nvPr/>
        </p:nvPicPr>
        <p:blipFill>
          <a:blip r:embed="rId15"/>
          <a:stretch>
            <a:fillRect/>
          </a:stretch>
        </p:blipFill>
        <p:spPr>
          <a:xfrm>
            <a:off x="7269480" y="2779776"/>
            <a:ext cx="256032" cy="256032"/>
          </a:xfrm>
          <a:prstGeom prst="rect">
            <a:avLst/>
          </a:prstGeom>
        </p:spPr>
      </p:pic>
      <p:sp>
        <p:nvSpPr>
          <p:cNvPr id="66" name="Text 49"/>
          <p:cNvSpPr txBox="1"/>
          <p:nvPr/>
        </p:nvSpPr>
        <p:spPr>
          <a:xfrm>
            <a:off x="7680960" y="2569464"/>
            <a:ext cx="1152144" cy="7132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Audit chain</a:t>
            </a:r>
            <a:endParaRPr lang="en-US" sz="1000" dirty="0"/>
          </a:p>
          <a:p>
            <a:pPr indent="0" marL="0">
              <a:buNone/>
            </a:pPr>
            <a:r>
              <a:rPr lang="en-US" sz="1000" dirty="0">
                <a:solidFill>
                  <a:srgbClr val="CBD5E1"/>
                </a:solidFill>
                <a:latin typeface="Calibri" pitchFamily="34" charset="0"/>
                <a:ea typeface="Calibri" pitchFamily="34" charset="-122"/>
                <a:cs typeface="Calibri" pitchFamily="34" charset="-120"/>
              </a:rPr>
              <a:t>SHA-256 linked log</a:t>
            </a:r>
            <a:endParaRPr lang="en-US" sz="1000" dirty="0"/>
          </a:p>
        </p:txBody>
      </p:sp>
      <p:sp>
        <p:nvSpPr>
          <p:cNvPr id="67" name="box"/>
          <p:cNvSpPr/>
          <p:nvPr/>
        </p:nvSpPr>
        <p:spPr>
          <a:xfrm>
            <a:off x="365760" y="3657600"/>
            <a:ext cx="2724912" cy="1353312"/>
          </a:xfrm>
          <a:prstGeom prst="roundRect">
            <a:avLst>
              <a:gd name="adj" fmla="val 8108"/>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68" name="icon circle"/>
          <p:cNvSpPr/>
          <p:nvPr/>
        </p:nvSpPr>
        <p:spPr>
          <a:xfrm>
            <a:off x="502920" y="3749040"/>
            <a:ext cx="457200" cy="457200"/>
          </a:xfrm>
          <a:prstGeom prst="ellipse">
            <a:avLst/>
          </a:prstGeom>
          <a:solidFill>
            <a:srgbClr val="E8711C"/>
          </a:solidFill>
          <a:ln w="6350">
            <a:solidFill>
              <a:srgbClr val="E8711C"/>
            </a:solidFill>
            <a:prstDash val="solid"/>
          </a:ln>
        </p:spPr>
      </p:sp>
      <p:pic>
        <p:nvPicPr>
          <p:cNvPr id="69" name="icon" descr="preencoded.png">    </p:cNvPr>
          <p:cNvPicPr>
            <a:picLocks noChangeAspect="1"/>
          </p:cNvPicPr>
          <p:nvPr/>
        </p:nvPicPr>
        <p:blipFill>
          <a:blip r:embed="rId16"/>
          <a:stretch>
            <a:fillRect/>
          </a:stretch>
        </p:blipFill>
        <p:spPr>
          <a:xfrm>
            <a:off x="603504" y="3849624"/>
            <a:ext cx="256032" cy="256032"/>
          </a:xfrm>
          <a:prstGeom prst="rect">
            <a:avLst/>
          </a:prstGeom>
        </p:spPr>
      </p:pic>
      <p:sp>
        <p:nvSpPr>
          <p:cNvPr id="70" name="Text 52"/>
          <p:cNvSpPr txBox="1"/>
          <p:nvPr/>
        </p:nvSpPr>
        <p:spPr>
          <a:xfrm>
            <a:off x="1051560" y="3749040"/>
            <a:ext cx="1965960" cy="457200"/>
          </a:xfrm>
          <a:prstGeom prst="rect">
            <a:avLst/>
          </a:prstGeom>
          <a:noFill/>
          <a:ln/>
        </p:spPr>
        <p:txBody>
          <a:bodyPr wrap="square" lIns="0" tIns="0" rIns="0" bIns="0" rtlCol="0" anchor="ctr"/>
          <a:lstStyle/>
          <a:p>
            <a:pPr indent="0" marL="0">
              <a:buNone/>
            </a:pPr>
            <a:r>
              <a:rPr lang="en-US" sz="1600" b="1" dirty="0">
                <a:solidFill>
                  <a:srgbClr val="E8711C"/>
                </a:solidFill>
                <a:latin typeface="Arial" pitchFamily="34" charset="0"/>
                <a:ea typeface="Arial" pitchFamily="34" charset="-122"/>
                <a:cs typeface="Arial" pitchFamily="34" charset="-120"/>
              </a:rPr>
              <a:t>FRONTEND</a:t>
            </a:r>
            <a:endParaRPr lang="en-US" sz="1600" dirty="0"/>
          </a:p>
        </p:txBody>
      </p:sp>
      <p:sp>
        <p:nvSpPr>
          <p:cNvPr id="71" name="Text 53"/>
          <p:cNvSpPr txBox="1"/>
          <p:nvPr/>
        </p:nvSpPr>
        <p:spPr>
          <a:xfrm>
            <a:off x="530352" y="4270248"/>
            <a:ext cx="2514600" cy="713232"/>
          </a:xfrm>
          <a:prstGeom prst="rect">
            <a:avLst/>
          </a:prstGeom>
          <a:noFill/>
          <a:ln/>
        </p:spPr>
        <p:txBody>
          <a:bodyPr wrap="square" lIns="0" tIns="0" rIns="0" bIns="0" rtlCol="0" anchor="t"/>
          <a:lstStyle/>
          <a:p>
            <a:pPr indent="0" marL="0">
              <a:spcAft>
                <a:spcPts val="200"/>
              </a:spcAft>
              <a:buNone/>
            </a:pPr>
            <a:r>
              <a:rPr lang="en-US" sz="1150" b="1" dirty="0">
                <a:solidFill>
                  <a:srgbClr val="0F172A"/>
                </a:solidFill>
                <a:latin typeface="Calibri" pitchFamily="34" charset="0"/>
                <a:ea typeface="Calibri" pitchFamily="34" charset="-122"/>
                <a:cs typeface="Calibri" pitchFamily="34" charset="-120"/>
              </a:rPr>
              <a:t>Installable web app (PWA)</a:t>
            </a:r>
            <a:endParaRPr lang="en-US" sz="1150" dirty="0"/>
          </a:p>
          <a:p>
            <a:pPr indent="0" marL="0">
              <a:spcAft>
                <a:spcPts val="200"/>
              </a:spcAft>
              <a:buNone/>
            </a:pPr>
            <a:r>
              <a:rPr lang="en-US" sz="1150" b="1" dirty="0">
                <a:solidFill>
                  <a:srgbClr val="0F172A"/>
                </a:solidFill>
                <a:latin typeface="Calibri" pitchFamily="34" charset="0"/>
                <a:ea typeface="Calibri" pitchFamily="34" charset="-122"/>
                <a:cs typeface="Calibri" pitchFamily="34" charset="-120"/>
              </a:rPr>
              <a:t>Leaflet maps + voice (Web Speech)</a:t>
            </a:r>
            <a:endParaRPr lang="en-US" sz="1150" dirty="0"/>
          </a:p>
          <a:p>
            <a:pPr indent="0" marL="0">
              <a:spcAft>
                <a:spcPts val="200"/>
              </a:spcAft>
              <a:buNone/>
            </a:pPr>
            <a:r>
              <a:rPr lang="en-US" sz="1150" b="1" dirty="0">
                <a:solidFill>
                  <a:srgbClr val="0F172A"/>
                </a:solidFill>
                <a:latin typeface="Calibri" pitchFamily="34" charset="0"/>
                <a:ea typeface="Calibri" pitchFamily="34" charset="-122"/>
                <a:cs typeface="Calibri" pitchFamily="34" charset="-120"/>
              </a:rPr>
              <a:t>Tesseract.js card OCR on phone</a:t>
            </a:r>
            <a:endParaRPr lang="en-US" sz="1150" dirty="0"/>
          </a:p>
        </p:txBody>
      </p:sp>
      <p:sp>
        <p:nvSpPr>
          <p:cNvPr id="72" name="box"/>
          <p:cNvSpPr/>
          <p:nvPr/>
        </p:nvSpPr>
        <p:spPr>
          <a:xfrm>
            <a:off x="3273552" y="3657600"/>
            <a:ext cx="2724912" cy="1353312"/>
          </a:xfrm>
          <a:prstGeom prst="roundRect">
            <a:avLst>
              <a:gd name="adj" fmla="val 8108"/>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73" name="icon circle"/>
          <p:cNvSpPr/>
          <p:nvPr/>
        </p:nvSpPr>
        <p:spPr>
          <a:xfrm>
            <a:off x="3410712" y="3749040"/>
            <a:ext cx="457200" cy="457200"/>
          </a:xfrm>
          <a:prstGeom prst="ellipse">
            <a:avLst/>
          </a:prstGeom>
          <a:solidFill>
            <a:srgbClr val="1F64B4"/>
          </a:solidFill>
          <a:ln w="6350">
            <a:solidFill>
              <a:srgbClr val="1F64B4"/>
            </a:solidFill>
            <a:prstDash val="solid"/>
          </a:ln>
        </p:spPr>
      </p:sp>
      <p:pic>
        <p:nvPicPr>
          <p:cNvPr id="74" name="icon" descr="preencoded.png">    </p:cNvPr>
          <p:cNvPicPr>
            <a:picLocks noChangeAspect="1"/>
          </p:cNvPicPr>
          <p:nvPr/>
        </p:nvPicPr>
        <p:blipFill>
          <a:blip r:embed="rId17"/>
          <a:stretch>
            <a:fillRect/>
          </a:stretch>
        </p:blipFill>
        <p:spPr>
          <a:xfrm>
            <a:off x="3511296" y="3849624"/>
            <a:ext cx="256032" cy="256032"/>
          </a:xfrm>
          <a:prstGeom prst="rect">
            <a:avLst/>
          </a:prstGeom>
        </p:spPr>
      </p:pic>
      <p:sp>
        <p:nvSpPr>
          <p:cNvPr id="75" name="Text 56"/>
          <p:cNvSpPr txBox="1"/>
          <p:nvPr/>
        </p:nvSpPr>
        <p:spPr>
          <a:xfrm>
            <a:off x="3959352" y="3749040"/>
            <a:ext cx="1965960" cy="457200"/>
          </a:xfrm>
          <a:prstGeom prst="rect">
            <a:avLst/>
          </a:prstGeom>
          <a:noFill/>
          <a:ln/>
        </p:spPr>
        <p:txBody>
          <a:bodyPr wrap="square" lIns="0" tIns="0" rIns="0" bIns="0" rtlCol="0" anchor="ctr"/>
          <a:lstStyle/>
          <a:p>
            <a:pPr indent="0" marL="0">
              <a:buNone/>
            </a:pPr>
            <a:r>
              <a:rPr lang="en-US" sz="1600" b="1" dirty="0">
                <a:solidFill>
                  <a:srgbClr val="1F64B4"/>
                </a:solidFill>
                <a:latin typeface="Arial" pitchFamily="34" charset="0"/>
                <a:ea typeface="Arial" pitchFamily="34" charset="-122"/>
                <a:cs typeface="Arial" pitchFamily="34" charset="-120"/>
              </a:rPr>
              <a:t>BACKEND</a:t>
            </a:r>
            <a:endParaRPr lang="en-US" sz="1600" dirty="0"/>
          </a:p>
        </p:txBody>
      </p:sp>
      <p:sp>
        <p:nvSpPr>
          <p:cNvPr id="76" name="Text 57"/>
          <p:cNvSpPr txBox="1"/>
          <p:nvPr/>
        </p:nvSpPr>
        <p:spPr>
          <a:xfrm>
            <a:off x="3438144" y="4270248"/>
            <a:ext cx="2514600" cy="713232"/>
          </a:xfrm>
          <a:prstGeom prst="rect">
            <a:avLst/>
          </a:prstGeom>
          <a:noFill/>
          <a:ln/>
        </p:spPr>
        <p:txBody>
          <a:bodyPr wrap="square" lIns="0" tIns="0" rIns="0" bIns="0" rtlCol="0" anchor="t"/>
          <a:lstStyle/>
          <a:p>
            <a:pPr indent="0" marL="0">
              <a:spcAft>
                <a:spcPts val="200"/>
              </a:spcAft>
              <a:buNone/>
            </a:pPr>
            <a:r>
              <a:rPr lang="en-US" sz="1150" b="1" dirty="0">
                <a:solidFill>
                  <a:srgbClr val="0F172A"/>
                </a:solidFill>
                <a:latin typeface="Calibri" pitchFamily="34" charset="0"/>
                <a:ea typeface="Calibri" pitchFamily="34" charset="-122"/>
                <a:cs typeface="Calibri" pitchFamily="34" charset="-120"/>
              </a:rPr>
              <a:t>Node.js 22 + Express 5</a:t>
            </a:r>
            <a:endParaRPr lang="en-US" sz="1150" dirty="0"/>
          </a:p>
          <a:p>
            <a:pPr indent="0" marL="0">
              <a:spcAft>
                <a:spcPts val="200"/>
              </a:spcAft>
              <a:buNone/>
            </a:pPr>
            <a:r>
              <a:rPr lang="en-US" sz="1150" b="1" dirty="0">
                <a:solidFill>
                  <a:srgbClr val="0F172A"/>
                </a:solidFill>
                <a:latin typeface="Calibri" pitchFamily="34" charset="0"/>
                <a:ea typeface="Calibri" pitchFamily="34" charset="-122"/>
                <a:cs typeface="Calibri" pitchFamily="34" charset="-120"/>
              </a:rPr>
              <a:t>Server-Sent Events live updates</a:t>
            </a:r>
            <a:endParaRPr lang="en-US" sz="1150" dirty="0"/>
          </a:p>
          <a:p>
            <a:pPr indent="0" marL="0">
              <a:spcAft>
                <a:spcPts val="200"/>
              </a:spcAft>
              <a:buNone/>
            </a:pPr>
            <a:r>
              <a:rPr lang="en-US" sz="1150" b="1" dirty="0">
                <a:solidFill>
                  <a:srgbClr val="0F172A"/>
                </a:solidFill>
                <a:latin typeface="Calibri" pitchFamily="34" charset="0"/>
                <a:ea typeface="Calibri" pitchFamily="34" charset="-122"/>
                <a:cs typeface="Calibri" pitchFamily="34" charset="-120"/>
              </a:rPr>
              <a:t>Encrypted store + REST APIs</a:t>
            </a:r>
            <a:endParaRPr lang="en-US" sz="1150" dirty="0"/>
          </a:p>
        </p:txBody>
      </p:sp>
      <p:sp>
        <p:nvSpPr>
          <p:cNvPr id="77" name="box"/>
          <p:cNvSpPr/>
          <p:nvPr/>
        </p:nvSpPr>
        <p:spPr>
          <a:xfrm>
            <a:off x="6181344" y="3657600"/>
            <a:ext cx="2724912" cy="1353312"/>
          </a:xfrm>
          <a:prstGeom prst="roundRect">
            <a:avLst>
              <a:gd name="adj" fmla="val 8108"/>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78" name="icon circle"/>
          <p:cNvSpPr/>
          <p:nvPr/>
        </p:nvSpPr>
        <p:spPr>
          <a:xfrm>
            <a:off x="6318504" y="3749040"/>
            <a:ext cx="457200" cy="457200"/>
          </a:xfrm>
          <a:prstGeom prst="ellipse">
            <a:avLst/>
          </a:prstGeom>
          <a:solidFill>
            <a:srgbClr val="14325C"/>
          </a:solidFill>
          <a:ln w="6350">
            <a:solidFill>
              <a:srgbClr val="14325C"/>
            </a:solidFill>
            <a:prstDash val="solid"/>
          </a:ln>
        </p:spPr>
      </p:sp>
      <p:pic>
        <p:nvPicPr>
          <p:cNvPr id="79" name="icon" descr="preencoded.png">    </p:cNvPr>
          <p:cNvPicPr>
            <a:picLocks noChangeAspect="1"/>
          </p:cNvPicPr>
          <p:nvPr/>
        </p:nvPicPr>
        <p:blipFill>
          <a:blip r:embed="rId18"/>
          <a:stretch>
            <a:fillRect/>
          </a:stretch>
        </p:blipFill>
        <p:spPr>
          <a:xfrm>
            <a:off x="6419088" y="3849624"/>
            <a:ext cx="256032" cy="256032"/>
          </a:xfrm>
          <a:prstGeom prst="rect">
            <a:avLst/>
          </a:prstGeom>
        </p:spPr>
      </p:pic>
      <p:sp>
        <p:nvSpPr>
          <p:cNvPr id="80" name="Text 60"/>
          <p:cNvSpPr txBox="1"/>
          <p:nvPr/>
        </p:nvSpPr>
        <p:spPr>
          <a:xfrm>
            <a:off x="6867144" y="3749040"/>
            <a:ext cx="1965960" cy="457200"/>
          </a:xfrm>
          <a:prstGeom prst="rect">
            <a:avLst/>
          </a:prstGeom>
          <a:noFill/>
          <a:ln/>
        </p:spPr>
        <p:txBody>
          <a:bodyPr wrap="square" lIns="0" tIns="0" rIns="0" bIns="0" rtlCol="0" anchor="ctr"/>
          <a:lstStyle/>
          <a:p>
            <a:pPr indent="0" marL="0">
              <a:buNone/>
            </a:pPr>
            <a:r>
              <a:rPr lang="en-US" sz="1600" b="1" dirty="0">
                <a:solidFill>
                  <a:srgbClr val="14325C"/>
                </a:solidFill>
                <a:latin typeface="Arial" pitchFamily="34" charset="0"/>
                <a:ea typeface="Arial" pitchFamily="34" charset="-122"/>
                <a:cs typeface="Arial" pitchFamily="34" charset="-120"/>
              </a:rPr>
              <a:t>AI ENGINE</a:t>
            </a:r>
            <a:endParaRPr lang="en-US" sz="1600" dirty="0"/>
          </a:p>
        </p:txBody>
      </p:sp>
      <p:sp>
        <p:nvSpPr>
          <p:cNvPr id="81" name="Text 61"/>
          <p:cNvSpPr txBox="1"/>
          <p:nvPr/>
        </p:nvSpPr>
        <p:spPr>
          <a:xfrm>
            <a:off x="6345936" y="4270248"/>
            <a:ext cx="2514600" cy="713232"/>
          </a:xfrm>
          <a:prstGeom prst="rect">
            <a:avLst/>
          </a:prstGeom>
          <a:noFill/>
          <a:ln/>
        </p:spPr>
        <p:txBody>
          <a:bodyPr wrap="square" lIns="0" tIns="0" rIns="0" bIns="0" rtlCol="0" anchor="t"/>
          <a:lstStyle/>
          <a:p>
            <a:pPr indent="0" marL="0">
              <a:spcAft>
                <a:spcPts val="200"/>
              </a:spcAft>
              <a:buNone/>
            </a:pPr>
            <a:r>
              <a:rPr lang="en-US" sz="1150" b="1" dirty="0">
                <a:solidFill>
                  <a:srgbClr val="0F172A"/>
                </a:solidFill>
                <a:latin typeface="Calibri" pitchFamily="34" charset="0"/>
                <a:ea typeface="Calibri" pitchFamily="34" charset="-122"/>
                <a:cs typeface="Calibri" pitchFamily="34" charset="-120"/>
              </a:rPr>
              <a:t>Gemini 2.5 Flash triage + SBAR</a:t>
            </a:r>
            <a:endParaRPr lang="en-US" sz="1150" dirty="0"/>
          </a:p>
          <a:p>
            <a:pPr indent="0" marL="0">
              <a:spcAft>
                <a:spcPts val="200"/>
              </a:spcAft>
              <a:buNone/>
            </a:pPr>
            <a:r>
              <a:rPr lang="en-US" sz="1150" b="1" dirty="0">
                <a:solidFill>
                  <a:srgbClr val="0F172A"/>
                </a:solidFill>
                <a:latin typeface="Calibri" pitchFamily="34" charset="0"/>
                <a:ea typeface="Calibri" pitchFamily="34" charset="-122"/>
                <a:cs typeface="Calibri" pitchFamily="34" charset="-120"/>
              </a:rPr>
              <a:t>Rule-based fallback, works offline</a:t>
            </a:r>
            <a:endParaRPr lang="en-US" sz="1150" dirty="0"/>
          </a:p>
          <a:p>
            <a:pPr indent="0" marL="0">
              <a:spcAft>
                <a:spcPts val="200"/>
              </a:spcAft>
              <a:buNone/>
            </a:pPr>
            <a:r>
              <a:rPr lang="en-US" sz="1150" b="1" dirty="0">
                <a:solidFill>
                  <a:srgbClr val="0F172A"/>
                </a:solidFill>
                <a:latin typeface="Calibri" pitchFamily="34" charset="0"/>
                <a:ea typeface="Calibri" pitchFamily="34" charset="-122"/>
                <a:cs typeface="Calibri" pitchFamily="34" charset="-120"/>
              </a:rPr>
              <a:t>Explainable 100-point match</a:t>
            </a:r>
            <a:endParaRPr lang="en-US" sz="1150" dirty="0"/>
          </a:p>
        </p:txBody>
      </p:sp>
      <p:sp>
        <p:nvSpPr>
          <p:cNvPr id="82" name="box"/>
          <p:cNvSpPr/>
          <p:nvPr/>
        </p:nvSpPr>
        <p:spPr>
          <a:xfrm>
            <a:off x="9089136" y="3657600"/>
            <a:ext cx="2724912" cy="1353312"/>
          </a:xfrm>
          <a:prstGeom prst="roundRect">
            <a:avLst>
              <a:gd name="adj" fmla="val 8108"/>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83" name="icon circle"/>
          <p:cNvSpPr/>
          <p:nvPr/>
        </p:nvSpPr>
        <p:spPr>
          <a:xfrm>
            <a:off x="9226296" y="3749040"/>
            <a:ext cx="457200" cy="457200"/>
          </a:xfrm>
          <a:prstGeom prst="ellipse">
            <a:avLst/>
          </a:prstGeom>
          <a:solidFill>
            <a:srgbClr val="0F8B8D"/>
          </a:solidFill>
          <a:ln w="6350">
            <a:solidFill>
              <a:srgbClr val="0F8B8D"/>
            </a:solidFill>
            <a:prstDash val="solid"/>
          </a:ln>
        </p:spPr>
      </p:sp>
      <p:pic>
        <p:nvPicPr>
          <p:cNvPr id="84" name="icon" descr="preencoded.png">    </p:cNvPr>
          <p:cNvPicPr>
            <a:picLocks noChangeAspect="1"/>
          </p:cNvPicPr>
          <p:nvPr/>
        </p:nvPicPr>
        <p:blipFill>
          <a:blip r:embed="rId19"/>
          <a:stretch>
            <a:fillRect/>
          </a:stretch>
        </p:blipFill>
        <p:spPr>
          <a:xfrm>
            <a:off x="9326880" y="3849624"/>
            <a:ext cx="256032" cy="256032"/>
          </a:xfrm>
          <a:prstGeom prst="rect">
            <a:avLst/>
          </a:prstGeom>
        </p:spPr>
      </p:pic>
      <p:sp>
        <p:nvSpPr>
          <p:cNvPr id="85" name="Text 64"/>
          <p:cNvSpPr txBox="1"/>
          <p:nvPr/>
        </p:nvSpPr>
        <p:spPr>
          <a:xfrm>
            <a:off x="9774936" y="3749040"/>
            <a:ext cx="1965960" cy="457200"/>
          </a:xfrm>
          <a:prstGeom prst="rect">
            <a:avLst/>
          </a:prstGeom>
          <a:noFill/>
          <a:ln/>
        </p:spPr>
        <p:txBody>
          <a:bodyPr wrap="square" lIns="0" tIns="0" rIns="0" bIns="0" rtlCol="0" anchor="ctr"/>
          <a:lstStyle/>
          <a:p>
            <a:pPr indent="0" marL="0">
              <a:buNone/>
            </a:pPr>
            <a:r>
              <a:rPr lang="en-US" sz="1600" b="1" dirty="0">
                <a:solidFill>
                  <a:srgbClr val="0F8B8D"/>
                </a:solidFill>
                <a:latin typeface="Arial" pitchFamily="34" charset="0"/>
                <a:ea typeface="Arial" pitchFamily="34" charset="-122"/>
                <a:cs typeface="Arial" pitchFamily="34" charset="-120"/>
              </a:rPr>
              <a:t>INTEGRATIONS</a:t>
            </a:r>
            <a:endParaRPr lang="en-US" sz="1600" dirty="0"/>
          </a:p>
        </p:txBody>
      </p:sp>
      <p:sp>
        <p:nvSpPr>
          <p:cNvPr id="86" name="Text 65"/>
          <p:cNvSpPr txBox="1"/>
          <p:nvPr/>
        </p:nvSpPr>
        <p:spPr>
          <a:xfrm>
            <a:off x="9253728" y="4270248"/>
            <a:ext cx="2514600" cy="713232"/>
          </a:xfrm>
          <a:prstGeom prst="rect">
            <a:avLst/>
          </a:prstGeom>
          <a:noFill/>
          <a:ln/>
        </p:spPr>
        <p:txBody>
          <a:bodyPr wrap="square" lIns="0" tIns="0" rIns="0" bIns="0" rtlCol="0" anchor="t"/>
          <a:lstStyle/>
          <a:p>
            <a:pPr indent="0" marL="0">
              <a:spcAft>
                <a:spcPts val="200"/>
              </a:spcAft>
              <a:buNone/>
            </a:pPr>
            <a:r>
              <a:rPr lang="en-US" sz="1150" b="1" dirty="0">
                <a:solidFill>
                  <a:srgbClr val="0F172A"/>
                </a:solidFill>
                <a:latin typeface="Calibri" pitchFamily="34" charset="0"/>
                <a:ea typeface="Calibri" pitchFamily="34" charset="-122"/>
                <a:cs typeface="Calibri" pitchFamily="34" charset="-120"/>
              </a:rPr>
              <a:t>108 / 102 signed webhooks</a:t>
            </a:r>
            <a:endParaRPr lang="en-US" sz="1150" dirty="0"/>
          </a:p>
          <a:p>
            <a:pPr indent="0" marL="0">
              <a:spcAft>
                <a:spcPts val="200"/>
              </a:spcAft>
              <a:buNone/>
            </a:pPr>
            <a:r>
              <a:rPr lang="en-US" sz="1150" b="1" dirty="0">
                <a:solidFill>
                  <a:srgbClr val="0F172A"/>
                </a:solidFill>
                <a:latin typeface="Calibri" pitchFamily="34" charset="0"/>
                <a:ea typeface="Calibri" pitchFamily="34" charset="-122"/>
                <a:cs typeface="Calibri" pitchFamily="34" charset="-120"/>
              </a:rPr>
              <a:t>SMS gateway with DLT</a:t>
            </a:r>
            <a:endParaRPr lang="en-US" sz="1150" dirty="0"/>
          </a:p>
          <a:p>
            <a:pPr indent="0" marL="0">
              <a:spcAft>
                <a:spcPts val="200"/>
              </a:spcAft>
              <a:buNone/>
            </a:pPr>
            <a:r>
              <a:rPr lang="en-US" sz="1150" b="1" dirty="0">
                <a:solidFill>
                  <a:srgbClr val="0F172A"/>
                </a:solidFill>
                <a:latin typeface="Calibri" pitchFamily="34" charset="0"/>
                <a:ea typeface="Calibri" pitchFamily="34" charset="-122"/>
                <a:cs typeface="Calibri" pitchFamily="34" charset="-120"/>
              </a:rPr>
              <a:t>UIDAI OTP via licensed AUA</a:t>
            </a:r>
            <a:endParaRPr lang="en-US" sz="1150" dirty="0"/>
          </a:p>
        </p:txBody>
      </p:sp>
      <p:sp>
        <p:nvSpPr>
          <p:cNvPr id="87" name="box"/>
          <p:cNvSpPr/>
          <p:nvPr/>
        </p:nvSpPr>
        <p:spPr>
          <a:xfrm>
            <a:off x="365760" y="5138928"/>
            <a:ext cx="11457432" cy="1444752"/>
          </a:xfrm>
          <a:prstGeom prst="roundRect">
            <a:avLst>
              <a:gd name="adj" fmla="val 7595"/>
            </a:avLst>
          </a:prstGeom>
          <a:solidFill>
            <a:srgbClr val="0F2A47"/>
          </a:solidFill>
          <a:ln w="12700">
            <a:solidFill>
              <a:srgbClr val="0F2A47"/>
            </a:solidFill>
            <a:prstDash val="solid"/>
          </a:ln>
        </p:spPr>
      </p:sp>
      <p:sp>
        <p:nvSpPr>
          <p:cNvPr id="88" name="Text 67"/>
          <p:cNvSpPr txBox="1"/>
          <p:nvPr/>
        </p:nvSpPr>
        <p:spPr>
          <a:xfrm>
            <a:off x="502920" y="5230368"/>
            <a:ext cx="1691640" cy="292608"/>
          </a:xfrm>
          <a:prstGeom prst="roundRect">
            <a:avLst>
              <a:gd name="adj" fmla="val 25000"/>
            </a:avLst>
          </a:prstGeom>
          <a:solidFill>
            <a:srgbClr val="0F8B8D"/>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SECURITY LAYER</a:t>
            </a:r>
            <a:endParaRPr lang="en-US" sz="1150" dirty="0"/>
          </a:p>
        </p:txBody>
      </p:sp>
      <p:sp>
        <p:nvSpPr>
          <p:cNvPr id="89" name="Text 68"/>
          <p:cNvSpPr txBox="1"/>
          <p:nvPr/>
        </p:nvSpPr>
        <p:spPr>
          <a:xfrm>
            <a:off x="2331720" y="5230368"/>
            <a:ext cx="4572000" cy="292608"/>
          </a:xfrm>
          <a:prstGeom prst="rect">
            <a:avLst/>
          </a:prstGeom>
          <a:noFill/>
          <a:ln/>
        </p:spPr>
        <p:txBody>
          <a:bodyPr wrap="square" lIns="0" tIns="0" rIns="0" bIns="0" rtlCol="0" anchor="ctr"/>
          <a:lstStyle/>
          <a:p>
            <a:pPr indent="0" marL="0">
              <a:buNone/>
            </a:pPr>
            <a:r>
              <a:rPr lang="en-US" sz="1150" i="1" dirty="0">
                <a:solidFill>
                  <a:srgbClr val="CBD5E1"/>
                </a:solidFill>
                <a:latin typeface="Calibri" pitchFamily="34" charset="0"/>
                <a:ea typeface="Calibri" pitchFamily="34" charset="-122"/>
                <a:cs typeface="Calibri" pitchFamily="34" charset="-120"/>
              </a:rPr>
              <a:t>Four protections on every request</a:t>
            </a:r>
            <a:endParaRPr lang="en-US" sz="1150" dirty="0"/>
          </a:p>
        </p:txBody>
      </p:sp>
      <p:sp>
        <p:nvSpPr>
          <p:cNvPr id="90" name="box"/>
          <p:cNvSpPr/>
          <p:nvPr/>
        </p:nvSpPr>
        <p:spPr>
          <a:xfrm>
            <a:off x="502920" y="5596128"/>
            <a:ext cx="2606040" cy="868680"/>
          </a:xfrm>
          <a:prstGeom prst="roundRect">
            <a:avLst>
              <a:gd name="adj" fmla="val 8421"/>
            </a:avLst>
          </a:prstGeom>
          <a:solidFill>
            <a:srgbClr val="1B3A5C"/>
          </a:solidFill>
          <a:ln w="12700">
            <a:solidFill>
              <a:srgbClr val="2C5378"/>
            </a:solidFill>
            <a:prstDash val="solid"/>
          </a:ln>
        </p:spPr>
      </p:sp>
      <p:sp>
        <p:nvSpPr>
          <p:cNvPr id="91" name="icon circle"/>
          <p:cNvSpPr/>
          <p:nvPr/>
        </p:nvSpPr>
        <p:spPr>
          <a:xfrm>
            <a:off x="640080" y="5788152"/>
            <a:ext cx="475488" cy="475488"/>
          </a:xfrm>
          <a:prstGeom prst="ellipse">
            <a:avLst/>
          </a:prstGeom>
          <a:solidFill>
            <a:srgbClr val="E8711C"/>
          </a:solidFill>
          <a:ln w="6350">
            <a:solidFill>
              <a:srgbClr val="E8711C"/>
            </a:solidFill>
            <a:prstDash val="solid"/>
          </a:ln>
        </p:spPr>
      </p:sp>
      <p:pic>
        <p:nvPicPr>
          <p:cNvPr id="92" name="icon" descr="preencoded.png">    </p:cNvPr>
          <p:cNvPicPr>
            <a:picLocks noChangeAspect="1"/>
          </p:cNvPicPr>
          <p:nvPr/>
        </p:nvPicPr>
        <p:blipFill>
          <a:blip r:embed="rId20"/>
          <a:stretch>
            <a:fillRect/>
          </a:stretch>
        </p:blipFill>
        <p:spPr>
          <a:xfrm>
            <a:off x="744687" y="5892759"/>
            <a:ext cx="266273" cy="266273"/>
          </a:xfrm>
          <a:prstGeom prst="rect">
            <a:avLst/>
          </a:prstGeom>
        </p:spPr>
      </p:pic>
      <p:sp>
        <p:nvSpPr>
          <p:cNvPr id="93" name="Text 71"/>
          <p:cNvSpPr txBox="1"/>
          <p:nvPr/>
        </p:nvSpPr>
        <p:spPr>
          <a:xfrm>
            <a:off x="1234440" y="5623560"/>
            <a:ext cx="1828800" cy="8046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Aadhaar never stored</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keyed hash + last 4 digits</a:t>
            </a:r>
            <a:endParaRPr lang="en-US" sz="1050" dirty="0"/>
          </a:p>
        </p:txBody>
      </p:sp>
      <p:sp>
        <p:nvSpPr>
          <p:cNvPr id="94" name="flow arrow"/>
          <p:cNvSpPr/>
          <p:nvPr/>
        </p:nvSpPr>
        <p:spPr>
          <a:xfrm>
            <a:off x="3154680" y="5925312"/>
            <a:ext cx="109728" cy="201168"/>
          </a:xfrm>
          <a:prstGeom prst="chevron">
            <a:avLst/>
          </a:prstGeom>
          <a:solidFill>
            <a:srgbClr val="E8711C"/>
          </a:solidFill>
          <a:ln w="6350">
            <a:solidFill>
              <a:srgbClr val="E8711C"/>
            </a:solidFill>
            <a:prstDash val="solid"/>
          </a:ln>
        </p:spPr>
      </p:sp>
      <p:sp>
        <p:nvSpPr>
          <p:cNvPr id="95" name="box"/>
          <p:cNvSpPr/>
          <p:nvPr/>
        </p:nvSpPr>
        <p:spPr>
          <a:xfrm>
            <a:off x="3337560" y="5596128"/>
            <a:ext cx="2606040" cy="868680"/>
          </a:xfrm>
          <a:prstGeom prst="roundRect">
            <a:avLst>
              <a:gd name="adj" fmla="val 8421"/>
            </a:avLst>
          </a:prstGeom>
          <a:solidFill>
            <a:srgbClr val="1B3A5C"/>
          </a:solidFill>
          <a:ln w="12700">
            <a:solidFill>
              <a:srgbClr val="2C5378"/>
            </a:solidFill>
            <a:prstDash val="solid"/>
          </a:ln>
        </p:spPr>
      </p:sp>
      <p:sp>
        <p:nvSpPr>
          <p:cNvPr id="96" name="icon circle"/>
          <p:cNvSpPr/>
          <p:nvPr/>
        </p:nvSpPr>
        <p:spPr>
          <a:xfrm>
            <a:off x="3474720" y="5788152"/>
            <a:ext cx="475488" cy="475488"/>
          </a:xfrm>
          <a:prstGeom prst="ellipse">
            <a:avLst/>
          </a:prstGeom>
          <a:solidFill>
            <a:srgbClr val="0F8B8D"/>
          </a:solidFill>
          <a:ln w="6350">
            <a:solidFill>
              <a:srgbClr val="0F8B8D"/>
            </a:solidFill>
            <a:prstDash val="solid"/>
          </a:ln>
        </p:spPr>
      </p:sp>
      <p:pic>
        <p:nvPicPr>
          <p:cNvPr id="97" name="icon" descr="preencoded.png">    </p:cNvPr>
          <p:cNvPicPr>
            <a:picLocks noChangeAspect="1"/>
          </p:cNvPicPr>
          <p:nvPr/>
        </p:nvPicPr>
        <p:blipFill>
          <a:blip r:embed="rId21"/>
          <a:stretch>
            <a:fillRect/>
          </a:stretch>
        </p:blipFill>
        <p:spPr>
          <a:xfrm>
            <a:off x="3579327" y="5892759"/>
            <a:ext cx="266273" cy="266273"/>
          </a:xfrm>
          <a:prstGeom prst="rect">
            <a:avLst/>
          </a:prstGeom>
        </p:spPr>
      </p:pic>
      <p:sp>
        <p:nvSpPr>
          <p:cNvPr id="98" name="Text 75"/>
          <p:cNvSpPr txBox="1"/>
          <p:nvPr/>
        </p:nvSpPr>
        <p:spPr>
          <a:xfrm>
            <a:off x="4069080" y="5623560"/>
            <a:ext cx="1828800" cy="8046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Encrypted health data</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AES-256-GCM per field</a:t>
            </a:r>
            <a:endParaRPr lang="en-US" sz="1050" dirty="0"/>
          </a:p>
        </p:txBody>
      </p:sp>
      <p:sp>
        <p:nvSpPr>
          <p:cNvPr id="99" name="flow arrow"/>
          <p:cNvSpPr/>
          <p:nvPr/>
        </p:nvSpPr>
        <p:spPr>
          <a:xfrm>
            <a:off x="5989320" y="5925312"/>
            <a:ext cx="109728" cy="201168"/>
          </a:xfrm>
          <a:prstGeom prst="chevron">
            <a:avLst/>
          </a:prstGeom>
          <a:solidFill>
            <a:srgbClr val="E8711C"/>
          </a:solidFill>
          <a:ln w="6350">
            <a:solidFill>
              <a:srgbClr val="E8711C"/>
            </a:solidFill>
            <a:prstDash val="solid"/>
          </a:ln>
        </p:spPr>
      </p:sp>
      <p:sp>
        <p:nvSpPr>
          <p:cNvPr id="100" name="box"/>
          <p:cNvSpPr/>
          <p:nvPr/>
        </p:nvSpPr>
        <p:spPr>
          <a:xfrm>
            <a:off x="6172200" y="5596128"/>
            <a:ext cx="2606040" cy="868680"/>
          </a:xfrm>
          <a:prstGeom prst="roundRect">
            <a:avLst>
              <a:gd name="adj" fmla="val 8421"/>
            </a:avLst>
          </a:prstGeom>
          <a:solidFill>
            <a:srgbClr val="1B3A5C"/>
          </a:solidFill>
          <a:ln w="12700">
            <a:solidFill>
              <a:srgbClr val="2C5378"/>
            </a:solidFill>
            <a:prstDash val="solid"/>
          </a:ln>
        </p:spPr>
      </p:sp>
      <p:sp>
        <p:nvSpPr>
          <p:cNvPr id="101" name="icon circle"/>
          <p:cNvSpPr/>
          <p:nvPr/>
        </p:nvSpPr>
        <p:spPr>
          <a:xfrm>
            <a:off x="6309360" y="5788152"/>
            <a:ext cx="475488" cy="475488"/>
          </a:xfrm>
          <a:prstGeom prst="ellipse">
            <a:avLst/>
          </a:prstGeom>
          <a:solidFill>
            <a:srgbClr val="1F64B4"/>
          </a:solidFill>
          <a:ln w="6350">
            <a:solidFill>
              <a:srgbClr val="1F64B4"/>
            </a:solidFill>
            <a:prstDash val="solid"/>
          </a:ln>
        </p:spPr>
      </p:sp>
      <p:pic>
        <p:nvPicPr>
          <p:cNvPr id="102" name="icon" descr="preencoded.png">    </p:cNvPr>
          <p:cNvPicPr>
            <a:picLocks noChangeAspect="1"/>
          </p:cNvPicPr>
          <p:nvPr/>
        </p:nvPicPr>
        <p:blipFill>
          <a:blip r:embed="rId22"/>
          <a:stretch>
            <a:fillRect/>
          </a:stretch>
        </p:blipFill>
        <p:spPr>
          <a:xfrm>
            <a:off x="6413967" y="5892759"/>
            <a:ext cx="266273" cy="266273"/>
          </a:xfrm>
          <a:prstGeom prst="rect">
            <a:avLst/>
          </a:prstGeom>
        </p:spPr>
      </p:pic>
      <p:sp>
        <p:nvSpPr>
          <p:cNvPr id="103" name="Text 79"/>
          <p:cNvSpPr txBox="1"/>
          <p:nvPr/>
        </p:nvSpPr>
        <p:spPr>
          <a:xfrm>
            <a:off x="6903720" y="5623560"/>
            <a:ext cx="1828800" cy="8046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Signed 108 messages</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HMAC-SHA256 + replay window</a:t>
            </a:r>
            <a:endParaRPr lang="en-US" sz="1050" dirty="0"/>
          </a:p>
        </p:txBody>
      </p:sp>
      <p:sp>
        <p:nvSpPr>
          <p:cNvPr id="104" name="flow arrow"/>
          <p:cNvSpPr/>
          <p:nvPr/>
        </p:nvSpPr>
        <p:spPr>
          <a:xfrm>
            <a:off x="8823960" y="5925312"/>
            <a:ext cx="109728" cy="201168"/>
          </a:xfrm>
          <a:prstGeom prst="chevron">
            <a:avLst/>
          </a:prstGeom>
          <a:solidFill>
            <a:srgbClr val="E8711C"/>
          </a:solidFill>
          <a:ln w="6350">
            <a:solidFill>
              <a:srgbClr val="E8711C"/>
            </a:solidFill>
            <a:prstDash val="solid"/>
          </a:ln>
        </p:spPr>
      </p:sp>
      <p:sp>
        <p:nvSpPr>
          <p:cNvPr id="105" name="box"/>
          <p:cNvSpPr/>
          <p:nvPr/>
        </p:nvSpPr>
        <p:spPr>
          <a:xfrm>
            <a:off x="9006840" y="5596128"/>
            <a:ext cx="2606040" cy="868680"/>
          </a:xfrm>
          <a:prstGeom prst="roundRect">
            <a:avLst>
              <a:gd name="adj" fmla="val 8421"/>
            </a:avLst>
          </a:prstGeom>
          <a:solidFill>
            <a:srgbClr val="1B3A5C"/>
          </a:solidFill>
          <a:ln w="12700">
            <a:solidFill>
              <a:srgbClr val="2C5378"/>
            </a:solidFill>
            <a:prstDash val="solid"/>
          </a:ln>
        </p:spPr>
      </p:sp>
      <p:sp>
        <p:nvSpPr>
          <p:cNvPr id="106" name="icon circle"/>
          <p:cNvSpPr/>
          <p:nvPr/>
        </p:nvSpPr>
        <p:spPr>
          <a:xfrm>
            <a:off x="9144000" y="5788152"/>
            <a:ext cx="475488" cy="475488"/>
          </a:xfrm>
          <a:prstGeom prst="ellipse">
            <a:avLst/>
          </a:prstGeom>
          <a:solidFill>
            <a:srgbClr val="2E7D32"/>
          </a:solidFill>
          <a:ln w="6350">
            <a:solidFill>
              <a:srgbClr val="2E7D32"/>
            </a:solidFill>
            <a:prstDash val="solid"/>
          </a:ln>
        </p:spPr>
      </p:sp>
      <p:pic>
        <p:nvPicPr>
          <p:cNvPr id="107" name="icon" descr="preencoded.png">    </p:cNvPr>
          <p:cNvPicPr>
            <a:picLocks noChangeAspect="1"/>
          </p:cNvPicPr>
          <p:nvPr/>
        </p:nvPicPr>
        <p:blipFill>
          <a:blip r:embed="rId23"/>
          <a:stretch>
            <a:fillRect/>
          </a:stretch>
        </p:blipFill>
        <p:spPr>
          <a:xfrm>
            <a:off x="9248607" y="5892759"/>
            <a:ext cx="266273" cy="266273"/>
          </a:xfrm>
          <a:prstGeom prst="rect">
            <a:avLst/>
          </a:prstGeom>
        </p:spPr>
      </p:pic>
      <p:sp>
        <p:nvSpPr>
          <p:cNvPr id="108" name="Text 83"/>
          <p:cNvSpPr txBox="1"/>
          <p:nvPr/>
        </p:nvSpPr>
        <p:spPr>
          <a:xfrm>
            <a:off x="9738360" y="5623560"/>
            <a:ext cx="1828800" cy="80467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Tamper-evident audit</a:t>
            </a:r>
            <a:endParaRPr lang="en-US" sz="1050" dirty="0"/>
          </a:p>
          <a:p>
            <a:pPr indent="0" marL="0">
              <a:buNone/>
            </a:pPr>
            <a:r>
              <a:rPr lang="en-US" sz="1050" dirty="0">
                <a:solidFill>
                  <a:srgbClr val="CBD5E1"/>
                </a:solidFill>
                <a:latin typeface="Calibri" pitchFamily="34" charset="0"/>
                <a:ea typeface="Calibri" pitchFamily="34" charset="-122"/>
                <a:cs typeface="Calibri" pitchFamily="34" charset="-120"/>
              </a:rPr>
              <a:t>SHA-256 hash chain</a:t>
            </a:r>
            <a:endParaRPr lang="en-US" sz="1050" dirty="0"/>
          </a:p>
        </p:txBody>
      </p:sp>
      <p:sp>
        <p:nvSpPr>
          <p:cNvPr id="25" name="Slide Number Placeholder 0"/>
          <p:cNvSpPr>
            <a:spLocks noGrp="1"/>
          </p:cNvSpPr>
          <p:nvPr>
            <p:ph type="sldNum" sz="quarter" idx="4294967295"/>
          </p:nvPr>
        </p:nvSpPr>
        <p:spPr>
          <a:xfrm>
            <a:off x="11475720" y="651052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am badge"/>
          <p:cNvSpPr/>
          <p:nvPr/>
        </p:nvSpPr>
        <p:spPr>
          <a:xfrm>
            <a:off x="320040" y="201168"/>
            <a:ext cx="1645920" cy="777240"/>
          </a:xfrm>
          <a:prstGeom prst="ellipse">
            <a:avLst/>
          </a:prstGeom>
          <a:solidFill>
            <a:srgbClr val="FFFFFF"/>
          </a:solidFill>
          <a:ln w="19050">
            <a:solidFill>
              <a:srgbClr val="6B46C1"/>
            </a:solidFill>
            <a:prstDash val="solid"/>
          </a:ln>
        </p:spPr>
      </p:sp>
      <p:sp>
        <p:nvSpPr>
          <p:cNvPr id="3" name="Text 1"/>
          <p:cNvSpPr txBox="1"/>
          <p:nvPr/>
        </p:nvSpPr>
        <p:spPr>
          <a:xfrm>
            <a:off x="320040" y="201168"/>
            <a:ext cx="1645920" cy="777240"/>
          </a:xfrm>
          <a:prstGeom prst="rect">
            <a:avLst/>
          </a:prstGeom>
          <a:noFill/>
          <a:ln/>
        </p:spPr>
        <p:txBody>
          <a:bodyPr wrap="square" lIns="0" tIns="0" rIns="0" bIns="0" rtlCol="0" anchor="ctr"/>
          <a:lstStyle/>
          <a:p>
            <a:pPr algn="ctr" indent="0" marL="0">
              <a:buNone/>
            </a:pPr>
            <a:r>
              <a:rPr lang="en-US" sz="1250" dirty="0">
                <a:solidFill>
                  <a:srgbClr val="0F172A"/>
                </a:solidFill>
                <a:latin typeface="Calibri" pitchFamily="34" charset="0"/>
                <a:ea typeface="Calibri" pitchFamily="34" charset="-122"/>
                <a:cs typeface="Calibri" pitchFamily="34" charset="-120"/>
              </a:rPr>
              <a:t>TEAM</a:t>
            </a:r>
            <a:endParaRPr lang="en-US" sz="1250" dirty="0"/>
          </a:p>
          <a:p>
            <a:pPr algn="ctr" indent="0" marL="0">
              <a:buNone/>
            </a:pPr>
            <a:r>
              <a:rPr lang="en-US" sz="1250" dirty="0">
                <a:solidFill>
                  <a:srgbClr val="0F172A"/>
                </a:solidFill>
                <a:latin typeface="Calibri" pitchFamily="34" charset="0"/>
                <a:ea typeface="Calibri" pitchFamily="34" charset="-122"/>
                <a:cs typeface="Calibri" pitchFamily="34" charset="-120"/>
              </a:rPr>
              <a:t>MEDREACH</a:t>
            </a:r>
            <a:endParaRPr lang="en-US" sz="1250" dirty="0"/>
          </a:p>
        </p:txBody>
      </p:sp>
      <p:sp>
        <p:nvSpPr>
          <p:cNvPr id="4" name="Text 0"/>
          <p:cNvSpPr/>
          <p:nvPr>
            <p:ph idx="100" type="title" hasCustomPrompt="1"/>
          </p:nvPr>
        </p:nvSpPr>
        <p:spPr>
          <a:xfrm>
            <a:off x="2148840" y="201168"/>
            <a:ext cx="7863840" cy="777240"/>
          </a:xfrm>
          <a:prstGeom prst="rect">
            <a:avLst/>
          </a:prstGeom>
          <a:noFill/>
          <a:ln/>
        </p:spPr>
        <p:txBody>
          <a:bodyPr wrap="square" lIns="0" tIns="0" rIns="0" bIns="0" rtlCol="0" anchor="ctr"/>
          <a:lstStyle/>
          <a:p>
            <a:pPr algn="ctr" indent="0" marL="0">
              <a:buNone/>
            </a:pPr>
            <a:r>
              <a:rPr lang="en-US" sz="3400" b="1" dirty="0">
                <a:solidFill>
                  <a:schemeClr val="tx1"/>
                </a:solidFill>
              </a:rPr>
              <a:t>IMPLEMENTATION &amp; FEASIBILITY</a:t>
            </a:r>
            <a:endParaRPr lang="en-US" sz="3400" dirty="0"/>
          </a:p>
        </p:txBody>
      </p:sp>
      <p:pic>
        <p:nvPicPr>
          <p:cNvPr id="5" name="Medreach logo" descr="preencoded.png">    </p:cNvPr>
          <p:cNvPicPr>
            <a:picLocks noChangeAspect="1"/>
          </p:cNvPicPr>
          <p:nvPr/>
        </p:nvPicPr>
        <p:blipFill>
          <a:blip r:embed="rId1"/>
          <a:stretch>
            <a:fillRect/>
          </a:stretch>
        </p:blipFill>
        <p:spPr>
          <a:xfrm>
            <a:off x="10195560" y="274320"/>
            <a:ext cx="603504" cy="603504"/>
          </a:xfrm>
          <a:prstGeom prst="rect">
            <a:avLst/>
          </a:prstGeom>
        </p:spPr>
      </p:pic>
      <p:sp>
        <p:nvSpPr>
          <p:cNvPr id="6" name="Text 3"/>
          <p:cNvSpPr txBox="1"/>
          <p:nvPr/>
        </p:nvSpPr>
        <p:spPr>
          <a:xfrm>
            <a:off x="10881360" y="246888"/>
            <a:ext cx="1097280" cy="658368"/>
          </a:xfrm>
          <a:prstGeom prst="rect">
            <a:avLst/>
          </a:prstGeom>
          <a:noFill/>
          <a:ln/>
        </p:spPr>
        <p:txBody>
          <a:bodyPr wrap="square" lIns="0" tIns="0" rIns="0" bIns="0" rtlCol="0" anchor="ctr"/>
          <a:lstStyle/>
          <a:p>
            <a:pPr indent="0" marL="0">
              <a:lnSpc>
                <a:spcPct val="95000"/>
              </a:lnSpc>
              <a:buNone/>
            </a:pPr>
            <a:r>
              <a:rPr lang="en-US" sz="1150" b="1" dirty="0">
                <a:solidFill>
                  <a:srgbClr val="475569"/>
                </a:solidFill>
                <a:latin typeface="Arial" pitchFamily="34" charset="0"/>
                <a:ea typeface="Arial" pitchFamily="34" charset="-122"/>
                <a:cs typeface="Arial" pitchFamily="34" charset="-120"/>
              </a:rPr>
              <a:t>MPONLINE</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HACKATHON</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2026</a:t>
            </a:r>
            <a:endParaRPr lang="en-US" sz="1150" dirty="0"/>
          </a:p>
        </p:txBody>
      </p:sp>
      <p:sp>
        <p:nvSpPr>
          <p:cNvPr id="7" name="box"/>
          <p:cNvSpPr/>
          <p:nvPr/>
        </p:nvSpPr>
        <p:spPr>
          <a:xfrm>
            <a:off x="365760" y="1097280"/>
            <a:ext cx="3703320" cy="2103120"/>
          </a:xfrm>
          <a:prstGeom prst="roundRect">
            <a:avLst>
              <a:gd name="adj" fmla="val 6957"/>
            </a:avLst>
          </a:prstGeom>
          <a:solidFill>
            <a:srgbClr val="EAF2FB"/>
          </a:solidFill>
          <a:ln w="12700">
            <a:solidFill>
              <a:srgbClr val="BFD5F0"/>
            </a:solidFill>
            <a:prstDash val="solid"/>
          </a:ln>
          <a:effectLst>
            <a:outerShdw sx="100000" sy="100000" kx="0" ky="0" algn="bl" rotWithShape="0" blurRad="101600" dist="25400" dir="5400000">
              <a:srgbClr val="0F172A">
                <a:alpha val="13000"/>
              </a:srgbClr>
            </a:outerShdw>
          </a:effectLst>
        </p:spPr>
      </p:sp>
      <p:sp>
        <p:nvSpPr>
          <p:cNvPr id="8" name="Text 5"/>
          <p:cNvSpPr txBox="1"/>
          <p:nvPr/>
        </p:nvSpPr>
        <p:spPr>
          <a:xfrm>
            <a:off x="365760" y="1188720"/>
            <a:ext cx="3703320" cy="365760"/>
          </a:xfrm>
          <a:prstGeom prst="rect">
            <a:avLst/>
          </a:prstGeom>
          <a:noFill/>
          <a:ln/>
        </p:spPr>
        <p:txBody>
          <a:bodyPr wrap="square" lIns="0" tIns="0" rIns="0" bIns="0" rtlCol="0" anchor="t"/>
          <a:lstStyle/>
          <a:p>
            <a:pPr algn="ctr" indent="0" marL="0">
              <a:buNone/>
            </a:pPr>
            <a:r>
              <a:rPr lang="en-US" sz="1800" b="1" dirty="0">
                <a:solidFill>
                  <a:srgbClr val="14325C"/>
                </a:solidFill>
                <a:latin typeface="Arial" pitchFamily="34" charset="0"/>
                <a:ea typeface="Arial" pitchFamily="34" charset="-122"/>
                <a:cs typeface="Arial" pitchFamily="34" charset="-120"/>
              </a:rPr>
              <a:t>BUILT &amp; WORKING</a:t>
            </a:r>
            <a:endParaRPr lang="en-US" sz="1800" dirty="0"/>
          </a:p>
        </p:txBody>
      </p:sp>
      <p:sp>
        <p:nvSpPr>
          <p:cNvPr id="9" name="Text 6"/>
          <p:cNvSpPr txBox="1"/>
          <p:nvPr/>
        </p:nvSpPr>
        <p:spPr>
          <a:xfrm>
            <a:off x="594360" y="1664208"/>
            <a:ext cx="3337560" cy="1481328"/>
          </a:xfrm>
          <a:prstGeom prst="rect">
            <a:avLst/>
          </a:prstGeom>
          <a:noFill/>
          <a:ln/>
        </p:spPr>
        <p:txBody>
          <a:bodyPr wrap="square" lIns="0" tIns="0" rIns="0" bIns="0" rtlCol="0" anchor="t"/>
          <a:lstStyle/>
          <a:p>
            <a:pPr marL="139700" indent="-139700">
              <a:spcAft>
                <a:spcPts val="800"/>
              </a:spcAft>
              <a:buSzPct val="100000"/>
              <a:buChar char="•"/>
            </a:pPr>
            <a:r>
              <a:rPr lang="en-US" sz="1350" dirty="0">
                <a:solidFill>
                  <a:srgbClr val="0F172A"/>
                </a:solidFill>
                <a:latin typeface="Calibri" pitchFamily="34" charset="0"/>
                <a:ea typeface="Calibri" pitchFamily="34" charset="-122"/>
                <a:cs typeface="Calibri" pitchFamily="34" charset="-120"/>
              </a:rPr>
              <a:t>Live website – no app store needed</a:t>
            </a:r>
            <a:endParaRPr lang="en-US" sz="1350" dirty="0"/>
          </a:p>
          <a:p>
            <a:pPr marL="139700" indent="-139700">
              <a:spcAft>
                <a:spcPts val="800"/>
              </a:spcAft>
              <a:buSzPct val="100000"/>
              <a:buChar char="•"/>
            </a:pPr>
            <a:r>
              <a:rPr lang="en-US" sz="1350" dirty="0">
                <a:solidFill>
                  <a:srgbClr val="0F172A"/>
                </a:solidFill>
                <a:latin typeface="Calibri" pitchFamily="34" charset="0"/>
                <a:ea typeface="Calibri" pitchFamily="34" charset="-122"/>
                <a:cs typeface="Calibri" pitchFamily="34" charset="-120"/>
              </a:rPr>
              <a:t>Citizen app, hospital dashboard, 108 console</a:t>
            </a:r>
            <a:endParaRPr lang="en-US" sz="1350" dirty="0"/>
          </a:p>
          <a:p>
            <a:pPr marL="139700" indent="-139700">
              <a:spcAft>
                <a:spcPts val="800"/>
              </a:spcAft>
              <a:buSzPct val="100000"/>
              <a:buChar char="•"/>
            </a:pPr>
            <a:r>
              <a:rPr lang="en-US" sz="1350" dirty="0">
                <a:solidFill>
                  <a:srgbClr val="0F172A"/>
                </a:solidFill>
                <a:latin typeface="Calibri" pitchFamily="34" charset="0"/>
                <a:ea typeface="Calibri" pitchFamily="34" charset="-122"/>
                <a:cs typeface="Calibri" pitchFamily="34" charset="-120"/>
              </a:rPr>
              <a:t>94 automated tests · Hindi + English</a:t>
            </a:r>
            <a:endParaRPr lang="en-US" sz="1350" dirty="0"/>
          </a:p>
          <a:p>
            <a:pPr marL="139700" indent="-139700">
              <a:spcAft>
                <a:spcPts val="800"/>
              </a:spcAft>
              <a:buSzPct val="100000"/>
              <a:buChar char="•"/>
            </a:pPr>
            <a:r>
              <a:rPr lang="en-US" sz="1350" dirty="0">
                <a:solidFill>
                  <a:srgbClr val="0F172A"/>
                </a:solidFill>
                <a:latin typeface="Calibri" pitchFamily="34" charset="0"/>
                <a:ea typeface="Calibri" pitchFamily="34" charset="-122"/>
                <a:cs typeface="Calibri" pitchFamily="34" charset="-120"/>
              </a:rPr>
              <a:t>Open-source stack – no licence cost</a:t>
            </a:r>
            <a:endParaRPr lang="en-US" sz="1350" dirty="0"/>
          </a:p>
        </p:txBody>
      </p:sp>
      <p:sp>
        <p:nvSpPr>
          <p:cNvPr id="10" name="box"/>
          <p:cNvSpPr/>
          <p:nvPr/>
        </p:nvSpPr>
        <p:spPr>
          <a:xfrm>
            <a:off x="4242816" y="1097280"/>
            <a:ext cx="3703320" cy="2103120"/>
          </a:xfrm>
          <a:prstGeom prst="roundRect">
            <a:avLst>
              <a:gd name="adj" fmla="val 6957"/>
            </a:avLst>
          </a:prstGeom>
          <a:solidFill>
            <a:srgbClr val="FDECEC"/>
          </a:solidFill>
          <a:ln w="12700">
            <a:solidFill>
              <a:srgbClr val="F3BDBD"/>
            </a:solidFill>
            <a:prstDash val="solid"/>
          </a:ln>
          <a:effectLst>
            <a:outerShdw sx="100000" sy="100000" kx="0" ky="0" algn="bl" rotWithShape="0" blurRad="101600" dist="25400" dir="5400000">
              <a:srgbClr val="0F172A">
                <a:alpha val="13000"/>
              </a:srgbClr>
            </a:outerShdw>
          </a:effectLst>
        </p:spPr>
      </p:sp>
      <p:sp>
        <p:nvSpPr>
          <p:cNvPr id="11" name="Text 8"/>
          <p:cNvSpPr txBox="1"/>
          <p:nvPr/>
        </p:nvSpPr>
        <p:spPr>
          <a:xfrm>
            <a:off x="4242816" y="1188720"/>
            <a:ext cx="3703320" cy="365760"/>
          </a:xfrm>
          <a:prstGeom prst="rect">
            <a:avLst/>
          </a:prstGeom>
          <a:noFill/>
          <a:ln/>
        </p:spPr>
        <p:txBody>
          <a:bodyPr wrap="square" lIns="0" tIns="0" rIns="0" bIns="0" rtlCol="0" anchor="t"/>
          <a:lstStyle/>
          <a:p>
            <a:pPr algn="ctr" indent="0" marL="0">
              <a:buNone/>
            </a:pPr>
            <a:r>
              <a:rPr lang="en-US" sz="1800" b="1" dirty="0">
                <a:solidFill>
                  <a:srgbClr val="C62828"/>
                </a:solidFill>
                <a:latin typeface="Arial" pitchFamily="34" charset="0"/>
                <a:ea typeface="Arial" pitchFamily="34" charset="-122"/>
                <a:cs typeface="Arial" pitchFamily="34" charset="-120"/>
              </a:rPr>
              <a:t>KEY RISKS</a:t>
            </a:r>
            <a:endParaRPr lang="en-US" sz="1800" dirty="0"/>
          </a:p>
        </p:txBody>
      </p:sp>
      <p:sp>
        <p:nvSpPr>
          <p:cNvPr id="12" name="Text 9"/>
          <p:cNvSpPr txBox="1"/>
          <p:nvPr/>
        </p:nvSpPr>
        <p:spPr>
          <a:xfrm>
            <a:off x="4471416" y="1664208"/>
            <a:ext cx="3337560" cy="1481328"/>
          </a:xfrm>
          <a:prstGeom prst="rect">
            <a:avLst/>
          </a:prstGeom>
          <a:noFill/>
          <a:ln/>
        </p:spPr>
        <p:txBody>
          <a:bodyPr wrap="square" lIns="0" tIns="0" rIns="0" bIns="0" rtlCol="0" anchor="t"/>
          <a:lstStyle/>
          <a:p>
            <a:pPr marL="139700" indent="-139700">
              <a:spcAft>
                <a:spcPts val="800"/>
              </a:spcAft>
              <a:buSzPct val="100000"/>
              <a:buChar char="•"/>
            </a:pPr>
            <a:r>
              <a:rPr lang="en-US" sz="1350" dirty="0">
                <a:solidFill>
                  <a:srgbClr val="0F172A"/>
                </a:solidFill>
                <a:latin typeface="Calibri" pitchFamily="34" charset="0"/>
                <a:ea typeface="Calibri" pitchFamily="34" charset="-122"/>
                <a:cs typeface="Calibri" pitchFamily="34" charset="-120"/>
              </a:rPr>
              <a:t>Hospitals may not keep data current</a:t>
            </a:r>
            <a:endParaRPr lang="en-US" sz="1350" dirty="0"/>
          </a:p>
          <a:p>
            <a:pPr marL="139700" indent="-139700">
              <a:spcAft>
                <a:spcPts val="800"/>
              </a:spcAft>
              <a:buSzPct val="100000"/>
              <a:buChar char="•"/>
            </a:pPr>
            <a:r>
              <a:rPr lang="en-US" sz="1350" dirty="0">
                <a:solidFill>
                  <a:srgbClr val="0F172A"/>
                </a:solidFill>
                <a:latin typeface="Calibri" pitchFamily="34" charset="0"/>
                <a:ea typeface="Calibri" pitchFamily="34" charset="-122"/>
                <a:cs typeface="Calibri" pitchFamily="34" charset="-120"/>
              </a:rPr>
              <a:t>Weak or no network in villages</a:t>
            </a:r>
            <a:endParaRPr lang="en-US" sz="1350" dirty="0"/>
          </a:p>
          <a:p>
            <a:pPr marL="139700" indent="-139700">
              <a:spcAft>
                <a:spcPts val="800"/>
              </a:spcAft>
              <a:buSzPct val="100000"/>
              <a:buChar char="•"/>
            </a:pPr>
            <a:r>
              <a:rPr lang="en-US" sz="1350" dirty="0">
                <a:solidFill>
                  <a:srgbClr val="0F172A"/>
                </a:solidFill>
                <a:latin typeface="Calibri" pitchFamily="34" charset="0"/>
                <a:ea typeface="Calibri" pitchFamily="34" charset="-122"/>
                <a:cs typeface="Calibri" pitchFamily="34" charset="-120"/>
              </a:rPr>
              <a:t>Each state’s 108 runs its own system</a:t>
            </a:r>
            <a:endParaRPr lang="en-US" sz="1350" dirty="0"/>
          </a:p>
          <a:p>
            <a:pPr marL="139700" indent="-139700">
              <a:spcAft>
                <a:spcPts val="800"/>
              </a:spcAft>
              <a:buSzPct val="100000"/>
              <a:buChar char="•"/>
            </a:pPr>
            <a:r>
              <a:rPr lang="en-US" sz="1350" dirty="0">
                <a:solidFill>
                  <a:srgbClr val="0F172A"/>
                </a:solidFill>
                <a:latin typeface="Calibri" pitchFamily="34" charset="0"/>
                <a:ea typeface="Calibri" pitchFamily="34" charset="-122"/>
                <a:cs typeface="Calibri" pitchFamily="34" charset="-120"/>
              </a:rPr>
              <a:t>Health and Aadhaar data privacy</a:t>
            </a:r>
            <a:endParaRPr lang="en-US" sz="1350" dirty="0"/>
          </a:p>
        </p:txBody>
      </p:sp>
      <p:sp>
        <p:nvSpPr>
          <p:cNvPr id="13" name="box"/>
          <p:cNvSpPr/>
          <p:nvPr/>
        </p:nvSpPr>
        <p:spPr>
          <a:xfrm>
            <a:off x="8119872" y="1097280"/>
            <a:ext cx="3703320" cy="2103120"/>
          </a:xfrm>
          <a:prstGeom prst="roundRect">
            <a:avLst>
              <a:gd name="adj" fmla="val 6957"/>
            </a:avLst>
          </a:prstGeom>
          <a:solidFill>
            <a:srgbClr val="EAF5EA"/>
          </a:solidFill>
          <a:ln w="12700">
            <a:solidFill>
              <a:srgbClr val="BFE0C1"/>
            </a:solidFill>
            <a:prstDash val="solid"/>
          </a:ln>
          <a:effectLst>
            <a:outerShdw sx="100000" sy="100000" kx="0" ky="0" algn="bl" rotWithShape="0" blurRad="101600" dist="25400" dir="5400000">
              <a:srgbClr val="0F172A">
                <a:alpha val="13000"/>
              </a:srgbClr>
            </a:outerShdw>
          </a:effectLst>
        </p:spPr>
      </p:sp>
      <p:sp>
        <p:nvSpPr>
          <p:cNvPr id="14" name="Text 11"/>
          <p:cNvSpPr txBox="1"/>
          <p:nvPr/>
        </p:nvSpPr>
        <p:spPr>
          <a:xfrm>
            <a:off x="8119872" y="1188720"/>
            <a:ext cx="3703320" cy="365760"/>
          </a:xfrm>
          <a:prstGeom prst="rect">
            <a:avLst/>
          </a:prstGeom>
          <a:noFill/>
          <a:ln/>
        </p:spPr>
        <p:txBody>
          <a:bodyPr wrap="square" lIns="0" tIns="0" rIns="0" bIns="0" rtlCol="0" anchor="t"/>
          <a:lstStyle/>
          <a:p>
            <a:pPr algn="ctr" indent="0" marL="0">
              <a:buNone/>
            </a:pPr>
            <a:r>
              <a:rPr lang="en-US" sz="1800" b="1" dirty="0">
                <a:solidFill>
                  <a:srgbClr val="2E7D32"/>
                </a:solidFill>
                <a:latin typeface="Arial" pitchFamily="34" charset="0"/>
                <a:ea typeface="Arial" pitchFamily="34" charset="-122"/>
                <a:cs typeface="Arial" pitchFamily="34" charset="-120"/>
              </a:rPr>
              <a:t>MITIGATION</a:t>
            </a:r>
            <a:endParaRPr lang="en-US" sz="1800" dirty="0"/>
          </a:p>
        </p:txBody>
      </p:sp>
      <p:sp>
        <p:nvSpPr>
          <p:cNvPr id="15" name="Text 12"/>
          <p:cNvSpPr txBox="1"/>
          <p:nvPr/>
        </p:nvSpPr>
        <p:spPr>
          <a:xfrm>
            <a:off x="8348472" y="1664208"/>
            <a:ext cx="3337560" cy="1481328"/>
          </a:xfrm>
          <a:prstGeom prst="rect">
            <a:avLst/>
          </a:prstGeom>
          <a:noFill/>
          <a:ln/>
        </p:spPr>
        <p:txBody>
          <a:bodyPr wrap="square" lIns="0" tIns="0" rIns="0" bIns="0" rtlCol="0" anchor="t"/>
          <a:lstStyle/>
          <a:p>
            <a:pPr marL="139700" indent="-139700">
              <a:spcAft>
                <a:spcPts val="800"/>
              </a:spcAft>
              <a:buSzPct val="100000"/>
              <a:buChar char="•"/>
            </a:pPr>
            <a:r>
              <a:rPr lang="en-US" sz="1350" dirty="0">
                <a:solidFill>
                  <a:srgbClr val="0F172A"/>
                </a:solidFill>
                <a:latin typeface="Calibri" pitchFamily="34" charset="0"/>
                <a:ea typeface="Calibri" pitchFamily="34" charset="-122"/>
                <a:cs typeface="Calibri" pitchFamily="34" charset="-120"/>
              </a:rPr>
              <a:t>108-min cycle, named officer, “unverified” flag</a:t>
            </a:r>
            <a:endParaRPr lang="en-US" sz="1350" dirty="0"/>
          </a:p>
          <a:p>
            <a:pPr marL="139700" indent="-139700">
              <a:spcAft>
                <a:spcPts val="800"/>
              </a:spcAft>
              <a:buSzPct val="100000"/>
              <a:buChar char="•"/>
            </a:pPr>
            <a:r>
              <a:rPr lang="en-US" sz="1350" dirty="0">
                <a:solidFill>
                  <a:srgbClr val="0F172A"/>
                </a:solidFill>
                <a:latin typeface="Calibri" pitchFamily="34" charset="0"/>
                <a:ea typeface="Calibri" pitchFamily="34" charset="-122"/>
                <a:cs typeface="Calibri" pitchFamily="34" charset="-120"/>
              </a:rPr>
              <a:t>SMS gateway, offline app, 108 / 112 call</a:t>
            </a:r>
            <a:endParaRPr lang="en-US" sz="1350" dirty="0"/>
          </a:p>
          <a:p>
            <a:pPr marL="139700" indent="-139700">
              <a:spcAft>
                <a:spcPts val="800"/>
              </a:spcAft>
              <a:buSzPct val="100000"/>
              <a:buChar char="•"/>
            </a:pPr>
            <a:r>
              <a:rPr lang="en-US" sz="1350" dirty="0">
                <a:solidFill>
                  <a:srgbClr val="0F172A"/>
                </a:solidFill>
                <a:latin typeface="Calibri" pitchFamily="34" charset="0"/>
                <a:ea typeface="Calibri" pitchFamily="34" charset="-122"/>
                <a:cs typeface="Calibri" pitchFamily="34" charset="-120"/>
              </a:rPr>
              <a:t>Open signed contract + practice control room</a:t>
            </a:r>
            <a:endParaRPr lang="en-US" sz="1350" dirty="0"/>
          </a:p>
          <a:p>
            <a:pPr marL="139700" indent="-139700">
              <a:spcAft>
                <a:spcPts val="800"/>
              </a:spcAft>
              <a:buSzPct val="100000"/>
              <a:buChar char="•"/>
            </a:pPr>
            <a:r>
              <a:rPr lang="en-US" sz="1350" dirty="0">
                <a:solidFill>
                  <a:srgbClr val="0F172A"/>
                </a:solidFill>
                <a:latin typeface="Calibri" pitchFamily="34" charset="0"/>
                <a:ea typeface="Calibri" pitchFamily="34" charset="-122"/>
                <a:cs typeface="Calibri" pitchFamily="34" charset="-120"/>
              </a:rPr>
              <a:t>AUA/KUA OTP, AES-256-GCM, consent</a:t>
            </a:r>
            <a:endParaRPr lang="en-US" sz="1350" dirty="0"/>
          </a:p>
        </p:txBody>
      </p:sp>
      <p:sp>
        <p:nvSpPr>
          <p:cNvPr id="16" name="roadmap line"/>
          <p:cNvSpPr/>
          <p:nvPr/>
        </p:nvSpPr>
        <p:spPr>
          <a:xfrm>
            <a:off x="1097280" y="3584448"/>
            <a:ext cx="10058400" cy="0"/>
          </a:xfrm>
          <a:prstGeom prst="line">
            <a:avLst/>
          </a:prstGeom>
          <a:noFill/>
          <a:ln w="19050">
            <a:solidFill>
              <a:srgbClr val="14325C"/>
            </a:solidFill>
            <a:prstDash val="solid"/>
          </a:ln>
        </p:spPr>
      </p:sp>
      <p:sp>
        <p:nvSpPr>
          <p:cNvPr id="17" name="Text 14"/>
          <p:cNvSpPr txBox="1"/>
          <p:nvPr/>
        </p:nvSpPr>
        <p:spPr>
          <a:xfrm>
            <a:off x="685800" y="3364992"/>
            <a:ext cx="2514600" cy="438912"/>
          </a:xfrm>
          <a:prstGeom prst="roundRect">
            <a:avLst>
              <a:gd name="adj" fmla="val 16667"/>
            </a:avLst>
          </a:prstGeom>
          <a:solidFill>
            <a:srgbClr val="1F64B4"/>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  PROTOTYPE LIVE</a:t>
            </a:r>
            <a:endParaRPr lang="en-US" sz="1300" dirty="0"/>
          </a:p>
        </p:txBody>
      </p:sp>
      <p:sp>
        <p:nvSpPr>
          <p:cNvPr id="18" name="Text 15"/>
          <p:cNvSpPr txBox="1"/>
          <p:nvPr/>
        </p:nvSpPr>
        <p:spPr>
          <a:xfrm>
            <a:off x="3538728" y="3364992"/>
            <a:ext cx="2514600" cy="438912"/>
          </a:xfrm>
          <a:prstGeom prst="roundRect">
            <a:avLst>
              <a:gd name="adj" fmla="val 16667"/>
            </a:avLst>
          </a:prstGeom>
          <a:solidFill>
            <a:srgbClr val="0F8B8D"/>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  DISTRICT PILOT</a:t>
            </a:r>
            <a:endParaRPr lang="en-US" sz="1300" dirty="0"/>
          </a:p>
        </p:txBody>
      </p:sp>
      <p:sp>
        <p:nvSpPr>
          <p:cNvPr id="19" name="Text 16"/>
          <p:cNvSpPr txBox="1"/>
          <p:nvPr/>
        </p:nvSpPr>
        <p:spPr>
          <a:xfrm>
            <a:off x="6391656" y="3364992"/>
            <a:ext cx="2514600" cy="438912"/>
          </a:xfrm>
          <a:prstGeom prst="roundRect">
            <a:avLst>
              <a:gd name="adj" fmla="val 16667"/>
            </a:avLst>
          </a:prstGeom>
          <a:solidFill>
            <a:srgbClr val="E8711C"/>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  MP ROLLOUT</a:t>
            </a:r>
            <a:endParaRPr lang="en-US" sz="1300" dirty="0"/>
          </a:p>
        </p:txBody>
      </p:sp>
      <p:sp>
        <p:nvSpPr>
          <p:cNvPr id="20" name="Text 17"/>
          <p:cNvSpPr txBox="1"/>
          <p:nvPr/>
        </p:nvSpPr>
        <p:spPr>
          <a:xfrm>
            <a:off x="9244584" y="3364992"/>
            <a:ext cx="2514600" cy="438912"/>
          </a:xfrm>
          <a:prstGeom prst="roundRect">
            <a:avLst>
              <a:gd name="adj" fmla="val 16667"/>
            </a:avLst>
          </a:prstGeom>
          <a:solidFill>
            <a:srgbClr val="2E7D32"/>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  NATIONAL 108 / 102</a:t>
            </a:r>
            <a:endParaRPr lang="en-US" sz="1300" dirty="0"/>
          </a:p>
        </p:txBody>
      </p:sp>
      <p:sp>
        <p:nvSpPr>
          <p:cNvPr id="21" name="box"/>
          <p:cNvSpPr/>
          <p:nvPr/>
        </p:nvSpPr>
        <p:spPr>
          <a:xfrm>
            <a:off x="365760" y="4005072"/>
            <a:ext cx="2697480" cy="2121408"/>
          </a:xfrm>
          <a:prstGeom prst="roundRect">
            <a:avLst>
              <a:gd name="adj" fmla="val 5172"/>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22" name="Text 19"/>
          <p:cNvSpPr txBox="1"/>
          <p:nvPr/>
        </p:nvSpPr>
        <p:spPr>
          <a:xfrm>
            <a:off x="365760" y="4096512"/>
            <a:ext cx="2697480" cy="365760"/>
          </a:xfrm>
          <a:prstGeom prst="rect">
            <a:avLst/>
          </a:prstGeom>
          <a:noFill/>
          <a:ln/>
        </p:spPr>
        <p:txBody>
          <a:bodyPr wrap="square" lIns="0" tIns="0" rIns="0" bIns="0" rtlCol="0" anchor="t"/>
          <a:lstStyle/>
          <a:p>
            <a:pPr algn="ctr" indent="0" marL="0">
              <a:buNone/>
            </a:pPr>
            <a:r>
              <a:rPr lang="en-US" sz="1600" b="1" dirty="0">
                <a:solidFill>
                  <a:srgbClr val="14325C"/>
                </a:solidFill>
                <a:latin typeface="Arial" pitchFamily="34" charset="0"/>
                <a:ea typeface="Arial" pitchFamily="34" charset="-122"/>
                <a:cs typeface="Arial" pitchFamily="34" charset="-120"/>
              </a:rPr>
              <a:t>PROTOTYPE TODAY</a:t>
            </a:r>
            <a:endParaRPr lang="en-US" sz="1600" dirty="0"/>
          </a:p>
        </p:txBody>
      </p:sp>
      <p:sp>
        <p:nvSpPr>
          <p:cNvPr id="23" name="Text 20"/>
          <p:cNvSpPr txBox="1"/>
          <p:nvPr/>
        </p:nvSpPr>
        <p:spPr>
          <a:xfrm>
            <a:off x="530352" y="4526280"/>
            <a:ext cx="2450592" cy="1554480"/>
          </a:xfrm>
          <a:prstGeom prst="rect">
            <a:avLst/>
          </a:prstGeom>
          <a:noFill/>
          <a:ln/>
        </p:spPr>
        <p:txBody>
          <a:bodyPr wrap="square" lIns="0" tIns="0" rIns="0" bIns="0" rtlCol="0" anchor="t"/>
          <a:lstStyle/>
          <a:p>
            <a:pPr marL="139700" indent="-139700">
              <a:spcAft>
                <a:spcPts val="700"/>
              </a:spcAft>
              <a:buSzPct val="100000"/>
              <a:buChar char="•"/>
            </a:pPr>
            <a:r>
              <a:rPr lang="en-US" sz="1250" dirty="0">
                <a:solidFill>
                  <a:srgbClr val="0F172A"/>
                </a:solidFill>
                <a:latin typeface="Calibri" pitchFamily="34" charset="0"/>
                <a:ea typeface="Calibri" pitchFamily="34" charset="-122"/>
                <a:cs typeface="Calibri" pitchFamily="34" charset="-120"/>
              </a:rPr>
              <a:t>16 hospitals · 4 districts (sample data)</a:t>
            </a:r>
            <a:endParaRPr lang="en-US" sz="1250" dirty="0"/>
          </a:p>
          <a:p>
            <a:pPr marL="139700" indent="-139700">
              <a:spcAft>
                <a:spcPts val="700"/>
              </a:spcAft>
              <a:buSzPct val="100000"/>
              <a:buChar char="•"/>
            </a:pPr>
            <a:r>
              <a:rPr lang="en-US" sz="1250" dirty="0">
                <a:solidFill>
                  <a:srgbClr val="0F172A"/>
                </a:solidFill>
                <a:latin typeface="Calibri" pitchFamily="34" charset="0"/>
                <a:ea typeface="Calibri" pitchFamily="34" charset="-122"/>
                <a:cs typeface="Calibri" pitchFamily="34" charset="-120"/>
              </a:rPr>
              <a:t>9-ambulance practice 108 fleet</a:t>
            </a:r>
            <a:endParaRPr lang="en-US" sz="1250" dirty="0"/>
          </a:p>
          <a:p>
            <a:pPr marL="139700" indent="-139700">
              <a:spcAft>
                <a:spcPts val="700"/>
              </a:spcAft>
              <a:buSzPct val="100000"/>
              <a:buChar char="•"/>
            </a:pPr>
            <a:r>
              <a:rPr lang="en-US" sz="1250" dirty="0">
                <a:solidFill>
                  <a:srgbClr val="0F172A"/>
                </a:solidFill>
                <a:latin typeface="Calibri" pitchFamily="34" charset="0"/>
                <a:ea typeface="Calibri" pitchFamily="34" charset="-122"/>
                <a:cs typeface="Calibri" pitchFamily="34" charset="-120"/>
              </a:rPr>
              <a:t>Aadhaar OTP (simulated UIDAI)</a:t>
            </a:r>
            <a:endParaRPr lang="en-US" sz="1250" dirty="0"/>
          </a:p>
          <a:p>
            <a:pPr marL="139700" indent="-139700">
              <a:spcAft>
                <a:spcPts val="700"/>
              </a:spcAft>
              <a:buSzPct val="100000"/>
              <a:buChar char="•"/>
            </a:pPr>
            <a:r>
              <a:rPr lang="en-US" sz="1250" dirty="0">
                <a:solidFill>
                  <a:srgbClr val="0F172A"/>
                </a:solidFill>
                <a:latin typeface="Calibri" pitchFamily="34" charset="0"/>
                <a:ea typeface="Calibri" pitchFamily="34" charset="-122"/>
                <a:cs typeface="Calibri" pitchFamily="34" charset="-120"/>
              </a:rPr>
              <a:t>Live: medreach-2.onrender.com</a:t>
            </a:r>
            <a:endParaRPr lang="en-US" sz="1250" dirty="0"/>
          </a:p>
        </p:txBody>
      </p:sp>
      <p:sp>
        <p:nvSpPr>
          <p:cNvPr id="24" name="box"/>
          <p:cNvSpPr/>
          <p:nvPr/>
        </p:nvSpPr>
        <p:spPr>
          <a:xfrm>
            <a:off x="3200400" y="4005072"/>
            <a:ext cx="2697480" cy="2121408"/>
          </a:xfrm>
          <a:prstGeom prst="roundRect">
            <a:avLst>
              <a:gd name="adj" fmla="val 5172"/>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25" name="Text 22"/>
          <p:cNvSpPr txBox="1"/>
          <p:nvPr/>
        </p:nvSpPr>
        <p:spPr>
          <a:xfrm>
            <a:off x="3200400" y="4096512"/>
            <a:ext cx="2697480" cy="365760"/>
          </a:xfrm>
          <a:prstGeom prst="rect">
            <a:avLst/>
          </a:prstGeom>
          <a:noFill/>
          <a:ln/>
        </p:spPr>
        <p:txBody>
          <a:bodyPr wrap="square" lIns="0" tIns="0" rIns="0" bIns="0" rtlCol="0" anchor="t"/>
          <a:lstStyle/>
          <a:p>
            <a:pPr algn="ctr" indent="0" marL="0">
              <a:buNone/>
            </a:pPr>
            <a:r>
              <a:rPr lang="en-US" sz="1600" b="1" dirty="0">
                <a:solidFill>
                  <a:srgbClr val="14325C"/>
                </a:solidFill>
                <a:latin typeface="Arial" pitchFamily="34" charset="0"/>
                <a:ea typeface="Arial" pitchFamily="34" charset="-122"/>
                <a:cs typeface="Arial" pitchFamily="34" charset="-120"/>
              </a:rPr>
              <a:t>NEXT PILOT</a:t>
            </a:r>
            <a:endParaRPr lang="en-US" sz="1600" dirty="0"/>
          </a:p>
        </p:txBody>
      </p:sp>
      <p:sp>
        <p:nvSpPr>
          <p:cNvPr id="26" name="Text 23"/>
          <p:cNvSpPr txBox="1"/>
          <p:nvPr/>
        </p:nvSpPr>
        <p:spPr>
          <a:xfrm>
            <a:off x="3364992" y="4526280"/>
            <a:ext cx="2450592" cy="1554480"/>
          </a:xfrm>
          <a:prstGeom prst="rect">
            <a:avLst/>
          </a:prstGeom>
          <a:noFill/>
          <a:ln/>
        </p:spPr>
        <p:txBody>
          <a:bodyPr wrap="square" lIns="0" tIns="0" rIns="0" bIns="0" rtlCol="0" anchor="t"/>
          <a:lstStyle/>
          <a:p>
            <a:pPr marL="139700" indent="-139700">
              <a:spcAft>
                <a:spcPts val="700"/>
              </a:spcAft>
              <a:buSzPct val="100000"/>
              <a:buChar char="•"/>
            </a:pPr>
            <a:r>
              <a:rPr lang="en-US" sz="1250" dirty="0">
                <a:solidFill>
                  <a:srgbClr val="0F172A"/>
                </a:solidFill>
                <a:latin typeface="Calibri" pitchFamily="34" charset="0"/>
                <a:ea typeface="Calibri" pitchFamily="34" charset="-122"/>
                <a:cs typeface="Calibri" pitchFamily="34" charset="-120"/>
              </a:rPr>
              <a:t>Bhopal division with CMHO + 108 operator</a:t>
            </a:r>
            <a:endParaRPr lang="en-US" sz="1250" dirty="0"/>
          </a:p>
          <a:p>
            <a:pPr marL="139700" indent="-139700">
              <a:spcAft>
                <a:spcPts val="700"/>
              </a:spcAft>
              <a:buSzPct val="100000"/>
              <a:buChar char="•"/>
            </a:pPr>
            <a:r>
              <a:rPr lang="en-US" sz="1250" dirty="0">
                <a:solidFill>
                  <a:srgbClr val="0F172A"/>
                </a:solidFill>
                <a:latin typeface="Calibri" pitchFamily="34" charset="0"/>
                <a:ea typeface="Calibri" pitchFamily="34" charset="-122"/>
                <a:cs typeface="Calibri" pitchFamily="34" charset="-120"/>
              </a:rPr>
              <a:t>Real Data Update Officers</a:t>
            </a:r>
            <a:endParaRPr lang="en-US" sz="1250" dirty="0"/>
          </a:p>
          <a:p>
            <a:pPr marL="139700" indent="-139700">
              <a:spcAft>
                <a:spcPts val="700"/>
              </a:spcAft>
              <a:buSzPct val="100000"/>
              <a:buChar char="•"/>
            </a:pPr>
            <a:r>
              <a:rPr lang="en-US" sz="1250" dirty="0">
                <a:solidFill>
                  <a:srgbClr val="0F172A"/>
                </a:solidFill>
                <a:latin typeface="Calibri" pitchFamily="34" charset="0"/>
                <a:ea typeface="Calibri" pitchFamily="34" charset="-122"/>
                <a:cs typeface="Calibri" pitchFamily="34" charset="-120"/>
              </a:rPr>
              <a:t>Licensed AUA/KUA + DLT SMS</a:t>
            </a:r>
            <a:endParaRPr lang="en-US" sz="1250" dirty="0"/>
          </a:p>
          <a:p>
            <a:pPr marL="139700" indent="-139700">
              <a:spcAft>
                <a:spcPts val="700"/>
              </a:spcAft>
              <a:buSzPct val="100000"/>
              <a:buChar char="•"/>
            </a:pPr>
            <a:r>
              <a:rPr lang="en-US" sz="1250" dirty="0">
                <a:solidFill>
                  <a:srgbClr val="0F172A"/>
                </a:solidFill>
                <a:latin typeface="Calibri" pitchFamily="34" charset="0"/>
                <a:ea typeface="Calibri" pitchFamily="34" charset="-122"/>
                <a:cs typeface="Calibri" pitchFamily="34" charset="-120"/>
              </a:rPr>
              <a:t>Measure time to confirmed bed</a:t>
            </a:r>
            <a:endParaRPr lang="en-US" sz="1250" dirty="0"/>
          </a:p>
        </p:txBody>
      </p:sp>
      <p:sp>
        <p:nvSpPr>
          <p:cNvPr id="27" name="box"/>
          <p:cNvSpPr/>
          <p:nvPr/>
        </p:nvSpPr>
        <p:spPr>
          <a:xfrm>
            <a:off x="6035040" y="4005072"/>
            <a:ext cx="2697480" cy="2121408"/>
          </a:xfrm>
          <a:prstGeom prst="roundRect">
            <a:avLst>
              <a:gd name="adj" fmla="val 5172"/>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28" name="Text 25"/>
          <p:cNvSpPr txBox="1"/>
          <p:nvPr/>
        </p:nvSpPr>
        <p:spPr>
          <a:xfrm>
            <a:off x="6035040" y="4096512"/>
            <a:ext cx="2697480" cy="365760"/>
          </a:xfrm>
          <a:prstGeom prst="rect">
            <a:avLst/>
          </a:prstGeom>
          <a:noFill/>
          <a:ln/>
        </p:spPr>
        <p:txBody>
          <a:bodyPr wrap="square" lIns="0" tIns="0" rIns="0" bIns="0" rtlCol="0" anchor="t"/>
          <a:lstStyle/>
          <a:p>
            <a:pPr algn="ctr" indent="0" marL="0">
              <a:buNone/>
            </a:pPr>
            <a:r>
              <a:rPr lang="en-US" sz="1600" b="1" dirty="0">
                <a:solidFill>
                  <a:srgbClr val="14325C"/>
                </a:solidFill>
                <a:latin typeface="Arial" pitchFamily="34" charset="0"/>
                <a:ea typeface="Arial" pitchFamily="34" charset="-122"/>
                <a:cs typeface="Arial" pitchFamily="34" charset="-120"/>
              </a:rPr>
              <a:t>SCALE</a:t>
            </a:r>
            <a:endParaRPr lang="en-US" sz="1600" dirty="0"/>
          </a:p>
        </p:txBody>
      </p:sp>
      <p:sp>
        <p:nvSpPr>
          <p:cNvPr id="29" name="Text 26"/>
          <p:cNvSpPr txBox="1"/>
          <p:nvPr/>
        </p:nvSpPr>
        <p:spPr>
          <a:xfrm>
            <a:off x="6199632" y="4526280"/>
            <a:ext cx="2450592" cy="1554480"/>
          </a:xfrm>
          <a:prstGeom prst="rect">
            <a:avLst/>
          </a:prstGeom>
          <a:noFill/>
          <a:ln/>
        </p:spPr>
        <p:txBody>
          <a:bodyPr wrap="square" lIns="0" tIns="0" rIns="0" bIns="0" rtlCol="0" anchor="t"/>
          <a:lstStyle/>
          <a:p>
            <a:pPr marL="139700" indent="-139700">
              <a:spcAft>
                <a:spcPts val="700"/>
              </a:spcAft>
              <a:buSzPct val="100000"/>
              <a:buChar char="•"/>
            </a:pPr>
            <a:r>
              <a:rPr lang="en-US" sz="1250" dirty="0">
                <a:solidFill>
                  <a:srgbClr val="0F172A"/>
                </a:solidFill>
                <a:latin typeface="Calibri" pitchFamily="34" charset="0"/>
                <a:ea typeface="Calibri" pitchFamily="34" charset="-122"/>
                <a:cs typeface="Calibri" pitchFamily="34" charset="-120"/>
              </a:rPr>
              <a:t>All districts of Madhya Pradesh</a:t>
            </a:r>
            <a:endParaRPr lang="en-US" sz="1250" dirty="0"/>
          </a:p>
          <a:p>
            <a:pPr marL="139700" indent="-139700">
              <a:spcAft>
                <a:spcPts val="700"/>
              </a:spcAft>
              <a:buSzPct val="100000"/>
              <a:buChar char="•"/>
            </a:pPr>
            <a:r>
              <a:rPr lang="en-US" sz="1250" dirty="0">
                <a:solidFill>
                  <a:srgbClr val="0F172A"/>
                </a:solidFill>
                <a:latin typeface="Calibri" pitchFamily="34" charset="0"/>
                <a:ea typeface="Calibri" pitchFamily="34" charset="-122"/>
                <a:cs typeface="Calibri" pitchFamily="34" charset="-120"/>
              </a:rPr>
              <a:t>Any state’s 108 / 102 – same contract</a:t>
            </a:r>
            <a:endParaRPr lang="en-US" sz="1250" dirty="0"/>
          </a:p>
          <a:p>
            <a:pPr marL="139700" indent="-139700">
              <a:spcAft>
                <a:spcPts val="700"/>
              </a:spcAft>
              <a:buSzPct val="100000"/>
              <a:buChar char="•"/>
            </a:pPr>
            <a:r>
              <a:rPr lang="en-US" sz="1250" dirty="0">
                <a:solidFill>
                  <a:srgbClr val="0F172A"/>
                </a:solidFill>
                <a:latin typeface="Calibri" pitchFamily="34" charset="0"/>
                <a:ea typeface="Calibri" pitchFamily="34" charset="-122"/>
                <a:cs typeface="Calibri" pitchFamily="34" charset="-120"/>
              </a:rPr>
              <a:t>Capacity analytics for health dept.</a:t>
            </a:r>
            <a:endParaRPr lang="en-US" sz="1250" dirty="0"/>
          </a:p>
          <a:p>
            <a:pPr marL="139700" indent="-139700">
              <a:spcAft>
                <a:spcPts val="700"/>
              </a:spcAft>
              <a:buSzPct val="100000"/>
              <a:buChar char="•"/>
            </a:pPr>
            <a:r>
              <a:rPr lang="en-US" sz="1250" dirty="0">
                <a:solidFill>
                  <a:srgbClr val="0F172A"/>
                </a:solidFill>
                <a:latin typeface="Calibri" pitchFamily="34" charset="0"/>
                <a:ea typeface="Calibri" pitchFamily="34" charset="-122"/>
                <a:cs typeface="Calibri" pitchFamily="34" charset="-120"/>
              </a:rPr>
              <a:t>ABHA health-record link</a:t>
            </a:r>
            <a:endParaRPr lang="en-US" sz="1250" dirty="0"/>
          </a:p>
        </p:txBody>
      </p:sp>
      <p:pic>
        <p:nvPicPr>
          <p:cNvPr id="30" name="laptop showing the live 108 control room" descr="/tmp/claude-0/-home-user-Sehat-Setu/b06e8423-ed6e-57c3-bbb1-ac94b2a1720d/scratchpad/ppt10/art/laptop-cad.png">    </p:cNvPr>
          <p:cNvPicPr>
            <a:picLocks noChangeAspect="1"/>
          </p:cNvPicPr>
          <p:nvPr/>
        </p:nvPicPr>
        <p:blipFill>
          <a:blip r:embed="rId2"/>
          <a:stretch>
            <a:fillRect/>
          </a:stretch>
        </p:blipFill>
        <p:spPr>
          <a:xfrm>
            <a:off x="8915400" y="4005072"/>
            <a:ext cx="2926080" cy="1872691"/>
          </a:xfrm>
          <a:prstGeom prst="rect">
            <a:avLst/>
          </a:prstGeom>
        </p:spPr>
      </p:pic>
      <p:sp>
        <p:nvSpPr>
          <p:cNvPr id="31" name="Text 27"/>
          <p:cNvSpPr txBox="1"/>
          <p:nvPr/>
        </p:nvSpPr>
        <p:spPr>
          <a:xfrm>
            <a:off x="8778240" y="5897880"/>
            <a:ext cx="3200400" cy="219456"/>
          </a:xfrm>
          <a:prstGeom prst="rect">
            <a:avLst/>
          </a:prstGeom>
          <a:noFill/>
          <a:ln/>
        </p:spPr>
        <p:txBody>
          <a:bodyPr wrap="square" lIns="0" tIns="0" rIns="0" bIns="0" rtlCol="0" anchor="t"/>
          <a:lstStyle/>
          <a:p>
            <a:pPr algn="ctr" indent="0" marL="0">
              <a:buNone/>
            </a:pPr>
            <a:r>
              <a:rPr lang="en-US" sz="1000" i="1" dirty="0">
                <a:solidFill>
                  <a:srgbClr val="64748B"/>
                </a:solidFill>
                <a:latin typeface="Calibri" pitchFamily="34" charset="0"/>
                <a:ea typeface="Calibri" pitchFamily="34" charset="-122"/>
                <a:cs typeface="Calibri" pitchFamily="34" charset="-120"/>
              </a:rPr>
              <a:t>Live 108 control room (deployed site)</a:t>
            </a:r>
            <a:endParaRPr lang="en-US" sz="1000" dirty="0"/>
          </a:p>
        </p:txBody>
      </p:sp>
      <p:sp>
        <p:nvSpPr>
          <p:cNvPr id="32" name="box"/>
          <p:cNvSpPr/>
          <p:nvPr/>
        </p:nvSpPr>
        <p:spPr>
          <a:xfrm>
            <a:off x="1371600" y="6291072"/>
            <a:ext cx="9418320" cy="384048"/>
          </a:xfrm>
          <a:prstGeom prst="roundRect">
            <a:avLst>
              <a:gd name="adj" fmla="val 19048"/>
            </a:avLst>
          </a:prstGeom>
          <a:solidFill>
            <a:srgbClr val="14325C"/>
          </a:solidFill>
          <a:ln w="12700">
            <a:solidFill>
              <a:srgbClr val="14325C"/>
            </a:solidFill>
            <a:prstDash val="solid"/>
          </a:ln>
        </p:spPr>
      </p:sp>
      <p:sp>
        <p:nvSpPr>
          <p:cNvPr id="33" name="Text 29"/>
          <p:cNvSpPr txBox="1"/>
          <p:nvPr/>
        </p:nvSpPr>
        <p:spPr>
          <a:xfrm>
            <a:off x="1371600" y="6291072"/>
            <a:ext cx="941832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FEASIBLE TODAY: SOFTWARE ONLY, RUNS ON PHONES AND HOSPITAL PCs ALREADY IN USE</a:t>
            </a:r>
            <a:endParaRPr lang="en-US" sz="1250" dirty="0"/>
          </a:p>
        </p:txBody>
      </p:sp>
      <p:sp>
        <p:nvSpPr>
          <p:cNvPr id="25" name="Slide Number Placeholder 0"/>
          <p:cNvSpPr>
            <a:spLocks noGrp="1"/>
          </p:cNvSpPr>
          <p:nvPr>
            <p:ph type="sldNum" sz="quarter" idx="4294967295"/>
          </p:nvPr>
        </p:nvSpPr>
        <p:spPr>
          <a:xfrm>
            <a:off x="11475720" y="651052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am badge"/>
          <p:cNvSpPr/>
          <p:nvPr/>
        </p:nvSpPr>
        <p:spPr>
          <a:xfrm>
            <a:off x="320040" y="201168"/>
            <a:ext cx="1645920" cy="777240"/>
          </a:xfrm>
          <a:prstGeom prst="ellipse">
            <a:avLst/>
          </a:prstGeom>
          <a:solidFill>
            <a:srgbClr val="FFFFFF"/>
          </a:solidFill>
          <a:ln w="19050">
            <a:solidFill>
              <a:srgbClr val="6B46C1"/>
            </a:solidFill>
            <a:prstDash val="solid"/>
          </a:ln>
        </p:spPr>
      </p:sp>
      <p:sp>
        <p:nvSpPr>
          <p:cNvPr id="3" name="Text 1"/>
          <p:cNvSpPr txBox="1"/>
          <p:nvPr/>
        </p:nvSpPr>
        <p:spPr>
          <a:xfrm>
            <a:off x="320040" y="201168"/>
            <a:ext cx="1645920" cy="777240"/>
          </a:xfrm>
          <a:prstGeom prst="rect">
            <a:avLst/>
          </a:prstGeom>
          <a:noFill/>
          <a:ln/>
        </p:spPr>
        <p:txBody>
          <a:bodyPr wrap="square" lIns="0" tIns="0" rIns="0" bIns="0" rtlCol="0" anchor="ctr"/>
          <a:lstStyle/>
          <a:p>
            <a:pPr algn="ctr" indent="0" marL="0">
              <a:buNone/>
            </a:pPr>
            <a:r>
              <a:rPr lang="en-US" sz="1250" dirty="0">
                <a:solidFill>
                  <a:srgbClr val="0F172A"/>
                </a:solidFill>
                <a:latin typeface="Calibri" pitchFamily="34" charset="0"/>
                <a:ea typeface="Calibri" pitchFamily="34" charset="-122"/>
                <a:cs typeface="Calibri" pitchFamily="34" charset="-120"/>
              </a:rPr>
              <a:t>TEAM</a:t>
            </a:r>
            <a:endParaRPr lang="en-US" sz="1250" dirty="0"/>
          </a:p>
          <a:p>
            <a:pPr algn="ctr" indent="0" marL="0">
              <a:buNone/>
            </a:pPr>
            <a:r>
              <a:rPr lang="en-US" sz="1250" dirty="0">
                <a:solidFill>
                  <a:srgbClr val="0F172A"/>
                </a:solidFill>
                <a:latin typeface="Calibri" pitchFamily="34" charset="0"/>
                <a:ea typeface="Calibri" pitchFamily="34" charset="-122"/>
                <a:cs typeface="Calibri" pitchFamily="34" charset="-120"/>
              </a:rPr>
              <a:t>MEDREACH</a:t>
            </a:r>
            <a:endParaRPr lang="en-US" sz="1250" dirty="0"/>
          </a:p>
        </p:txBody>
      </p:sp>
      <p:sp>
        <p:nvSpPr>
          <p:cNvPr id="4" name="Text 0"/>
          <p:cNvSpPr/>
          <p:nvPr>
            <p:ph idx="100" type="title" hasCustomPrompt="1"/>
          </p:nvPr>
        </p:nvSpPr>
        <p:spPr>
          <a:xfrm>
            <a:off x="2148840" y="201168"/>
            <a:ext cx="7863840" cy="777240"/>
          </a:xfrm>
          <a:prstGeom prst="rect">
            <a:avLst/>
          </a:prstGeom>
          <a:noFill/>
          <a:ln/>
        </p:spPr>
        <p:txBody>
          <a:bodyPr wrap="square" lIns="0" tIns="0" rIns="0" bIns="0" rtlCol="0" anchor="ctr"/>
          <a:lstStyle/>
          <a:p>
            <a:pPr algn="ctr" indent="0" marL="0">
              <a:buNone/>
            </a:pPr>
            <a:r>
              <a:rPr lang="en-US" sz="3400" b="1" dirty="0">
                <a:solidFill>
                  <a:schemeClr val="tx1"/>
                </a:solidFill>
              </a:rPr>
              <a:t>INNOVATION &amp; DIFFERENTIATION</a:t>
            </a:r>
            <a:endParaRPr lang="en-US" sz="3400" dirty="0"/>
          </a:p>
        </p:txBody>
      </p:sp>
      <p:pic>
        <p:nvPicPr>
          <p:cNvPr id="5" name="Medreach logo" descr="preencoded.png">    </p:cNvPr>
          <p:cNvPicPr>
            <a:picLocks noChangeAspect="1"/>
          </p:cNvPicPr>
          <p:nvPr/>
        </p:nvPicPr>
        <p:blipFill>
          <a:blip r:embed="rId1"/>
          <a:stretch>
            <a:fillRect/>
          </a:stretch>
        </p:blipFill>
        <p:spPr>
          <a:xfrm>
            <a:off x="10195560" y="274320"/>
            <a:ext cx="603504" cy="603504"/>
          </a:xfrm>
          <a:prstGeom prst="rect">
            <a:avLst/>
          </a:prstGeom>
        </p:spPr>
      </p:pic>
      <p:sp>
        <p:nvSpPr>
          <p:cNvPr id="6" name="Text 3"/>
          <p:cNvSpPr txBox="1"/>
          <p:nvPr/>
        </p:nvSpPr>
        <p:spPr>
          <a:xfrm>
            <a:off x="10881360" y="246888"/>
            <a:ext cx="1097280" cy="658368"/>
          </a:xfrm>
          <a:prstGeom prst="rect">
            <a:avLst/>
          </a:prstGeom>
          <a:noFill/>
          <a:ln/>
        </p:spPr>
        <p:txBody>
          <a:bodyPr wrap="square" lIns="0" tIns="0" rIns="0" bIns="0" rtlCol="0" anchor="ctr"/>
          <a:lstStyle/>
          <a:p>
            <a:pPr indent="0" marL="0">
              <a:lnSpc>
                <a:spcPct val="95000"/>
              </a:lnSpc>
              <a:buNone/>
            </a:pPr>
            <a:r>
              <a:rPr lang="en-US" sz="1150" b="1" dirty="0">
                <a:solidFill>
                  <a:srgbClr val="475569"/>
                </a:solidFill>
                <a:latin typeface="Arial" pitchFamily="34" charset="0"/>
                <a:ea typeface="Arial" pitchFamily="34" charset="-122"/>
                <a:cs typeface="Arial" pitchFamily="34" charset="-120"/>
              </a:rPr>
              <a:t>MPONLINE</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HACKATHON</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2026</a:t>
            </a:r>
            <a:endParaRPr lang="en-US" sz="1150" dirty="0"/>
          </a:p>
        </p:txBody>
      </p:sp>
      <p:sp>
        <p:nvSpPr>
          <p:cNvPr id="7" name="box"/>
          <p:cNvSpPr/>
          <p:nvPr/>
        </p:nvSpPr>
        <p:spPr>
          <a:xfrm>
            <a:off x="365760" y="1097280"/>
            <a:ext cx="5852160" cy="2907792"/>
          </a:xfrm>
          <a:prstGeom prst="roundRect">
            <a:avLst>
              <a:gd name="adj" fmla="val 4403"/>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8" name="Text 5"/>
          <p:cNvSpPr txBox="1"/>
          <p:nvPr/>
        </p:nvSpPr>
        <p:spPr>
          <a:xfrm>
            <a:off x="365760" y="1161288"/>
            <a:ext cx="5852160" cy="292608"/>
          </a:xfrm>
          <a:prstGeom prst="rect">
            <a:avLst/>
          </a:prstGeom>
          <a:noFill/>
          <a:ln/>
        </p:spPr>
        <p:txBody>
          <a:bodyPr wrap="square" lIns="0" tIns="0" rIns="0" bIns="0" rtlCol="0" anchor="t"/>
          <a:lstStyle/>
          <a:p>
            <a:pPr algn="ctr" indent="0" marL="0">
              <a:buNone/>
            </a:pPr>
            <a:r>
              <a:rPr lang="en-US" sz="1500" b="1" dirty="0">
                <a:solidFill>
                  <a:srgbClr val="14325C"/>
                </a:solidFill>
                <a:latin typeface="Arial" pitchFamily="34" charset="0"/>
                <a:ea typeface="Arial" pitchFamily="34" charset="-122"/>
                <a:cs typeface="Arial" pitchFamily="34" charset="-120"/>
              </a:rPr>
              <a:t>TODAY vs MEDREACH</a:t>
            </a:r>
            <a:endParaRPr lang="en-US" sz="15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502920" y="1508760"/>
          <a:ext cx="5577840" cy="914400"/>
        </p:xfrm>
        <a:graphic>
          <a:graphicData uri="http://schemas.openxmlformats.org/drawingml/2006/table">
            <a:tbl>
              <a:tblPr/>
              <a:tblGrid>
                <a:gridCol w="2514600"/>
                <a:gridCol w="1097280"/>
                <a:gridCol w="914400"/>
                <a:gridCol w="105156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Capability</a:t>
                      </a:r>
                      <a:endParaRPr lang="en-US" sz="11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432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Calling around</a:t>
                      </a:r>
                      <a:endParaRPr lang="en-US" sz="11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432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Map apps</a:t>
                      </a:r>
                      <a:endParaRPr lang="en-US" sz="11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432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Medreach</a:t>
                      </a:r>
                      <a:endParaRPr lang="en-US" sz="11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2E7D32"/>
                    </a:solidFill>
                  </a:tcPr>
                </a:tc>
              </a:tr>
              <a:tr h="292608">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Specialist &amp; ICU free right now</a:t>
                      </a:r>
                      <a:endParaRPr lang="en-US" sz="11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711C"/>
                          </a:solidFill>
                          <a:latin typeface="Calibri" pitchFamily="34" charset="0"/>
                          <a:ea typeface="Calibri" pitchFamily="34" charset="-122"/>
                          <a:cs typeface="Calibri" pitchFamily="34" charset="-120"/>
                        </a:rPr>
                        <a:t>maybe</a:t>
                      </a:r>
                      <a:endParaRPr lang="en-US" sz="10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6282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EAF5EA"/>
                    </a:solidFill>
                  </a:tcPr>
                </a:tc>
              </a:tr>
              <a:tr h="292608">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Hospital confirms before travel</a:t>
                      </a:r>
                      <a:endParaRPr lang="en-US" sz="11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7F9FC"/>
                    </a:solidFill>
                  </a:tcPr>
                </a:tc>
                <a:tc>
                  <a:txBody>
                    <a:bodyPr/>
                    <a:lstStyle/>
                    <a:p>
                      <a:pPr algn="ctr" indent="0" marL="0">
                        <a:buNone/>
                      </a:pPr>
                      <a:r>
                        <a:rPr lang="en-US" sz="1000" dirty="0">
                          <a:solidFill>
                            <a:srgbClr val="E8711C"/>
                          </a:solidFill>
                          <a:latin typeface="Calibri" pitchFamily="34" charset="0"/>
                          <a:ea typeface="Calibri" pitchFamily="34" charset="-122"/>
                          <a:cs typeface="Calibri" pitchFamily="34" charset="-120"/>
                        </a:rPr>
                        <a:t>sometimes</a:t>
                      </a:r>
                      <a:endParaRPr lang="en-US" sz="10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7F9FC"/>
                    </a:solidFill>
                  </a:tcPr>
                </a:tc>
                <a:tc>
                  <a:txBody>
                    <a:bodyPr/>
                    <a:lstStyle/>
                    <a:p>
                      <a:pPr algn="ctr" indent="0" marL="0">
                        <a:buNone/>
                      </a:pPr>
                      <a:r>
                        <a:rPr lang="en-US" sz="1300" b="1" dirty="0">
                          <a:solidFill>
                            <a:srgbClr val="C6282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7F9FC"/>
                    </a:solidFill>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EAF5EA"/>
                    </a:solidFill>
                  </a:tcPr>
                </a:tc>
              </a:tr>
              <a:tr h="292608">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Speak Hindi, AI understands</a:t>
                      </a:r>
                      <a:endParaRPr lang="en-US" sz="11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6282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EAF5EA"/>
                    </a:solidFill>
                  </a:tcPr>
                </a:tc>
              </a:tr>
              <a:tr h="292608">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108 gets location + hospital</a:t>
                      </a:r>
                      <a:endParaRPr lang="en-US" sz="11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7F9FC"/>
                    </a:solidFill>
                  </a:tcPr>
                </a:tc>
                <a:tc>
                  <a:txBody>
                    <a:bodyPr/>
                    <a:lstStyle/>
                    <a:p>
                      <a:pPr algn="ctr" indent="0" marL="0">
                        <a:buNone/>
                      </a:pPr>
                      <a:r>
                        <a:rPr lang="en-US" sz="1300" b="1" dirty="0">
                          <a:solidFill>
                            <a:srgbClr val="C6282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7F9FC"/>
                    </a:solidFill>
                  </a:tcPr>
                </a:tc>
                <a:tc>
                  <a:txBody>
                    <a:bodyPr/>
                    <a:lstStyle/>
                    <a:p>
                      <a:pPr algn="ctr" indent="0" marL="0">
                        <a:buNone/>
                      </a:pPr>
                      <a:r>
                        <a:rPr lang="en-US" sz="1300" b="1" dirty="0">
                          <a:solidFill>
                            <a:srgbClr val="C6282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7F9FC"/>
                    </a:solidFill>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EAF5EA"/>
                    </a:solidFill>
                  </a:tcPr>
                </a:tc>
              </a:tr>
              <a:tr h="292608">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Works on 2G / SMS / offline</a:t>
                      </a:r>
                      <a:endParaRPr lang="en-US" sz="11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6282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EAF5EA"/>
                    </a:solidFill>
                  </a:tcPr>
                </a:tc>
              </a:tr>
              <a:tr h="292608">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Data owner, 108-min freshness</a:t>
                      </a:r>
                      <a:endParaRPr lang="en-US" sz="11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7F9FC"/>
                    </a:solidFill>
                  </a:tcPr>
                </a:tc>
                <a:tc>
                  <a:txBody>
                    <a:bodyPr/>
                    <a:lstStyle/>
                    <a:p>
                      <a:pPr algn="ctr" indent="0" marL="0">
                        <a:buNone/>
                      </a:pPr>
                      <a:r>
                        <a:rPr lang="en-US" sz="1300" b="1" dirty="0">
                          <a:solidFill>
                            <a:srgbClr val="C6282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7F9FC"/>
                    </a:solidFill>
                  </a:tcPr>
                </a:tc>
                <a:tc>
                  <a:txBody>
                    <a:bodyPr/>
                    <a:lstStyle/>
                    <a:p>
                      <a:pPr algn="ctr" indent="0" marL="0">
                        <a:buNone/>
                      </a:pPr>
                      <a:r>
                        <a:rPr lang="en-US" sz="1300" b="1" dirty="0">
                          <a:solidFill>
                            <a:srgbClr val="C6282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7F9FC"/>
                    </a:solidFill>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EAF5EA"/>
                    </a:solidFill>
                  </a:tcPr>
                </a:tc>
              </a:tr>
              <a:tr h="292608">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Verified users, tamper-proof log</a:t>
                      </a:r>
                      <a:endParaRPr lang="en-US" sz="11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6282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62828"/>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E7D3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EAF5EA"/>
                    </a:solidFill>
                  </a:tcPr>
                </a:tc>
              </a:tr>
            </a:tbl>
          </a:graphicData>
        </a:graphic>
      </p:graphicFrame>
      <p:sp>
        <p:nvSpPr>
          <p:cNvPr id="10" name="box"/>
          <p:cNvSpPr/>
          <p:nvPr/>
        </p:nvSpPr>
        <p:spPr>
          <a:xfrm>
            <a:off x="6400800" y="1097280"/>
            <a:ext cx="5422392" cy="2880360"/>
          </a:xfrm>
          <a:prstGeom prst="roundRect">
            <a:avLst>
              <a:gd name="adj" fmla="val 5714"/>
            </a:avLst>
          </a:prstGeom>
          <a:solidFill>
            <a:srgbClr val="2E7D32"/>
          </a:solidFill>
          <a:ln w="12700">
            <a:solidFill>
              <a:srgbClr val="2E7D32"/>
            </a:solidFill>
            <a:prstDash val="solid"/>
          </a:ln>
          <a:effectLst>
            <a:outerShdw sx="100000" sy="100000" kx="0" ky="0" algn="bl" rotWithShape="0" blurRad="101600" dist="25400" dir="5400000">
              <a:srgbClr val="0F172A">
                <a:alpha val="13000"/>
              </a:srgbClr>
            </a:outerShdw>
          </a:effectLst>
        </p:spPr>
      </p:sp>
      <p:sp>
        <p:nvSpPr>
          <p:cNvPr id="11" name="Text 7"/>
          <p:cNvSpPr txBox="1"/>
          <p:nvPr/>
        </p:nvSpPr>
        <p:spPr>
          <a:xfrm>
            <a:off x="6400800" y="1188720"/>
            <a:ext cx="5422392" cy="384048"/>
          </a:xfrm>
          <a:prstGeom prst="rect">
            <a:avLst/>
          </a:prstGeom>
          <a:noFill/>
          <a:ln/>
        </p:spPr>
        <p:txBody>
          <a:bodyPr wrap="square" lIns="0" tIns="0" rIns="0" bIns="0" rtlCol="0" anchor="t"/>
          <a:lstStyle/>
          <a:p>
            <a:pPr algn="ctr" indent="0" marL="0">
              <a:buNone/>
            </a:pPr>
            <a:r>
              <a:rPr lang="en-US" sz="2000" b="1" dirty="0">
                <a:solidFill>
                  <a:srgbClr val="FFFFFF"/>
                </a:solidFill>
                <a:latin typeface="Arial" pitchFamily="34" charset="0"/>
                <a:ea typeface="Arial" pitchFamily="34" charset="-122"/>
                <a:cs typeface="Arial" pitchFamily="34" charset="-120"/>
              </a:rPr>
              <a:t>KEY INNOVATIONS</a:t>
            </a:r>
            <a:endParaRPr lang="en-US" sz="2000" dirty="0"/>
          </a:p>
        </p:txBody>
      </p:sp>
      <p:sp>
        <p:nvSpPr>
          <p:cNvPr id="12" name="Text 8"/>
          <p:cNvSpPr txBox="1"/>
          <p:nvPr/>
        </p:nvSpPr>
        <p:spPr>
          <a:xfrm>
            <a:off x="6629400" y="1691640"/>
            <a:ext cx="5029200" cy="2240280"/>
          </a:xfrm>
          <a:prstGeom prst="rect">
            <a:avLst/>
          </a:prstGeom>
          <a:noFill/>
          <a:ln/>
        </p:spPr>
        <p:txBody>
          <a:bodyPr wrap="square" lIns="0" tIns="0" rIns="0" bIns="0" rtlCol="0" anchor="t"/>
          <a:lstStyle/>
          <a:p>
            <a:pPr indent="0" marL="0">
              <a:spcAft>
                <a:spcPts val="900"/>
              </a:spcAft>
              <a:buNone/>
            </a:pPr>
            <a:r>
              <a:rPr lang="en-US" sz="1400" dirty="0">
                <a:solidFill>
                  <a:srgbClr val="FFFFFF"/>
                </a:solidFill>
                <a:latin typeface="Calibri" pitchFamily="34" charset="0"/>
                <a:ea typeface="Calibri" pitchFamily="34" charset="-122"/>
                <a:cs typeface="Calibri" pitchFamily="34" charset="-120"/>
              </a:rPr>
              <a:t>✦  Accept before travel: no family leaves without a hospital’s “yes”.</a:t>
            </a:r>
            <a:endParaRPr lang="en-US" sz="1400" dirty="0"/>
          </a:p>
          <a:p>
            <a:pPr indent="0" marL="0">
              <a:spcAft>
                <a:spcPts val="900"/>
              </a:spcAft>
              <a:buNone/>
            </a:pPr>
            <a:r>
              <a:rPr lang="en-US" sz="1400" dirty="0">
                <a:solidFill>
                  <a:srgbClr val="FFFFFF"/>
                </a:solidFill>
                <a:latin typeface="Calibri" pitchFamily="34" charset="0"/>
                <a:ea typeface="Calibri" pitchFamily="34" charset="-122"/>
                <a:cs typeface="Calibri" pitchFamily="34" charset="-120"/>
              </a:rPr>
              <a:t>✦  Explainable match score out of 100 – every part shown.</a:t>
            </a:r>
            <a:endParaRPr lang="en-US" sz="1400" dirty="0"/>
          </a:p>
          <a:p>
            <a:pPr indent="0" marL="0">
              <a:spcAft>
                <a:spcPts val="900"/>
              </a:spcAft>
              <a:buNone/>
            </a:pPr>
            <a:r>
              <a:rPr lang="en-US" sz="1400" dirty="0">
                <a:solidFill>
                  <a:srgbClr val="FFFFFF"/>
                </a:solidFill>
                <a:latin typeface="Calibri" pitchFamily="34" charset="0"/>
                <a:ea typeface="Calibri" pitchFamily="34" charset="-122"/>
                <a:cs typeface="Calibri" pitchFamily="34" charset="-120"/>
              </a:rPr>
              <a:t>✦  108-minute update cycle with a named Data Update Officer.</a:t>
            </a:r>
            <a:endParaRPr lang="en-US" sz="1400" dirty="0"/>
          </a:p>
          <a:p>
            <a:pPr indent="0" marL="0">
              <a:spcAft>
                <a:spcPts val="900"/>
              </a:spcAft>
              <a:buNone/>
            </a:pPr>
            <a:r>
              <a:rPr lang="en-US" sz="1400" dirty="0">
                <a:solidFill>
                  <a:srgbClr val="FFFFFF"/>
                </a:solidFill>
                <a:latin typeface="Calibri" pitchFamily="34" charset="0"/>
                <a:ea typeface="Calibri" pitchFamily="34" charset="-122"/>
                <a:cs typeface="Calibri" pitchFamily="34" charset="-120"/>
              </a:rPr>
              <a:t>✦  Signed 108 hand-off any state’s control room can adopt.</a:t>
            </a:r>
            <a:endParaRPr lang="en-US" sz="1400" dirty="0"/>
          </a:p>
          <a:p>
            <a:pPr indent="0" marL="0">
              <a:spcAft>
                <a:spcPts val="900"/>
              </a:spcAft>
              <a:buNone/>
            </a:pPr>
            <a:r>
              <a:rPr lang="en-US" sz="1400" dirty="0">
                <a:solidFill>
                  <a:srgbClr val="FFFFFF"/>
                </a:solidFill>
                <a:latin typeface="Calibri" pitchFamily="34" charset="0"/>
                <a:ea typeface="Calibri" pitchFamily="34" charset="-122"/>
                <a:cs typeface="Calibri" pitchFamily="34" charset="-120"/>
              </a:rPr>
              <a:t>✦  A whole emergency fits in one SMS (#MR1 code) on 2G.</a:t>
            </a:r>
            <a:endParaRPr lang="en-US" sz="1400" dirty="0"/>
          </a:p>
        </p:txBody>
      </p:sp>
      <p:sp>
        <p:nvSpPr>
          <p:cNvPr id="13" name="flow line"/>
          <p:cNvSpPr/>
          <p:nvPr/>
        </p:nvSpPr>
        <p:spPr>
          <a:xfrm>
            <a:off x="1097280" y="4315968"/>
            <a:ext cx="10058400" cy="0"/>
          </a:xfrm>
          <a:prstGeom prst="line">
            <a:avLst/>
          </a:prstGeom>
          <a:noFill/>
          <a:ln w="19050">
            <a:solidFill>
              <a:srgbClr val="14325C"/>
            </a:solidFill>
            <a:prstDash val="solid"/>
          </a:ln>
        </p:spPr>
      </p:sp>
      <p:sp>
        <p:nvSpPr>
          <p:cNvPr id="14" name="Text 10"/>
          <p:cNvSpPr txBox="1"/>
          <p:nvPr/>
        </p:nvSpPr>
        <p:spPr>
          <a:xfrm>
            <a:off x="685800" y="4114800"/>
            <a:ext cx="2514600" cy="411480"/>
          </a:xfrm>
          <a:prstGeom prst="roundRect">
            <a:avLst>
              <a:gd name="adj" fmla="val 17778"/>
            </a:avLst>
          </a:prstGeom>
          <a:solidFill>
            <a:srgbClr val="1F64B4"/>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VOICE AI</a:t>
            </a:r>
            <a:endParaRPr lang="en-US" sz="1300" dirty="0"/>
          </a:p>
        </p:txBody>
      </p:sp>
      <p:sp>
        <p:nvSpPr>
          <p:cNvPr id="15" name="Text 11"/>
          <p:cNvSpPr txBox="1"/>
          <p:nvPr/>
        </p:nvSpPr>
        <p:spPr>
          <a:xfrm>
            <a:off x="3538728" y="4114800"/>
            <a:ext cx="2514600" cy="411480"/>
          </a:xfrm>
          <a:prstGeom prst="roundRect">
            <a:avLst>
              <a:gd name="adj" fmla="val 17778"/>
            </a:avLst>
          </a:prstGeom>
          <a:solidFill>
            <a:srgbClr val="E8711C"/>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MATCH SCORE</a:t>
            </a:r>
            <a:endParaRPr lang="en-US" sz="1300" dirty="0"/>
          </a:p>
        </p:txBody>
      </p:sp>
      <p:sp>
        <p:nvSpPr>
          <p:cNvPr id="16" name="Text 12"/>
          <p:cNvSpPr txBox="1"/>
          <p:nvPr/>
        </p:nvSpPr>
        <p:spPr>
          <a:xfrm>
            <a:off x="6391656" y="4114800"/>
            <a:ext cx="2514600" cy="411480"/>
          </a:xfrm>
          <a:prstGeom prst="roundRect">
            <a:avLst>
              <a:gd name="adj" fmla="val 17778"/>
            </a:avLst>
          </a:prstGeom>
          <a:solidFill>
            <a:srgbClr val="2E7D32"/>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ACCEPT FIRST</a:t>
            </a:r>
            <a:endParaRPr lang="en-US" sz="1300" dirty="0"/>
          </a:p>
        </p:txBody>
      </p:sp>
      <p:sp>
        <p:nvSpPr>
          <p:cNvPr id="17" name="Text 13"/>
          <p:cNvSpPr txBox="1"/>
          <p:nvPr/>
        </p:nvSpPr>
        <p:spPr>
          <a:xfrm>
            <a:off x="9244584" y="4114800"/>
            <a:ext cx="2514600" cy="411480"/>
          </a:xfrm>
          <a:prstGeom prst="roundRect">
            <a:avLst>
              <a:gd name="adj" fmla="val 17778"/>
            </a:avLst>
          </a:prstGeom>
          <a:solidFill>
            <a:srgbClr val="C62828"/>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108 LINKED</a:t>
            </a:r>
            <a:endParaRPr lang="en-US" sz="1300" dirty="0"/>
          </a:p>
        </p:txBody>
      </p:sp>
      <p:sp>
        <p:nvSpPr>
          <p:cNvPr id="18" name="box"/>
          <p:cNvSpPr/>
          <p:nvPr/>
        </p:nvSpPr>
        <p:spPr>
          <a:xfrm>
            <a:off x="365760" y="4681728"/>
            <a:ext cx="1828800" cy="1901952"/>
          </a:xfrm>
          <a:prstGeom prst="roundRect">
            <a:avLst>
              <a:gd name="adj" fmla="val 5000"/>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pic>
        <p:nvPicPr>
          <p:cNvPr id="19" name="Match score 92/100 screenshot" descr="preencoded.png">    </p:cNvPr>
          <p:cNvPicPr>
            <a:picLocks noChangeAspect="1"/>
          </p:cNvPicPr>
          <p:nvPr/>
        </p:nvPicPr>
        <p:blipFill>
          <a:blip r:embed="rId2"/>
          <a:stretch>
            <a:fillRect/>
          </a:stretch>
        </p:blipFill>
        <p:spPr>
          <a:xfrm>
            <a:off x="429768" y="4745736"/>
            <a:ext cx="1700784" cy="1005840"/>
          </a:xfrm>
          <a:prstGeom prst="rect">
            <a:avLst/>
          </a:prstGeom>
        </p:spPr>
      </p:pic>
      <p:sp>
        <p:nvSpPr>
          <p:cNvPr id="20" name="Text 15"/>
          <p:cNvSpPr txBox="1"/>
          <p:nvPr/>
        </p:nvSpPr>
        <p:spPr>
          <a:xfrm>
            <a:off x="365760" y="5815584"/>
            <a:ext cx="1828800" cy="274320"/>
          </a:xfrm>
          <a:prstGeom prst="rect">
            <a:avLst/>
          </a:prstGeom>
          <a:noFill/>
          <a:ln/>
        </p:spPr>
        <p:txBody>
          <a:bodyPr wrap="square" lIns="0" tIns="0" rIns="0" bIns="0" rtlCol="0" anchor="t"/>
          <a:lstStyle/>
          <a:p>
            <a:pPr algn="ctr" indent="0" marL="0">
              <a:buNone/>
            </a:pPr>
            <a:r>
              <a:rPr lang="en-US" sz="1200" b="1" dirty="0">
                <a:solidFill>
                  <a:srgbClr val="14325C"/>
                </a:solidFill>
                <a:latin typeface="Calibri" pitchFamily="34" charset="0"/>
                <a:ea typeface="Calibri" pitchFamily="34" charset="-122"/>
                <a:cs typeface="Calibri" pitchFamily="34" charset="-120"/>
              </a:rPr>
              <a:t>Match score 92/100</a:t>
            </a:r>
            <a:endParaRPr lang="en-US" sz="1200" dirty="0"/>
          </a:p>
        </p:txBody>
      </p:sp>
      <p:sp>
        <p:nvSpPr>
          <p:cNvPr id="21" name="Text 16"/>
          <p:cNvSpPr txBox="1"/>
          <p:nvPr/>
        </p:nvSpPr>
        <p:spPr>
          <a:xfrm>
            <a:off x="365760" y="6108192"/>
            <a:ext cx="1828800" cy="27432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explainable ranking</a:t>
            </a:r>
            <a:endParaRPr lang="en-US" sz="1050" dirty="0"/>
          </a:p>
        </p:txBody>
      </p:sp>
      <p:sp>
        <p:nvSpPr>
          <p:cNvPr id="22" name="box"/>
          <p:cNvSpPr/>
          <p:nvPr/>
        </p:nvSpPr>
        <p:spPr>
          <a:xfrm>
            <a:off x="2290572" y="4681728"/>
            <a:ext cx="1828800" cy="1901952"/>
          </a:xfrm>
          <a:prstGeom prst="roundRect">
            <a:avLst>
              <a:gd name="adj" fmla="val 5000"/>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pic>
        <p:nvPicPr>
          <p:cNvPr id="23" name="AI pre-arrival note screenshot" descr="preencoded.png">    </p:cNvPr>
          <p:cNvPicPr>
            <a:picLocks noChangeAspect="1"/>
          </p:cNvPicPr>
          <p:nvPr/>
        </p:nvPicPr>
        <p:blipFill>
          <a:blip r:embed="rId3"/>
          <a:stretch>
            <a:fillRect/>
          </a:stretch>
        </p:blipFill>
        <p:spPr>
          <a:xfrm>
            <a:off x="2354580" y="4745736"/>
            <a:ext cx="1700784" cy="1005840"/>
          </a:xfrm>
          <a:prstGeom prst="rect">
            <a:avLst/>
          </a:prstGeom>
        </p:spPr>
      </p:pic>
      <p:sp>
        <p:nvSpPr>
          <p:cNvPr id="24" name="Text 18"/>
          <p:cNvSpPr txBox="1"/>
          <p:nvPr/>
        </p:nvSpPr>
        <p:spPr>
          <a:xfrm>
            <a:off x="2290572" y="5815584"/>
            <a:ext cx="1828800" cy="274320"/>
          </a:xfrm>
          <a:prstGeom prst="rect">
            <a:avLst/>
          </a:prstGeom>
          <a:noFill/>
          <a:ln/>
        </p:spPr>
        <p:txBody>
          <a:bodyPr wrap="square" lIns="0" tIns="0" rIns="0" bIns="0" rtlCol="0" anchor="t"/>
          <a:lstStyle/>
          <a:p>
            <a:pPr algn="ctr" indent="0" marL="0">
              <a:buNone/>
            </a:pPr>
            <a:r>
              <a:rPr lang="en-US" sz="1200" b="1" dirty="0">
                <a:solidFill>
                  <a:srgbClr val="14325C"/>
                </a:solidFill>
                <a:latin typeface="Calibri" pitchFamily="34" charset="0"/>
                <a:ea typeface="Calibri" pitchFamily="34" charset="-122"/>
                <a:cs typeface="Calibri" pitchFamily="34" charset="-120"/>
              </a:rPr>
              <a:t>AI pre-arrival note</a:t>
            </a:r>
            <a:endParaRPr lang="en-US" sz="1200" dirty="0"/>
          </a:p>
        </p:txBody>
      </p:sp>
      <p:sp>
        <p:nvSpPr>
          <p:cNvPr id="25" name="Text 19"/>
          <p:cNvSpPr txBox="1"/>
          <p:nvPr/>
        </p:nvSpPr>
        <p:spPr>
          <a:xfrm>
            <a:off x="2290572" y="6108192"/>
            <a:ext cx="1828800" cy="27432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SBAR reaches the ER first</a:t>
            </a:r>
            <a:endParaRPr lang="en-US" sz="1050" dirty="0"/>
          </a:p>
        </p:txBody>
      </p:sp>
      <p:sp>
        <p:nvSpPr>
          <p:cNvPr id="26" name="box"/>
          <p:cNvSpPr/>
          <p:nvPr/>
        </p:nvSpPr>
        <p:spPr>
          <a:xfrm>
            <a:off x="4215384" y="4681728"/>
            <a:ext cx="1828800" cy="1901952"/>
          </a:xfrm>
          <a:prstGeom prst="roundRect">
            <a:avLst>
              <a:gd name="adj" fmla="val 5000"/>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pic>
        <p:nvPicPr>
          <p:cNvPr id="27" name="108-minute update screenshot" descr="preencoded.png">    </p:cNvPr>
          <p:cNvPicPr>
            <a:picLocks noChangeAspect="1"/>
          </p:cNvPicPr>
          <p:nvPr/>
        </p:nvPicPr>
        <p:blipFill>
          <a:blip r:embed="rId4"/>
          <a:stretch>
            <a:fillRect/>
          </a:stretch>
        </p:blipFill>
        <p:spPr>
          <a:xfrm>
            <a:off x="4279392" y="4745736"/>
            <a:ext cx="1700784" cy="1005840"/>
          </a:xfrm>
          <a:prstGeom prst="rect">
            <a:avLst/>
          </a:prstGeom>
        </p:spPr>
      </p:pic>
      <p:sp>
        <p:nvSpPr>
          <p:cNvPr id="28" name="Text 21"/>
          <p:cNvSpPr txBox="1"/>
          <p:nvPr/>
        </p:nvSpPr>
        <p:spPr>
          <a:xfrm>
            <a:off x="4215384" y="5815584"/>
            <a:ext cx="1828800" cy="274320"/>
          </a:xfrm>
          <a:prstGeom prst="rect">
            <a:avLst/>
          </a:prstGeom>
          <a:noFill/>
          <a:ln/>
        </p:spPr>
        <p:txBody>
          <a:bodyPr wrap="square" lIns="0" tIns="0" rIns="0" bIns="0" rtlCol="0" anchor="t"/>
          <a:lstStyle/>
          <a:p>
            <a:pPr algn="ctr" indent="0" marL="0">
              <a:buNone/>
            </a:pPr>
            <a:r>
              <a:rPr lang="en-US" sz="1200" b="1" dirty="0">
                <a:solidFill>
                  <a:srgbClr val="14325C"/>
                </a:solidFill>
                <a:latin typeface="Calibri" pitchFamily="34" charset="0"/>
                <a:ea typeface="Calibri" pitchFamily="34" charset="-122"/>
                <a:cs typeface="Calibri" pitchFamily="34" charset="-120"/>
              </a:rPr>
              <a:t>108-minute update</a:t>
            </a:r>
            <a:endParaRPr lang="en-US" sz="1200" dirty="0"/>
          </a:p>
        </p:txBody>
      </p:sp>
      <p:sp>
        <p:nvSpPr>
          <p:cNvPr id="29" name="Text 22"/>
          <p:cNvSpPr txBox="1"/>
          <p:nvPr/>
        </p:nvSpPr>
        <p:spPr>
          <a:xfrm>
            <a:off x="4215384" y="6108192"/>
            <a:ext cx="1828800" cy="27432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named Data Update Officer</a:t>
            </a:r>
            <a:endParaRPr lang="en-US" sz="1050" dirty="0"/>
          </a:p>
        </p:txBody>
      </p:sp>
      <p:sp>
        <p:nvSpPr>
          <p:cNvPr id="30" name="box"/>
          <p:cNvSpPr/>
          <p:nvPr/>
        </p:nvSpPr>
        <p:spPr>
          <a:xfrm>
            <a:off x="6140196" y="4681728"/>
            <a:ext cx="1828800" cy="1901952"/>
          </a:xfrm>
          <a:prstGeom prst="roundRect">
            <a:avLst>
              <a:gd name="adj" fmla="val 5000"/>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pic>
        <p:nvPicPr>
          <p:cNvPr id="31" name="108 control room screenshot" descr="preencoded.png">    </p:cNvPr>
          <p:cNvPicPr>
            <a:picLocks noChangeAspect="1"/>
          </p:cNvPicPr>
          <p:nvPr/>
        </p:nvPicPr>
        <p:blipFill>
          <a:blip r:embed="rId5"/>
          <a:stretch>
            <a:fillRect/>
          </a:stretch>
        </p:blipFill>
        <p:spPr>
          <a:xfrm>
            <a:off x="6204204" y="4745736"/>
            <a:ext cx="1700784" cy="1005840"/>
          </a:xfrm>
          <a:prstGeom prst="rect">
            <a:avLst/>
          </a:prstGeom>
        </p:spPr>
      </p:pic>
      <p:sp>
        <p:nvSpPr>
          <p:cNvPr id="32" name="Text 24"/>
          <p:cNvSpPr txBox="1"/>
          <p:nvPr/>
        </p:nvSpPr>
        <p:spPr>
          <a:xfrm>
            <a:off x="6140196" y="5815584"/>
            <a:ext cx="1828800" cy="274320"/>
          </a:xfrm>
          <a:prstGeom prst="rect">
            <a:avLst/>
          </a:prstGeom>
          <a:noFill/>
          <a:ln/>
        </p:spPr>
        <p:txBody>
          <a:bodyPr wrap="square" lIns="0" tIns="0" rIns="0" bIns="0" rtlCol="0" anchor="t"/>
          <a:lstStyle/>
          <a:p>
            <a:pPr algn="ctr" indent="0" marL="0">
              <a:buNone/>
            </a:pPr>
            <a:r>
              <a:rPr lang="en-US" sz="1200" b="1" dirty="0">
                <a:solidFill>
                  <a:srgbClr val="14325C"/>
                </a:solidFill>
                <a:latin typeface="Calibri" pitchFamily="34" charset="0"/>
                <a:ea typeface="Calibri" pitchFamily="34" charset="-122"/>
                <a:cs typeface="Calibri" pitchFamily="34" charset="-120"/>
              </a:rPr>
              <a:t>108 control room</a:t>
            </a:r>
            <a:endParaRPr lang="en-US" sz="1200" dirty="0"/>
          </a:p>
        </p:txBody>
      </p:sp>
      <p:sp>
        <p:nvSpPr>
          <p:cNvPr id="33" name="Text 25"/>
          <p:cNvSpPr txBox="1"/>
          <p:nvPr/>
        </p:nvSpPr>
        <p:spPr>
          <a:xfrm>
            <a:off x="6140196" y="6108192"/>
            <a:ext cx="1828800" cy="27432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live dispatch map</a:t>
            </a:r>
            <a:endParaRPr lang="en-US" sz="1050" dirty="0"/>
          </a:p>
        </p:txBody>
      </p:sp>
      <p:sp>
        <p:nvSpPr>
          <p:cNvPr id="34" name="box"/>
          <p:cNvSpPr/>
          <p:nvPr/>
        </p:nvSpPr>
        <p:spPr>
          <a:xfrm>
            <a:off x="8065008" y="4681728"/>
            <a:ext cx="1828800" cy="1901952"/>
          </a:xfrm>
          <a:prstGeom prst="roundRect">
            <a:avLst>
              <a:gd name="adj" fmla="val 5000"/>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pic>
        <p:nvPicPr>
          <p:cNvPr id="35" name="SMS #MR1 code screenshot" descr="preencoded.png">    </p:cNvPr>
          <p:cNvPicPr>
            <a:picLocks noChangeAspect="1"/>
          </p:cNvPicPr>
          <p:nvPr/>
        </p:nvPicPr>
        <p:blipFill>
          <a:blip r:embed="rId6"/>
          <a:stretch>
            <a:fillRect/>
          </a:stretch>
        </p:blipFill>
        <p:spPr>
          <a:xfrm>
            <a:off x="8129016" y="4745736"/>
            <a:ext cx="1700784" cy="1005840"/>
          </a:xfrm>
          <a:prstGeom prst="rect">
            <a:avLst/>
          </a:prstGeom>
        </p:spPr>
      </p:pic>
      <p:sp>
        <p:nvSpPr>
          <p:cNvPr id="36" name="Text 27"/>
          <p:cNvSpPr txBox="1"/>
          <p:nvPr/>
        </p:nvSpPr>
        <p:spPr>
          <a:xfrm>
            <a:off x="8065008" y="5815584"/>
            <a:ext cx="1828800" cy="274320"/>
          </a:xfrm>
          <a:prstGeom prst="rect">
            <a:avLst/>
          </a:prstGeom>
          <a:noFill/>
          <a:ln/>
        </p:spPr>
        <p:txBody>
          <a:bodyPr wrap="square" lIns="0" tIns="0" rIns="0" bIns="0" rtlCol="0" anchor="t"/>
          <a:lstStyle/>
          <a:p>
            <a:pPr algn="ctr" indent="0" marL="0">
              <a:buNone/>
            </a:pPr>
            <a:r>
              <a:rPr lang="en-US" sz="1200" b="1" dirty="0">
                <a:solidFill>
                  <a:srgbClr val="14325C"/>
                </a:solidFill>
                <a:latin typeface="Calibri" pitchFamily="34" charset="0"/>
                <a:ea typeface="Calibri" pitchFamily="34" charset="-122"/>
                <a:cs typeface="Calibri" pitchFamily="34" charset="-120"/>
              </a:rPr>
              <a:t>SMS #MR1 code</a:t>
            </a:r>
            <a:endParaRPr lang="en-US" sz="1200" dirty="0"/>
          </a:p>
        </p:txBody>
      </p:sp>
      <p:sp>
        <p:nvSpPr>
          <p:cNvPr id="37" name="Text 28"/>
          <p:cNvSpPr txBox="1"/>
          <p:nvPr/>
        </p:nvSpPr>
        <p:spPr>
          <a:xfrm>
            <a:off x="8065008" y="6108192"/>
            <a:ext cx="1828800" cy="27432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works on 2G</a:t>
            </a:r>
            <a:endParaRPr lang="en-US" sz="1050" dirty="0"/>
          </a:p>
        </p:txBody>
      </p:sp>
      <p:sp>
        <p:nvSpPr>
          <p:cNvPr id="38" name="box"/>
          <p:cNvSpPr/>
          <p:nvPr/>
        </p:nvSpPr>
        <p:spPr>
          <a:xfrm>
            <a:off x="9989820" y="4681728"/>
            <a:ext cx="1828800" cy="1901952"/>
          </a:xfrm>
          <a:prstGeom prst="roundRect">
            <a:avLst>
              <a:gd name="adj" fmla="val 5000"/>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pic>
        <p:nvPicPr>
          <p:cNvPr id="39" name="Aadhaar + OTP screenshot" descr="preencoded.png">    </p:cNvPr>
          <p:cNvPicPr>
            <a:picLocks noChangeAspect="1"/>
          </p:cNvPicPr>
          <p:nvPr/>
        </p:nvPicPr>
        <p:blipFill>
          <a:blip r:embed="rId7"/>
          <a:stretch>
            <a:fillRect/>
          </a:stretch>
        </p:blipFill>
        <p:spPr>
          <a:xfrm>
            <a:off x="10053828" y="4745736"/>
            <a:ext cx="1700784" cy="1005840"/>
          </a:xfrm>
          <a:prstGeom prst="rect">
            <a:avLst/>
          </a:prstGeom>
        </p:spPr>
      </p:pic>
      <p:sp>
        <p:nvSpPr>
          <p:cNvPr id="40" name="Text 30"/>
          <p:cNvSpPr txBox="1"/>
          <p:nvPr/>
        </p:nvSpPr>
        <p:spPr>
          <a:xfrm>
            <a:off x="9989820" y="5815584"/>
            <a:ext cx="1828800" cy="274320"/>
          </a:xfrm>
          <a:prstGeom prst="rect">
            <a:avLst/>
          </a:prstGeom>
          <a:noFill/>
          <a:ln/>
        </p:spPr>
        <p:txBody>
          <a:bodyPr wrap="square" lIns="0" tIns="0" rIns="0" bIns="0" rtlCol="0" anchor="t"/>
          <a:lstStyle/>
          <a:p>
            <a:pPr algn="ctr" indent="0" marL="0">
              <a:buNone/>
            </a:pPr>
            <a:r>
              <a:rPr lang="en-US" sz="1200" b="1" dirty="0">
                <a:solidFill>
                  <a:srgbClr val="14325C"/>
                </a:solidFill>
                <a:latin typeface="Calibri" pitchFamily="34" charset="0"/>
                <a:ea typeface="Calibri" pitchFamily="34" charset="-122"/>
                <a:cs typeface="Calibri" pitchFamily="34" charset="-120"/>
              </a:rPr>
              <a:t>Aadhaar + OTP</a:t>
            </a:r>
            <a:endParaRPr lang="en-US" sz="1200" dirty="0"/>
          </a:p>
        </p:txBody>
      </p:sp>
      <p:sp>
        <p:nvSpPr>
          <p:cNvPr id="41" name="Text 31"/>
          <p:cNvSpPr txBox="1"/>
          <p:nvPr/>
        </p:nvSpPr>
        <p:spPr>
          <a:xfrm>
            <a:off x="9989820" y="6108192"/>
            <a:ext cx="1828800" cy="274320"/>
          </a:xfrm>
          <a:prstGeom prst="rect">
            <a:avLst/>
          </a:prstGeom>
          <a:noFill/>
          <a:ln/>
        </p:spPr>
        <p:txBody>
          <a:bodyPr wrap="square" lIns="0" tIns="0" rIns="0" bIns="0" rtlCol="0" anchor="t"/>
          <a:lstStyle/>
          <a:p>
            <a:pPr algn="ctr" indent="0" marL="0">
              <a:buNone/>
            </a:pPr>
            <a:r>
              <a:rPr lang="en-US" sz="1050" dirty="0">
                <a:solidFill>
                  <a:srgbClr val="64748B"/>
                </a:solidFill>
                <a:latin typeface="Calibri" pitchFamily="34" charset="0"/>
                <a:ea typeface="Calibri" pitchFamily="34" charset="-122"/>
                <a:cs typeface="Calibri" pitchFamily="34" charset="-120"/>
              </a:rPr>
              <a:t>one person, one account</a:t>
            </a:r>
            <a:endParaRPr lang="en-US" sz="1050" dirty="0"/>
          </a:p>
        </p:txBody>
      </p:sp>
      <p:sp>
        <p:nvSpPr>
          <p:cNvPr id="25" name="Slide Number Placeholder 0"/>
          <p:cNvSpPr>
            <a:spLocks noGrp="1"/>
          </p:cNvSpPr>
          <p:nvPr>
            <p:ph type="sldNum" sz="quarter" idx="4294967295"/>
          </p:nvPr>
        </p:nvSpPr>
        <p:spPr>
          <a:xfrm>
            <a:off x="11475720" y="651052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am badge"/>
          <p:cNvSpPr/>
          <p:nvPr/>
        </p:nvSpPr>
        <p:spPr>
          <a:xfrm>
            <a:off x="320040" y="201168"/>
            <a:ext cx="1645920" cy="777240"/>
          </a:xfrm>
          <a:prstGeom prst="ellipse">
            <a:avLst/>
          </a:prstGeom>
          <a:solidFill>
            <a:srgbClr val="FFFFFF"/>
          </a:solidFill>
          <a:ln w="19050">
            <a:solidFill>
              <a:srgbClr val="6B46C1"/>
            </a:solidFill>
            <a:prstDash val="solid"/>
          </a:ln>
        </p:spPr>
      </p:sp>
      <p:sp>
        <p:nvSpPr>
          <p:cNvPr id="3" name="Text 1"/>
          <p:cNvSpPr txBox="1"/>
          <p:nvPr/>
        </p:nvSpPr>
        <p:spPr>
          <a:xfrm>
            <a:off x="320040" y="201168"/>
            <a:ext cx="1645920" cy="777240"/>
          </a:xfrm>
          <a:prstGeom prst="rect">
            <a:avLst/>
          </a:prstGeom>
          <a:noFill/>
          <a:ln/>
        </p:spPr>
        <p:txBody>
          <a:bodyPr wrap="square" lIns="0" tIns="0" rIns="0" bIns="0" rtlCol="0" anchor="ctr"/>
          <a:lstStyle/>
          <a:p>
            <a:pPr algn="ctr" indent="0" marL="0">
              <a:buNone/>
            </a:pPr>
            <a:r>
              <a:rPr lang="en-US" sz="1250" dirty="0">
                <a:solidFill>
                  <a:srgbClr val="0F172A"/>
                </a:solidFill>
                <a:latin typeface="Calibri" pitchFamily="34" charset="0"/>
                <a:ea typeface="Calibri" pitchFamily="34" charset="-122"/>
                <a:cs typeface="Calibri" pitchFamily="34" charset="-120"/>
              </a:rPr>
              <a:t>TEAM</a:t>
            </a:r>
            <a:endParaRPr lang="en-US" sz="1250" dirty="0"/>
          </a:p>
          <a:p>
            <a:pPr algn="ctr" indent="0" marL="0">
              <a:buNone/>
            </a:pPr>
            <a:r>
              <a:rPr lang="en-US" sz="1250" dirty="0">
                <a:solidFill>
                  <a:srgbClr val="0F172A"/>
                </a:solidFill>
                <a:latin typeface="Calibri" pitchFamily="34" charset="0"/>
                <a:ea typeface="Calibri" pitchFamily="34" charset="-122"/>
                <a:cs typeface="Calibri" pitchFamily="34" charset="-120"/>
              </a:rPr>
              <a:t>MEDREACH</a:t>
            </a:r>
            <a:endParaRPr lang="en-US" sz="1250" dirty="0"/>
          </a:p>
        </p:txBody>
      </p:sp>
      <p:sp>
        <p:nvSpPr>
          <p:cNvPr id="4" name="Text 0"/>
          <p:cNvSpPr/>
          <p:nvPr>
            <p:ph idx="100" type="title" hasCustomPrompt="1"/>
          </p:nvPr>
        </p:nvSpPr>
        <p:spPr>
          <a:xfrm>
            <a:off x="2148840" y="201168"/>
            <a:ext cx="7863840" cy="777240"/>
          </a:xfrm>
          <a:prstGeom prst="rect">
            <a:avLst/>
          </a:prstGeom>
          <a:noFill/>
          <a:ln/>
        </p:spPr>
        <p:txBody>
          <a:bodyPr wrap="square" lIns="0" tIns="0" rIns="0" bIns="0" rtlCol="0" anchor="ctr"/>
          <a:lstStyle/>
          <a:p>
            <a:pPr algn="ctr" indent="0" marL="0">
              <a:buNone/>
            </a:pPr>
            <a:r>
              <a:rPr lang="en-US" sz="3400" b="1" dirty="0">
                <a:solidFill>
                  <a:schemeClr val="tx1"/>
                </a:solidFill>
              </a:rPr>
              <a:t>IMPACT AND BENEFITS</a:t>
            </a:r>
            <a:endParaRPr lang="en-US" sz="3400" dirty="0"/>
          </a:p>
        </p:txBody>
      </p:sp>
      <p:pic>
        <p:nvPicPr>
          <p:cNvPr id="5" name="Medreach logo" descr="preencoded.png">    </p:cNvPr>
          <p:cNvPicPr>
            <a:picLocks noChangeAspect="1"/>
          </p:cNvPicPr>
          <p:nvPr/>
        </p:nvPicPr>
        <p:blipFill>
          <a:blip r:embed="rId1"/>
          <a:stretch>
            <a:fillRect/>
          </a:stretch>
        </p:blipFill>
        <p:spPr>
          <a:xfrm>
            <a:off x="10195560" y="274320"/>
            <a:ext cx="603504" cy="603504"/>
          </a:xfrm>
          <a:prstGeom prst="rect">
            <a:avLst/>
          </a:prstGeom>
        </p:spPr>
      </p:pic>
      <p:sp>
        <p:nvSpPr>
          <p:cNvPr id="6" name="Text 3"/>
          <p:cNvSpPr txBox="1"/>
          <p:nvPr/>
        </p:nvSpPr>
        <p:spPr>
          <a:xfrm>
            <a:off x="10881360" y="246888"/>
            <a:ext cx="1097280" cy="658368"/>
          </a:xfrm>
          <a:prstGeom prst="rect">
            <a:avLst/>
          </a:prstGeom>
          <a:noFill/>
          <a:ln/>
        </p:spPr>
        <p:txBody>
          <a:bodyPr wrap="square" lIns="0" tIns="0" rIns="0" bIns="0" rtlCol="0" anchor="ctr"/>
          <a:lstStyle/>
          <a:p>
            <a:pPr indent="0" marL="0">
              <a:lnSpc>
                <a:spcPct val="95000"/>
              </a:lnSpc>
              <a:buNone/>
            </a:pPr>
            <a:r>
              <a:rPr lang="en-US" sz="1150" b="1" dirty="0">
                <a:solidFill>
                  <a:srgbClr val="475569"/>
                </a:solidFill>
                <a:latin typeface="Arial" pitchFamily="34" charset="0"/>
                <a:ea typeface="Arial" pitchFamily="34" charset="-122"/>
                <a:cs typeface="Arial" pitchFamily="34" charset="-120"/>
              </a:rPr>
              <a:t>MPONLINE</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HACKATHON</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2026</a:t>
            </a:r>
            <a:endParaRPr lang="en-US" sz="1150" dirty="0"/>
          </a:p>
        </p:txBody>
      </p:sp>
      <p:sp>
        <p:nvSpPr>
          <p:cNvPr id="7" name="box"/>
          <p:cNvSpPr/>
          <p:nvPr/>
        </p:nvSpPr>
        <p:spPr>
          <a:xfrm>
            <a:off x="365760" y="1097280"/>
            <a:ext cx="2743200" cy="1828800"/>
          </a:xfrm>
          <a:prstGeom prst="roundRect">
            <a:avLst>
              <a:gd name="adj" fmla="val 6000"/>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8" name="icon circle"/>
          <p:cNvSpPr/>
          <p:nvPr/>
        </p:nvSpPr>
        <p:spPr>
          <a:xfrm>
            <a:off x="530352" y="1207008"/>
            <a:ext cx="512064" cy="512064"/>
          </a:xfrm>
          <a:prstGeom prst="ellipse">
            <a:avLst/>
          </a:prstGeom>
          <a:solidFill>
            <a:srgbClr val="1F64B4"/>
          </a:solidFill>
          <a:ln w="6350">
            <a:solidFill>
              <a:srgbClr val="1F64B4"/>
            </a:solidFill>
            <a:prstDash val="solid"/>
          </a:ln>
        </p:spPr>
      </p:sp>
      <p:pic>
        <p:nvPicPr>
          <p:cNvPr id="9" name="icon" descr="preencoded.png">    </p:cNvPr>
          <p:cNvPicPr>
            <a:picLocks noChangeAspect="1"/>
          </p:cNvPicPr>
          <p:nvPr/>
        </p:nvPicPr>
        <p:blipFill>
          <a:blip r:embed="rId2"/>
          <a:stretch>
            <a:fillRect/>
          </a:stretch>
        </p:blipFill>
        <p:spPr>
          <a:xfrm>
            <a:off x="643006" y="1319662"/>
            <a:ext cx="286756" cy="286756"/>
          </a:xfrm>
          <a:prstGeom prst="rect">
            <a:avLst/>
          </a:prstGeom>
        </p:spPr>
      </p:pic>
      <p:sp>
        <p:nvSpPr>
          <p:cNvPr id="10" name="Text 6"/>
          <p:cNvSpPr txBox="1"/>
          <p:nvPr/>
        </p:nvSpPr>
        <p:spPr>
          <a:xfrm>
            <a:off x="1152144" y="1207008"/>
            <a:ext cx="1901952" cy="512064"/>
          </a:xfrm>
          <a:prstGeom prst="rect">
            <a:avLst/>
          </a:prstGeom>
          <a:noFill/>
          <a:ln/>
        </p:spPr>
        <p:txBody>
          <a:bodyPr wrap="square" lIns="0" tIns="0" rIns="0" bIns="0" rtlCol="0" anchor="ctr"/>
          <a:lstStyle/>
          <a:p>
            <a:pPr indent="0" marL="0">
              <a:buNone/>
            </a:pPr>
            <a:r>
              <a:rPr lang="en-US" sz="1500" b="1" dirty="0">
                <a:solidFill>
                  <a:srgbClr val="1F64B4"/>
                </a:solidFill>
                <a:latin typeface="Arial" pitchFamily="34" charset="0"/>
                <a:ea typeface="Arial" pitchFamily="34" charset="-122"/>
                <a:cs typeface="Arial" pitchFamily="34" charset="-120"/>
              </a:rPr>
              <a:t>CITIZENS</a:t>
            </a:r>
            <a:endParaRPr lang="en-US" sz="1500" dirty="0"/>
          </a:p>
        </p:txBody>
      </p:sp>
      <p:sp>
        <p:nvSpPr>
          <p:cNvPr id="11" name="Text 7"/>
          <p:cNvSpPr txBox="1"/>
          <p:nvPr/>
        </p:nvSpPr>
        <p:spPr>
          <a:xfrm>
            <a:off x="566928" y="1847088"/>
            <a:ext cx="2468880" cy="1024128"/>
          </a:xfrm>
          <a:prstGeom prst="rect">
            <a:avLst/>
          </a:prstGeom>
          <a:noFill/>
          <a:ln/>
        </p:spPr>
        <p:txBody>
          <a:bodyPr wrap="square" lIns="0" tIns="0" rIns="0" bIns="0" rtlCol="0" anchor="t"/>
          <a:lstStyle/>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Right hospital the first time</a:t>
            </a:r>
            <a:endParaRPr lang="en-US" sz="1250" dirty="0"/>
          </a:p>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Speak – no forms in panic</a:t>
            </a:r>
            <a:endParaRPr lang="en-US" sz="1250" dirty="0"/>
          </a:p>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Track the ambulance live</a:t>
            </a:r>
            <a:endParaRPr lang="en-US" sz="1250" dirty="0"/>
          </a:p>
        </p:txBody>
      </p:sp>
      <p:sp>
        <p:nvSpPr>
          <p:cNvPr id="12" name="box"/>
          <p:cNvSpPr/>
          <p:nvPr/>
        </p:nvSpPr>
        <p:spPr>
          <a:xfrm>
            <a:off x="3270809" y="1097280"/>
            <a:ext cx="2743200" cy="1828800"/>
          </a:xfrm>
          <a:prstGeom prst="roundRect">
            <a:avLst>
              <a:gd name="adj" fmla="val 6000"/>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13" name="icon circle"/>
          <p:cNvSpPr/>
          <p:nvPr/>
        </p:nvSpPr>
        <p:spPr>
          <a:xfrm>
            <a:off x="3435401" y="1207008"/>
            <a:ext cx="512064" cy="512064"/>
          </a:xfrm>
          <a:prstGeom prst="ellipse">
            <a:avLst/>
          </a:prstGeom>
          <a:solidFill>
            <a:srgbClr val="0F8B8D"/>
          </a:solidFill>
          <a:ln w="6350">
            <a:solidFill>
              <a:srgbClr val="0F8B8D"/>
            </a:solidFill>
            <a:prstDash val="solid"/>
          </a:ln>
        </p:spPr>
      </p:sp>
      <p:pic>
        <p:nvPicPr>
          <p:cNvPr id="14" name="icon" descr="preencoded.png">    </p:cNvPr>
          <p:cNvPicPr>
            <a:picLocks noChangeAspect="1"/>
          </p:cNvPicPr>
          <p:nvPr/>
        </p:nvPicPr>
        <p:blipFill>
          <a:blip r:embed="rId3"/>
          <a:stretch>
            <a:fillRect/>
          </a:stretch>
        </p:blipFill>
        <p:spPr>
          <a:xfrm>
            <a:off x="3548055" y="1319662"/>
            <a:ext cx="286756" cy="286756"/>
          </a:xfrm>
          <a:prstGeom prst="rect">
            <a:avLst/>
          </a:prstGeom>
        </p:spPr>
      </p:pic>
      <p:sp>
        <p:nvSpPr>
          <p:cNvPr id="15" name="Text 10"/>
          <p:cNvSpPr txBox="1"/>
          <p:nvPr/>
        </p:nvSpPr>
        <p:spPr>
          <a:xfrm>
            <a:off x="4057193" y="1207008"/>
            <a:ext cx="1901952" cy="512064"/>
          </a:xfrm>
          <a:prstGeom prst="rect">
            <a:avLst/>
          </a:prstGeom>
          <a:noFill/>
          <a:ln/>
        </p:spPr>
        <p:txBody>
          <a:bodyPr wrap="square" lIns="0" tIns="0" rIns="0" bIns="0" rtlCol="0" anchor="ctr"/>
          <a:lstStyle/>
          <a:p>
            <a:pPr indent="0" marL="0">
              <a:buNone/>
            </a:pPr>
            <a:r>
              <a:rPr lang="en-US" sz="1500" b="1" dirty="0">
                <a:solidFill>
                  <a:srgbClr val="0F8B8D"/>
                </a:solidFill>
                <a:latin typeface="Arial" pitchFamily="34" charset="0"/>
                <a:ea typeface="Arial" pitchFamily="34" charset="-122"/>
                <a:cs typeface="Arial" pitchFamily="34" charset="-120"/>
              </a:rPr>
              <a:t>HOSPITALS</a:t>
            </a:r>
            <a:endParaRPr lang="en-US" sz="1500" dirty="0"/>
          </a:p>
        </p:txBody>
      </p:sp>
      <p:sp>
        <p:nvSpPr>
          <p:cNvPr id="16" name="Text 11"/>
          <p:cNvSpPr txBox="1"/>
          <p:nvPr/>
        </p:nvSpPr>
        <p:spPr>
          <a:xfrm>
            <a:off x="3471977" y="1847088"/>
            <a:ext cx="2468880" cy="1024128"/>
          </a:xfrm>
          <a:prstGeom prst="rect">
            <a:avLst/>
          </a:prstGeom>
          <a:noFill/>
          <a:ln/>
        </p:spPr>
        <p:txBody>
          <a:bodyPr wrap="square" lIns="0" tIns="0" rIns="0" bIns="0" rtlCol="0" anchor="t"/>
          <a:lstStyle/>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Patients arrive announced</a:t>
            </a:r>
            <a:endParaRPr lang="en-US" sz="1250" dirty="0"/>
          </a:p>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Bay ready, SBAR note first</a:t>
            </a:r>
            <a:endParaRPr lang="en-US" sz="1250" dirty="0"/>
          </a:p>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Fewer unsuitable walk-ins</a:t>
            </a:r>
            <a:endParaRPr lang="en-US" sz="1250" dirty="0"/>
          </a:p>
        </p:txBody>
      </p:sp>
      <p:sp>
        <p:nvSpPr>
          <p:cNvPr id="17" name="box"/>
          <p:cNvSpPr/>
          <p:nvPr/>
        </p:nvSpPr>
        <p:spPr>
          <a:xfrm>
            <a:off x="6175858" y="1097280"/>
            <a:ext cx="2743200" cy="1828800"/>
          </a:xfrm>
          <a:prstGeom prst="roundRect">
            <a:avLst>
              <a:gd name="adj" fmla="val 6000"/>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18" name="icon circle"/>
          <p:cNvSpPr/>
          <p:nvPr/>
        </p:nvSpPr>
        <p:spPr>
          <a:xfrm>
            <a:off x="6340450" y="1207008"/>
            <a:ext cx="512064" cy="512064"/>
          </a:xfrm>
          <a:prstGeom prst="ellipse">
            <a:avLst/>
          </a:prstGeom>
          <a:solidFill>
            <a:srgbClr val="E8711C"/>
          </a:solidFill>
          <a:ln w="6350">
            <a:solidFill>
              <a:srgbClr val="E8711C"/>
            </a:solidFill>
            <a:prstDash val="solid"/>
          </a:ln>
        </p:spPr>
      </p:sp>
      <p:pic>
        <p:nvPicPr>
          <p:cNvPr id="19" name="icon" descr="preencoded.png">    </p:cNvPr>
          <p:cNvPicPr>
            <a:picLocks noChangeAspect="1"/>
          </p:cNvPicPr>
          <p:nvPr/>
        </p:nvPicPr>
        <p:blipFill>
          <a:blip r:embed="rId4"/>
          <a:stretch>
            <a:fillRect/>
          </a:stretch>
        </p:blipFill>
        <p:spPr>
          <a:xfrm>
            <a:off x="6453104" y="1319662"/>
            <a:ext cx="286756" cy="286756"/>
          </a:xfrm>
          <a:prstGeom prst="rect">
            <a:avLst/>
          </a:prstGeom>
        </p:spPr>
      </p:pic>
      <p:sp>
        <p:nvSpPr>
          <p:cNvPr id="20" name="Text 14"/>
          <p:cNvSpPr txBox="1"/>
          <p:nvPr/>
        </p:nvSpPr>
        <p:spPr>
          <a:xfrm>
            <a:off x="6962242" y="1207008"/>
            <a:ext cx="1901952" cy="512064"/>
          </a:xfrm>
          <a:prstGeom prst="rect">
            <a:avLst/>
          </a:prstGeom>
          <a:noFill/>
          <a:ln/>
        </p:spPr>
        <p:txBody>
          <a:bodyPr wrap="square" lIns="0" tIns="0" rIns="0" bIns="0" rtlCol="0" anchor="ctr"/>
          <a:lstStyle/>
          <a:p>
            <a:pPr indent="0" marL="0">
              <a:buNone/>
            </a:pPr>
            <a:r>
              <a:rPr lang="en-US" sz="1500" b="1" dirty="0">
                <a:solidFill>
                  <a:srgbClr val="E8711C"/>
                </a:solidFill>
                <a:latin typeface="Arial" pitchFamily="34" charset="0"/>
                <a:ea typeface="Arial" pitchFamily="34" charset="-122"/>
                <a:cs typeface="Arial" pitchFamily="34" charset="-120"/>
              </a:rPr>
              <a:t>108 &amp; GOVT.</a:t>
            </a:r>
            <a:endParaRPr lang="en-US" sz="1500" dirty="0"/>
          </a:p>
        </p:txBody>
      </p:sp>
      <p:sp>
        <p:nvSpPr>
          <p:cNvPr id="21" name="Text 15"/>
          <p:cNvSpPr txBox="1"/>
          <p:nvPr/>
        </p:nvSpPr>
        <p:spPr>
          <a:xfrm>
            <a:off x="6377026" y="1847088"/>
            <a:ext cx="2468880" cy="1024128"/>
          </a:xfrm>
          <a:prstGeom prst="rect">
            <a:avLst/>
          </a:prstGeom>
          <a:noFill/>
          <a:ln/>
        </p:spPr>
        <p:txBody>
          <a:bodyPr wrap="square" lIns="0" tIns="0" rIns="0" bIns="0" rtlCol="0" anchor="t"/>
          <a:lstStyle/>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Complete incident, no re-asking</a:t>
            </a:r>
            <a:endParaRPr lang="en-US" sz="1250" dirty="0"/>
          </a:p>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Live capacity map of MP</a:t>
            </a:r>
            <a:endParaRPr lang="en-US" sz="1250" dirty="0"/>
          </a:p>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A data owner for every hospital</a:t>
            </a:r>
            <a:endParaRPr lang="en-US" sz="1250" dirty="0"/>
          </a:p>
        </p:txBody>
      </p:sp>
      <p:sp>
        <p:nvSpPr>
          <p:cNvPr id="22" name="box"/>
          <p:cNvSpPr/>
          <p:nvPr/>
        </p:nvSpPr>
        <p:spPr>
          <a:xfrm>
            <a:off x="9080906" y="1097280"/>
            <a:ext cx="2743200" cy="1828800"/>
          </a:xfrm>
          <a:prstGeom prst="roundRect">
            <a:avLst>
              <a:gd name="adj" fmla="val 6000"/>
            </a:avLst>
          </a:prstGeom>
          <a:solidFill>
            <a:srgbClr val="FFFFFF"/>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23" name="icon circle"/>
          <p:cNvSpPr/>
          <p:nvPr/>
        </p:nvSpPr>
        <p:spPr>
          <a:xfrm>
            <a:off x="9245498" y="1207008"/>
            <a:ext cx="512064" cy="512064"/>
          </a:xfrm>
          <a:prstGeom prst="ellipse">
            <a:avLst/>
          </a:prstGeom>
          <a:solidFill>
            <a:srgbClr val="2E7D32"/>
          </a:solidFill>
          <a:ln w="6350">
            <a:solidFill>
              <a:srgbClr val="2E7D32"/>
            </a:solidFill>
            <a:prstDash val="solid"/>
          </a:ln>
        </p:spPr>
      </p:sp>
      <p:pic>
        <p:nvPicPr>
          <p:cNvPr id="24" name="icon" descr="preencoded.png">    </p:cNvPr>
          <p:cNvPicPr>
            <a:picLocks noChangeAspect="1"/>
          </p:cNvPicPr>
          <p:nvPr/>
        </p:nvPicPr>
        <p:blipFill>
          <a:blip r:embed="rId5"/>
          <a:stretch>
            <a:fillRect/>
          </a:stretch>
        </p:blipFill>
        <p:spPr>
          <a:xfrm>
            <a:off x="9358152" y="1319662"/>
            <a:ext cx="286756" cy="286756"/>
          </a:xfrm>
          <a:prstGeom prst="rect">
            <a:avLst/>
          </a:prstGeom>
        </p:spPr>
      </p:pic>
      <p:sp>
        <p:nvSpPr>
          <p:cNvPr id="25" name="Text 18"/>
          <p:cNvSpPr txBox="1"/>
          <p:nvPr/>
        </p:nvSpPr>
        <p:spPr>
          <a:xfrm>
            <a:off x="9867290" y="1207008"/>
            <a:ext cx="1901952" cy="512064"/>
          </a:xfrm>
          <a:prstGeom prst="rect">
            <a:avLst/>
          </a:prstGeom>
          <a:noFill/>
          <a:ln/>
        </p:spPr>
        <p:txBody>
          <a:bodyPr wrap="square" lIns="0" tIns="0" rIns="0" bIns="0" rtlCol="0" anchor="ctr"/>
          <a:lstStyle/>
          <a:p>
            <a:pPr indent="0" marL="0">
              <a:buNone/>
            </a:pPr>
            <a:r>
              <a:rPr lang="en-US" sz="1500" b="1" dirty="0">
                <a:solidFill>
                  <a:srgbClr val="2E7D32"/>
                </a:solidFill>
                <a:latin typeface="Arial" pitchFamily="34" charset="0"/>
                <a:ea typeface="Arial" pitchFamily="34" charset="-122"/>
                <a:cs typeface="Arial" pitchFamily="34" charset="-120"/>
              </a:rPr>
              <a:t>RURAL MP</a:t>
            </a:r>
            <a:endParaRPr lang="en-US" sz="1500" dirty="0"/>
          </a:p>
        </p:txBody>
      </p:sp>
      <p:sp>
        <p:nvSpPr>
          <p:cNvPr id="26" name="Text 19"/>
          <p:cNvSpPr txBox="1"/>
          <p:nvPr/>
        </p:nvSpPr>
        <p:spPr>
          <a:xfrm>
            <a:off x="9282074" y="1847088"/>
            <a:ext cx="2468880" cy="1024128"/>
          </a:xfrm>
          <a:prstGeom prst="rect">
            <a:avLst/>
          </a:prstGeom>
          <a:noFill/>
          <a:ln/>
        </p:spPr>
        <p:txBody>
          <a:bodyPr wrap="square" lIns="0" tIns="0" rIns="0" bIns="0" rtlCol="0" anchor="t"/>
          <a:lstStyle/>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Works on 2G, SMS and offline</a:t>
            </a:r>
            <a:endParaRPr lang="en-US" sz="1250" dirty="0"/>
          </a:p>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102 Janani Express for mothers</a:t>
            </a:r>
            <a:endParaRPr lang="en-US" sz="1250" dirty="0"/>
          </a:p>
          <a:p>
            <a:pPr indent="0" marL="0">
              <a:spcAft>
                <a:spcPts val="400"/>
              </a:spcAft>
              <a:buNone/>
            </a:pPr>
            <a:r>
              <a:rPr lang="en-US" sz="1250" b="1" dirty="0">
                <a:solidFill>
                  <a:srgbClr val="0F172A"/>
                </a:solidFill>
                <a:latin typeface="Calibri" pitchFamily="34" charset="0"/>
                <a:ea typeface="Calibri" pitchFamily="34" charset="-122"/>
                <a:cs typeface="Calibri" pitchFamily="34" charset="-120"/>
              </a:rPr>
              <a:t>ASHA workers can report</a:t>
            </a:r>
            <a:endParaRPr lang="en-US" sz="1250" dirty="0"/>
          </a:p>
        </p:txBody>
      </p:sp>
      <p:sp>
        <p:nvSpPr>
          <p:cNvPr id="27" name="box"/>
          <p:cNvSpPr/>
          <p:nvPr/>
        </p:nvSpPr>
        <p:spPr>
          <a:xfrm>
            <a:off x="365760" y="3090672"/>
            <a:ext cx="11457432" cy="2395728"/>
          </a:xfrm>
          <a:prstGeom prst="roundRect">
            <a:avLst>
              <a:gd name="adj" fmla="val 4580"/>
            </a:avLst>
          </a:prstGeom>
          <a:solidFill>
            <a:srgbClr val="F3F1FB"/>
          </a:solidFill>
          <a:ln w="12700">
            <a:solidFill>
              <a:srgbClr val="D6CBF2"/>
            </a:solidFill>
            <a:prstDash val="solid"/>
          </a:ln>
        </p:spPr>
      </p:sp>
      <p:sp>
        <p:nvSpPr>
          <p:cNvPr id="28" name="Text 21"/>
          <p:cNvSpPr txBox="1"/>
          <p:nvPr/>
        </p:nvSpPr>
        <p:spPr>
          <a:xfrm>
            <a:off x="365760" y="3154680"/>
            <a:ext cx="11457432" cy="329184"/>
          </a:xfrm>
          <a:prstGeom prst="rect">
            <a:avLst/>
          </a:prstGeom>
          <a:noFill/>
          <a:ln/>
        </p:spPr>
        <p:txBody>
          <a:bodyPr wrap="square" lIns="0" tIns="0" rIns="0" bIns="0" rtlCol="0" anchor="ctr"/>
          <a:lstStyle/>
          <a:p>
            <a:pPr algn="ctr" indent="0" marL="0">
              <a:buNone/>
            </a:pPr>
            <a:r>
              <a:rPr lang="en-US" sz="1500" b="1" dirty="0">
                <a:solidFill>
                  <a:srgbClr val="14325C"/>
                </a:solidFill>
                <a:latin typeface="Arial" pitchFamily="34" charset="0"/>
                <a:ea typeface="Arial" pitchFamily="34" charset="-122"/>
                <a:cs typeface="Arial" pitchFamily="34" charset="-120"/>
              </a:rPr>
              <a:t>✦  KEY BENEFITS OF CONNECTED EMERGENCY CARE  ✦</a:t>
            </a:r>
            <a:endParaRPr lang="en-US" sz="1500" dirty="0"/>
          </a:p>
        </p:txBody>
      </p:sp>
      <p:sp>
        <p:nvSpPr>
          <p:cNvPr id="29" name="box"/>
          <p:cNvSpPr/>
          <p:nvPr/>
        </p:nvSpPr>
        <p:spPr>
          <a:xfrm>
            <a:off x="502920" y="3547872"/>
            <a:ext cx="2651760" cy="1828800"/>
          </a:xfrm>
          <a:prstGeom prst="roundRect">
            <a:avLst>
              <a:gd name="adj" fmla="val 4000"/>
            </a:avLst>
          </a:prstGeom>
          <a:solidFill>
            <a:srgbClr val="EAF2FB"/>
          </a:solidFill>
          <a:ln w="12700">
            <a:solidFill>
              <a:srgbClr val="BFD5F0"/>
            </a:solidFill>
            <a:prstDash val="solid"/>
          </a:ln>
        </p:spPr>
      </p:sp>
      <p:sp>
        <p:nvSpPr>
          <p:cNvPr id="30" name="icon circle"/>
          <p:cNvSpPr/>
          <p:nvPr/>
        </p:nvSpPr>
        <p:spPr>
          <a:xfrm>
            <a:off x="612648" y="3639312"/>
            <a:ext cx="365760" cy="365760"/>
          </a:xfrm>
          <a:prstGeom prst="ellipse">
            <a:avLst/>
          </a:prstGeom>
          <a:solidFill>
            <a:srgbClr val="1F64B4"/>
          </a:solidFill>
          <a:ln w="6350">
            <a:solidFill>
              <a:srgbClr val="1F64B4"/>
            </a:solidFill>
            <a:prstDash val="solid"/>
          </a:ln>
        </p:spPr>
      </p:sp>
      <p:pic>
        <p:nvPicPr>
          <p:cNvPr id="31" name="icon" descr="preencoded.png">    </p:cNvPr>
          <p:cNvPicPr>
            <a:picLocks noChangeAspect="1"/>
          </p:cNvPicPr>
          <p:nvPr/>
        </p:nvPicPr>
        <p:blipFill>
          <a:blip r:embed="rId6"/>
          <a:stretch>
            <a:fillRect/>
          </a:stretch>
        </p:blipFill>
        <p:spPr>
          <a:xfrm>
            <a:off x="693115" y="3719779"/>
            <a:ext cx="204826" cy="204826"/>
          </a:xfrm>
          <a:prstGeom prst="rect">
            <a:avLst/>
          </a:prstGeom>
        </p:spPr>
      </p:pic>
      <p:sp>
        <p:nvSpPr>
          <p:cNvPr id="32" name="Text 24"/>
          <p:cNvSpPr txBox="1"/>
          <p:nvPr/>
        </p:nvSpPr>
        <p:spPr>
          <a:xfrm>
            <a:off x="1051560" y="3639312"/>
            <a:ext cx="2057400" cy="36576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FASTER DECISIONS</a:t>
            </a:r>
            <a:endParaRPr lang="en-US" sz="1300" dirty="0"/>
          </a:p>
        </p:txBody>
      </p:sp>
      <p:sp>
        <p:nvSpPr>
          <p:cNvPr id="33" name="flow arrow"/>
          <p:cNvSpPr/>
          <p:nvPr/>
        </p:nvSpPr>
        <p:spPr>
          <a:xfrm>
            <a:off x="3182112" y="4370832"/>
            <a:ext cx="109728" cy="201168"/>
          </a:xfrm>
          <a:prstGeom prst="chevron">
            <a:avLst/>
          </a:prstGeom>
          <a:solidFill>
            <a:srgbClr val="E8711C"/>
          </a:solidFill>
          <a:ln w="6350">
            <a:solidFill>
              <a:srgbClr val="E8711C"/>
            </a:solidFill>
            <a:prstDash val="solid"/>
          </a:ln>
        </p:spPr>
      </p:sp>
      <p:sp>
        <p:nvSpPr>
          <p:cNvPr id="34" name="box"/>
          <p:cNvSpPr/>
          <p:nvPr/>
        </p:nvSpPr>
        <p:spPr>
          <a:xfrm>
            <a:off x="3337560" y="3547872"/>
            <a:ext cx="2651760" cy="1828800"/>
          </a:xfrm>
          <a:prstGeom prst="roundRect">
            <a:avLst>
              <a:gd name="adj" fmla="val 4000"/>
            </a:avLst>
          </a:prstGeom>
          <a:solidFill>
            <a:srgbClr val="EAF5EA"/>
          </a:solidFill>
          <a:ln w="12700">
            <a:solidFill>
              <a:srgbClr val="BFE0C1"/>
            </a:solidFill>
            <a:prstDash val="solid"/>
          </a:ln>
        </p:spPr>
      </p:sp>
      <p:sp>
        <p:nvSpPr>
          <p:cNvPr id="35" name="icon circle"/>
          <p:cNvSpPr/>
          <p:nvPr/>
        </p:nvSpPr>
        <p:spPr>
          <a:xfrm>
            <a:off x="3447288" y="3639312"/>
            <a:ext cx="365760" cy="365760"/>
          </a:xfrm>
          <a:prstGeom prst="ellipse">
            <a:avLst/>
          </a:prstGeom>
          <a:solidFill>
            <a:srgbClr val="2E7D32"/>
          </a:solidFill>
          <a:ln w="6350">
            <a:solidFill>
              <a:srgbClr val="2E7D32"/>
            </a:solidFill>
            <a:prstDash val="solid"/>
          </a:ln>
        </p:spPr>
      </p:sp>
      <p:pic>
        <p:nvPicPr>
          <p:cNvPr id="36" name="icon" descr="preencoded.png">    </p:cNvPr>
          <p:cNvPicPr>
            <a:picLocks noChangeAspect="1"/>
          </p:cNvPicPr>
          <p:nvPr/>
        </p:nvPicPr>
        <p:blipFill>
          <a:blip r:embed="rId7"/>
          <a:stretch>
            <a:fillRect/>
          </a:stretch>
        </p:blipFill>
        <p:spPr>
          <a:xfrm>
            <a:off x="3527755" y="3719779"/>
            <a:ext cx="204826" cy="204826"/>
          </a:xfrm>
          <a:prstGeom prst="rect">
            <a:avLst/>
          </a:prstGeom>
        </p:spPr>
      </p:pic>
      <p:sp>
        <p:nvSpPr>
          <p:cNvPr id="37" name="Text 28"/>
          <p:cNvSpPr txBox="1"/>
          <p:nvPr/>
        </p:nvSpPr>
        <p:spPr>
          <a:xfrm>
            <a:off x="3886200" y="3639312"/>
            <a:ext cx="2057400" cy="36576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RIGHT HOSPITAL</a:t>
            </a:r>
            <a:endParaRPr lang="en-US" sz="1300" dirty="0"/>
          </a:p>
        </p:txBody>
      </p:sp>
      <p:sp>
        <p:nvSpPr>
          <p:cNvPr id="38" name="flow arrow"/>
          <p:cNvSpPr/>
          <p:nvPr/>
        </p:nvSpPr>
        <p:spPr>
          <a:xfrm>
            <a:off x="6016752" y="4370832"/>
            <a:ext cx="109728" cy="201168"/>
          </a:xfrm>
          <a:prstGeom prst="chevron">
            <a:avLst/>
          </a:prstGeom>
          <a:solidFill>
            <a:srgbClr val="E8711C"/>
          </a:solidFill>
          <a:ln w="6350">
            <a:solidFill>
              <a:srgbClr val="E8711C"/>
            </a:solidFill>
            <a:prstDash val="solid"/>
          </a:ln>
        </p:spPr>
      </p:sp>
      <p:sp>
        <p:nvSpPr>
          <p:cNvPr id="39" name="box"/>
          <p:cNvSpPr/>
          <p:nvPr/>
        </p:nvSpPr>
        <p:spPr>
          <a:xfrm>
            <a:off x="6172200" y="3547872"/>
            <a:ext cx="2651760" cy="1828800"/>
          </a:xfrm>
          <a:prstGeom prst="roundRect">
            <a:avLst>
              <a:gd name="adj" fmla="val 4000"/>
            </a:avLst>
          </a:prstGeom>
          <a:solidFill>
            <a:srgbClr val="FFF1E6"/>
          </a:solidFill>
          <a:ln w="12700">
            <a:solidFill>
              <a:srgbClr val="F8CFAE"/>
            </a:solidFill>
            <a:prstDash val="solid"/>
          </a:ln>
        </p:spPr>
      </p:sp>
      <p:sp>
        <p:nvSpPr>
          <p:cNvPr id="40" name="icon circle"/>
          <p:cNvSpPr/>
          <p:nvPr/>
        </p:nvSpPr>
        <p:spPr>
          <a:xfrm>
            <a:off x="6281928" y="3639312"/>
            <a:ext cx="365760" cy="365760"/>
          </a:xfrm>
          <a:prstGeom prst="ellipse">
            <a:avLst/>
          </a:prstGeom>
          <a:solidFill>
            <a:srgbClr val="E8711C"/>
          </a:solidFill>
          <a:ln w="6350">
            <a:solidFill>
              <a:srgbClr val="E8711C"/>
            </a:solidFill>
            <a:prstDash val="solid"/>
          </a:ln>
        </p:spPr>
      </p:sp>
      <p:pic>
        <p:nvPicPr>
          <p:cNvPr id="41" name="icon" descr="preencoded.png">    </p:cNvPr>
          <p:cNvPicPr>
            <a:picLocks noChangeAspect="1"/>
          </p:cNvPicPr>
          <p:nvPr/>
        </p:nvPicPr>
        <p:blipFill>
          <a:blip r:embed="rId8"/>
          <a:stretch>
            <a:fillRect/>
          </a:stretch>
        </p:blipFill>
        <p:spPr>
          <a:xfrm>
            <a:off x="6362395" y="3719779"/>
            <a:ext cx="204826" cy="204826"/>
          </a:xfrm>
          <a:prstGeom prst="rect">
            <a:avLst/>
          </a:prstGeom>
        </p:spPr>
      </p:pic>
      <p:sp>
        <p:nvSpPr>
          <p:cNvPr id="42" name="Text 32"/>
          <p:cNvSpPr txBox="1"/>
          <p:nvPr/>
        </p:nvSpPr>
        <p:spPr>
          <a:xfrm>
            <a:off x="6720840" y="3639312"/>
            <a:ext cx="2057400" cy="36576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LOW COST</a:t>
            </a:r>
            <a:endParaRPr lang="en-US" sz="1300" dirty="0"/>
          </a:p>
        </p:txBody>
      </p:sp>
      <p:sp>
        <p:nvSpPr>
          <p:cNvPr id="43" name="flow arrow"/>
          <p:cNvSpPr/>
          <p:nvPr/>
        </p:nvSpPr>
        <p:spPr>
          <a:xfrm>
            <a:off x="8851392" y="4370832"/>
            <a:ext cx="109728" cy="201168"/>
          </a:xfrm>
          <a:prstGeom prst="chevron">
            <a:avLst/>
          </a:prstGeom>
          <a:solidFill>
            <a:srgbClr val="E8711C"/>
          </a:solidFill>
          <a:ln w="6350">
            <a:solidFill>
              <a:srgbClr val="E8711C"/>
            </a:solidFill>
            <a:prstDash val="solid"/>
          </a:ln>
        </p:spPr>
      </p:sp>
      <p:sp>
        <p:nvSpPr>
          <p:cNvPr id="44" name="box"/>
          <p:cNvSpPr/>
          <p:nvPr/>
        </p:nvSpPr>
        <p:spPr>
          <a:xfrm>
            <a:off x="9006840" y="3547872"/>
            <a:ext cx="2651760" cy="1828800"/>
          </a:xfrm>
          <a:prstGeom prst="roundRect">
            <a:avLst>
              <a:gd name="adj" fmla="val 4000"/>
            </a:avLst>
          </a:prstGeom>
          <a:solidFill>
            <a:srgbClr val="F1ECFB"/>
          </a:solidFill>
          <a:ln w="12700">
            <a:solidFill>
              <a:srgbClr val="D6CBF2"/>
            </a:solidFill>
            <a:prstDash val="solid"/>
          </a:ln>
        </p:spPr>
      </p:sp>
      <p:sp>
        <p:nvSpPr>
          <p:cNvPr id="45" name="icon circle"/>
          <p:cNvSpPr/>
          <p:nvPr/>
        </p:nvSpPr>
        <p:spPr>
          <a:xfrm>
            <a:off x="9116568" y="3639312"/>
            <a:ext cx="365760" cy="365760"/>
          </a:xfrm>
          <a:prstGeom prst="ellipse">
            <a:avLst/>
          </a:prstGeom>
          <a:solidFill>
            <a:srgbClr val="6B46C1"/>
          </a:solidFill>
          <a:ln w="6350">
            <a:solidFill>
              <a:srgbClr val="6B46C1"/>
            </a:solidFill>
            <a:prstDash val="solid"/>
          </a:ln>
        </p:spPr>
      </p:sp>
      <p:pic>
        <p:nvPicPr>
          <p:cNvPr id="46" name="icon" descr="preencoded.png">    </p:cNvPr>
          <p:cNvPicPr>
            <a:picLocks noChangeAspect="1"/>
          </p:cNvPicPr>
          <p:nvPr/>
        </p:nvPicPr>
        <p:blipFill>
          <a:blip r:embed="rId9"/>
          <a:stretch>
            <a:fillRect/>
          </a:stretch>
        </p:blipFill>
        <p:spPr>
          <a:xfrm>
            <a:off x="9197035" y="3719779"/>
            <a:ext cx="204826" cy="204826"/>
          </a:xfrm>
          <a:prstGeom prst="rect">
            <a:avLst/>
          </a:prstGeom>
        </p:spPr>
      </p:pic>
      <p:sp>
        <p:nvSpPr>
          <p:cNvPr id="47" name="Text 36"/>
          <p:cNvSpPr txBox="1"/>
          <p:nvPr/>
        </p:nvSpPr>
        <p:spPr>
          <a:xfrm>
            <a:off x="9555480" y="3639312"/>
            <a:ext cx="2057400" cy="365760"/>
          </a:xfrm>
          <a:prstGeom prst="rect">
            <a:avLst/>
          </a:prstGeom>
          <a:noFill/>
          <a:ln/>
        </p:spPr>
        <p:txBody>
          <a:bodyPr wrap="square" lIns="0" tIns="0" rIns="0" bIns="0" rtlCol="0" anchor="ctr"/>
          <a:lstStyle/>
          <a:p>
            <a:pPr indent="0" marL="0">
              <a:buNone/>
            </a:pPr>
            <a:r>
              <a:rPr lang="en-US" sz="1300" b="1" dirty="0">
                <a:solidFill>
                  <a:srgbClr val="0F172A"/>
                </a:solidFill>
                <a:latin typeface="Arial" pitchFamily="34" charset="0"/>
                <a:ea typeface="Arial" pitchFamily="34" charset="-122"/>
                <a:cs typeface="Arial" pitchFamily="34" charset="-120"/>
              </a:rPr>
              <a:t>SMARTER PLANNING</a:t>
            </a:r>
            <a:endParaRPr lang="en-US" sz="1300" dirty="0"/>
          </a:p>
        </p:txBody>
      </p:sp>
      <p:sp>
        <p:nvSpPr>
          <p:cNvPr id="48" name="Text 37"/>
          <p:cNvSpPr txBox="1"/>
          <p:nvPr/>
        </p:nvSpPr>
        <p:spPr>
          <a:xfrm>
            <a:off x="612648" y="4041648"/>
            <a:ext cx="2468880" cy="603504"/>
          </a:xfrm>
          <a:prstGeom prst="rect">
            <a:avLst/>
          </a:prstGeom>
          <a:noFill/>
          <a:ln/>
        </p:spPr>
        <p:txBody>
          <a:bodyPr wrap="square" lIns="0" tIns="0" rIns="0" bIns="0" rtlCol="0" anchor="t"/>
          <a:lstStyle/>
          <a:p>
            <a:pPr indent="0" marL="0">
              <a:buNone/>
            </a:pPr>
            <a:r>
              <a:rPr lang="en-US" sz="1700" b="1" dirty="0">
                <a:solidFill>
                  <a:srgbClr val="E8711C"/>
                </a:solidFill>
                <a:latin typeface="Arial" pitchFamily="34" charset="0"/>
                <a:ea typeface="Arial" pitchFamily="34" charset="-122"/>
                <a:cs typeface="Arial" pitchFamily="34" charset="-120"/>
              </a:rPr>
              <a:t>Guesswork</a:t>
            </a:r>
            <a:endParaRPr lang="en-US" sz="1700" dirty="0"/>
          </a:p>
          <a:p>
            <a:pPr indent="0" marL="0">
              <a:buNone/>
            </a:pPr>
            <a:r>
              <a:rPr lang="en-US" sz="1700" b="1" dirty="0">
                <a:solidFill>
                  <a:srgbClr val="0F172A"/>
                </a:solidFill>
                <a:latin typeface="Arial" pitchFamily="34" charset="0"/>
                <a:ea typeface="Arial" pitchFamily="34" charset="-122"/>
                <a:cs typeface="Arial" pitchFamily="34" charset="-120"/>
              </a:rPr>
              <a:t>→ </a:t>
            </a:r>
            <a:pPr indent="0" marL="0">
              <a:buNone/>
            </a:pPr>
            <a:r>
              <a:rPr lang="en-US" sz="1700" b="1" dirty="0">
                <a:solidFill>
                  <a:srgbClr val="0F8B8D"/>
                </a:solidFill>
                <a:latin typeface="Arial" pitchFamily="34" charset="0"/>
                <a:ea typeface="Arial" pitchFamily="34" charset="-122"/>
                <a:cs typeface="Arial" pitchFamily="34" charset="-120"/>
              </a:rPr>
              <a:t>Confirmed</a:t>
            </a:r>
            <a:endParaRPr lang="en-US" sz="1700" dirty="0"/>
          </a:p>
        </p:txBody>
      </p:sp>
      <p:sp>
        <p:nvSpPr>
          <p:cNvPr id="49" name="Text 38"/>
          <p:cNvSpPr txBox="1"/>
          <p:nvPr/>
        </p:nvSpPr>
        <p:spPr>
          <a:xfrm>
            <a:off x="612648" y="4709160"/>
            <a:ext cx="2468880" cy="640080"/>
          </a:xfrm>
          <a:prstGeom prst="rect">
            <a:avLst/>
          </a:prstGeom>
          <a:noFill/>
          <a:ln/>
        </p:spPr>
        <p:txBody>
          <a:bodyPr wrap="square" lIns="0" tIns="0" rIns="0" bIns="0" rtlCol="0" anchor="t"/>
          <a:lstStyle/>
          <a:p>
            <a:pPr marL="139700" indent="-139700">
              <a:spcAft>
                <a:spcPts val="200"/>
              </a:spcAft>
              <a:buSzPct val="100000"/>
              <a:buChar char="•"/>
            </a:pPr>
            <a:r>
              <a:rPr lang="en-US" sz="1150" dirty="0">
                <a:solidFill>
                  <a:srgbClr val="0F172A"/>
                </a:solidFill>
                <a:latin typeface="Calibri" pitchFamily="34" charset="0"/>
                <a:ea typeface="Calibri" pitchFamily="34" charset="-122"/>
                <a:cs typeface="Calibri" pitchFamily="34" charset="-120"/>
              </a:rPr>
              <a:t>Hospital must answer in 60 s</a:t>
            </a:r>
            <a:endParaRPr lang="en-US" sz="1150" dirty="0"/>
          </a:p>
          <a:p>
            <a:pPr marL="139700" indent="-139700">
              <a:spcAft>
                <a:spcPts val="200"/>
              </a:spcAft>
              <a:buSzPct val="100000"/>
              <a:buChar char="•"/>
            </a:pPr>
            <a:r>
              <a:rPr lang="en-US" sz="1150" dirty="0">
                <a:solidFill>
                  <a:srgbClr val="0F172A"/>
                </a:solidFill>
                <a:latin typeface="Calibri" pitchFamily="34" charset="0"/>
                <a:ea typeface="Calibri" pitchFamily="34" charset="-122"/>
                <a:cs typeface="Calibri" pitchFamily="34" charset="-120"/>
              </a:rPr>
              <a:t>Ranked list in seconds</a:t>
            </a:r>
            <a:endParaRPr lang="en-US" sz="1150" dirty="0"/>
          </a:p>
        </p:txBody>
      </p:sp>
      <p:pic>
        <p:nvPicPr>
          <p:cNvPr id="50" name="benefit photo" descr="preencoded.png">    </p:cNvPr>
          <p:cNvPicPr>
            <a:picLocks noChangeAspect="1"/>
          </p:cNvPicPr>
          <p:nvPr/>
        </p:nvPicPr>
        <p:blipFill>
          <a:blip r:embed="rId10"/>
          <a:stretch>
            <a:fillRect/>
          </a:stretch>
        </p:blipFill>
        <p:spPr>
          <a:xfrm>
            <a:off x="3447288" y="4069080"/>
            <a:ext cx="768096" cy="475488"/>
          </a:xfrm>
          <a:prstGeom prst="rect">
            <a:avLst/>
          </a:prstGeom>
        </p:spPr>
      </p:pic>
      <p:pic>
        <p:nvPicPr>
          <p:cNvPr id="51" name="benefit photo" descr="preencoded.png">    </p:cNvPr>
          <p:cNvPicPr>
            <a:picLocks noChangeAspect="1"/>
          </p:cNvPicPr>
          <p:nvPr/>
        </p:nvPicPr>
        <p:blipFill>
          <a:blip r:embed="rId11"/>
          <a:stretch>
            <a:fillRect/>
          </a:stretch>
        </p:blipFill>
        <p:spPr>
          <a:xfrm>
            <a:off x="4270248" y="4069080"/>
            <a:ext cx="768096" cy="475488"/>
          </a:xfrm>
          <a:prstGeom prst="rect">
            <a:avLst/>
          </a:prstGeom>
        </p:spPr>
      </p:pic>
      <p:pic>
        <p:nvPicPr>
          <p:cNvPr id="52" name="benefit photo" descr="preencoded.png">    </p:cNvPr>
          <p:cNvPicPr>
            <a:picLocks noChangeAspect="1"/>
          </p:cNvPicPr>
          <p:nvPr/>
        </p:nvPicPr>
        <p:blipFill>
          <a:blip r:embed="rId12"/>
          <a:stretch>
            <a:fillRect/>
          </a:stretch>
        </p:blipFill>
        <p:spPr>
          <a:xfrm>
            <a:off x="5093208" y="4069080"/>
            <a:ext cx="768096" cy="475488"/>
          </a:xfrm>
          <a:prstGeom prst="rect">
            <a:avLst/>
          </a:prstGeom>
        </p:spPr>
      </p:pic>
      <p:sp>
        <p:nvSpPr>
          <p:cNvPr id="53" name="Text 39"/>
          <p:cNvSpPr txBox="1"/>
          <p:nvPr/>
        </p:nvSpPr>
        <p:spPr>
          <a:xfrm>
            <a:off x="3447288" y="4636008"/>
            <a:ext cx="2468880" cy="685800"/>
          </a:xfrm>
          <a:prstGeom prst="rect">
            <a:avLst/>
          </a:prstGeom>
          <a:noFill/>
          <a:ln/>
        </p:spPr>
        <p:txBody>
          <a:bodyPr wrap="square" lIns="0" tIns="0" rIns="0" bIns="0" rtlCol="0" anchor="t"/>
          <a:lstStyle/>
          <a:p>
            <a:pPr marL="139700" indent="-139700">
              <a:spcAft>
                <a:spcPts val="200"/>
              </a:spcAft>
              <a:buSzPct val="100000"/>
              <a:buChar char="•"/>
            </a:pPr>
            <a:r>
              <a:rPr lang="en-US" sz="1150" dirty="0">
                <a:solidFill>
                  <a:srgbClr val="0F172A"/>
                </a:solidFill>
                <a:latin typeface="Calibri" pitchFamily="34" charset="0"/>
                <a:ea typeface="Calibri" pitchFamily="34" charset="-122"/>
                <a:cs typeface="Calibri" pitchFamily="34" charset="-120"/>
              </a:rPr>
              <a:t>Only hospitals that can treat it</a:t>
            </a:r>
            <a:endParaRPr lang="en-US" sz="1150" dirty="0"/>
          </a:p>
          <a:p>
            <a:pPr marL="139700" indent="-139700">
              <a:spcAft>
                <a:spcPts val="200"/>
              </a:spcAft>
              <a:buSzPct val="100000"/>
              <a:buChar char="•"/>
            </a:pPr>
            <a:r>
              <a:rPr lang="en-US" sz="1150" dirty="0">
                <a:solidFill>
                  <a:srgbClr val="0F172A"/>
                </a:solidFill>
                <a:latin typeface="Calibri" pitchFamily="34" charset="0"/>
                <a:ea typeface="Calibri" pitchFamily="34" charset="-122"/>
                <a:cs typeface="Calibri" pitchFamily="34" charset="-120"/>
              </a:rPr>
              <a:t>Fewer second trips</a:t>
            </a:r>
            <a:endParaRPr lang="en-US" sz="1150" dirty="0"/>
          </a:p>
        </p:txBody>
      </p:sp>
      <p:sp>
        <p:nvSpPr>
          <p:cNvPr id="54" name="Text 40"/>
          <p:cNvSpPr txBox="1"/>
          <p:nvPr/>
        </p:nvSpPr>
        <p:spPr>
          <a:xfrm>
            <a:off x="6281928" y="4096512"/>
            <a:ext cx="2468880" cy="320040"/>
          </a:xfrm>
          <a:prstGeom prst="rect">
            <a:avLst/>
          </a:prstGeom>
          <a:noFill/>
          <a:ln/>
        </p:spPr>
        <p:txBody>
          <a:bodyPr wrap="square" lIns="0" tIns="0" rIns="0" bIns="0" rtlCol="0" anchor="t"/>
          <a:lstStyle/>
          <a:p>
            <a:pPr indent="0" marL="0">
              <a:buNone/>
            </a:pPr>
            <a:r>
              <a:rPr lang="en-US" sz="1300" b="1" dirty="0">
                <a:solidFill>
                  <a:srgbClr val="0F172A"/>
                </a:solidFill>
                <a:latin typeface="Calibri" pitchFamily="34" charset="0"/>
                <a:ea typeface="Calibri" pitchFamily="34" charset="-122"/>
                <a:cs typeface="Calibri" pitchFamily="34" charset="-120"/>
              </a:rPr>
              <a:t>No new hardware </a:t>
            </a:r>
            <a:pPr indent="0" marL="0">
              <a:buNone/>
            </a:pPr>
            <a:r>
              <a:rPr lang="en-US" sz="1300" b="1" dirty="0">
                <a:solidFill>
                  <a:srgbClr val="C62828"/>
                </a:solidFill>
                <a:latin typeface="Calibri" pitchFamily="34" charset="0"/>
                <a:ea typeface="Calibri" pitchFamily="34" charset="-122"/>
                <a:cs typeface="Calibri" pitchFamily="34" charset="-120"/>
              </a:rPr>
              <a:t>✘</a:t>
            </a:r>
            <a:endParaRPr lang="en-US" sz="1300" dirty="0"/>
          </a:p>
        </p:txBody>
      </p:sp>
      <p:sp>
        <p:nvSpPr>
          <p:cNvPr id="55" name="Text 41"/>
          <p:cNvSpPr txBox="1"/>
          <p:nvPr/>
        </p:nvSpPr>
        <p:spPr>
          <a:xfrm>
            <a:off x="6281928" y="4480560"/>
            <a:ext cx="2468880" cy="841248"/>
          </a:xfrm>
          <a:prstGeom prst="rect">
            <a:avLst/>
          </a:prstGeom>
          <a:noFill/>
          <a:ln/>
        </p:spPr>
        <p:txBody>
          <a:bodyPr wrap="square" lIns="0" tIns="0" rIns="0" bIns="0" rtlCol="0" anchor="t"/>
          <a:lstStyle/>
          <a:p>
            <a:pPr marL="139700" indent="-139700">
              <a:spcAft>
                <a:spcPts val="200"/>
              </a:spcAft>
              <a:buSzPct val="100000"/>
              <a:buChar char="•"/>
            </a:pPr>
            <a:r>
              <a:rPr lang="en-US" sz="1150" dirty="0">
                <a:solidFill>
                  <a:srgbClr val="0F172A"/>
                </a:solidFill>
                <a:latin typeface="Calibri" pitchFamily="34" charset="0"/>
                <a:ea typeface="Calibri" pitchFamily="34" charset="-122"/>
                <a:cs typeface="Calibri" pitchFamily="34" charset="-120"/>
              </a:rPr>
              <a:t>One web app for every phone</a:t>
            </a:r>
            <a:endParaRPr lang="en-US" sz="1150" dirty="0"/>
          </a:p>
          <a:p>
            <a:pPr marL="139700" indent="-139700">
              <a:spcAft>
                <a:spcPts val="200"/>
              </a:spcAft>
              <a:buSzPct val="100000"/>
              <a:buChar char="•"/>
            </a:pPr>
            <a:r>
              <a:rPr lang="en-US" sz="1150" dirty="0">
                <a:solidFill>
                  <a:srgbClr val="0F172A"/>
                </a:solidFill>
                <a:latin typeface="Calibri" pitchFamily="34" charset="0"/>
                <a:ea typeface="Calibri" pitchFamily="34" charset="-122"/>
                <a:cs typeface="Calibri" pitchFamily="34" charset="-120"/>
              </a:rPr>
              <a:t>Open-source stack, AI optional</a:t>
            </a:r>
            <a:endParaRPr lang="en-US" sz="1150" dirty="0"/>
          </a:p>
          <a:p>
            <a:pPr marL="139700" indent="-139700">
              <a:spcAft>
                <a:spcPts val="200"/>
              </a:spcAft>
              <a:buSzPct val="100000"/>
              <a:buChar char="•"/>
            </a:pPr>
            <a:r>
              <a:rPr lang="en-US" sz="1150" dirty="0">
                <a:solidFill>
                  <a:srgbClr val="0F172A"/>
                </a:solidFill>
                <a:latin typeface="Calibri" pitchFamily="34" charset="0"/>
                <a:ea typeface="Calibri" pitchFamily="34" charset="-122"/>
                <a:cs typeface="Calibri" pitchFamily="34" charset="-120"/>
              </a:rPr>
              <a:t>Runs on one small cloud server</a:t>
            </a:r>
            <a:endParaRPr lang="en-US" sz="1150" dirty="0"/>
          </a:p>
        </p:txBody>
      </p:sp>
      <p:pic>
        <p:nvPicPr>
          <p:cNvPr id="56" name="capacity map" descr="preencoded.png">    </p:cNvPr>
          <p:cNvPicPr>
            <a:picLocks noChangeAspect="1"/>
          </p:cNvPicPr>
          <p:nvPr/>
        </p:nvPicPr>
        <p:blipFill>
          <a:blip r:embed="rId13"/>
          <a:stretch>
            <a:fillRect/>
          </a:stretch>
        </p:blipFill>
        <p:spPr>
          <a:xfrm>
            <a:off x="9116568" y="4069080"/>
            <a:ext cx="2432304" cy="548640"/>
          </a:xfrm>
          <a:prstGeom prst="rect">
            <a:avLst/>
          </a:prstGeom>
        </p:spPr>
      </p:pic>
      <p:sp>
        <p:nvSpPr>
          <p:cNvPr id="57" name="Text 42"/>
          <p:cNvSpPr txBox="1"/>
          <p:nvPr/>
        </p:nvSpPr>
        <p:spPr>
          <a:xfrm>
            <a:off x="9116568" y="4681728"/>
            <a:ext cx="2468880" cy="640080"/>
          </a:xfrm>
          <a:prstGeom prst="rect">
            <a:avLst/>
          </a:prstGeom>
          <a:noFill/>
          <a:ln/>
        </p:spPr>
        <p:txBody>
          <a:bodyPr wrap="square" lIns="0" tIns="0" rIns="0" bIns="0" rtlCol="0" anchor="t"/>
          <a:lstStyle/>
          <a:p>
            <a:pPr marL="139700" indent="-139700">
              <a:spcAft>
                <a:spcPts val="200"/>
              </a:spcAft>
              <a:buSzPct val="100000"/>
              <a:buChar char="•"/>
            </a:pPr>
            <a:r>
              <a:rPr lang="en-US" sz="1150" dirty="0">
                <a:solidFill>
                  <a:srgbClr val="0F172A"/>
                </a:solidFill>
                <a:latin typeface="Calibri" pitchFamily="34" charset="0"/>
                <a:ea typeface="Calibri" pitchFamily="34" charset="-122"/>
                <a:cs typeface="Calibri" pitchFamily="34" charset="-120"/>
              </a:rPr>
              <a:t>Live capacity across districts</a:t>
            </a:r>
            <a:endParaRPr lang="en-US" sz="1150" dirty="0"/>
          </a:p>
          <a:p>
            <a:pPr marL="139700" indent="-139700">
              <a:spcAft>
                <a:spcPts val="200"/>
              </a:spcAft>
              <a:buSzPct val="100000"/>
              <a:buChar char="•"/>
            </a:pPr>
            <a:r>
              <a:rPr lang="en-US" sz="1150" dirty="0">
                <a:solidFill>
                  <a:srgbClr val="0F172A"/>
                </a:solidFill>
                <a:latin typeface="Calibri" pitchFamily="34" charset="0"/>
                <a:ea typeface="Calibri" pitchFamily="34" charset="-122"/>
                <a:cs typeface="Calibri" pitchFamily="34" charset="-120"/>
              </a:rPr>
              <a:t>Real demand data for planning</a:t>
            </a:r>
            <a:endParaRPr lang="en-US" sz="1150" dirty="0"/>
          </a:p>
        </p:txBody>
      </p:sp>
      <p:sp>
        <p:nvSpPr>
          <p:cNvPr id="58" name="box"/>
          <p:cNvSpPr/>
          <p:nvPr/>
        </p:nvSpPr>
        <p:spPr>
          <a:xfrm>
            <a:off x="731520" y="5596128"/>
            <a:ext cx="10725912" cy="1005840"/>
          </a:xfrm>
          <a:prstGeom prst="roundRect">
            <a:avLst>
              <a:gd name="adj" fmla="val 12727"/>
            </a:avLst>
          </a:prstGeom>
          <a:solidFill>
            <a:srgbClr val="F4F6F9"/>
          </a:solidFill>
          <a:ln w="12700">
            <a:solidFill>
              <a:srgbClr val="D6DEE8"/>
            </a:solidFill>
            <a:prstDash val="solid"/>
          </a:ln>
          <a:effectLst>
            <a:outerShdw sx="100000" sy="100000" kx="0" ky="0" algn="bl" rotWithShape="0" blurRad="101600" dist="25400" dir="5400000">
              <a:srgbClr val="0F172A">
                <a:alpha val="13000"/>
              </a:srgbClr>
            </a:outerShdw>
          </a:effectLst>
        </p:spPr>
      </p:sp>
      <p:sp>
        <p:nvSpPr>
          <p:cNvPr id="59" name="Text 44"/>
          <p:cNvSpPr txBox="1"/>
          <p:nvPr/>
        </p:nvSpPr>
        <p:spPr>
          <a:xfrm>
            <a:off x="731520" y="5650992"/>
            <a:ext cx="10725912" cy="329184"/>
          </a:xfrm>
          <a:prstGeom prst="rect">
            <a:avLst/>
          </a:prstGeom>
          <a:noFill/>
          <a:ln/>
        </p:spPr>
        <p:txBody>
          <a:bodyPr wrap="square" lIns="0" tIns="0" rIns="0" bIns="0" rtlCol="0" anchor="t"/>
          <a:lstStyle/>
          <a:p>
            <a:pPr algn="ctr" indent="0" marL="0">
              <a:buNone/>
            </a:pPr>
            <a:r>
              <a:rPr lang="en-US" sz="1600" b="1" u="sng" dirty="0">
                <a:solidFill>
                  <a:srgbClr val="14325C"/>
                </a:solidFill>
                <a:latin typeface="Arial" pitchFamily="34" charset="0"/>
                <a:ea typeface="Arial" pitchFamily="34" charset="-122"/>
                <a:cs typeface="Arial" pitchFamily="34" charset="-120"/>
              </a:rPr>
              <a:t>EXPECTED OUTCOME</a:t>
            </a:r>
            <a:endParaRPr lang="en-US" sz="1600" dirty="0"/>
          </a:p>
        </p:txBody>
      </p:sp>
      <p:sp>
        <p:nvSpPr>
          <p:cNvPr id="60" name="Text 45"/>
          <p:cNvSpPr txBox="1"/>
          <p:nvPr/>
        </p:nvSpPr>
        <p:spPr>
          <a:xfrm>
            <a:off x="914400" y="6016752"/>
            <a:ext cx="10360152" cy="502920"/>
          </a:xfrm>
          <a:prstGeom prst="rect">
            <a:avLst/>
          </a:prstGeom>
          <a:noFill/>
          <a:ln/>
        </p:spPr>
        <p:txBody>
          <a:bodyPr wrap="square" lIns="0" tIns="0" rIns="0" bIns="0" rtlCol="0" anchor="ctr"/>
          <a:lstStyle/>
          <a:p>
            <a:pPr algn="ctr" indent="0" marL="0">
              <a:buNone/>
            </a:pPr>
            <a:r>
              <a:rPr lang="en-US" sz="1350" b="1" dirty="0">
                <a:solidFill>
                  <a:srgbClr val="14325C"/>
                </a:solidFill>
                <a:latin typeface="Calibri" pitchFamily="34" charset="0"/>
                <a:ea typeface="Calibri" pitchFamily="34" charset="-122"/>
                <a:cs typeface="Calibri" pitchFamily="34" charset="-120"/>
              </a:rPr>
              <a:t>Every emergency in Madhya Pradesh reaches a hospital that has already said yes</a:t>
            </a:r>
            <a:pPr algn="ctr" indent="0" marL="0">
              <a:buNone/>
            </a:pPr>
            <a:r>
              <a:rPr lang="en-US" sz="1350" dirty="0">
                <a:solidFill>
                  <a:srgbClr val="334155"/>
                </a:solidFill>
                <a:latin typeface="Calibri" pitchFamily="34" charset="0"/>
                <a:ea typeface="Calibri" pitchFamily="34" charset="-122"/>
                <a:cs typeface="Calibri" pitchFamily="34" charset="-120"/>
              </a:rPr>
              <a:t> – with 108 on the way and the ER ready – </a:t>
            </a:r>
            <a:pPr algn="ctr" indent="0" marL="0">
              <a:buNone/>
            </a:pPr>
            <a:r>
              <a:rPr lang="en-US" sz="1350" b="1" dirty="0">
                <a:solidFill>
                  <a:srgbClr val="E8711C"/>
                </a:solidFill>
                <a:latin typeface="Calibri" pitchFamily="34" charset="0"/>
                <a:ea typeface="Calibri" pitchFamily="34" charset="-122"/>
                <a:cs typeface="Calibri" pitchFamily="34" charset="-120"/>
              </a:rPr>
              <a:t>confirmed in minutes, not after a wasted trip.</a:t>
            </a:r>
            <a:endParaRPr lang="en-US" sz="1350" dirty="0"/>
          </a:p>
        </p:txBody>
      </p:sp>
      <p:sp>
        <p:nvSpPr>
          <p:cNvPr id="25" name="Slide Number Placeholder 0"/>
          <p:cNvSpPr>
            <a:spLocks noGrp="1"/>
          </p:cNvSpPr>
          <p:nvPr>
            <p:ph type="sldNum" sz="quarter" idx="4294967295"/>
          </p:nvPr>
        </p:nvSpPr>
        <p:spPr>
          <a:xfrm>
            <a:off x="11475720" y="651052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am badge"/>
          <p:cNvSpPr/>
          <p:nvPr/>
        </p:nvSpPr>
        <p:spPr>
          <a:xfrm>
            <a:off x="320040" y="201168"/>
            <a:ext cx="1645920" cy="777240"/>
          </a:xfrm>
          <a:prstGeom prst="ellipse">
            <a:avLst/>
          </a:prstGeom>
          <a:solidFill>
            <a:srgbClr val="FFFFFF"/>
          </a:solidFill>
          <a:ln w="19050">
            <a:solidFill>
              <a:srgbClr val="6B46C1"/>
            </a:solidFill>
            <a:prstDash val="solid"/>
          </a:ln>
        </p:spPr>
      </p:sp>
      <p:sp>
        <p:nvSpPr>
          <p:cNvPr id="3" name="Text 1"/>
          <p:cNvSpPr txBox="1"/>
          <p:nvPr/>
        </p:nvSpPr>
        <p:spPr>
          <a:xfrm>
            <a:off x="320040" y="201168"/>
            <a:ext cx="1645920" cy="777240"/>
          </a:xfrm>
          <a:prstGeom prst="rect">
            <a:avLst/>
          </a:prstGeom>
          <a:noFill/>
          <a:ln/>
        </p:spPr>
        <p:txBody>
          <a:bodyPr wrap="square" lIns="0" tIns="0" rIns="0" bIns="0" rtlCol="0" anchor="ctr"/>
          <a:lstStyle/>
          <a:p>
            <a:pPr algn="ctr" indent="0" marL="0">
              <a:buNone/>
            </a:pPr>
            <a:r>
              <a:rPr lang="en-US" sz="1250" dirty="0">
                <a:solidFill>
                  <a:srgbClr val="0F172A"/>
                </a:solidFill>
                <a:latin typeface="Calibri" pitchFamily="34" charset="0"/>
                <a:ea typeface="Calibri" pitchFamily="34" charset="-122"/>
                <a:cs typeface="Calibri" pitchFamily="34" charset="-120"/>
              </a:rPr>
              <a:t>TEAM</a:t>
            </a:r>
            <a:endParaRPr lang="en-US" sz="1250" dirty="0"/>
          </a:p>
          <a:p>
            <a:pPr algn="ctr" indent="0" marL="0">
              <a:buNone/>
            </a:pPr>
            <a:r>
              <a:rPr lang="en-US" sz="1250" dirty="0">
                <a:solidFill>
                  <a:srgbClr val="0F172A"/>
                </a:solidFill>
                <a:latin typeface="Calibri" pitchFamily="34" charset="0"/>
                <a:ea typeface="Calibri" pitchFamily="34" charset="-122"/>
                <a:cs typeface="Calibri" pitchFamily="34" charset="-120"/>
              </a:rPr>
              <a:t>MEDREACH</a:t>
            </a:r>
            <a:endParaRPr lang="en-US" sz="1250" dirty="0"/>
          </a:p>
        </p:txBody>
      </p:sp>
      <p:sp>
        <p:nvSpPr>
          <p:cNvPr id="4" name="Text 0"/>
          <p:cNvSpPr/>
          <p:nvPr>
            <p:ph idx="100" type="title" hasCustomPrompt="1"/>
          </p:nvPr>
        </p:nvSpPr>
        <p:spPr>
          <a:xfrm>
            <a:off x="2148840" y="201168"/>
            <a:ext cx="7863840" cy="777240"/>
          </a:xfrm>
          <a:prstGeom prst="rect">
            <a:avLst/>
          </a:prstGeom>
          <a:noFill/>
          <a:ln/>
        </p:spPr>
        <p:txBody>
          <a:bodyPr wrap="square" lIns="0" tIns="0" rIns="0" bIns="0" rtlCol="0" anchor="ctr"/>
          <a:lstStyle/>
          <a:p>
            <a:pPr algn="ctr" indent="0" marL="0">
              <a:buNone/>
            </a:pPr>
            <a:r>
              <a:rPr lang="en-US" sz="3400" b="1" dirty="0">
                <a:solidFill>
                  <a:schemeClr val="tx1"/>
                </a:solidFill>
              </a:rPr>
              <a:t>WHY SHOULD WE BE SELECTED?</a:t>
            </a:r>
            <a:endParaRPr lang="en-US" sz="3400" dirty="0"/>
          </a:p>
        </p:txBody>
      </p:sp>
      <p:pic>
        <p:nvPicPr>
          <p:cNvPr id="5" name="Medreach logo" descr="preencoded.png">    </p:cNvPr>
          <p:cNvPicPr>
            <a:picLocks noChangeAspect="1"/>
          </p:cNvPicPr>
          <p:nvPr/>
        </p:nvPicPr>
        <p:blipFill>
          <a:blip r:embed="rId1"/>
          <a:stretch>
            <a:fillRect/>
          </a:stretch>
        </p:blipFill>
        <p:spPr>
          <a:xfrm>
            <a:off x="10195560" y="274320"/>
            <a:ext cx="603504" cy="603504"/>
          </a:xfrm>
          <a:prstGeom prst="rect">
            <a:avLst/>
          </a:prstGeom>
        </p:spPr>
      </p:pic>
      <p:sp>
        <p:nvSpPr>
          <p:cNvPr id="6" name="Text 3"/>
          <p:cNvSpPr txBox="1"/>
          <p:nvPr/>
        </p:nvSpPr>
        <p:spPr>
          <a:xfrm>
            <a:off x="10881360" y="246888"/>
            <a:ext cx="1097280" cy="658368"/>
          </a:xfrm>
          <a:prstGeom prst="rect">
            <a:avLst/>
          </a:prstGeom>
          <a:noFill/>
          <a:ln/>
        </p:spPr>
        <p:txBody>
          <a:bodyPr wrap="square" lIns="0" tIns="0" rIns="0" bIns="0" rtlCol="0" anchor="ctr"/>
          <a:lstStyle/>
          <a:p>
            <a:pPr indent="0" marL="0">
              <a:lnSpc>
                <a:spcPct val="95000"/>
              </a:lnSpc>
              <a:buNone/>
            </a:pPr>
            <a:r>
              <a:rPr lang="en-US" sz="1150" b="1" dirty="0">
                <a:solidFill>
                  <a:srgbClr val="475569"/>
                </a:solidFill>
                <a:latin typeface="Arial" pitchFamily="34" charset="0"/>
                <a:ea typeface="Arial" pitchFamily="34" charset="-122"/>
                <a:cs typeface="Arial" pitchFamily="34" charset="-120"/>
              </a:rPr>
              <a:t>MPONLINE</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HACKATHON</a:t>
            </a:r>
            <a:endParaRPr lang="en-US" sz="1150" dirty="0"/>
          </a:p>
          <a:p>
            <a:pPr indent="0" marL="0">
              <a:lnSpc>
                <a:spcPct val="95000"/>
              </a:lnSpc>
              <a:buNone/>
            </a:pPr>
            <a:r>
              <a:rPr lang="en-US" sz="1150" b="1" dirty="0">
                <a:solidFill>
                  <a:srgbClr val="475569"/>
                </a:solidFill>
                <a:latin typeface="Arial" pitchFamily="34" charset="0"/>
                <a:ea typeface="Arial" pitchFamily="34" charset="-122"/>
                <a:cs typeface="Arial" pitchFamily="34" charset="-120"/>
              </a:rPr>
              <a:t>2026</a:t>
            </a:r>
            <a:endParaRPr lang="en-US" sz="1150" dirty="0"/>
          </a:p>
        </p:txBody>
      </p:sp>
      <p:sp>
        <p:nvSpPr>
          <p:cNvPr id="7" name="box"/>
          <p:cNvSpPr/>
          <p:nvPr/>
        </p:nvSpPr>
        <p:spPr>
          <a:xfrm>
            <a:off x="365760" y="1097280"/>
            <a:ext cx="2542032" cy="1810512"/>
          </a:xfrm>
          <a:prstGeom prst="roundRect">
            <a:avLst>
              <a:gd name="adj" fmla="val 8081"/>
            </a:avLst>
          </a:prstGeom>
          <a:solidFill>
            <a:srgbClr val="1F64B4"/>
          </a:solidFill>
          <a:ln w="12700">
            <a:solidFill>
              <a:srgbClr val="1F64B4"/>
            </a:solidFill>
            <a:prstDash val="solid"/>
          </a:ln>
          <a:effectLst>
            <a:outerShdw sx="100000" sy="100000" kx="0" ky="0" algn="bl" rotWithShape="0" blurRad="101600" dist="25400" dir="5400000">
              <a:srgbClr val="0F172A">
                <a:alpha val="13000"/>
              </a:srgbClr>
            </a:outerShdw>
          </a:effectLst>
        </p:spPr>
      </p:sp>
      <p:sp>
        <p:nvSpPr>
          <p:cNvPr id="8" name="icon circle"/>
          <p:cNvSpPr/>
          <p:nvPr/>
        </p:nvSpPr>
        <p:spPr>
          <a:xfrm>
            <a:off x="530352" y="1261872"/>
            <a:ext cx="548640" cy="548640"/>
          </a:xfrm>
          <a:prstGeom prst="ellipse">
            <a:avLst/>
          </a:prstGeom>
          <a:solidFill>
            <a:srgbClr val="FFFFFF"/>
          </a:solidFill>
          <a:ln w="6350">
            <a:solidFill>
              <a:srgbClr val="FFFFFF"/>
            </a:solidFill>
            <a:prstDash val="solid"/>
          </a:ln>
        </p:spPr>
      </p:sp>
      <p:pic>
        <p:nvPicPr>
          <p:cNvPr id="9" name="icon" descr="preencoded.png">    </p:cNvPr>
          <p:cNvPicPr>
            <a:picLocks noChangeAspect="1"/>
          </p:cNvPicPr>
          <p:nvPr/>
        </p:nvPicPr>
        <p:blipFill>
          <a:blip r:embed="rId2"/>
          <a:stretch>
            <a:fillRect/>
          </a:stretch>
        </p:blipFill>
        <p:spPr>
          <a:xfrm>
            <a:off x="651053" y="1382573"/>
            <a:ext cx="307238" cy="307238"/>
          </a:xfrm>
          <a:prstGeom prst="rect">
            <a:avLst/>
          </a:prstGeom>
        </p:spPr>
      </p:pic>
      <p:sp>
        <p:nvSpPr>
          <p:cNvPr id="10" name="Text 6"/>
          <p:cNvSpPr txBox="1"/>
          <p:nvPr/>
        </p:nvSpPr>
        <p:spPr>
          <a:xfrm>
            <a:off x="1188720" y="1261872"/>
            <a:ext cx="1664208"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It works today</a:t>
            </a:r>
            <a:endParaRPr lang="en-US" sz="1500" dirty="0"/>
          </a:p>
        </p:txBody>
      </p:sp>
      <p:sp>
        <p:nvSpPr>
          <p:cNvPr id="11" name="Text 7"/>
          <p:cNvSpPr txBox="1"/>
          <p:nvPr/>
        </p:nvSpPr>
        <p:spPr>
          <a:xfrm>
            <a:off x="548640" y="1920240"/>
            <a:ext cx="2212848" cy="9144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Live site: speak → hospital accepts → 108 ambulance → tracking, end to end.</a:t>
            </a:r>
            <a:endParaRPr lang="en-US" sz="1250" dirty="0"/>
          </a:p>
        </p:txBody>
      </p:sp>
      <p:sp>
        <p:nvSpPr>
          <p:cNvPr id="12" name="box"/>
          <p:cNvSpPr/>
          <p:nvPr/>
        </p:nvSpPr>
        <p:spPr>
          <a:xfrm>
            <a:off x="3035808" y="1097280"/>
            <a:ext cx="2542032" cy="1810512"/>
          </a:xfrm>
          <a:prstGeom prst="roundRect">
            <a:avLst>
              <a:gd name="adj" fmla="val 8081"/>
            </a:avLst>
          </a:prstGeom>
          <a:solidFill>
            <a:srgbClr val="C62828"/>
          </a:solidFill>
          <a:ln w="12700">
            <a:solidFill>
              <a:srgbClr val="C62828"/>
            </a:solidFill>
            <a:prstDash val="solid"/>
          </a:ln>
          <a:effectLst>
            <a:outerShdw sx="100000" sy="100000" kx="0" ky="0" algn="bl" rotWithShape="0" blurRad="101600" dist="25400" dir="5400000">
              <a:srgbClr val="0F172A">
                <a:alpha val="13000"/>
              </a:srgbClr>
            </a:outerShdw>
          </a:effectLst>
        </p:spPr>
      </p:sp>
      <p:sp>
        <p:nvSpPr>
          <p:cNvPr id="13" name="icon circle"/>
          <p:cNvSpPr/>
          <p:nvPr/>
        </p:nvSpPr>
        <p:spPr>
          <a:xfrm>
            <a:off x="3200400" y="1261872"/>
            <a:ext cx="548640" cy="548640"/>
          </a:xfrm>
          <a:prstGeom prst="ellipse">
            <a:avLst/>
          </a:prstGeom>
          <a:solidFill>
            <a:srgbClr val="FFFFFF"/>
          </a:solidFill>
          <a:ln w="6350">
            <a:solidFill>
              <a:srgbClr val="FFFFFF"/>
            </a:solidFill>
            <a:prstDash val="solid"/>
          </a:ln>
        </p:spPr>
      </p:sp>
      <p:pic>
        <p:nvPicPr>
          <p:cNvPr id="14" name="icon" descr="preencoded.png">    </p:cNvPr>
          <p:cNvPicPr>
            <a:picLocks noChangeAspect="1"/>
          </p:cNvPicPr>
          <p:nvPr/>
        </p:nvPicPr>
        <p:blipFill>
          <a:blip r:embed="rId3"/>
          <a:stretch>
            <a:fillRect/>
          </a:stretch>
        </p:blipFill>
        <p:spPr>
          <a:xfrm>
            <a:off x="3321101" y="1382573"/>
            <a:ext cx="307238" cy="307238"/>
          </a:xfrm>
          <a:prstGeom prst="rect">
            <a:avLst/>
          </a:prstGeom>
        </p:spPr>
      </p:pic>
      <p:sp>
        <p:nvSpPr>
          <p:cNvPr id="15" name="Text 10"/>
          <p:cNvSpPr txBox="1"/>
          <p:nvPr/>
        </p:nvSpPr>
        <p:spPr>
          <a:xfrm>
            <a:off x="3858768" y="1261872"/>
            <a:ext cx="1664208"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Ready for real 108</a:t>
            </a:r>
            <a:endParaRPr lang="en-US" sz="1500" dirty="0"/>
          </a:p>
        </p:txBody>
      </p:sp>
      <p:sp>
        <p:nvSpPr>
          <p:cNvPr id="16" name="Text 11"/>
          <p:cNvSpPr txBox="1"/>
          <p:nvPr/>
        </p:nvSpPr>
        <p:spPr>
          <a:xfrm>
            <a:off x="3218688" y="1920240"/>
            <a:ext cx="2212848" cy="9144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Signed incident contract, proven with our practice control room.</a:t>
            </a:r>
            <a:endParaRPr lang="en-US" sz="1250" dirty="0"/>
          </a:p>
        </p:txBody>
      </p:sp>
      <p:sp>
        <p:nvSpPr>
          <p:cNvPr id="17" name="box"/>
          <p:cNvSpPr/>
          <p:nvPr/>
        </p:nvSpPr>
        <p:spPr>
          <a:xfrm>
            <a:off x="5705856" y="1097280"/>
            <a:ext cx="2542032" cy="1810512"/>
          </a:xfrm>
          <a:prstGeom prst="roundRect">
            <a:avLst>
              <a:gd name="adj" fmla="val 8081"/>
            </a:avLst>
          </a:prstGeom>
          <a:solidFill>
            <a:srgbClr val="2E7D32"/>
          </a:solidFill>
          <a:ln w="12700">
            <a:solidFill>
              <a:srgbClr val="2E7D32"/>
            </a:solidFill>
            <a:prstDash val="solid"/>
          </a:ln>
          <a:effectLst>
            <a:outerShdw sx="100000" sy="100000" kx="0" ky="0" algn="bl" rotWithShape="0" blurRad="101600" dist="25400" dir="5400000">
              <a:srgbClr val="0F172A">
                <a:alpha val="13000"/>
              </a:srgbClr>
            </a:outerShdw>
          </a:effectLst>
        </p:spPr>
      </p:sp>
      <p:sp>
        <p:nvSpPr>
          <p:cNvPr id="18" name="icon circle"/>
          <p:cNvSpPr/>
          <p:nvPr/>
        </p:nvSpPr>
        <p:spPr>
          <a:xfrm>
            <a:off x="5870448" y="1261872"/>
            <a:ext cx="548640" cy="548640"/>
          </a:xfrm>
          <a:prstGeom prst="ellipse">
            <a:avLst/>
          </a:prstGeom>
          <a:solidFill>
            <a:srgbClr val="FFFFFF"/>
          </a:solidFill>
          <a:ln w="6350">
            <a:solidFill>
              <a:srgbClr val="FFFFFF"/>
            </a:solidFill>
            <a:prstDash val="solid"/>
          </a:ln>
        </p:spPr>
      </p:sp>
      <p:pic>
        <p:nvPicPr>
          <p:cNvPr id="19" name="icon" descr="preencoded.png">    </p:cNvPr>
          <p:cNvPicPr>
            <a:picLocks noChangeAspect="1"/>
          </p:cNvPicPr>
          <p:nvPr/>
        </p:nvPicPr>
        <p:blipFill>
          <a:blip r:embed="rId4"/>
          <a:stretch>
            <a:fillRect/>
          </a:stretch>
        </p:blipFill>
        <p:spPr>
          <a:xfrm>
            <a:off x="5991149" y="1382573"/>
            <a:ext cx="307238" cy="307238"/>
          </a:xfrm>
          <a:prstGeom prst="rect">
            <a:avLst/>
          </a:prstGeom>
        </p:spPr>
      </p:pic>
      <p:sp>
        <p:nvSpPr>
          <p:cNvPr id="20" name="Text 14"/>
          <p:cNvSpPr txBox="1"/>
          <p:nvPr/>
        </p:nvSpPr>
        <p:spPr>
          <a:xfrm>
            <a:off x="6528816" y="1261872"/>
            <a:ext cx="1664208"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Built for rural MP</a:t>
            </a:r>
            <a:endParaRPr lang="en-US" sz="1500" dirty="0"/>
          </a:p>
        </p:txBody>
      </p:sp>
      <p:sp>
        <p:nvSpPr>
          <p:cNvPr id="21" name="Text 15"/>
          <p:cNvSpPr txBox="1"/>
          <p:nvPr/>
        </p:nvSpPr>
        <p:spPr>
          <a:xfrm>
            <a:off x="5888736" y="1920240"/>
            <a:ext cx="2212848" cy="9144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Hindi voice, 2G / SMS / offline, 102 Janani Express for mothers.</a:t>
            </a:r>
            <a:endParaRPr lang="en-US" sz="1250" dirty="0"/>
          </a:p>
        </p:txBody>
      </p:sp>
      <p:sp>
        <p:nvSpPr>
          <p:cNvPr id="22" name="box"/>
          <p:cNvSpPr/>
          <p:nvPr/>
        </p:nvSpPr>
        <p:spPr>
          <a:xfrm>
            <a:off x="365760" y="3035808"/>
            <a:ext cx="2542032" cy="1810512"/>
          </a:xfrm>
          <a:prstGeom prst="roundRect">
            <a:avLst>
              <a:gd name="adj" fmla="val 8081"/>
            </a:avLst>
          </a:prstGeom>
          <a:solidFill>
            <a:srgbClr val="6B46C1"/>
          </a:solidFill>
          <a:ln w="12700">
            <a:solidFill>
              <a:srgbClr val="6B46C1"/>
            </a:solidFill>
            <a:prstDash val="solid"/>
          </a:ln>
          <a:effectLst>
            <a:outerShdw sx="100000" sy="100000" kx="0" ky="0" algn="bl" rotWithShape="0" blurRad="101600" dist="25400" dir="5400000">
              <a:srgbClr val="0F172A">
                <a:alpha val="13000"/>
              </a:srgbClr>
            </a:outerShdw>
          </a:effectLst>
        </p:spPr>
      </p:sp>
      <p:sp>
        <p:nvSpPr>
          <p:cNvPr id="23" name="icon circle"/>
          <p:cNvSpPr/>
          <p:nvPr/>
        </p:nvSpPr>
        <p:spPr>
          <a:xfrm>
            <a:off x="530352" y="3200400"/>
            <a:ext cx="548640" cy="548640"/>
          </a:xfrm>
          <a:prstGeom prst="ellipse">
            <a:avLst/>
          </a:prstGeom>
          <a:solidFill>
            <a:srgbClr val="FFFFFF"/>
          </a:solidFill>
          <a:ln w="6350">
            <a:solidFill>
              <a:srgbClr val="FFFFFF"/>
            </a:solidFill>
            <a:prstDash val="solid"/>
          </a:ln>
        </p:spPr>
      </p:sp>
      <p:pic>
        <p:nvPicPr>
          <p:cNvPr id="24" name="icon" descr="preencoded.png">    </p:cNvPr>
          <p:cNvPicPr>
            <a:picLocks noChangeAspect="1"/>
          </p:cNvPicPr>
          <p:nvPr/>
        </p:nvPicPr>
        <p:blipFill>
          <a:blip r:embed="rId5"/>
          <a:stretch>
            <a:fillRect/>
          </a:stretch>
        </p:blipFill>
        <p:spPr>
          <a:xfrm>
            <a:off x="651053" y="3321101"/>
            <a:ext cx="307238" cy="307238"/>
          </a:xfrm>
          <a:prstGeom prst="rect">
            <a:avLst/>
          </a:prstGeom>
        </p:spPr>
      </p:pic>
      <p:sp>
        <p:nvSpPr>
          <p:cNvPr id="25" name="Text 18"/>
          <p:cNvSpPr txBox="1"/>
          <p:nvPr/>
        </p:nvSpPr>
        <p:spPr>
          <a:xfrm>
            <a:off x="1188720" y="3200400"/>
            <a:ext cx="1664208"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Secure &amp; private</a:t>
            </a:r>
            <a:endParaRPr lang="en-US" sz="1500" dirty="0"/>
          </a:p>
        </p:txBody>
      </p:sp>
      <p:sp>
        <p:nvSpPr>
          <p:cNvPr id="26" name="Text 19"/>
          <p:cNvSpPr txBox="1"/>
          <p:nvPr/>
        </p:nvSpPr>
        <p:spPr>
          <a:xfrm>
            <a:off x="548640" y="3858768"/>
            <a:ext cx="2212848" cy="9144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Aadhaar OTP, AES-256-GCM, tamper-evident audit, no Aadhaar stored.</a:t>
            </a:r>
            <a:endParaRPr lang="en-US" sz="1250" dirty="0"/>
          </a:p>
        </p:txBody>
      </p:sp>
      <p:sp>
        <p:nvSpPr>
          <p:cNvPr id="27" name="box"/>
          <p:cNvSpPr/>
          <p:nvPr/>
        </p:nvSpPr>
        <p:spPr>
          <a:xfrm>
            <a:off x="3035808" y="3035808"/>
            <a:ext cx="2542032" cy="1810512"/>
          </a:xfrm>
          <a:prstGeom prst="roundRect">
            <a:avLst>
              <a:gd name="adj" fmla="val 8081"/>
            </a:avLst>
          </a:prstGeom>
          <a:solidFill>
            <a:srgbClr val="E8711C"/>
          </a:solidFill>
          <a:ln w="12700">
            <a:solidFill>
              <a:srgbClr val="E8711C"/>
            </a:solidFill>
            <a:prstDash val="solid"/>
          </a:ln>
          <a:effectLst>
            <a:outerShdw sx="100000" sy="100000" kx="0" ky="0" algn="bl" rotWithShape="0" blurRad="101600" dist="25400" dir="5400000">
              <a:srgbClr val="0F172A">
                <a:alpha val="13000"/>
              </a:srgbClr>
            </a:outerShdw>
          </a:effectLst>
        </p:spPr>
      </p:sp>
      <p:sp>
        <p:nvSpPr>
          <p:cNvPr id="28" name="icon circle"/>
          <p:cNvSpPr/>
          <p:nvPr/>
        </p:nvSpPr>
        <p:spPr>
          <a:xfrm>
            <a:off x="3200400" y="3200400"/>
            <a:ext cx="548640" cy="548640"/>
          </a:xfrm>
          <a:prstGeom prst="ellipse">
            <a:avLst/>
          </a:prstGeom>
          <a:solidFill>
            <a:srgbClr val="FFFFFF"/>
          </a:solidFill>
          <a:ln w="6350">
            <a:solidFill>
              <a:srgbClr val="FFFFFF"/>
            </a:solidFill>
            <a:prstDash val="solid"/>
          </a:ln>
        </p:spPr>
      </p:sp>
      <p:pic>
        <p:nvPicPr>
          <p:cNvPr id="29" name="icon" descr="preencoded.png">    </p:cNvPr>
          <p:cNvPicPr>
            <a:picLocks noChangeAspect="1"/>
          </p:cNvPicPr>
          <p:nvPr/>
        </p:nvPicPr>
        <p:blipFill>
          <a:blip r:embed="rId6"/>
          <a:stretch>
            <a:fillRect/>
          </a:stretch>
        </p:blipFill>
        <p:spPr>
          <a:xfrm>
            <a:off x="3321101" y="3321101"/>
            <a:ext cx="307238" cy="307238"/>
          </a:xfrm>
          <a:prstGeom prst="rect">
            <a:avLst/>
          </a:prstGeom>
        </p:spPr>
      </p:pic>
      <p:sp>
        <p:nvSpPr>
          <p:cNvPr id="30" name="Text 22"/>
          <p:cNvSpPr txBox="1"/>
          <p:nvPr/>
        </p:nvSpPr>
        <p:spPr>
          <a:xfrm>
            <a:off x="3858768" y="3200400"/>
            <a:ext cx="1664208"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Low cost, scalable</a:t>
            </a:r>
            <a:endParaRPr lang="en-US" sz="1500" dirty="0"/>
          </a:p>
        </p:txBody>
      </p:sp>
      <p:sp>
        <p:nvSpPr>
          <p:cNvPr id="31" name="Text 23"/>
          <p:cNvSpPr txBox="1"/>
          <p:nvPr/>
        </p:nvSpPr>
        <p:spPr>
          <a:xfrm>
            <a:off x="3218688" y="3858768"/>
            <a:ext cx="2212848" cy="9144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Open-source stack, one web app for every phone, AI optional.</a:t>
            </a:r>
            <a:endParaRPr lang="en-US" sz="1250" dirty="0"/>
          </a:p>
        </p:txBody>
      </p:sp>
      <p:sp>
        <p:nvSpPr>
          <p:cNvPr id="32" name="box"/>
          <p:cNvSpPr/>
          <p:nvPr/>
        </p:nvSpPr>
        <p:spPr>
          <a:xfrm>
            <a:off x="5705856" y="3035808"/>
            <a:ext cx="2542032" cy="1810512"/>
          </a:xfrm>
          <a:prstGeom prst="roundRect">
            <a:avLst>
              <a:gd name="adj" fmla="val 8081"/>
            </a:avLst>
          </a:prstGeom>
          <a:solidFill>
            <a:srgbClr val="0F8B8D"/>
          </a:solidFill>
          <a:ln w="12700">
            <a:solidFill>
              <a:srgbClr val="0F8B8D"/>
            </a:solidFill>
            <a:prstDash val="solid"/>
          </a:ln>
          <a:effectLst>
            <a:outerShdw sx="100000" sy="100000" kx="0" ky="0" algn="bl" rotWithShape="0" blurRad="101600" dist="25400" dir="5400000">
              <a:srgbClr val="0F172A">
                <a:alpha val="13000"/>
              </a:srgbClr>
            </a:outerShdw>
          </a:effectLst>
        </p:spPr>
      </p:sp>
      <p:sp>
        <p:nvSpPr>
          <p:cNvPr id="33" name="icon circle"/>
          <p:cNvSpPr/>
          <p:nvPr/>
        </p:nvSpPr>
        <p:spPr>
          <a:xfrm>
            <a:off x="5870448" y="3200400"/>
            <a:ext cx="548640" cy="548640"/>
          </a:xfrm>
          <a:prstGeom prst="ellipse">
            <a:avLst/>
          </a:prstGeom>
          <a:solidFill>
            <a:srgbClr val="FFFFFF"/>
          </a:solidFill>
          <a:ln w="6350">
            <a:solidFill>
              <a:srgbClr val="FFFFFF"/>
            </a:solidFill>
            <a:prstDash val="solid"/>
          </a:ln>
        </p:spPr>
      </p:sp>
      <p:pic>
        <p:nvPicPr>
          <p:cNvPr id="34" name="icon" descr="preencoded.png">    </p:cNvPr>
          <p:cNvPicPr>
            <a:picLocks noChangeAspect="1"/>
          </p:cNvPicPr>
          <p:nvPr/>
        </p:nvPicPr>
        <p:blipFill>
          <a:blip r:embed="rId7"/>
          <a:stretch>
            <a:fillRect/>
          </a:stretch>
        </p:blipFill>
        <p:spPr>
          <a:xfrm>
            <a:off x="5991149" y="3321101"/>
            <a:ext cx="307238" cy="307238"/>
          </a:xfrm>
          <a:prstGeom prst="rect">
            <a:avLst/>
          </a:prstGeom>
        </p:spPr>
      </p:pic>
      <p:sp>
        <p:nvSpPr>
          <p:cNvPr id="35" name="Text 26"/>
          <p:cNvSpPr txBox="1"/>
          <p:nvPr/>
        </p:nvSpPr>
        <p:spPr>
          <a:xfrm>
            <a:off x="6528816" y="3200400"/>
            <a:ext cx="1664208"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Responsible AI</a:t>
            </a:r>
            <a:endParaRPr lang="en-US" sz="1500" dirty="0"/>
          </a:p>
        </p:txBody>
      </p:sp>
      <p:sp>
        <p:nvSpPr>
          <p:cNvPr id="36" name="Text 27"/>
          <p:cNvSpPr txBox="1"/>
          <p:nvPr/>
        </p:nvSpPr>
        <p:spPr>
          <a:xfrm>
            <a:off x="5888736" y="3858768"/>
            <a:ext cx="2212848" cy="9144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Never diagnoses; hospitals decide; Call 108 is always one tap away.</a:t>
            </a:r>
            <a:endParaRPr lang="en-US" sz="1250" dirty="0"/>
          </a:p>
        </p:txBody>
      </p:sp>
      <p:sp>
        <p:nvSpPr>
          <p:cNvPr id="37" name="box"/>
          <p:cNvSpPr/>
          <p:nvPr/>
        </p:nvSpPr>
        <p:spPr>
          <a:xfrm>
            <a:off x="8458200" y="1097280"/>
            <a:ext cx="3364992" cy="3749040"/>
          </a:xfrm>
          <a:prstGeom prst="roundRect">
            <a:avLst>
              <a:gd name="adj" fmla="val 4348"/>
            </a:avLst>
          </a:prstGeom>
          <a:solidFill>
            <a:srgbClr val="14325C"/>
          </a:solidFill>
          <a:ln w="12700">
            <a:solidFill>
              <a:srgbClr val="14325C"/>
            </a:solidFill>
            <a:prstDash val="solid"/>
          </a:ln>
          <a:effectLst>
            <a:outerShdw sx="100000" sy="100000" kx="0" ky="0" algn="bl" rotWithShape="0" blurRad="101600" dist="25400" dir="5400000">
              <a:srgbClr val="0F172A">
                <a:alpha val="13000"/>
              </a:srgbClr>
            </a:outerShdw>
          </a:effectLst>
        </p:spPr>
      </p:sp>
      <p:sp>
        <p:nvSpPr>
          <p:cNvPr id="38" name="Text 29"/>
          <p:cNvSpPr txBox="1"/>
          <p:nvPr/>
        </p:nvSpPr>
        <p:spPr>
          <a:xfrm>
            <a:off x="8458200" y="1216152"/>
            <a:ext cx="3364992" cy="292608"/>
          </a:xfrm>
          <a:prstGeom prst="rect">
            <a:avLst/>
          </a:prstGeom>
          <a:noFill/>
          <a:ln/>
        </p:spPr>
        <p:txBody>
          <a:bodyPr wrap="square" lIns="0" tIns="0" rIns="0" bIns="0" rtlCol="0" anchor="t"/>
          <a:lstStyle/>
          <a:p>
            <a:pPr algn="ctr" indent="0" marL="0">
              <a:buNone/>
            </a:pPr>
            <a:r>
              <a:rPr lang="en-US" sz="1300" b="1" spc="150" kern="0" dirty="0">
                <a:solidFill>
                  <a:srgbClr val="FFFFFF"/>
                </a:solidFill>
                <a:latin typeface="Calibri" pitchFamily="34" charset="0"/>
                <a:ea typeface="Calibri" pitchFamily="34" charset="-122"/>
                <a:cs typeface="Calibri" pitchFamily="34" charset="-120"/>
              </a:rPr>
              <a:t>SCAN TO TRY IT LIVE</a:t>
            </a:r>
            <a:endParaRPr lang="en-US" sz="1300" dirty="0"/>
          </a:p>
        </p:txBody>
      </p:sp>
      <p:sp>
        <p:nvSpPr>
          <p:cNvPr id="39" name="box"/>
          <p:cNvSpPr/>
          <p:nvPr/>
        </p:nvSpPr>
        <p:spPr>
          <a:xfrm>
            <a:off x="9180576" y="1627632"/>
            <a:ext cx="1920240" cy="1920240"/>
          </a:xfrm>
          <a:prstGeom prst="roundRect">
            <a:avLst>
              <a:gd name="adj" fmla="val 4762"/>
            </a:avLst>
          </a:prstGeom>
          <a:solidFill>
            <a:srgbClr val="FFFFFF"/>
          </a:solidFill>
          <a:ln w="12700">
            <a:solidFill>
              <a:srgbClr val="FFFFFF"/>
            </a:solidFill>
            <a:prstDash val="solid"/>
          </a:ln>
        </p:spPr>
      </p:sp>
      <p:pic>
        <p:nvPicPr>
          <p:cNvPr id="40" name="QR code to the live site" descr="/tmp/claude-0/-home-user-Sehat-Setu/b06e8423-ed6e-57c3-bbb1-ac94b2a1720d/scratchpad/ppt9/shots/qr.png">    </p:cNvPr>
          <p:cNvPicPr>
            <a:picLocks noChangeAspect="1"/>
          </p:cNvPicPr>
          <p:nvPr/>
        </p:nvPicPr>
        <p:blipFill>
          <a:blip r:embed="rId8"/>
          <a:stretch>
            <a:fillRect/>
          </a:stretch>
        </p:blipFill>
        <p:spPr>
          <a:xfrm>
            <a:off x="9272016" y="1719072"/>
            <a:ext cx="1737360" cy="1737360"/>
          </a:xfrm>
          <a:prstGeom prst="rect">
            <a:avLst/>
          </a:prstGeom>
        </p:spPr>
      </p:pic>
      <p:sp>
        <p:nvSpPr>
          <p:cNvPr id="41" name="Text 31"/>
          <p:cNvSpPr txBox="1"/>
          <p:nvPr/>
        </p:nvSpPr>
        <p:spPr>
          <a:xfrm>
            <a:off x="8503920" y="3675888"/>
            <a:ext cx="3273552" cy="292608"/>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medreach-2.onrender.com</a:t>
            </a:r>
            <a:endParaRPr lang="en-US" sz="1350" dirty="0"/>
          </a:p>
        </p:txBody>
      </p:sp>
      <p:sp>
        <p:nvSpPr>
          <p:cNvPr id="42" name="Text 32"/>
          <p:cNvSpPr txBox="1"/>
          <p:nvPr/>
        </p:nvSpPr>
        <p:spPr>
          <a:xfrm>
            <a:off x="8641080" y="4005072"/>
            <a:ext cx="2999232" cy="685800"/>
          </a:xfrm>
          <a:prstGeom prst="rect">
            <a:avLst/>
          </a:prstGeom>
          <a:noFill/>
          <a:ln/>
        </p:spPr>
        <p:txBody>
          <a:bodyPr wrap="square" lIns="0" tIns="0" rIns="0" bIns="0" rtlCol="0" anchor="t"/>
          <a:lstStyle/>
          <a:p>
            <a:pPr algn="ctr" indent="0" marL="0">
              <a:buNone/>
            </a:pPr>
            <a:r>
              <a:rPr lang="en-US" sz="1050" dirty="0">
                <a:solidFill>
                  <a:srgbClr val="CBD5E1"/>
                </a:solidFill>
                <a:latin typeface="Calibri" pitchFamily="34" charset="0"/>
                <a:ea typeface="Calibri" pitchFamily="34" charset="-122"/>
                <a:cs typeface="Calibri" pitchFamily="34" charset="-120"/>
              </a:rPr>
              <a:t>Code: github.com/prakharporwal518-collab/ Medreach</a:t>
            </a:r>
            <a:endParaRPr lang="en-US" sz="1050" dirty="0"/>
          </a:p>
        </p:txBody>
      </p:sp>
      <p:sp>
        <p:nvSpPr>
          <p:cNvPr id="43" name="Text 33"/>
          <p:cNvSpPr txBox="1"/>
          <p:nvPr/>
        </p:nvSpPr>
        <p:spPr>
          <a:xfrm>
            <a:off x="365760" y="5029200"/>
            <a:ext cx="2724912" cy="411480"/>
          </a:xfrm>
          <a:prstGeom prst="roundRect">
            <a:avLst>
              <a:gd name="adj" fmla="val 17778"/>
            </a:avLst>
          </a:prstGeom>
          <a:solidFill>
            <a:srgbClr val="1F64B4"/>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  WORKING PROTOTYPE</a:t>
            </a:r>
            <a:endParaRPr lang="en-US" sz="1250" dirty="0"/>
          </a:p>
        </p:txBody>
      </p:sp>
      <p:sp>
        <p:nvSpPr>
          <p:cNvPr id="44" name="Text 34"/>
          <p:cNvSpPr txBox="1"/>
          <p:nvPr/>
        </p:nvSpPr>
        <p:spPr>
          <a:xfrm>
            <a:off x="3273552" y="5029200"/>
            <a:ext cx="2724912" cy="411480"/>
          </a:xfrm>
          <a:prstGeom prst="roundRect">
            <a:avLst>
              <a:gd name="adj" fmla="val 17778"/>
            </a:avLst>
          </a:prstGeom>
          <a:solidFill>
            <a:srgbClr val="C62828"/>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  108 INTEGRATED</a:t>
            </a:r>
            <a:endParaRPr lang="en-US" sz="1250" dirty="0"/>
          </a:p>
        </p:txBody>
      </p:sp>
      <p:sp>
        <p:nvSpPr>
          <p:cNvPr id="45" name="Text 35"/>
          <p:cNvSpPr txBox="1"/>
          <p:nvPr/>
        </p:nvSpPr>
        <p:spPr>
          <a:xfrm>
            <a:off x="6181344" y="5029200"/>
            <a:ext cx="2724912" cy="411480"/>
          </a:xfrm>
          <a:prstGeom prst="roundRect">
            <a:avLst>
              <a:gd name="adj" fmla="val 17778"/>
            </a:avLst>
          </a:prstGeom>
          <a:solidFill>
            <a:srgbClr val="2E7D32"/>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  RURAL-READY</a:t>
            </a:r>
            <a:endParaRPr lang="en-US" sz="1250" dirty="0"/>
          </a:p>
        </p:txBody>
      </p:sp>
      <p:sp>
        <p:nvSpPr>
          <p:cNvPr id="46" name="Text 36"/>
          <p:cNvSpPr txBox="1"/>
          <p:nvPr/>
        </p:nvSpPr>
        <p:spPr>
          <a:xfrm>
            <a:off x="9089136" y="5029200"/>
            <a:ext cx="2724912" cy="411480"/>
          </a:xfrm>
          <a:prstGeom prst="roundRect">
            <a:avLst>
              <a:gd name="adj" fmla="val 17778"/>
            </a:avLst>
          </a:prstGeom>
          <a:solidFill>
            <a:srgbClr val="6B46C1"/>
          </a:solidFill>
          <a:ln/>
          <a:effectLst>
            <a:outerShdw sx="100000" sy="100000" kx="0" ky="0" algn="bl" rotWithShape="0" blurRad="101600" dist="25400" dir="5400000">
              <a:srgbClr val="0F172A">
                <a:alpha val="13000"/>
              </a:srgbClr>
            </a:outerShdw>
          </a:effectLst>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  SECURE BY DESIGN</a:t>
            </a:r>
            <a:endParaRPr lang="en-US" sz="1250" dirty="0"/>
          </a:p>
        </p:txBody>
      </p:sp>
      <p:sp>
        <p:nvSpPr>
          <p:cNvPr id="47" name="box"/>
          <p:cNvSpPr/>
          <p:nvPr/>
        </p:nvSpPr>
        <p:spPr>
          <a:xfrm>
            <a:off x="365760" y="5623560"/>
            <a:ext cx="11457432" cy="960120"/>
          </a:xfrm>
          <a:prstGeom prst="roundRect">
            <a:avLst>
              <a:gd name="adj" fmla="val 13333"/>
            </a:avLst>
          </a:prstGeom>
          <a:solidFill>
            <a:srgbClr val="0F2A47"/>
          </a:solidFill>
          <a:ln w="12700">
            <a:solidFill>
              <a:srgbClr val="0F2A47"/>
            </a:solidFill>
            <a:prstDash val="solid"/>
          </a:ln>
        </p:spPr>
      </p:sp>
      <p:sp>
        <p:nvSpPr>
          <p:cNvPr id="48" name="Text 38"/>
          <p:cNvSpPr txBox="1"/>
          <p:nvPr/>
        </p:nvSpPr>
        <p:spPr>
          <a:xfrm>
            <a:off x="365760" y="5623560"/>
            <a:ext cx="11457432"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THANK YOU  ·  धन्यवाद</a:t>
            </a:r>
            <a:endParaRPr lang="en-US" sz="1200" dirty="0"/>
          </a:p>
          <a:p>
            <a:pPr algn="ctr" indent="0" marL="0">
              <a:buNone/>
            </a:pPr>
            <a:r>
              <a:rPr lang="en-US" sz="1400" i="1" dirty="0">
                <a:solidFill>
                  <a:srgbClr val="FDBA74"/>
                </a:solidFill>
                <a:latin typeface="Calibri" pitchFamily="34" charset="0"/>
                <a:ea typeface="Calibri" pitchFamily="34" charset="-122"/>
                <a:cs typeface="Calibri" pitchFamily="34" charset="-120"/>
              </a:rPr>
              <a:t>Medreach – the right hospital, right now, confirmed before you leave home.</a:t>
            </a:r>
            <a:endParaRPr lang="en-US" sz="1200" dirty="0"/>
          </a:p>
        </p:txBody>
      </p:sp>
      <p:sp>
        <p:nvSpPr>
          <p:cNvPr id="25" name="Slide Number Placeholder 0"/>
          <p:cNvSpPr>
            <a:spLocks noGrp="1"/>
          </p:cNvSpPr>
          <p:nvPr>
            <p:ph type="sldNum" sz="quarter" idx="4294967295"/>
          </p:nvPr>
        </p:nvSpPr>
        <p:spPr>
          <a:xfrm>
            <a:off x="11475720" y="651052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64748B"/>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Medreach Bold">
  <a:themeElements>
    <a:clrScheme name="Medreach Bold">
      <a:dk1>
        <a:srgbClr val="0F172A"/>
      </a:dk1>
      <a:lt1>
        <a:srgbClr val="FFFFFF"/>
      </a:lt1>
      <a:dk2>
        <a:srgbClr val="14325C"/>
      </a:dk2>
      <a:lt2>
        <a:srgbClr val="F4F6F9"/>
      </a:lt2>
      <a:accent1>
        <a:srgbClr val="1F64B4"/>
      </a:accent1>
      <a:accent2>
        <a:srgbClr val="E8711C"/>
      </a:accent2>
      <a:accent3>
        <a:srgbClr val="2E7D32"/>
      </a:accent3>
      <a:accent4>
        <a:srgbClr val="0F8B8D"/>
      </a:accent4>
      <a:accent5>
        <a:srgbClr val="6B46C1"/>
      </a:accent5>
      <a:accent6>
        <a:srgbClr val="C62828"/>
      </a:accent6>
      <a:hlink>
        <a:srgbClr val="1F64B4"/>
      </a:hlink>
      <a:folHlink>
        <a:srgbClr val="6B46C1"/>
      </a:folHlink>
    </a:clrScheme>
    <a:fontScheme name="Medreach Bol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Team Medreach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Medreach – MPOnline Idea &amp; Innovation Hackathon 2026</dc:title>
  <dc:subject>PptxGenJS Presentation</dc:subject>
  <dc:creator>Team Medreach</dc:creator>
  <cp:lastModifiedBy>Team Medreach</cp:lastModifiedBy>
  <cp:revision>1</cp:revision>
  <dcterms:created xsi:type="dcterms:W3CDTF">2026-10-08T10:55:14Z</dcterms:created>
  <dcterms:modified xsi:type="dcterms:W3CDTF">2026-10-08T10:55:14Z</dcterms:modified>
</cp:coreProperties>
</file>